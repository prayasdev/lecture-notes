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7" r:id="rId20"/>
    <p:sldId id="275" r:id="rId21"/>
    <p:sldId id="276" r:id="rId22"/>
    <p:sldId id="281" r:id="rId23"/>
    <p:sldId id="284" r:id="rId24"/>
    <p:sldId id="285" r:id="rId25"/>
    <p:sldId id="286" r:id="rId26"/>
    <p:sldId id="279" r:id="rId27"/>
    <p:sldId id="287" r:id="rId28"/>
    <p:sldId id="289" r:id="rId29"/>
    <p:sldId id="299" r:id="rId30"/>
    <p:sldId id="282" r:id="rId31"/>
    <p:sldId id="290" r:id="rId32"/>
    <p:sldId id="292" r:id="rId33"/>
    <p:sldId id="293" r:id="rId34"/>
    <p:sldId id="295" r:id="rId35"/>
    <p:sldId id="297" r:id="rId36"/>
    <p:sldId id="298" r:id="rId37"/>
    <p:sldId id="296" r:id="rId38"/>
    <p:sldId id="294" r:id="rId39"/>
    <p:sldId id="291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4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8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2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0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9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5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6935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13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48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79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7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9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67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Motivation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Module-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2B874-A709-2ED3-711C-42835FD54DCC}"/>
              </a:ext>
            </a:extLst>
          </p:cNvPr>
          <p:cNvSpPr txBox="1"/>
          <p:nvPr/>
        </p:nvSpPr>
        <p:spPr>
          <a:xfrm>
            <a:off x="6172200" y="48768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BY-</a:t>
            </a:r>
          </a:p>
          <a:p>
            <a:r>
              <a:rPr lang="en-IN" dirty="0"/>
              <a:t>PREETIBANYA PARIDA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Content to be discussed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7851648" cy="4343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Definition &amp; concept 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Motive and motivation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Theories of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543800" cy="990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Theories of motivation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3000"/>
            <a:ext cx="7162800" cy="52578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1447800" y="1600200"/>
            <a:ext cx="7696200" cy="4495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Why do some people perform better than others?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Why does the same person act differently at different times?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Motives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Motives are the expressed needs and could be conscious or subconscious.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Sometimes motives define as reason to do something.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Motivating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It is an act of stimulating emotion or desire and promoting it to action.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Research says there are two types of motivation: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1. positive motivation 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2. negative motivation  (fear/ based on force)</a:t>
            </a:r>
          </a:p>
          <a:p>
            <a:pPr algn="just">
              <a:lnSpc>
                <a:spcPct val="150000"/>
              </a:lnSpc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Defining motivation ........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60" y="1828799"/>
            <a:ext cx="3411140" cy="433276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Motivation is one’s willingness to exert efforts towards the accomplishment of his/her goal.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According to Fred Luthans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“Motivation is a process that starts with need that activates behaviour or a drive that is aimed at a goal or incentive”.</a:t>
            </a:r>
          </a:p>
          <a:p>
            <a:pPr algn="just">
              <a:lnSpc>
                <a:spcPct val="150000"/>
              </a:lnSpc>
            </a:pPr>
            <a:endParaRPr lang="en-IN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43400" y="1589566"/>
            <a:ext cx="4572000" cy="4811233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2819400"/>
            <a:ext cx="4419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410200" y="2209800"/>
            <a:ext cx="25908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Motivation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990600" y="1066800"/>
            <a:ext cx="8153400" cy="9906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practical application of Motivation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3048000"/>
            <a:ext cx="2209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048000"/>
            <a:ext cx="2209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REWARD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048000"/>
            <a:ext cx="2209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SATISFACTION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3048000" y="34290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9" idx="1"/>
          </p:cNvCxnSpPr>
          <p:nvPr/>
        </p:nvCxnSpPr>
        <p:spPr>
          <a:xfrm>
            <a:off x="5867400" y="34290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6837759" cy="12954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content theories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066359" cy="5486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content theories basically </a:t>
            </a:r>
            <a:r>
              <a:rPr lang="en-IN" sz="2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2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en-IN" sz="2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of motivation.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It means </a:t>
            </a:r>
            <a:r>
              <a:rPr lang="en-IN" sz="2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focus on the different things that people may feel they need in their lives.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In this content theories people’s motivations will be based on acquiring the things that they think they need.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So, manager first try to understand what employee need.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Because performance of an employee always depends on ability backed by motivation. </a:t>
            </a:r>
          </a:p>
          <a:p>
            <a:pPr algn="just">
              <a:lnSpc>
                <a:spcPct val="150000"/>
              </a:lnSpc>
              <a:buNone/>
            </a:pPr>
            <a:br>
              <a:rPr lang="en-IN" sz="2200" dirty="0">
                <a:latin typeface="Times New Roman" pitchFamily="18" charset="0"/>
                <a:cs typeface="Times New Roman" pitchFamily="18" charset="0"/>
              </a:rPr>
            </a:b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81400" y="6019800"/>
            <a:ext cx="4495800" cy="533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Performance = (ability * motivation)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010400" cy="9906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Maslow’s Hierarchy of Needs Theory (</a:t>
            </a:r>
            <a:r>
              <a:rPr lang="en-IN" sz="3200" dirty="0"/>
              <a:t>Abraham Maslow)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143000"/>
            <a:ext cx="5715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629400" y="2667000"/>
            <a:ext cx="2209800" cy="1676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900" dirty="0">
                <a:latin typeface="Times New Roman" pitchFamily="18" charset="0"/>
                <a:cs typeface="Times New Roman" pitchFamily="18" charset="0"/>
              </a:rPr>
              <a:t>Maslow’s conception of people satisfying their needs in a specified order, from </a:t>
            </a:r>
            <a:r>
              <a:rPr lang="en-IN" sz="19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bottom to 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Discussion on Five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300" b="1" dirty="0">
                <a:latin typeface="Times New Roman" pitchFamily="18" charset="0"/>
                <a:cs typeface="Times New Roman" pitchFamily="18" charset="0"/>
              </a:rPr>
              <a:t>Physiological Needs: (1</a:t>
            </a:r>
            <a:r>
              <a:rPr lang="en-IN" sz="2300" b="1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IN" sz="2300" b="1" dirty="0">
                <a:latin typeface="Times New Roman" pitchFamily="18" charset="0"/>
                <a:cs typeface="Times New Roman" pitchFamily="18" charset="0"/>
              </a:rPr>
              <a:t> order)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The Physiological needs are the basic needs for sustaining the human life.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2. These needs include food, clothing, shelter, rest, water, air, sleep.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lowest level in the hierarchy of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5257800"/>
            <a:ext cx="7848600" cy="990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The management attempts to meet such physiological needs through payment of fair wages.</a:t>
            </a:r>
            <a:endParaRPr lang="en-IN" sz="23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57200"/>
            <a:ext cx="7086600" cy="990600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Security/Safety Needs: (2</a:t>
            </a:r>
            <a:r>
              <a:rPr lang="en-US" sz="3000" b="1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order)</a:t>
            </a:r>
            <a:br>
              <a:rPr lang="en-US" sz="3000" dirty="0">
                <a:latin typeface="Times New Roman" pitchFamily="18" charset="0"/>
                <a:cs typeface="Times New Roman" pitchFamily="18" charset="0"/>
              </a:rPr>
            </a:b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448" y="1295400"/>
            <a:ext cx="7388352" cy="5334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These are the needs connected with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psychological fear of loss of job, or hazard.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 employee needs protection from such types of fear.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safety needs come after meeting the physiological needs.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Such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physiological needs lose their motivational potential when they are satisfied.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As a result,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safety needs replaces them.</a:t>
            </a:r>
          </a:p>
          <a:p>
            <a:pPr algn="just">
              <a:lnSpc>
                <a:spcPct val="150000"/>
              </a:lnSpc>
            </a:pPr>
            <a:endParaRPr lang="en-US" sz="23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5791200"/>
            <a:ext cx="7848600" cy="990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The management attempts to meet such safety needs through security of job , pension at old age, insurance coverage.</a:t>
            </a:r>
            <a:endParaRPr lang="en-IN" sz="23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Social Needs/Love Belonging (3</a:t>
            </a:r>
            <a:r>
              <a:rPr lang="en-US" sz="2600" b="1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order)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 employee is a human being who desires or likes to stay (belong) in group.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This is treated as basic social need of an individual.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3657600"/>
            <a:ext cx="75438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Management provides break time more to satisfy this need.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Self -esteem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need to be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respected and appreciated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by others.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need to have the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power and finally prestigious position.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Esteem needs are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two-fold in nature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self-confidence, self-respect, competence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status, reputation, recognition and appreciation by others.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Esteem </a:t>
            </a:r>
            <a:r>
              <a:rPr lang="en-US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needs do not assume the motivational properties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unless the previous needs are satisfied.</a:t>
            </a:r>
          </a:p>
          <a:p>
            <a:pPr>
              <a:lnSpc>
                <a:spcPct val="150000"/>
              </a:lnSpc>
            </a:pP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Self-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actualisation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Needs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Highest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among the needs in the hierarchy of needs.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Humans want to </a:t>
            </a:r>
            <a:r>
              <a:rPr lang="en-US" sz="2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utilize their potentials to the maximum extent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desires to become what they are capable of becoming.</a:t>
            </a:r>
            <a:endParaRPr lang="en-US" sz="22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the </a:t>
            </a:r>
            <a:r>
              <a:rPr lang="en-US" sz="2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‘growth’ need</a:t>
            </a:r>
            <a:r>
              <a:rPr lang="en-US" sz="22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Though every one is capable of self-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actualisation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many do not reach this stage.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Herzberg’s 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56060" y="1600200"/>
            <a:ext cx="7429499" cy="4876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Frederick Herzberg designed the theory in the year of 1959.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It is also known as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Herzberg motivation theory or two –factors theory.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Frederick argued that there are 2 factors that an organization can adjust to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influence motivation in the workplace.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1. Motivators : which can encourage employees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to work harder</a:t>
            </a:r>
            <a:r>
              <a:rPr lang="en-IN" sz="2300" b="1" dirty="0"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2. Hygiene factors: These won’t encourage employee to work harder but they will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cause them to become unmotivated 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if  they are not present.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Two –factors theory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22860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Job Dissatisfaction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1752600" y="2514600"/>
            <a:ext cx="533400" cy="53340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3048000"/>
            <a:ext cx="2743200" cy="3200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Influenced by Hygiene Factors</a:t>
            </a:r>
          </a:p>
          <a:p>
            <a:pPr algn="just"/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Pay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Company policies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Fringe benefit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Working condition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Interpersonal relation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Supervisor quality</a:t>
            </a:r>
          </a:p>
          <a:p>
            <a:pPr algn="just"/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0" y="3048000"/>
            <a:ext cx="2057400" cy="12954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Improving motivating factors that increase job satisfaction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0" y="4724400"/>
            <a:ext cx="2057400" cy="1447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Improving hygiene factors that decrease job dissatisfaction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1981200"/>
            <a:ext cx="22860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Job satisfaction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9800" y="2971800"/>
            <a:ext cx="2971800" cy="3276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Influenced by Motivator factors</a:t>
            </a:r>
          </a:p>
          <a:p>
            <a:pPr algn="just"/>
            <a:endParaRPr lang="en-IN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Recognition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Sense of achievement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Growth and promotional  opportunities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Meaningful work</a:t>
            </a:r>
          </a:p>
          <a:p>
            <a:pPr algn="just"/>
            <a:endParaRPr lang="en-IN" sz="21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1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1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1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7086600" y="2438400"/>
            <a:ext cx="609600" cy="5334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Criticism of two-factor theory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56060" y="1600200"/>
            <a:ext cx="7525940" cy="4724400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Herzberg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assumed a correlation 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between satisfaction and productivity. But the research conducted by Herzberg stressed upon satisfaction and ignored productivity.</a:t>
            </a:r>
          </a:p>
          <a:p>
            <a:pPr algn="just">
              <a:lnSpc>
                <a:spcPct val="16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when you try to find out the sources of satisfaction and dissatisfaction at work,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employees start blame dissatisfaction on factors such as salary structure, company policies and peer relationship 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and give credit to themselves for the satisfaction factor at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981682"/>
          </a:xfrm>
        </p:spPr>
        <p:txBody>
          <a:bodyPr>
            <a:noAutofit/>
          </a:bodyPr>
          <a:lstStyle/>
          <a:p>
            <a:pPr algn="just"/>
            <a:r>
              <a:rPr lang="en-IN" sz="2900" dirty="0">
                <a:latin typeface="Times New Roman" pitchFamily="18" charset="0"/>
                <a:cs typeface="Times New Roman" pitchFamily="18" charset="0"/>
              </a:rPr>
              <a:t>Comparison between Maslow theory with Herzberg's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00200"/>
            <a:ext cx="7525940" cy="4495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Maslow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referred to the needs or motives</a:t>
            </a:r>
            <a:r>
              <a:rPr lang="en-IN" sz="2300" b="1" dirty="0">
                <a:effectLst/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 whereas Herzberg dealt with the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goals that tends to satisfy the need.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Hygiene or maintenance factors of Herzberg are satisfied by the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Physiological, safety and belongingness needs of Maslow.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Motivator factors of Herzberg tend to be satisfied by the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self-esteem and self-actualization needs of Maslow.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Process Theory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00200"/>
            <a:ext cx="752594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In content theories of motivation emphasized the </a:t>
            </a:r>
            <a:r>
              <a:rPr lang="en-IN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inner needs 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in motivation</a:t>
            </a:r>
          </a:p>
          <a:p>
            <a:pPr algn="just">
              <a:lnSpc>
                <a:spcPct val="150000"/>
              </a:lnSpc>
            </a:pP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The process theories of motivation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do not explain how needs emerge. 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Rather it explain the process through which </a:t>
            </a:r>
            <a:r>
              <a:rPr lang="en-IN" sz="23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needs are translated into behaviour.</a:t>
            </a:r>
          </a:p>
          <a:p>
            <a:pPr algn="just">
              <a:lnSpc>
                <a:spcPct val="150000"/>
              </a:lnSpc>
            </a:pPr>
            <a:endParaRPr lang="en-IN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086600" cy="990600"/>
          </a:xfrm>
        </p:spPr>
        <p:txBody>
          <a:bodyPr>
            <a:noAutofit/>
          </a:bodyPr>
          <a:lstStyle/>
          <a:p>
            <a:r>
              <a:rPr lang="en-IN" sz="2900" dirty="0">
                <a:latin typeface="Times New Roman" pitchFamily="18" charset="0"/>
                <a:cs typeface="Times New Roman" pitchFamily="18" charset="0"/>
              </a:rPr>
              <a:t>Vroom’s Expectancy Theory</a:t>
            </a:r>
            <a:br>
              <a:rPr lang="en-IN" sz="2900" dirty="0">
                <a:latin typeface="Times New Roman" pitchFamily="18" charset="0"/>
                <a:cs typeface="Times New Roman" pitchFamily="18" charset="0"/>
              </a:rPr>
            </a:br>
            <a:endParaRPr lang="en-IN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7623048" cy="5410200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Expectancy Theory of Motivation was suggested by Victor H. Vroom.</a:t>
            </a:r>
          </a:p>
          <a:p>
            <a:pPr algn="just">
              <a:lnSpc>
                <a:spcPct val="200000"/>
              </a:lnSpc>
            </a:pP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It is based on the idea that </a:t>
            </a:r>
            <a:r>
              <a:rPr lang="en-IN" sz="21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work effort is directed towards </a:t>
            </a: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behaviour that people believe will lead to desired outcomes.</a:t>
            </a:r>
          </a:p>
          <a:p>
            <a:pPr algn="just">
              <a:lnSpc>
                <a:spcPct val="200000"/>
              </a:lnSpc>
            </a:pPr>
            <a:r>
              <a:rPr lang="en-IN" sz="2100" b="1" dirty="0">
                <a:latin typeface="Times New Roman" pitchFamily="18" charset="0"/>
                <a:cs typeface="Times New Roman" pitchFamily="18" charset="0"/>
              </a:rPr>
              <a:t>In short we can understood that :</a:t>
            </a:r>
          </a:p>
          <a:p>
            <a:pPr algn="just">
              <a:lnSpc>
                <a:spcPct val="200000"/>
              </a:lnSpc>
            </a:pP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People get </a:t>
            </a:r>
            <a:r>
              <a:rPr lang="en-IN" sz="21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motivated by how much they want something </a:t>
            </a: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21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how surely they know that they will get that thing.</a:t>
            </a:r>
          </a:p>
          <a:p>
            <a:pPr algn="just">
              <a:lnSpc>
                <a:spcPct val="200000"/>
              </a:lnSpc>
            </a:pPr>
            <a:endParaRPr lang="en-IN" sz="2100" b="1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19200"/>
            <a:ext cx="8610600" cy="387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7391400" cy="990600"/>
          </a:xfrm>
        </p:spPr>
        <p:txBody>
          <a:bodyPr>
            <a:normAutofit/>
          </a:bodyPr>
          <a:lstStyle/>
          <a:p>
            <a:r>
              <a:rPr lang="en-IN" sz="2900" dirty="0">
                <a:latin typeface="Times New Roman" pitchFamily="18" charset="0"/>
                <a:cs typeface="Times New Roman" pitchFamily="18" charset="0"/>
              </a:rPr>
              <a:t>Vroom’s Expectancy Theory</a:t>
            </a:r>
            <a:br>
              <a:rPr lang="en-IN" sz="2900" dirty="0">
                <a:latin typeface="Times New Roman" pitchFamily="18" charset="0"/>
                <a:cs typeface="Times New Roman" pitchFamily="18" charset="0"/>
              </a:rPr>
            </a:b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Case 1: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You can never be motivated by unrealistic whishes like you will marry Brad  Pitt.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Do you remotely find any possibility of such wish getting fulfilled ??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57200"/>
            <a:ext cx="7066359" cy="990600"/>
          </a:xfrm>
        </p:spPr>
        <p:txBody>
          <a:bodyPr>
            <a:normAutofit/>
          </a:bodyPr>
          <a:lstStyle/>
          <a:p>
            <a:r>
              <a:rPr lang="en-IN" sz="2900" dirty="0">
                <a:latin typeface="Times New Roman" pitchFamily="18" charset="0"/>
                <a:cs typeface="Times New Roman" pitchFamily="18" charset="0"/>
              </a:rPr>
              <a:t>Vroom’s Expectancy Theory</a:t>
            </a:r>
            <a:br>
              <a:rPr lang="en-IN" sz="2900" dirty="0">
                <a:latin typeface="Times New Roman" pitchFamily="18" charset="0"/>
                <a:cs typeface="Times New Roman" pitchFamily="18" charset="0"/>
              </a:rPr>
            </a:b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Case 2: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You strongly want to get a higher range luxury car and you know that this wish is likely to be fulfilled or at least this is a realistic wish that can be fulfilled.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Question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76400"/>
            <a:ext cx="7429499" cy="4876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Why in case 2 motivation occurs?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answer lies in </a:t>
            </a:r>
            <a:r>
              <a:rPr lang="en-US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three concept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of Vroom’s expectancy theory.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1. Expectancy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2. Instrumentality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3. Valence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Let us understand each concept  separately.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Then we will put them together  to understand how it motivates an individual.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Discussion on three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7294959" cy="4495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Expectancy: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Expectancy can be described as the belief that higher or increased effort will yield better performance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It can be restated as follows: Effort – to- Performance (E       P)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Instrumentality: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It is the relationship between the performance to outcome. Further it can be described that if an individual  perform well, then there will be outcome.  (P        O)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Valence: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Valence means “value”. It refers to beliefs about outcome desirability.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162800" y="30480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953000" y="46482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Let’s go through a small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00200"/>
            <a:ext cx="7429499" cy="4495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Marry joins a Company. As soon as she joins her boss tells her that if she completes a given project properly, he will promote her and increase her salary.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Marry becomes happy and she is in hope of increasing her performance does a lot of hard work, overtime etc. 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Further with increased performance she hopes to bag all the rewards promised by the Boss.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she gets the rewards, she hopes to get something to which she assigns a lot of value.</a:t>
            </a:r>
          </a:p>
          <a:p>
            <a:pPr algn="just">
              <a:lnSpc>
                <a:spcPct val="150000"/>
              </a:lnSpc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304800"/>
            <a:ext cx="7013575" cy="8382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Summary of 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838200" y="1143000"/>
            <a:ext cx="7546975" cy="5029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First hope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Marry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is expectancy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This hope is further strengthened if Marry gets sufficient resources and has enough skills at her hand.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Second hope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with good performance she will achieve rewards is called instrumentality.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The third concept is valence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Suppose Marry achieves a decent level of performance, completes the project and impresses to the Boss. The boss in return will </a:t>
            </a:r>
            <a:r>
              <a:rPr lang="en-US" sz="20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bestow reward upon her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Now Marry wanted a </a:t>
            </a:r>
            <a:r>
              <a:rPr lang="en-US" sz="20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fat paycheck but boss gave her a dry promotion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Marry definitely </a:t>
            </a:r>
            <a:r>
              <a:rPr lang="en-US" sz="20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doesn’t assign value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 dry promotion. </a:t>
            </a:r>
            <a:endParaRPr lang="en-US" sz="20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219200"/>
            <a:ext cx="7391400" cy="3371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 next time when she gets any project, she will work on it half heartedly as the reward she got did not fulfill her personal goal. Here she is </a:t>
            </a: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demotivated.</a:t>
            </a:r>
            <a:br>
              <a:rPr lang="en-US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But if marry  gets a </a:t>
            </a: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fat check along with promotion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she will be highly motivated. This is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She will perform repeatedly to achieve her </a:t>
            </a: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desire outcome.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803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68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02228"/>
            <a:ext cx="9144000" cy="345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7010400" cy="990600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Apply your knowledge (match the column and name the authors 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541158"/>
              </p:ext>
            </p:extLst>
          </p:nvPr>
        </p:nvGraphicFramePr>
        <p:xfrm>
          <a:off x="0" y="1219200"/>
          <a:ext cx="9144000" cy="563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2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1. People are motivated by economic rewards and will get motivated if economic incentives are offered.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a. Two factor 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2. Needs motivates people. Needs are several and can be categorized in to 5. Hierarchy can be built among them.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b. Expectancy 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12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3. Needs motivate employees. They are two dimensions.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c.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Need hierarchy theory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2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4. Work effort is directed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towards Behvaiour that people believe will lead to desired outcome.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d. Scientific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134082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Porter &amp; Lawler theory (based on 4 assumptions)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00200"/>
            <a:ext cx="7525940" cy="5105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According to Porter &amp; Lawler , </a:t>
            </a: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b="1" baseline="300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assumption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behaviour of an individual depends on </a:t>
            </a:r>
            <a:r>
              <a:rPr lang="en-US" sz="2300" b="1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some factors of his own </a:t>
            </a:r>
            <a:r>
              <a:rPr lang="en-US" sz="2300" b="1" dirty="0">
                <a:solidFill>
                  <a:srgbClr val="7030A0"/>
                </a:solidFill>
                <a:effectLst/>
                <a:latin typeface="Times New Roman" pitchFamily="18" charset="0"/>
                <a:cs typeface="Times New Roman" pitchFamily="18" charset="0"/>
              </a:rPr>
              <a:t>and some factors related to environment. </a:t>
            </a:r>
            <a:endParaRPr lang="en-US" sz="2300" b="1" dirty="0">
              <a:solidFill>
                <a:srgbClr val="C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b="1" baseline="300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assumption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was that human begins are rational beings and therefore they make conscious decisions about their behaviour in the organization.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300" b="1" baseline="300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assumption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that human beings differ from one another in terms of needs, desires and goals.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300" b="1" baseline="300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3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assumption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that human begins select the most favorable behaviour that helps them get the most desirable outcome.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3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3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3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The  Process and Contemporary  Theories (The equity theory)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Adam’s Equity theory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819400"/>
            <a:ext cx="55626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Equity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00200"/>
            <a:ext cx="7429499" cy="4800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Equity theory is also called as “Social comparison” theory.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Assumptions: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Individuals are motivated by their desire to be equitably treated in their work relationships.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Four important terms in this theory: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1. person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2. comparison other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3.inputs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4.outcomes</a:t>
            </a:r>
          </a:p>
          <a:p>
            <a:pPr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162800" cy="9906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Structure of equity in the workplace is based on the ratio of input / output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1143000"/>
            <a:ext cx="7696200" cy="563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Now it’s time to reduce demotivation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Altering his or her inputs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Altering his or her outcomes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Leaving the field</a:t>
            </a:r>
          </a:p>
          <a:p>
            <a:pPr>
              <a:lnSpc>
                <a:spcPct val="15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33400"/>
            <a:ext cx="7315200" cy="990600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Equity theory at work</a:t>
            </a:r>
            <a:br>
              <a:rPr lang="en-US" sz="3000" dirty="0">
                <a:latin typeface="Times New Roman" pitchFamily="18" charset="0"/>
                <a:cs typeface="Times New Roman" pitchFamily="18" charset="0"/>
              </a:rPr>
            </a:b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4676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Why people are so strongly affected by the situations of colleagues, friends, partners etc., in establishing their own personal equity in their work situations?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People demotivated, if they learn that a colleague (is enjoying a better reward-to-effort ratio.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00600"/>
            <a:ext cx="2819400" cy="1371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Manager allocates rewards </a:t>
            </a:r>
          </a:p>
        </p:txBody>
      </p:sp>
      <p:cxnSp>
        <p:nvCxnSpPr>
          <p:cNvPr id="6" name="Straight Arrow Connector 5"/>
          <p:cNvCxnSpPr>
            <a:cxnSpLocks/>
            <a:stCxn id="4" idx="3"/>
          </p:cNvCxnSpPr>
          <p:nvPr/>
        </p:nvCxnSpPr>
        <p:spPr>
          <a:xfrm>
            <a:off x="2819400" y="5486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29000" y="4800600"/>
            <a:ext cx="2286000" cy="1371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Individual makes equity comparisons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00600"/>
            <a:ext cx="2667000" cy="1371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Job satisfaction and performance are affected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791200" y="55626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Adams’ equity theory of motivation says that to be motivated, individuals need </a:t>
            </a:r>
            <a:r>
              <a:rPr lang="en-US" sz="2300" b="1" u="sng" dirty="0">
                <a:solidFill>
                  <a:srgbClr val="7030A0"/>
                </a:solidFill>
                <a:effectLst/>
                <a:latin typeface="Times New Roman" pitchFamily="18" charset="0"/>
                <a:cs typeface="Times New Roman" pitchFamily="18" charset="0"/>
              </a:rPr>
              <a:t>to perceive that the rewards they receive for their contributions are fair,</a:t>
            </a:r>
            <a:r>
              <a:rPr lang="en-US" sz="2300" b="1" dirty="0"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 these rewards are similar to those received by their peers. If individuals perceive that their rewards are not fair, </a:t>
            </a:r>
            <a:r>
              <a:rPr lang="en-US" sz="2300" b="1" u="sng" dirty="0">
                <a:solidFill>
                  <a:srgbClr val="7030A0"/>
                </a:solidFill>
                <a:effectLst/>
                <a:latin typeface="Times New Roman" pitchFamily="18" charset="0"/>
                <a:cs typeface="Times New Roman" pitchFamily="18" charset="0"/>
              </a:rPr>
              <a:t>they will feel distressed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 try to change things to create a sense of fairness.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Porter &amp; Lawler theory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0600" y="1752600"/>
            <a:ext cx="7294959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2321</TotalTime>
  <Words>1875</Words>
  <Application>Microsoft Office PowerPoint</Application>
  <PresentationFormat>On-screen Show (4:3)</PresentationFormat>
  <Paragraphs>187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Times New Roman</vt:lpstr>
      <vt:lpstr>Tw Cen MT</vt:lpstr>
      <vt:lpstr>Circuit</vt:lpstr>
      <vt:lpstr>Motivation </vt:lpstr>
      <vt:lpstr>Content to be discussed</vt:lpstr>
      <vt:lpstr>Theories of motivation </vt:lpstr>
      <vt:lpstr>PowerPoint Presentation</vt:lpstr>
      <vt:lpstr>Motives</vt:lpstr>
      <vt:lpstr>Motivating</vt:lpstr>
      <vt:lpstr>Defining motivation ........</vt:lpstr>
      <vt:lpstr>The practical application of Motivation model</vt:lpstr>
      <vt:lpstr>The content theories</vt:lpstr>
      <vt:lpstr>Maslow’s Hierarchy of Needs Theory (Abraham Maslow)</vt:lpstr>
      <vt:lpstr>Discussion on Five Needs</vt:lpstr>
      <vt:lpstr>Security/Safety Needs: (2nd order) </vt:lpstr>
      <vt:lpstr>Social Needs/Love Belonging (3rd order)</vt:lpstr>
      <vt:lpstr>Self -esteem needs</vt:lpstr>
      <vt:lpstr>Self-actualisation Needs</vt:lpstr>
      <vt:lpstr>Herzberg’s Motivation</vt:lpstr>
      <vt:lpstr>Two –factors theory</vt:lpstr>
      <vt:lpstr>Criticism of two-factor theory</vt:lpstr>
      <vt:lpstr>Comparison between Maslow theory with Herzberg's theory</vt:lpstr>
      <vt:lpstr>Process Theory of Motivation</vt:lpstr>
      <vt:lpstr>Vroom’s Expectancy Theory </vt:lpstr>
      <vt:lpstr>PowerPoint Presentation</vt:lpstr>
      <vt:lpstr>Vroom’s Expectancy Theory </vt:lpstr>
      <vt:lpstr>Vroom’s Expectancy Theory </vt:lpstr>
      <vt:lpstr>Question to you</vt:lpstr>
      <vt:lpstr>Discussion on three components </vt:lpstr>
      <vt:lpstr>Let’s go through a small theory</vt:lpstr>
      <vt:lpstr>Summary of the story</vt:lpstr>
      <vt:lpstr>PowerPoint Presentation</vt:lpstr>
      <vt:lpstr>PowerPoint Presentation</vt:lpstr>
      <vt:lpstr>Apply your knowledge (match the column and name the authors )</vt:lpstr>
      <vt:lpstr>Porter &amp; Lawler theory (based on 4 assumptions)</vt:lpstr>
      <vt:lpstr>The  Process and Contemporary  Theories (The equity theory)</vt:lpstr>
      <vt:lpstr>Equity Theory</vt:lpstr>
      <vt:lpstr>Structure of equity in the workplace is based on the ratio of input / output</vt:lpstr>
      <vt:lpstr>Now it’s time to reduce demotivation</vt:lpstr>
      <vt:lpstr>Equity theory at work </vt:lpstr>
      <vt:lpstr>Conclusion </vt:lpstr>
      <vt:lpstr>Porter &amp; Lawler theory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</dc:title>
  <dc:creator>cime</dc:creator>
  <cp:lastModifiedBy>Preetibanya Parida</cp:lastModifiedBy>
  <cp:revision>130</cp:revision>
  <dcterms:created xsi:type="dcterms:W3CDTF">2006-08-16T00:00:00Z</dcterms:created>
  <dcterms:modified xsi:type="dcterms:W3CDTF">2025-04-06T07:30:39Z</dcterms:modified>
</cp:coreProperties>
</file>