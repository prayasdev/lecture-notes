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7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6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5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3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1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9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7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0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7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7368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34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0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97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28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3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71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&amp;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effectLst/>
                <a:latin typeface="Times New Roman" pitchFamily="18" charset="0"/>
                <a:cs typeface="Times New Roman" pitchFamily="18" charset="0"/>
              </a:rPr>
              <a:t>Module -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715962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 can be defined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A collection of two or more interacting individuals with a stable pattern of relationship between them and share common goal.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Three characteristics of group: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1. interaction among group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2. Common interest or goal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3. People see themselves as members</a:t>
            </a:r>
          </a:p>
          <a:p>
            <a:pPr algn="just">
              <a:lnSpc>
                <a:spcPct val="150000"/>
              </a:lnSpc>
            </a:pPr>
            <a:endParaRPr lang="en-IN" sz="2200" dirty="0">
              <a:effectLst/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715962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Why we / people join in group?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458200" cy="5486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People join group is related to our needs: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Close proximity 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(frequent interaction influence the behaviour on one another).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 (support and guidance)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Esteem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( through group membership)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Affiliation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(share common hobbies or common backgrounds) (it happens with new join employees in an organisation)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(united we stand, divided we fall)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identity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(image)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b="1" dirty="0">
                <a:effectLst/>
                <a:latin typeface="Times New Roman" pitchFamily="18" charset="0"/>
                <a:cs typeface="Times New Roman" pitchFamily="18" charset="0"/>
              </a:rPr>
              <a:t>task function. </a:t>
            </a: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(helpful in large organisation) (complex task, generating new ideas)</a:t>
            </a:r>
            <a:endParaRPr lang="en-IN" sz="2400" dirty="0">
              <a:effectLst/>
            </a:endParaRP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397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 Development ( stages of group formation)</a:t>
            </a:r>
          </a:p>
        </p:txBody>
      </p:sp>
      <p:pic>
        <p:nvPicPr>
          <p:cNvPr id="4" name="Content Placeholder 3" descr="IMG_20210323_08192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" y="1143000"/>
            <a:ext cx="9067800" cy="5715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7921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Elaboration of stages of group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8001000" cy="4876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u="sng" dirty="0">
                <a:effectLst/>
                <a:latin typeface="Times New Roman" pitchFamily="18" charset="0"/>
                <a:cs typeface="Times New Roman" pitchFamily="18" charset="0"/>
              </a:rPr>
              <a:t>Forming: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In this stage , there is a great deal of uncertainty about people's purpose, structure, leadership.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Not sure about the behaviours of each other.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Here , icebreaking is essential to </a:t>
            </a:r>
            <a:r>
              <a:rPr lang="en-IN" sz="2400" dirty="0">
                <a:solidFill>
                  <a:srgbClr val="FFFF00"/>
                </a:solidFill>
                <a:effectLst/>
                <a:latin typeface="Times New Roman" pitchFamily="18" charset="0"/>
                <a:cs typeface="Times New Roman" pitchFamily="18" charset="0"/>
              </a:rPr>
              <a:t>increase awareness among each other.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solidFill>
                  <a:srgbClr val="FFFF00"/>
                </a:solidFill>
                <a:effectLst/>
                <a:latin typeface="Times New Roman" pitchFamily="18" charset="0"/>
                <a:cs typeface="Times New Roman" pitchFamily="18" charset="0"/>
              </a:rPr>
              <a:t>Here , the development occurs when members accept themselves and decide a group goal.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8683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Elaboration of stages of group formation</a:t>
            </a:r>
            <a:endParaRPr lang="en-IN" sz="3000" u="sng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001000" cy="47244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u="sng" dirty="0">
                <a:effectLst/>
                <a:latin typeface="Times New Roman" pitchFamily="18" charset="0"/>
                <a:cs typeface="Times New Roman" pitchFamily="18" charset="0"/>
              </a:rPr>
              <a:t>Storming 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Here, conflict arises because of the need to clarify roles and behavioural expectations.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Disagreement relating to role assignments.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One  objective in this stage is to resolve conflict about power and task structure.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Replace the member who are not adjustable in the group with sense of acceptance.</a:t>
            </a: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397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Elaboration of stages of group formation</a:t>
            </a:r>
            <a:endParaRPr lang="en-IN" sz="3000" u="sng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153400" cy="54102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800" b="1" u="sng" dirty="0">
                <a:effectLst/>
                <a:latin typeface="Times New Roman" pitchFamily="18" charset="0"/>
                <a:cs typeface="Times New Roman" pitchFamily="18" charset="0"/>
              </a:rPr>
              <a:t>Norming: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At this stage, a single leader emerges, who will bring cohesion.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Here sense of strong identity developed.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Member involvement increase as they get mental support.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800" b="1" u="sng" dirty="0">
                <a:latin typeface="Times New Roman" pitchFamily="18" charset="0"/>
                <a:cs typeface="Times New Roman" pitchFamily="18" charset="0"/>
              </a:rPr>
              <a:t>Performing: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This stage is marked by teamwork, role clarity and task accomplishment.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Productivity is at peak.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Continue to work well together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Able to adapt the change successfully.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7772400" cy="6397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Elaboration of stages of group formation</a:t>
            </a:r>
            <a:endParaRPr lang="en-IN" sz="30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u="sng" dirty="0">
                <a:effectLst/>
                <a:latin typeface="Times New Roman" pitchFamily="18" charset="0"/>
                <a:cs typeface="Times New Roman" pitchFamily="18" charset="0"/>
              </a:rPr>
              <a:t>Adjourning: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If the group has to de a specific task, then complete of task they need to separate..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Reward will given to keep the pleasurable momentum among group members, as they feel sad.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 norms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8077200" cy="4953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These are set of beliefs, feelings and attitudes commonly shared by group members. These are also referred to as rules or standards of behaviour that apply to group members.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Norms serve three functions in the group: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1. predictive (understand the behaviour of others and own)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2. control (regulate the behaviour of members)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3. relational (define relationship among roles)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Why norms strongly enforced in group?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7772400" cy="4800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To ensure group performance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To avoid the preference of supervisors towards group members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To predict the behaviour of group members while performing task to avoid interpersonal problems.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Group cohesiveness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7772400" cy="5943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It refers to the extent of linking each member has towards others and how far everyone wants to remain as a member of group.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Group cohesiveness can be affected by such factors as interaction, threat, cooperation, similarity attitude, and size.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Positive consequences: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Increased moral, higher productivity, better communication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Negative consequences: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effectLst/>
                <a:latin typeface="Times New Roman" pitchFamily="18" charset="0"/>
                <a:cs typeface="Times New Roman" pitchFamily="18" charset="0"/>
              </a:rPr>
              <a:t>Lower productivity when group will have lower norms.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341A-2772-5D6C-6B60-95AD70EE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6857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1AE6F-24C1-8F42-F870-C4D17990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76400"/>
            <a:ext cx="7765322" cy="4114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team is a group of individuals with complementary skills working towards a shared goal.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 A product development team including engineers, designers, and marketers.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Teams foster collaboration, responsibility, and goal alignment.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76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B075-685B-772B-9B3F-8313655DD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7619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IN" sz="30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Teams?</a:t>
            </a:r>
            <a:endParaRPr lang="en-IN" sz="3000" u="sng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4236-B2A4-D94A-C56C-129796EF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447800"/>
            <a:ext cx="7765322" cy="525780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Synergy: Teams produce better outcomes together than individuals alone.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Hospital care teams combine doctors, nurses, and technicians for better patient outcomes.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Innovation: Diverse members contribute fresh ideas.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Ownership: Shared goals increase accountability and motivation.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Flexibility: Teams adapt quickly to change.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Decisions: Multiple perspectives improve judgment and results.</a:t>
            </a:r>
          </a:p>
          <a:p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613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2088-F791-FB0A-D2BC-313C1FA6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8381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Work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616C-FB05-EE30-3B88-20B3DDAAF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00200"/>
            <a:ext cx="7765322" cy="5029200"/>
          </a:xfrm>
        </p:spPr>
        <p:txBody>
          <a:bodyPr/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Teams: Meet regularly to improve work processes (e.g., quality circles in manufacturing).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Self-Managed Teams: Plan and manage work independently (e.g., agile software teams).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Teams: Members from different areas work on a project (e.g., product launch team).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Teams: Collaborate online from different locations (e.g., remote tech support teams).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876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051E-EF45-D7A8-24D8-AEA04693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8381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Developing Work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8E6B-F681-E1FC-1C97-DF190FA79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00200"/>
            <a:ext cx="7765322" cy="480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Forming: Team members meet and understand tasks (e.g., orientation).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Storming: Conflicts may arise; roles are clarified.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Norming: Norms are established; trust builds.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Performing: Team operates efficiently toward goals.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Adjourning: Task completed, team disbands (e.g., event management teams' post-event).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48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A1CF-9926-D401-6B56-9FDF1C1E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9905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E11E-94A4-3353-5A83-6FD64846E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00200"/>
            <a:ext cx="7765322" cy="5181600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Goals: Shared understanding of purpose.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Defined Roles: Everyone knows their responsibilities.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 &amp; Communication: Open, honest dialogue.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Leadership: Effective guidance and support.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Resources &amp; Feedback: Tools and performance insights available.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High-performing sales teams have clear targets and communicate regularly.</a:t>
            </a:r>
          </a:p>
          <a:p>
            <a:endParaRPr lang="en-IN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2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700E-FB98-6967-A5B9-559A8C01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990599"/>
          </a:xfrm>
        </p:spPr>
        <p:txBody>
          <a:bodyPr>
            <a:normAutofit/>
          </a:bodyPr>
          <a:lstStyle/>
          <a:p>
            <a:r>
              <a:rPr lang="en-IN" sz="3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E636-B1EF-BD81-1A53-4F3D76EB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600200"/>
            <a:ext cx="7765322" cy="4191000"/>
          </a:xfrm>
        </p:spPr>
        <p:txBody>
          <a:bodyPr/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 Strengthen collaboration, trust, and motivation.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Activities: Ice-breakers, problem-solving games, retreats.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 startup holds a team-building weekend to boost morale and coordination.</a:t>
            </a:r>
          </a:p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align team members and resolve interpersonal conflicts.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3592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163</TotalTime>
  <Words>922</Words>
  <Application>Microsoft Office PowerPoint</Application>
  <PresentationFormat>On-screen Show (4:3)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Rockwell</vt:lpstr>
      <vt:lpstr>Times New Roman</vt:lpstr>
      <vt:lpstr>Damask</vt:lpstr>
      <vt:lpstr>Team &amp; Group</vt:lpstr>
      <vt:lpstr>Group can be defined as</vt:lpstr>
      <vt:lpstr>Why we / people join in group?</vt:lpstr>
      <vt:lpstr>Group Development ( stages of group formation)</vt:lpstr>
      <vt:lpstr>Elaboration of stages of group formation</vt:lpstr>
      <vt:lpstr>Elaboration of stages of group formation</vt:lpstr>
      <vt:lpstr>Elaboration of stages of group formation</vt:lpstr>
      <vt:lpstr>Elaboration of stages of group formation</vt:lpstr>
      <vt:lpstr>Group norms</vt:lpstr>
      <vt:lpstr>Why norms strongly enforced in group?</vt:lpstr>
      <vt:lpstr>Group cohesiveness</vt:lpstr>
      <vt:lpstr>Introduction to Teams</vt:lpstr>
      <vt:lpstr>Why Work Teams?</vt:lpstr>
      <vt:lpstr>Types of Work Teams</vt:lpstr>
      <vt:lpstr>Developing Work Teams</vt:lpstr>
      <vt:lpstr>Team Effectiveness</vt:lpstr>
      <vt:lpstr>Team Building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&amp; Group</dc:title>
  <dc:creator>HP1</dc:creator>
  <cp:lastModifiedBy>Preetibanya Parida</cp:lastModifiedBy>
  <cp:revision>13</cp:revision>
  <dcterms:created xsi:type="dcterms:W3CDTF">2006-08-16T00:00:00Z</dcterms:created>
  <dcterms:modified xsi:type="dcterms:W3CDTF">2025-04-08T18:38:32Z</dcterms:modified>
</cp:coreProperties>
</file>