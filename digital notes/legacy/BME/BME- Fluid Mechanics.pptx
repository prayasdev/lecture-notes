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sldIdLst>
    <p:sldId id="316" r:id="rId4"/>
    <p:sldId id="257" r:id="rId5"/>
    <p:sldId id="258" r:id="rId6"/>
    <p:sldId id="259" r:id="rId7"/>
    <p:sldId id="260" r:id="rId8"/>
    <p:sldId id="264" r:id="rId9"/>
    <p:sldId id="279" r:id="rId10"/>
    <p:sldId id="280" r:id="rId11"/>
    <p:sldId id="261" r:id="rId12"/>
    <p:sldId id="262" r:id="rId13"/>
    <p:sldId id="265" r:id="rId14"/>
    <p:sldId id="266" r:id="rId15"/>
    <p:sldId id="267" r:id="rId16"/>
    <p:sldId id="282" r:id="rId17"/>
    <p:sldId id="283" r:id="rId18"/>
    <p:sldId id="284" r:id="rId19"/>
    <p:sldId id="286" r:id="rId20"/>
    <p:sldId id="287" r:id="rId21"/>
    <p:sldId id="288" r:id="rId22"/>
    <p:sldId id="290" r:id="rId23"/>
    <p:sldId id="289" r:id="rId24"/>
    <p:sldId id="291" r:id="rId25"/>
    <p:sldId id="294" r:id="rId26"/>
    <p:sldId id="292" r:id="rId27"/>
    <p:sldId id="357" r:id="rId28"/>
    <p:sldId id="293" r:id="rId29"/>
    <p:sldId id="295" r:id="rId30"/>
    <p:sldId id="296" r:id="rId31"/>
    <p:sldId id="297" r:id="rId32"/>
    <p:sldId id="358" r:id="rId33"/>
    <p:sldId id="303" r:id="rId34"/>
    <p:sldId id="309" r:id="rId35"/>
    <p:sldId id="298" r:id="rId36"/>
    <p:sldId id="299" r:id="rId37"/>
    <p:sldId id="307" r:id="rId38"/>
    <p:sldId id="308" r:id="rId39"/>
    <p:sldId id="310" r:id="rId40"/>
    <p:sldId id="311" r:id="rId41"/>
    <p:sldId id="376" r:id="rId42"/>
    <p:sldId id="313" r:id="rId43"/>
    <p:sldId id="314" r:id="rId44"/>
    <p:sldId id="315" r:id="rId45"/>
    <p:sldId id="317" r:id="rId46"/>
    <p:sldId id="318"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4660"/>
  </p:normalViewPr>
  <p:slideViewPr>
    <p:cSldViewPr>
      <p:cViewPr varScale="1">
        <p:scale>
          <a:sx n="74" d="100"/>
          <a:sy n="74" d="100"/>
        </p:scale>
        <p:origin x="1290" y="72"/>
      </p:cViewPr>
      <p:guideLst>
        <p:guide orient="horz" pos="2112"/>
        <p:guide pos="290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tableStyles" Target="tableStyles.xml"/><Relationship Id="rId5" Type="http://schemas.openxmlformats.org/officeDocument/2006/relationships/slide" Target="slides/slide2.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20.wmf"/><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2.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A4A4FE6-9AF0-45E8-A0D9-29394B4E0F1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33A75-F7BF-466F-B61F-F05B745867F5}"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A4A4FE6-9AF0-45E8-A0D9-29394B4E0F1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33A75-F7BF-466F-B61F-F05B745867F5}"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0A4A4FE6-9AF0-45E8-A0D9-29394B4E0F1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33A75-F7BF-466F-B61F-F05B745867F5}"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0A4A4FE6-9AF0-45E8-A0D9-29394B4E0F1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333A75-F7BF-466F-B61F-F05B745867F5}"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0A4A4FE6-9AF0-45E8-A0D9-29394B4E0F1F}"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333A75-F7BF-466F-B61F-F05B745867F5}"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A4A4FE6-9AF0-45E8-A0D9-29394B4E0F1F}"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333A75-F7BF-466F-B61F-F05B745867F5}"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4A4FE6-9AF0-45E8-A0D9-29394B4E0F1F}"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333A75-F7BF-466F-B61F-F05B745867F5}" type="slidenum">
              <a:rPr lang="en-US" smtClean="0"/>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0A4A4FE6-9AF0-45E8-A0D9-29394B4E0F1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333A75-F7BF-466F-B61F-F05B745867F5}"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0A4A4FE6-9AF0-45E8-A0D9-29394B4E0F1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333A75-F7BF-466F-B61F-F05B745867F5}"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A4A4FE6-9AF0-45E8-A0D9-29394B4E0F1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33A75-F7BF-466F-B61F-F05B745867F5}"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A4A4FE6-9AF0-45E8-A0D9-29394B4E0F1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33A75-F7BF-466F-B61F-F05B745867F5}"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3"/>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95400"/>
            <a:ext cx="4038600" cy="4830763"/>
          </a:xfrm>
          <a:prstGeom prst="rect">
            <a:avLst/>
          </a:prstGeo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648200" y="1295400"/>
            <a:ext cx="4038600" cy="4830763"/>
          </a:xfrm>
          <a:prstGeom prst="rect">
            <a:avLst/>
          </a:prstGeo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3"/>
          </a:xfrm>
          <a:prstGeom prst="rect">
            <a:avLst/>
          </a:prstGeo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295400"/>
            <a:ext cx="4038600" cy="2338388"/>
          </a:xfrm>
          <a:prstGeom prst="rect">
            <a:avLst/>
          </a:prstGeo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quarter" idx="2"/>
          </p:nvPr>
        </p:nvSpPr>
        <p:spPr>
          <a:xfrm>
            <a:off x="457200" y="3786188"/>
            <a:ext cx="4038600" cy="2339975"/>
          </a:xfrm>
          <a:prstGeom prst="rect">
            <a:avLst/>
          </a:prstGeo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half" idx="3"/>
          </p:nvPr>
        </p:nvSpPr>
        <p:spPr>
          <a:xfrm>
            <a:off x="4648200" y="1295400"/>
            <a:ext cx="4038600" cy="4830763"/>
          </a:xfrm>
          <a:prstGeom prst="rect">
            <a:avLst/>
          </a:prstGeo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smtClean="0"/>
            </a:lvl1pPr>
          </a:lstStyle>
          <a:p>
            <a:pPr>
              <a:defRPr/>
            </a:pPr>
            <a:endParaRPr lang="en-US"/>
          </a:p>
        </p:txBody>
      </p:sp>
      <p:sp>
        <p:nvSpPr>
          <p:cNvPr id="4" name="Footer Placeholder 3"/>
          <p:cNvSpPr>
            <a:spLocks noGrp="1"/>
          </p:cNvSpPr>
          <p:nvPr>
            <p:ph type="ftr" sz="quarter" idx="11"/>
          </p:nvPr>
        </p:nvSpPr>
        <p:spPr/>
        <p:txBody>
          <a:bodyPr/>
          <a:lstStyle>
            <a:lvl1pPr>
              <a:defRPr smtClean="0"/>
            </a:lvl1pPr>
          </a:lstStyle>
          <a:p>
            <a:pPr>
              <a:defRPr/>
            </a:pPr>
            <a:endParaRPr lang="en-US"/>
          </a:p>
        </p:txBody>
      </p:sp>
      <p:sp>
        <p:nvSpPr>
          <p:cNvPr id="5" name="Slide Number Placeholder 4"/>
          <p:cNvSpPr>
            <a:spLocks noGrp="1"/>
          </p:cNvSpPr>
          <p:nvPr>
            <p:ph type="sldNum" sz="quarter" idx="12"/>
          </p:nvPr>
        </p:nvSpPr>
        <p:spPr/>
        <p:txBody>
          <a:bodyPr/>
          <a:lstStyle>
            <a:lvl1pPr>
              <a:defRPr smtClean="0"/>
            </a:lvl1pPr>
          </a:lstStyle>
          <a:p>
            <a:pPr>
              <a:defRPr/>
            </a:pPr>
            <a:fld id="{34787A6B-F70B-4F12-BEEE-4B3ADA4ECF19}" type="slidenum">
              <a:rPr lang="en-US" altLang="en-US"/>
            </a:fld>
            <a:endParaRPr lang="en-US" sz="18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D77872D-73DD-477C-A1BB-A43D05C4A2C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A3AB8-42F1-4199-B5C1-F5FF05CDE5E6}"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3D77872D-73DD-477C-A1BB-A43D05C4A2C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A3AB8-42F1-4199-B5C1-F5FF05CDE5E6}"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3D77872D-73DD-477C-A1BB-A43D05C4A2C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A3AB8-42F1-4199-B5C1-F5FF05CDE5E6}"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3D77872D-73DD-477C-A1BB-A43D05C4A2C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A3AB8-42F1-4199-B5C1-F5FF05CDE5E6}"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3D77872D-73DD-477C-A1BB-A43D05C4A2C3}"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0A3AB8-42F1-4199-B5C1-F5FF05CDE5E6}"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D77872D-73DD-477C-A1BB-A43D05C4A2C3}"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0A3AB8-42F1-4199-B5C1-F5FF05CDE5E6}"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77872D-73DD-477C-A1BB-A43D05C4A2C3}"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0A3AB8-42F1-4199-B5C1-F5FF05CDE5E6}"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3D77872D-73DD-477C-A1BB-A43D05C4A2C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A3AB8-42F1-4199-B5C1-F5FF05CDE5E6}"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3D77872D-73DD-477C-A1BB-A43D05C4A2C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A3AB8-42F1-4199-B5C1-F5FF05CDE5E6}" type="slidenum">
              <a:rPr lang="en-US" smtClean="0"/>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3D77872D-73DD-477C-A1BB-A43D05C4A2C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A3AB8-42F1-4199-B5C1-F5FF05CDE5E6}" type="slidenum">
              <a:rPr lang="en-US" smtClean="0"/>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3D77872D-73DD-477C-A1BB-A43D05C4A2C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A3AB8-42F1-4199-B5C1-F5FF05CDE5E6}"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2" Type="http://schemas.openxmlformats.org/officeDocument/2006/relationships/theme" Target="../theme/theme2.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4A4FE6-9AF0-45E8-A0D9-29394B4E0F1F}"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333A75-F7BF-466F-B61F-F05B745867F5}" type="slidenum">
              <a:rPr lang="en-US" smtClean="0"/>
            </a:fld>
            <a:endParaRPr lang="en-US"/>
          </a:p>
        </p:txBody>
      </p:sp>
      <p:sp>
        <p:nvSpPr>
          <p:cNvPr id="7" name="TextBox 6"/>
          <p:cNvSpPr txBox="1"/>
          <p:nvPr userDrawn="1"/>
        </p:nvSpPr>
        <p:spPr>
          <a:xfrm>
            <a:off x="1981200" y="3124200"/>
            <a:ext cx="5257800" cy="369332"/>
          </a:xfrm>
          <a:prstGeom prst="rect">
            <a:avLst/>
          </a:prstGeom>
          <a:noFill/>
        </p:spPr>
        <p:txBody>
          <a:bodyPr wrap="square" rtlCol="0">
            <a:spAutoFit/>
          </a:bodyPr>
          <a:lstStyle/>
          <a:p>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7872D-73DD-477C-A1BB-A43D05C4A2C3}"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0A3AB8-42F1-4199-B5C1-F5FF05CDE5E6}"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en.wikipedia.org/wiki/Continuum_mechanic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19.wmf"/><Relationship Id="rId7" Type="http://schemas.openxmlformats.org/officeDocument/2006/relationships/oleObject" Target="../embeddings/oleObject4.bin"/><Relationship Id="rId6" Type="http://schemas.openxmlformats.org/officeDocument/2006/relationships/image" Target="../media/image18.wmf"/><Relationship Id="rId5" Type="http://schemas.openxmlformats.org/officeDocument/2006/relationships/oleObject" Target="../embeddings/oleObject3.bin"/><Relationship Id="rId4" Type="http://schemas.openxmlformats.org/officeDocument/2006/relationships/image" Target="../media/image17.wmf"/><Relationship Id="rId3" Type="http://schemas.openxmlformats.org/officeDocument/2006/relationships/oleObject" Target="../embeddings/oleObject2.bin"/><Relationship Id="rId2" Type="http://schemas.openxmlformats.org/officeDocument/2006/relationships/image" Target="../media/image16.wmf"/><Relationship Id="rId12" Type="http://schemas.openxmlformats.org/officeDocument/2006/relationships/vmlDrawing" Target="../drawings/vmlDrawing1.vml"/><Relationship Id="rId11" Type="http://schemas.openxmlformats.org/officeDocument/2006/relationships/slideLayout" Target="../slideLayouts/slideLayout7.xml"/><Relationship Id="rId10" Type="http://schemas.openxmlformats.org/officeDocument/2006/relationships/image" Target="../media/image20.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oleObject" Target="../embeddings/oleObject8.bin"/><Relationship Id="rId4" Type="http://schemas.openxmlformats.org/officeDocument/2006/relationships/image" Target="../media/image24.wmf"/><Relationship Id="rId3" Type="http://schemas.openxmlformats.org/officeDocument/2006/relationships/oleObject" Target="../embeddings/oleObject7.bin"/><Relationship Id="rId2" Type="http://schemas.openxmlformats.org/officeDocument/2006/relationships/image" Target="../media/image23.wmf"/><Relationship Id="rId1" Type="http://schemas.openxmlformats.org/officeDocument/2006/relationships/oleObject" Target="../embeddings/oleObject6.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6.jpeg"/></Relationships>
</file>

<file path=ppt/slides/_rels/slide1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12.xml"/><Relationship Id="rId3" Type="http://schemas.openxmlformats.org/officeDocument/2006/relationships/image" Target="../media/image28.wmf"/><Relationship Id="rId2" Type="http://schemas.openxmlformats.org/officeDocument/2006/relationships/oleObject" Target="../embeddings/oleObject9.bin"/><Relationship Id="rId1" Type="http://schemas.openxmlformats.org/officeDocument/2006/relationships/image" Target="../media/image27.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13.xml"/><Relationship Id="rId3" Type="http://schemas.openxmlformats.org/officeDocument/2006/relationships/image" Target="../media/image30.jpeg"/><Relationship Id="rId2" Type="http://schemas.openxmlformats.org/officeDocument/2006/relationships/image" Target="../media/image29.wmf"/><Relationship Id="rId1" Type="http://schemas.openxmlformats.org/officeDocument/2006/relationships/oleObject" Target="../embeddings/oleObject10.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7.xml"/><Relationship Id="rId3" Type="http://schemas.openxmlformats.org/officeDocument/2006/relationships/image" Target="../media/image32.jpeg"/><Relationship Id="rId2" Type="http://schemas.openxmlformats.org/officeDocument/2006/relationships/image" Target="../media/image31.wmf"/><Relationship Id="rId1" Type="http://schemas.openxmlformats.org/officeDocument/2006/relationships/oleObject" Target="../embeddings/oleObject11.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7.xml"/><Relationship Id="rId6" Type="http://schemas.openxmlformats.org/officeDocument/2006/relationships/image" Target="../media/image35.wmf"/><Relationship Id="rId5" Type="http://schemas.openxmlformats.org/officeDocument/2006/relationships/oleObject" Target="../embeddings/oleObject14.bin"/><Relationship Id="rId4" Type="http://schemas.openxmlformats.org/officeDocument/2006/relationships/image" Target="../media/image34.wmf"/><Relationship Id="rId3" Type="http://schemas.openxmlformats.org/officeDocument/2006/relationships/oleObject" Target="../embeddings/oleObject13.bin"/><Relationship Id="rId2" Type="http://schemas.openxmlformats.org/officeDocument/2006/relationships/image" Target="../media/image33.wmf"/><Relationship Id="rId1" Type="http://schemas.openxmlformats.org/officeDocument/2006/relationships/oleObject" Target="../embeddings/oleObject12.bin"/></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36.wmf"/><Relationship Id="rId1" Type="http://schemas.openxmlformats.org/officeDocument/2006/relationships/oleObject" Target="../embeddings/oleObject15.bin"/></Relationships>
</file>

<file path=ppt/slides/_rels/slide29.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7.xml"/><Relationship Id="rId4" Type="http://schemas.openxmlformats.org/officeDocument/2006/relationships/image" Target="../media/image38.wmf"/><Relationship Id="rId3" Type="http://schemas.openxmlformats.org/officeDocument/2006/relationships/oleObject" Target="../embeddings/oleObject17.bin"/><Relationship Id="rId2" Type="http://schemas.openxmlformats.org/officeDocument/2006/relationships/image" Target="../media/image37.wmf"/><Relationship Id="rId1" Type="http://schemas.openxmlformats.org/officeDocument/2006/relationships/oleObject" Target="../embeddings/oleObject16.bin"/></Relationships>
</file>

<file path=ppt/slides/_rels/slide30.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7.xml"/><Relationship Id="rId4" Type="http://schemas.openxmlformats.org/officeDocument/2006/relationships/image" Target="../media/image40.wmf"/><Relationship Id="rId3" Type="http://schemas.openxmlformats.org/officeDocument/2006/relationships/oleObject" Target="../embeddings/oleObject19.bin"/><Relationship Id="rId2" Type="http://schemas.openxmlformats.org/officeDocument/2006/relationships/image" Target="../media/image39.wmf"/><Relationship Id="rId1" Type="http://schemas.openxmlformats.org/officeDocument/2006/relationships/oleObject" Target="../embeddings/oleObject18.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4.jpeg"/><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image" Target="../media/image41.jpe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6.jpeg"/><Relationship Id="rId1" Type="http://schemas.openxmlformats.org/officeDocument/2006/relationships/image" Target="../media/image45.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7.xml"/><Relationship Id="rId6" Type="http://schemas.openxmlformats.org/officeDocument/2006/relationships/image" Target="../media/image49.wmf"/><Relationship Id="rId5" Type="http://schemas.openxmlformats.org/officeDocument/2006/relationships/oleObject" Target="../embeddings/oleObject22.bin"/><Relationship Id="rId4" Type="http://schemas.openxmlformats.org/officeDocument/2006/relationships/image" Target="../media/image48.wmf"/><Relationship Id="rId3" Type="http://schemas.openxmlformats.org/officeDocument/2006/relationships/oleObject" Target="../embeddings/oleObject21.bin"/><Relationship Id="rId2" Type="http://schemas.openxmlformats.org/officeDocument/2006/relationships/image" Target="../media/image47.wmf"/><Relationship Id="rId1" Type="http://schemas.openxmlformats.org/officeDocument/2006/relationships/oleObject" Target="../embeddings/oleObject20.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1.jpeg"/><Relationship Id="rId1" Type="http://schemas.openxmlformats.org/officeDocument/2006/relationships/image" Target="../media/image50.jpeg"/></Relationships>
</file>

<file path=ppt/slides/_rels/slide38.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7.xml"/><Relationship Id="rId3" Type="http://schemas.openxmlformats.org/officeDocument/2006/relationships/image" Target="../media/image53.png"/><Relationship Id="rId2" Type="http://schemas.openxmlformats.org/officeDocument/2006/relationships/image" Target="../media/image52.wmf"/><Relationship Id="rId1" Type="http://schemas.openxmlformats.org/officeDocument/2006/relationships/oleObject" Target="../embeddings/oleObject23.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546404"/>
            <a:ext cx="7772400" cy="1938992"/>
          </a:xfrm>
          <a:prstGeom prst="rect">
            <a:avLst/>
          </a:prstGeom>
          <a:noFill/>
        </p:spPr>
        <p:txBody>
          <a:bodyPr wrap="square" rtlCol="0">
            <a:spAutoFit/>
          </a:bodyPr>
          <a:lstStyle/>
          <a:p>
            <a:pPr algn="ctr"/>
            <a:r>
              <a:rPr lang="en-US" sz="4000" b="1" dirty="0" smtClean="0">
                <a:solidFill>
                  <a:schemeClr val="tx2">
                    <a:lumMod val="75000"/>
                  </a:schemeClr>
                </a:solidFill>
                <a:effectLst>
                  <a:outerShdw blurRad="38100" dist="38100" dir="2700000" algn="tl">
                    <a:srgbClr val="000000">
                      <a:alpha val="43137"/>
                    </a:srgbClr>
                  </a:outerShdw>
                </a:effectLst>
              </a:rPr>
              <a:t>Introduction to Fluid Mechanics </a:t>
            </a:r>
            <a:endParaRPr lang="en-US" sz="4000" b="1" dirty="0" smtClean="0">
              <a:solidFill>
                <a:schemeClr val="tx2">
                  <a:lumMod val="75000"/>
                </a:schemeClr>
              </a:solidFill>
              <a:effectLst>
                <a:outerShdw blurRad="38100" dist="38100" dir="2700000" algn="tl">
                  <a:srgbClr val="000000">
                    <a:alpha val="43137"/>
                  </a:srgbClr>
                </a:outerShdw>
              </a:effectLst>
            </a:endParaRPr>
          </a:p>
          <a:p>
            <a:pPr algn="ctr"/>
            <a:r>
              <a:rPr lang="en-US" sz="4000" b="1" dirty="0" smtClean="0">
                <a:solidFill>
                  <a:schemeClr val="tx2">
                    <a:lumMod val="75000"/>
                  </a:schemeClr>
                </a:solidFill>
                <a:effectLst>
                  <a:outerShdw blurRad="38100" dist="38100" dir="2700000" algn="tl">
                    <a:srgbClr val="000000">
                      <a:alpha val="43137"/>
                    </a:srgbClr>
                  </a:outerShdw>
                </a:effectLst>
              </a:rPr>
              <a:t>and </a:t>
            </a:r>
            <a:endParaRPr lang="en-US" sz="4000" b="1" dirty="0" smtClean="0">
              <a:solidFill>
                <a:schemeClr val="tx2">
                  <a:lumMod val="75000"/>
                </a:schemeClr>
              </a:solidFill>
              <a:effectLst>
                <a:outerShdw blurRad="38100" dist="38100" dir="2700000" algn="tl">
                  <a:srgbClr val="000000">
                    <a:alpha val="43137"/>
                  </a:srgbClr>
                </a:outerShdw>
              </a:effectLst>
            </a:endParaRPr>
          </a:p>
          <a:p>
            <a:pPr algn="ctr"/>
            <a:r>
              <a:rPr lang="en-US" sz="4000" b="1" dirty="0" smtClean="0">
                <a:solidFill>
                  <a:schemeClr val="tx2">
                    <a:lumMod val="75000"/>
                  </a:schemeClr>
                </a:solidFill>
                <a:effectLst>
                  <a:outerShdw blurRad="38100" dist="38100" dir="2700000" algn="tl">
                    <a:srgbClr val="000000">
                      <a:alpha val="43137"/>
                    </a:srgbClr>
                  </a:outerShdw>
                </a:effectLst>
              </a:rPr>
              <a:t>Fluid Properties</a:t>
            </a:r>
            <a:endParaRPr lang="en-US" sz="4000" b="1" dirty="0" smtClean="0">
              <a:solidFill>
                <a:schemeClr val="tx2">
                  <a:lumMod val="75000"/>
                </a:schemeClr>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1143000"/>
            <a:ext cx="8610600" cy="922020"/>
          </a:xfrm>
          <a:prstGeom prst="rect">
            <a:avLst/>
          </a:prstGeom>
          <a:noFill/>
        </p:spPr>
        <p:txBody>
          <a:bodyPr wrap="square" rtlCol="0">
            <a:spAutoFit/>
          </a:bodyPr>
          <a:lstStyle/>
          <a:p>
            <a:pPr marL="285750" indent="-285750" algn="just">
              <a:buFont typeface="Arial" panose="020B0604020202020204" pitchFamily="34" charset="0"/>
              <a:buChar char="•"/>
            </a:pPr>
            <a:r>
              <a:rPr lang="en-US" b="1" dirty="0" smtClean="0">
                <a:latin typeface="Verdana" panose="020B0604030504040204" pitchFamily="34" charset="0"/>
                <a:ea typeface="Verdana" panose="020B0604030504040204" pitchFamily="34" charset="0"/>
                <a:cs typeface="Verdana" panose="020B0604030504040204" pitchFamily="34" charset="0"/>
              </a:rPr>
              <a:t>Fluid mechanics is a branch of physics concerned with the </a:t>
            </a:r>
            <a:r>
              <a:rPr lang="en-US" b="1" dirty="0" smtClean="0">
                <a:solidFill>
                  <a:srgbClr val="7030A0"/>
                </a:solidFill>
                <a:latin typeface="Verdana" panose="020B0604030504040204" pitchFamily="34" charset="0"/>
                <a:ea typeface="Verdana" panose="020B0604030504040204" pitchFamily="34" charset="0"/>
                <a:cs typeface="Verdana" panose="020B0604030504040204" pitchFamily="34" charset="0"/>
              </a:rPr>
              <a:t>mechanics</a:t>
            </a:r>
            <a:r>
              <a:rPr lang="en-US" b="1" dirty="0" smtClean="0">
                <a:latin typeface="Verdana" panose="020B0604030504040204" pitchFamily="34" charset="0"/>
                <a:ea typeface="Verdana" panose="020B0604030504040204" pitchFamily="34" charset="0"/>
                <a:cs typeface="Verdana" panose="020B0604030504040204" pitchFamily="34" charset="0"/>
              </a:rPr>
              <a:t> of fluids (liquids, gases and plasmas) and the </a:t>
            </a:r>
            <a:r>
              <a:rPr lang="en-US" b="1" dirty="0" smtClean="0">
                <a:solidFill>
                  <a:srgbClr val="7030A0"/>
                </a:solidFill>
                <a:latin typeface="Verdana" panose="020B0604030504040204" pitchFamily="34" charset="0"/>
                <a:ea typeface="Verdana" panose="020B0604030504040204" pitchFamily="34" charset="0"/>
                <a:cs typeface="Verdana" panose="020B0604030504040204" pitchFamily="34" charset="0"/>
              </a:rPr>
              <a:t>forces</a:t>
            </a:r>
            <a:r>
              <a:rPr lang="en-US" b="1" dirty="0" smtClean="0">
                <a:latin typeface="Verdana" panose="020B0604030504040204" pitchFamily="34" charset="0"/>
                <a:ea typeface="Verdana" panose="020B0604030504040204" pitchFamily="34" charset="0"/>
                <a:cs typeface="Verdana" panose="020B0604030504040204" pitchFamily="34" charset="0"/>
              </a:rPr>
              <a:t> acting on them. </a:t>
            </a:r>
            <a:endParaRPr lang="en-US" b="1" dirty="0" smtClean="0">
              <a:latin typeface="Verdana" panose="020B0604030504040204" pitchFamily="34" charset="0"/>
              <a:ea typeface="Verdana" panose="020B0604030504040204" pitchFamily="34" charset="0"/>
              <a:cs typeface="Verdana" panose="020B0604030504040204" pitchFamily="34" charset="0"/>
            </a:endParaRPr>
          </a:p>
        </p:txBody>
      </p:sp>
      <p:sp>
        <p:nvSpPr>
          <p:cNvPr id="3" name="TextBox 2"/>
          <p:cNvSpPr txBox="1"/>
          <p:nvPr/>
        </p:nvSpPr>
        <p:spPr>
          <a:xfrm>
            <a:off x="2667000" y="152400"/>
            <a:ext cx="4343400" cy="706755"/>
          </a:xfrm>
          <a:prstGeom prst="rect">
            <a:avLst/>
          </a:prstGeom>
          <a:noFill/>
        </p:spPr>
        <p:txBody>
          <a:bodyPr wrap="square" rtlCol="0">
            <a:spAutoFit/>
          </a:bodyPr>
          <a:lstStyle/>
          <a:p>
            <a:r>
              <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Introduction</a:t>
            </a:r>
            <a:endPar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4" name="TextBox 3"/>
          <p:cNvSpPr txBox="1"/>
          <p:nvPr/>
        </p:nvSpPr>
        <p:spPr>
          <a:xfrm>
            <a:off x="304800" y="2360295"/>
            <a:ext cx="8610600" cy="3969385"/>
          </a:xfrm>
          <a:prstGeom prst="rect">
            <a:avLst/>
          </a:prstGeom>
          <a:noFill/>
        </p:spPr>
        <p:txBody>
          <a:bodyPr wrap="square" rtlCol="0">
            <a:spAutoFit/>
          </a:bodyPr>
          <a:lstStyle/>
          <a:p>
            <a:pPr marL="285750" indent="-285750" algn="just">
              <a:buFont typeface="Arial" panose="020B0604020202020204" pitchFamily="34" charset="0"/>
              <a:buChar char="•"/>
            </a:pPr>
            <a:r>
              <a:rPr lang="en-US" b="1" dirty="0" smtClean="0">
                <a:latin typeface="Verdana" panose="020B0604030504040204" pitchFamily="34" charset="0"/>
                <a:ea typeface="Verdana" panose="020B0604030504040204" pitchFamily="34" charset="0"/>
                <a:cs typeface="Verdana" panose="020B0604030504040204" pitchFamily="34" charset="0"/>
              </a:rPr>
              <a:t>Fluid mechanics has a wide range of applications:</a:t>
            </a:r>
            <a:endParaRPr lang="en-US" b="1" dirty="0" smtClean="0">
              <a:latin typeface="Verdana" panose="020B0604030504040204" pitchFamily="34" charset="0"/>
              <a:ea typeface="Verdana" panose="020B0604030504040204" pitchFamily="34" charset="0"/>
              <a:cs typeface="Verdana" panose="020B0604030504040204" pitchFamily="34" charset="0"/>
            </a:endParaRPr>
          </a:p>
          <a:p>
            <a:pPr algn="just"/>
            <a:r>
              <a:rPr lang="en-US" b="1" dirty="0" smtClean="0">
                <a:latin typeface="Verdana" panose="020B0604030504040204" pitchFamily="34" charset="0"/>
                <a:ea typeface="Verdana" panose="020B0604030504040204" pitchFamily="34" charset="0"/>
                <a:cs typeface="Verdana" panose="020B0604030504040204" pitchFamily="34" charset="0"/>
              </a:rPr>
              <a:t> </a:t>
            </a:r>
            <a:endParaRPr lang="en-US" b="1" dirty="0">
              <a:latin typeface="Verdana" panose="020B0604030504040204" pitchFamily="34" charset="0"/>
              <a:ea typeface="Verdana" panose="020B0604030504040204" pitchFamily="34" charset="0"/>
              <a:cs typeface="Verdana" panose="020B0604030504040204" pitchFamily="34" charset="0"/>
            </a:endParaRPr>
          </a:p>
          <a:p>
            <a:pPr lvl="4" algn="just">
              <a:buFont typeface="Wingdings" panose="05000000000000000000" pitchFamily="2" charset="2"/>
              <a:buChar char="Ø"/>
            </a:pPr>
            <a:r>
              <a:rPr lang="en-US" b="1" dirty="0">
                <a:latin typeface="Verdana" panose="020B0604030504040204" pitchFamily="34" charset="0"/>
                <a:ea typeface="Verdana" panose="020B0604030504040204" pitchFamily="34" charset="0"/>
                <a:cs typeface="Verdana" panose="020B0604030504040204" pitchFamily="34" charset="0"/>
              </a:rPr>
              <a:t> </a:t>
            </a:r>
            <a:r>
              <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Mechanical Engineering</a:t>
            </a:r>
            <a:endPar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lvl="4" algn="just">
              <a:buFont typeface="Wingdings" panose="05000000000000000000" pitchFamily="2" charset="2"/>
              <a:buChar char="Ø"/>
            </a:pPr>
            <a:endPar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lvl="4" algn="just">
              <a:buFont typeface="Wingdings" panose="05000000000000000000" pitchFamily="2" charset="2"/>
              <a:buChar char="Ø"/>
            </a:pPr>
            <a:r>
              <a:rPr lang="en-US" b="1"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Civil Engineering</a:t>
            </a:r>
            <a:endPar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lvl="4" algn="just">
              <a:buFont typeface="Wingdings" panose="05000000000000000000" pitchFamily="2" charset="2"/>
              <a:buChar char="Ø"/>
            </a:pPr>
            <a:endPar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lvl="4" algn="just">
              <a:buFont typeface="Wingdings" panose="05000000000000000000" pitchFamily="2" charset="2"/>
              <a:buChar char="Ø"/>
            </a:pPr>
            <a:r>
              <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Chemical Engineering</a:t>
            </a:r>
            <a:endPar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lvl="4" algn="just">
              <a:buFont typeface="Wingdings" panose="05000000000000000000" pitchFamily="2" charset="2"/>
              <a:buChar char="Ø"/>
            </a:pPr>
            <a:endPar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lvl="4" algn="just">
              <a:buFont typeface="Wingdings" panose="05000000000000000000" pitchFamily="2" charset="2"/>
              <a:buChar char="Ø"/>
            </a:pPr>
            <a:r>
              <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Geophysics</a:t>
            </a:r>
            <a:endPar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lvl="4" algn="just">
              <a:buFont typeface="Wingdings" panose="05000000000000000000" pitchFamily="2" charset="2"/>
              <a:buChar char="Ø"/>
            </a:pPr>
            <a:endPar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lvl="4" algn="just">
              <a:buFont typeface="Wingdings" panose="05000000000000000000" pitchFamily="2" charset="2"/>
              <a:buChar char="Ø"/>
            </a:pPr>
            <a:r>
              <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Astrophysics</a:t>
            </a:r>
            <a:endPar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lvl="4" algn="just">
              <a:buFont typeface="Wingdings" panose="05000000000000000000" pitchFamily="2" charset="2"/>
              <a:buChar char="Ø"/>
            </a:pPr>
            <a:endPar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lvl="4" algn="just">
              <a:buFont typeface="Wingdings" panose="05000000000000000000" pitchFamily="2" charset="2"/>
              <a:buChar char="Ø"/>
            </a:pPr>
            <a:r>
              <a:rPr lang="en-US" b="1"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Biology</a:t>
            </a:r>
            <a:endParaRPr lang="en-US" b="1" dirty="0" smtClean="0">
              <a:solidFill>
                <a:srgbClr val="C00000"/>
              </a:solidFill>
              <a:latin typeface="Verdana" panose="020B0604030504040204" pitchFamily="34" charset="0"/>
              <a:ea typeface="Verdana" panose="020B0604030504040204" pitchFamily="34" charset="0"/>
              <a:cs typeface="Verdana" panose="020B0604030504040204" pitchFamily="34" charset="0"/>
            </a:endParaRPr>
          </a:p>
          <a:p>
            <a:pPr algn="just"/>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jpg"/>
          <p:cNvPicPr>
            <a:picLocks noChangeAspect="1"/>
          </p:cNvPicPr>
          <p:nvPr/>
        </p:nvPicPr>
        <p:blipFill>
          <a:blip r:embed="rId1"/>
          <a:stretch>
            <a:fillRect/>
          </a:stretch>
        </p:blipFill>
        <p:spPr>
          <a:xfrm>
            <a:off x="304800" y="1049020"/>
            <a:ext cx="3815644" cy="1981200"/>
          </a:xfrm>
          <a:prstGeom prst="rect">
            <a:avLst/>
          </a:prstGeom>
        </p:spPr>
      </p:pic>
      <p:pic>
        <p:nvPicPr>
          <p:cNvPr id="3" name="Picture 2" descr="2.jpg"/>
          <p:cNvPicPr>
            <a:picLocks noChangeAspect="1"/>
          </p:cNvPicPr>
          <p:nvPr/>
        </p:nvPicPr>
        <p:blipFill>
          <a:blip r:embed="rId2"/>
          <a:stretch>
            <a:fillRect/>
          </a:stretch>
        </p:blipFill>
        <p:spPr>
          <a:xfrm>
            <a:off x="5105400" y="1049020"/>
            <a:ext cx="3810000" cy="1887415"/>
          </a:xfrm>
          <a:prstGeom prst="rect">
            <a:avLst/>
          </a:prstGeom>
        </p:spPr>
      </p:pic>
      <p:pic>
        <p:nvPicPr>
          <p:cNvPr id="1026" name="Picture 2" descr="Image result for flow past an airfoil"/>
          <p:cNvPicPr>
            <a:picLocks noChangeAspect="1" noChangeArrowheads="1"/>
          </p:cNvPicPr>
          <p:nvPr/>
        </p:nvPicPr>
        <p:blipFill>
          <a:blip r:embed="rId3"/>
          <a:srcRect/>
          <a:stretch>
            <a:fillRect/>
          </a:stretch>
        </p:blipFill>
        <p:spPr bwMode="auto">
          <a:xfrm>
            <a:off x="304800" y="4032591"/>
            <a:ext cx="3810000" cy="1911009"/>
          </a:xfrm>
          <a:prstGeom prst="rect">
            <a:avLst/>
          </a:prstGeom>
          <a:noFill/>
        </p:spPr>
      </p:pic>
      <p:pic>
        <p:nvPicPr>
          <p:cNvPr id="1028" name="Picture 4" descr="Image result for flow in a pipe"/>
          <p:cNvPicPr>
            <a:picLocks noChangeAspect="1" noChangeArrowheads="1"/>
          </p:cNvPicPr>
          <p:nvPr/>
        </p:nvPicPr>
        <p:blipFill>
          <a:blip r:embed="rId4"/>
          <a:srcRect/>
          <a:stretch>
            <a:fillRect/>
          </a:stretch>
        </p:blipFill>
        <p:spPr bwMode="auto">
          <a:xfrm>
            <a:off x="5029200" y="4038600"/>
            <a:ext cx="3886200" cy="1905000"/>
          </a:xfrm>
          <a:prstGeom prst="rect">
            <a:avLst/>
          </a:prstGeom>
          <a:noFill/>
        </p:spPr>
      </p:pic>
      <p:sp>
        <p:nvSpPr>
          <p:cNvPr id="6" name="TextBox 5"/>
          <p:cNvSpPr txBox="1"/>
          <p:nvPr/>
        </p:nvSpPr>
        <p:spPr>
          <a:xfrm>
            <a:off x="2847975" y="143510"/>
            <a:ext cx="3733800" cy="707886"/>
          </a:xfrm>
          <a:prstGeom prst="rect">
            <a:avLst/>
          </a:prstGeom>
          <a:noFill/>
        </p:spPr>
        <p:txBody>
          <a:bodyPr wrap="square" rtlCol="0">
            <a:spAutoFit/>
          </a:bodyPr>
          <a:lstStyle/>
          <a:p>
            <a:r>
              <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Applications</a:t>
            </a:r>
            <a:endPar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7" name="TextBox 6"/>
          <p:cNvSpPr txBox="1"/>
          <p:nvPr/>
        </p:nvSpPr>
        <p:spPr>
          <a:xfrm>
            <a:off x="304800" y="3103245"/>
            <a:ext cx="3810000"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Flow past a square cylinder</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
        <p:nvSpPr>
          <p:cNvPr id="8" name="TextBox 7"/>
          <p:cNvSpPr txBox="1"/>
          <p:nvPr/>
        </p:nvSpPr>
        <p:spPr>
          <a:xfrm>
            <a:off x="5172710" y="3030220"/>
            <a:ext cx="3810000"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Flow past a circular cylinder</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
        <p:nvSpPr>
          <p:cNvPr id="9" name="TextBox 8"/>
          <p:cNvSpPr txBox="1"/>
          <p:nvPr/>
        </p:nvSpPr>
        <p:spPr>
          <a:xfrm>
            <a:off x="838200" y="5943600"/>
            <a:ext cx="2667000"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Flow past an airfoil</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
        <p:nvSpPr>
          <p:cNvPr id="10" name="TextBox 9"/>
          <p:cNvSpPr txBox="1"/>
          <p:nvPr/>
        </p:nvSpPr>
        <p:spPr>
          <a:xfrm>
            <a:off x="5715000" y="5943600"/>
            <a:ext cx="2895600"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Flow through a pipe</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linds(horizontal)">
                                      <p:cBhvr>
                                        <p:cTn id="15" dur="500"/>
                                        <p:tgtEl>
                                          <p:spTgt spid="3"/>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animEffect transition="in" filter="blinds(horizontal)">
                                      <p:cBhvr>
                                        <p:cTn id="23" dur="500"/>
                                        <p:tgtEl>
                                          <p:spTgt spid="1026"/>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linds(horizontal)">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028"/>
                                        </p:tgtEl>
                                        <p:attrNameLst>
                                          <p:attrName>style.visibility</p:attrName>
                                        </p:attrNameLst>
                                      </p:cBhvr>
                                      <p:to>
                                        <p:strVal val="visible"/>
                                      </p:to>
                                    </p:set>
                                    <p:animEffect transition="in" filter="blinds(horizontal)">
                                      <p:cBhvr>
                                        <p:cTn id="31" dur="500"/>
                                        <p:tgtEl>
                                          <p:spTgt spid="1028"/>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linds(horizontal)">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77820" y="102870"/>
            <a:ext cx="3733800" cy="706755"/>
          </a:xfrm>
          <a:prstGeom prst="rect">
            <a:avLst/>
          </a:prstGeom>
          <a:noFill/>
        </p:spPr>
        <p:txBody>
          <a:bodyPr wrap="square" rtlCol="0">
            <a:spAutoFit/>
          </a:bodyPr>
          <a:lstStyle/>
          <a:p>
            <a:r>
              <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Applications</a:t>
            </a:r>
            <a:endPar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pic>
        <p:nvPicPr>
          <p:cNvPr id="16388" name="Picture 4" descr="Image result for flow against a dam"/>
          <p:cNvPicPr>
            <a:picLocks noChangeAspect="1" noChangeArrowheads="1"/>
          </p:cNvPicPr>
          <p:nvPr/>
        </p:nvPicPr>
        <p:blipFill>
          <a:blip r:embed="rId1"/>
          <a:srcRect/>
          <a:stretch>
            <a:fillRect/>
          </a:stretch>
        </p:blipFill>
        <p:spPr bwMode="auto">
          <a:xfrm>
            <a:off x="283846" y="990600"/>
            <a:ext cx="4191000" cy="1981200"/>
          </a:xfrm>
          <a:prstGeom prst="rect">
            <a:avLst/>
          </a:prstGeom>
          <a:noFill/>
        </p:spPr>
      </p:pic>
      <p:pic>
        <p:nvPicPr>
          <p:cNvPr id="16390" name="Picture 6" descr="Image result for flow over suspension bridge"/>
          <p:cNvPicPr>
            <a:picLocks noChangeAspect="1" noChangeArrowheads="1"/>
          </p:cNvPicPr>
          <p:nvPr/>
        </p:nvPicPr>
        <p:blipFill>
          <a:blip r:embed="rId2"/>
          <a:srcRect/>
          <a:stretch>
            <a:fillRect/>
          </a:stretch>
        </p:blipFill>
        <p:spPr bwMode="auto">
          <a:xfrm>
            <a:off x="4819015" y="990600"/>
            <a:ext cx="4154129" cy="1981200"/>
          </a:xfrm>
          <a:prstGeom prst="rect">
            <a:avLst/>
          </a:prstGeom>
          <a:noFill/>
        </p:spPr>
      </p:pic>
      <p:sp>
        <p:nvSpPr>
          <p:cNvPr id="16392" name="AutoShape 8" descr="Image result for bursting of bubbl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dirty="0"/>
          </a:p>
        </p:txBody>
      </p:sp>
      <p:sp>
        <p:nvSpPr>
          <p:cNvPr id="16394" name="AutoShape 10" descr="Image result for bursting of bubbl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dirty="0"/>
          </a:p>
        </p:txBody>
      </p:sp>
      <p:sp>
        <p:nvSpPr>
          <p:cNvPr id="16396" name="AutoShape 12" descr="Image result for bursting of bubbl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dirty="0"/>
          </a:p>
        </p:txBody>
      </p:sp>
      <p:pic>
        <p:nvPicPr>
          <p:cNvPr id="9" name="Picture 8" descr="3.jpg"/>
          <p:cNvPicPr>
            <a:picLocks noChangeAspect="1"/>
          </p:cNvPicPr>
          <p:nvPr/>
        </p:nvPicPr>
        <p:blipFill>
          <a:blip r:embed="rId3"/>
          <a:stretch>
            <a:fillRect/>
          </a:stretch>
        </p:blipFill>
        <p:spPr>
          <a:xfrm>
            <a:off x="256736" y="3657600"/>
            <a:ext cx="4218214" cy="2362200"/>
          </a:xfrm>
          <a:prstGeom prst="rect">
            <a:avLst/>
          </a:prstGeom>
        </p:spPr>
      </p:pic>
      <p:sp>
        <p:nvSpPr>
          <p:cNvPr id="16398" name="AutoShape 14" descr="Image result for chemical rea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dirty="0"/>
          </a:p>
        </p:txBody>
      </p:sp>
      <p:pic>
        <p:nvPicPr>
          <p:cNvPr id="11" name="Picture 10" descr="4.jpg"/>
          <p:cNvPicPr>
            <a:picLocks noChangeAspect="1"/>
          </p:cNvPicPr>
          <p:nvPr/>
        </p:nvPicPr>
        <p:blipFill>
          <a:blip r:embed="rId4"/>
          <a:stretch>
            <a:fillRect/>
          </a:stretch>
        </p:blipFill>
        <p:spPr>
          <a:xfrm>
            <a:off x="4766604" y="3657600"/>
            <a:ext cx="4126902" cy="2362200"/>
          </a:xfrm>
          <a:prstGeom prst="rect">
            <a:avLst/>
          </a:prstGeom>
        </p:spPr>
      </p:pic>
      <p:sp>
        <p:nvSpPr>
          <p:cNvPr id="12" name="TextBox 11"/>
          <p:cNvSpPr txBox="1"/>
          <p:nvPr/>
        </p:nvSpPr>
        <p:spPr>
          <a:xfrm>
            <a:off x="762000" y="3029585"/>
            <a:ext cx="3505200" cy="381000"/>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Flow through syphon</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
        <p:nvSpPr>
          <p:cNvPr id="13" name="TextBox 12"/>
          <p:cNvSpPr txBox="1"/>
          <p:nvPr/>
        </p:nvSpPr>
        <p:spPr>
          <a:xfrm>
            <a:off x="4819015" y="3029585"/>
            <a:ext cx="4191000"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Flow past a suspension bridge</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
        <p:nvSpPr>
          <p:cNvPr id="14" name="TextBox 13"/>
          <p:cNvSpPr txBox="1"/>
          <p:nvPr/>
        </p:nvSpPr>
        <p:spPr>
          <a:xfrm>
            <a:off x="762000" y="6096000"/>
            <a:ext cx="3505200" cy="381000"/>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Bursting of bubbles</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
        <p:nvSpPr>
          <p:cNvPr id="15" name="TextBox 14"/>
          <p:cNvSpPr txBox="1"/>
          <p:nvPr/>
        </p:nvSpPr>
        <p:spPr>
          <a:xfrm>
            <a:off x="5410200" y="6096000"/>
            <a:ext cx="2590800" cy="381000"/>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Chemical reaction</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blinds(horizontal)">
                                      <p:cBhvr>
                                        <p:cTn id="7" dur="500"/>
                                        <p:tgtEl>
                                          <p:spTgt spid="1638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6390"/>
                                        </p:tgtEl>
                                        <p:attrNameLst>
                                          <p:attrName>style.visibility</p:attrName>
                                        </p:attrNameLst>
                                      </p:cBhvr>
                                      <p:to>
                                        <p:strVal val="visible"/>
                                      </p:to>
                                    </p:set>
                                    <p:animEffect transition="in" filter="blinds(horizontal)">
                                      <p:cBhvr>
                                        <p:cTn id="15" dur="500"/>
                                        <p:tgtEl>
                                          <p:spTgt spid="1639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linds(horizontal)">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blinds(horizontal)">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linds(horizontal)">
                                      <p:cBhvr>
                                        <p:cTn id="31" dur="500"/>
                                        <p:tgtEl>
                                          <p:spTgt spid="11"/>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blinds(horizontal)">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19400" y="-76200"/>
            <a:ext cx="3733800" cy="707886"/>
          </a:xfrm>
          <a:prstGeom prst="rect">
            <a:avLst/>
          </a:prstGeom>
          <a:noFill/>
        </p:spPr>
        <p:txBody>
          <a:bodyPr wrap="square" rtlCol="0">
            <a:spAutoFit/>
          </a:bodyPr>
          <a:lstStyle/>
          <a:p>
            <a:r>
              <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Applications</a:t>
            </a:r>
            <a:endPar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5.jpg"/>
          <p:cNvPicPr>
            <a:picLocks noChangeAspect="1"/>
          </p:cNvPicPr>
          <p:nvPr/>
        </p:nvPicPr>
        <p:blipFill>
          <a:blip r:embed="rId1"/>
          <a:stretch>
            <a:fillRect/>
          </a:stretch>
        </p:blipFill>
        <p:spPr>
          <a:xfrm>
            <a:off x="304800" y="761999"/>
            <a:ext cx="3352800" cy="2082265"/>
          </a:xfrm>
          <a:prstGeom prst="rect">
            <a:avLst/>
          </a:prstGeom>
        </p:spPr>
      </p:pic>
      <p:pic>
        <p:nvPicPr>
          <p:cNvPr id="4" name="Picture 3" descr="6.jpg"/>
          <p:cNvPicPr>
            <a:picLocks noChangeAspect="1"/>
          </p:cNvPicPr>
          <p:nvPr/>
        </p:nvPicPr>
        <p:blipFill>
          <a:blip r:embed="rId2"/>
          <a:stretch>
            <a:fillRect/>
          </a:stretch>
        </p:blipFill>
        <p:spPr>
          <a:xfrm>
            <a:off x="4648200" y="762000"/>
            <a:ext cx="4038600" cy="2087367"/>
          </a:xfrm>
          <a:prstGeom prst="rect">
            <a:avLst/>
          </a:prstGeom>
        </p:spPr>
      </p:pic>
      <p:pic>
        <p:nvPicPr>
          <p:cNvPr id="5" name="Picture 4" descr="7.jpg"/>
          <p:cNvPicPr>
            <a:picLocks noChangeAspect="1"/>
          </p:cNvPicPr>
          <p:nvPr/>
        </p:nvPicPr>
        <p:blipFill>
          <a:blip r:embed="rId3"/>
          <a:stretch>
            <a:fillRect/>
          </a:stretch>
        </p:blipFill>
        <p:spPr>
          <a:xfrm>
            <a:off x="304800" y="3620869"/>
            <a:ext cx="3333750" cy="2438400"/>
          </a:xfrm>
          <a:prstGeom prst="rect">
            <a:avLst/>
          </a:prstGeom>
        </p:spPr>
      </p:pic>
      <p:pic>
        <p:nvPicPr>
          <p:cNvPr id="6" name="Picture 5" descr="8.jpg"/>
          <p:cNvPicPr>
            <a:picLocks noChangeAspect="1"/>
          </p:cNvPicPr>
          <p:nvPr/>
        </p:nvPicPr>
        <p:blipFill>
          <a:blip r:embed="rId4"/>
          <a:stretch>
            <a:fillRect/>
          </a:stretch>
        </p:blipFill>
        <p:spPr>
          <a:xfrm>
            <a:off x="5715000" y="3505200"/>
            <a:ext cx="2286893" cy="2590800"/>
          </a:xfrm>
          <a:prstGeom prst="rect">
            <a:avLst/>
          </a:prstGeom>
        </p:spPr>
      </p:pic>
      <p:sp>
        <p:nvSpPr>
          <p:cNvPr id="7" name="TextBox 6"/>
          <p:cNvSpPr txBox="1"/>
          <p:nvPr/>
        </p:nvSpPr>
        <p:spPr>
          <a:xfrm>
            <a:off x="304800" y="2819400"/>
            <a:ext cx="3352800" cy="381000"/>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Flow past a motor car</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
        <p:nvSpPr>
          <p:cNvPr id="8" name="TextBox 7"/>
          <p:cNvSpPr txBox="1"/>
          <p:nvPr/>
        </p:nvSpPr>
        <p:spPr>
          <a:xfrm>
            <a:off x="5410200" y="6096000"/>
            <a:ext cx="2971800"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Water flow in a plant</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
        <p:nvSpPr>
          <p:cNvPr id="9" name="TextBox 8"/>
          <p:cNvSpPr txBox="1"/>
          <p:nvPr/>
        </p:nvSpPr>
        <p:spPr>
          <a:xfrm>
            <a:off x="304800" y="6059269"/>
            <a:ext cx="3352800" cy="646331"/>
          </a:xfrm>
          <a:prstGeom prst="rect">
            <a:avLst/>
          </a:prstGeom>
          <a:noFill/>
        </p:spPr>
        <p:txBody>
          <a:bodyPr wrap="square" rtlCol="0">
            <a:spAutoFit/>
          </a:bodyPr>
          <a:lstStyle/>
          <a:p>
            <a:pPr algn="ctr"/>
            <a:r>
              <a:rPr lang="en-US" b="1" dirty="0" smtClean="0">
                <a:latin typeface="Verdana" panose="020B0604030504040204" pitchFamily="34" charset="0"/>
                <a:ea typeface="Verdana" panose="020B0604030504040204" pitchFamily="34" charset="0"/>
                <a:cs typeface="Verdana" panose="020B0604030504040204" pitchFamily="34" charset="0"/>
              </a:rPr>
              <a:t>Blood flow inside veins and arteries</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
        <p:nvSpPr>
          <p:cNvPr id="10" name="TextBox 9"/>
          <p:cNvSpPr txBox="1"/>
          <p:nvPr/>
        </p:nvSpPr>
        <p:spPr>
          <a:xfrm>
            <a:off x="5562600" y="2895600"/>
            <a:ext cx="1981200"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Astrophysics</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par>
                                <p:cTn id="24" presetID="3" presetClass="entr" presetSubtype="1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linds(horizontal)">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linds(horizontal)">
                                      <p:cBhvr>
                                        <p:cTn id="31" dur="500"/>
                                        <p:tgtEl>
                                          <p:spTgt spid="6"/>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blinds(horizontal)">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19400" y="-76200"/>
            <a:ext cx="3733800" cy="707886"/>
          </a:xfrm>
          <a:prstGeom prst="rect">
            <a:avLst/>
          </a:prstGeom>
          <a:noFill/>
        </p:spPr>
        <p:txBody>
          <a:bodyPr wrap="square" rtlCol="0">
            <a:spAutoFit/>
          </a:bodyPr>
          <a:lstStyle/>
          <a:p>
            <a:r>
              <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Applications</a:t>
            </a:r>
            <a:endPar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9.jpg"/>
          <p:cNvPicPr>
            <a:picLocks noChangeAspect="1"/>
          </p:cNvPicPr>
          <p:nvPr/>
        </p:nvPicPr>
        <p:blipFill>
          <a:blip r:embed="rId1"/>
          <a:stretch>
            <a:fillRect/>
          </a:stretch>
        </p:blipFill>
        <p:spPr>
          <a:xfrm>
            <a:off x="457200" y="762000"/>
            <a:ext cx="2438400" cy="1826446"/>
          </a:xfrm>
          <a:prstGeom prst="rect">
            <a:avLst/>
          </a:prstGeom>
        </p:spPr>
      </p:pic>
      <p:pic>
        <p:nvPicPr>
          <p:cNvPr id="4" name="Picture 3" descr="11.jpg"/>
          <p:cNvPicPr>
            <a:picLocks noChangeAspect="1"/>
          </p:cNvPicPr>
          <p:nvPr/>
        </p:nvPicPr>
        <p:blipFill>
          <a:blip r:embed="rId2"/>
          <a:stretch>
            <a:fillRect/>
          </a:stretch>
        </p:blipFill>
        <p:spPr>
          <a:xfrm>
            <a:off x="5029200" y="762000"/>
            <a:ext cx="3810000" cy="1905000"/>
          </a:xfrm>
          <a:prstGeom prst="rect">
            <a:avLst/>
          </a:prstGeom>
        </p:spPr>
      </p:pic>
      <p:pic>
        <p:nvPicPr>
          <p:cNvPr id="5" name="Picture 4" descr="10.jpg"/>
          <p:cNvPicPr>
            <a:picLocks noChangeAspect="1"/>
          </p:cNvPicPr>
          <p:nvPr/>
        </p:nvPicPr>
        <p:blipFill>
          <a:blip r:embed="rId3"/>
          <a:stretch>
            <a:fillRect/>
          </a:stretch>
        </p:blipFill>
        <p:spPr>
          <a:xfrm>
            <a:off x="1143000" y="3200400"/>
            <a:ext cx="7010400" cy="3229726"/>
          </a:xfrm>
          <a:prstGeom prst="rect">
            <a:avLst/>
          </a:prstGeom>
        </p:spPr>
      </p:pic>
      <p:sp>
        <p:nvSpPr>
          <p:cNvPr id="6" name="TextBox 5"/>
          <p:cNvSpPr txBox="1"/>
          <p:nvPr/>
        </p:nvSpPr>
        <p:spPr>
          <a:xfrm>
            <a:off x="395068" y="2562664"/>
            <a:ext cx="2438400" cy="369332"/>
          </a:xfrm>
          <a:prstGeom prst="rect">
            <a:avLst/>
          </a:prstGeom>
          <a:noFill/>
        </p:spPr>
        <p:txBody>
          <a:bodyPr wrap="square" rtlCol="0">
            <a:spAutoFit/>
          </a:bodyPr>
          <a:lstStyle/>
          <a:p>
            <a:pPr algn="ctr"/>
            <a:r>
              <a:rPr lang="en-US" b="1" dirty="0" smtClean="0">
                <a:latin typeface="Verdana" panose="020B0604030504040204" pitchFamily="34" charset="0"/>
                <a:ea typeface="Verdana" panose="020B0604030504040204" pitchFamily="34" charset="0"/>
                <a:cs typeface="Verdana" panose="020B0604030504040204" pitchFamily="34" charset="0"/>
              </a:rPr>
              <a:t>Flying of Birds</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
        <p:nvSpPr>
          <p:cNvPr id="7" name="TextBox 6"/>
          <p:cNvSpPr txBox="1"/>
          <p:nvPr/>
        </p:nvSpPr>
        <p:spPr>
          <a:xfrm>
            <a:off x="3200400" y="6400800"/>
            <a:ext cx="3429000" cy="369332"/>
          </a:xfrm>
          <a:prstGeom prst="rect">
            <a:avLst/>
          </a:prstGeom>
          <a:noFill/>
        </p:spPr>
        <p:txBody>
          <a:bodyPr wrap="square" rtlCol="0">
            <a:spAutoFit/>
          </a:bodyPr>
          <a:lstStyle/>
          <a:p>
            <a:pPr algn="ctr"/>
            <a:r>
              <a:rPr lang="en-US" b="1" dirty="0" smtClean="0">
                <a:latin typeface="Verdana" panose="020B0604030504040204" pitchFamily="34" charset="0"/>
                <a:ea typeface="Verdana" panose="020B0604030504040204" pitchFamily="34" charset="0"/>
                <a:cs typeface="Verdana" panose="020B0604030504040204" pitchFamily="34" charset="0"/>
              </a:rPr>
              <a:t>Bowling of cricket ball</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
        <p:nvSpPr>
          <p:cNvPr id="8" name="TextBox 7"/>
          <p:cNvSpPr txBox="1"/>
          <p:nvPr/>
        </p:nvSpPr>
        <p:spPr>
          <a:xfrm>
            <a:off x="5867400" y="2667000"/>
            <a:ext cx="2743200" cy="369332"/>
          </a:xfrm>
          <a:prstGeom prst="rect">
            <a:avLst/>
          </a:prstGeom>
          <a:noFill/>
        </p:spPr>
        <p:txBody>
          <a:bodyPr wrap="square" rtlCol="0">
            <a:spAutoFit/>
          </a:bodyPr>
          <a:lstStyle/>
          <a:p>
            <a:pPr algn="ctr"/>
            <a:r>
              <a:rPr lang="en-US" b="1" dirty="0" smtClean="0">
                <a:latin typeface="Verdana" panose="020B0604030504040204" pitchFamily="34" charset="0"/>
                <a:ea typeface="Verdana" panose="020B0604030504040204" pitchFamily="34" charset="0"/>
                <a:cs typeface="Verdana" panose="020B0604030504040204" pitchFamily="34" charset="0"/>
              </a:rPr>
              <a:t>Denting of golf ball</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344930"/>
            <a:ext cx="9144000" cy="3539430"/>
          </a:xfrm>
          <a:prstGeom prst="rect">
            <a:avLst/>
          </a:prstGeom>
        </p:spPr>
        <p:txBody>
          <a:bodyPr wrap="square">
            <a:spAutoFit/>
          </a:bodyPr>
          <a:lstStyle/>
          <a:p>
            <a:pPr marL="342900" indent="-342900" algn="just">
              <a:buAutoNum type="arabicPeriod"/>
            </a:pPr>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Fluid Mechanics and Fluid Power Engineering by D.S. Kumar, </a:t>
            </a:r>
            <a:r>
              <a:rPr lang="en-US" sz="1600" b="1" dirty="0" err="1" smtClean="0">
                <a:solidFill>
                  <a:schemeClr val="tx1"/>
                </a:solidFill>
                <a:latin typeface="Verdana" panose="020B0604030504040204" pitchFamily="34" charset="0"/>
                <a:ea typeface="Verdana" panose="020B0604030504040204" pitchFamily="34" charset="0"/>
                <a:cs typeface="Verdana" panose="020B0604030504040204" pitchFamily="34" charset="0"/>
              </a:rPr>
              <a:t>S.K.Kataria</a:t>
            </a:r>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&amp;      </a:t>
            </a:r>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342900" indent="-342900" algn="just"/>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Sons</a:t>
            </a:r>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342900" indent="-342900" algn="just"/>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2. Fluid Mechanics and Hydraulic Machines by R.K. </a:t>
            </a:r>
            <a:r>
              <a:rPr lang="en-US" sz="1600" b="1" dirty="0" err="1" smtClean="0">
                <a:solidFill>
                  <a:schemeClr val="tx1"/>
                </a:solidFill>
                <a:latin typeface="Verdana" panose="020B0604030504040204" pitchFamily="34" charset="0"/>
                <a:ea typeface="Verdana" panose="020B0604030504040204" pitchFamily="34" charset="0"/>
                <a:cs typeface="Verdana" panose="020B0604030504040204" pitchFamily="34" charset="0"/>
              </a:rPr>
              <a:t>Bansal</a:t>
            </a:r>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600" b="1" dirty="0" err="1" smtClean="0">
                <a:solidFill>
                  <a:schemeClr val="tx1"/>
                </a:solidFill>
                <a:latin typeface="Verdana" panose="020B0604030504040204" pitchFamily="34" charset="0"/>
                <a:ea typeface="Verdana" panose="020B0604030504040204" pitchFamily="34" charset="0"/>
                <a:cs typeface="Verdana" panose="020B0604030504040204" pitchFamily="34" charset="0"/>
              </a:rPr>
              <a:t>Laxmi</a:t>
            </a:r>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Publications</a:t>
            </a:r>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3. Fluid Mechanics and Hydraulic Machines by R.K. </a:t>
            </a:r>
            <a:r>
              <a:rPr lang="en-US" sz="1600" b="1" dirty="0" err="1" smtClean="0">
                <a:solidFill>
                  <a:schemeClr val="tx1"/>
                </a:solidFill>
                <a:latin typeface="Verdana" panose="020B0604030504040204" pitchFamily="34" charset="0"/>
                <a:ea typeface="Verdana" panose="020B0604030504040204" pitchFamily="34" charset="0"/>
                <a:cs typeface="Verdana" panose="020B0604030504040204" pitchFamily="34" charset="0"/>
              </a:rPr>
              <a:t>Rajput</a:t>
            </a:r>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600" b="1" dirty="0" err="1" smtClean="0">
                <a:solidFill>
                  <a:schemeClr val="tx1"/>
                </a:solidFill>
                <a:latin typeface="Verdana" panose="020B0604030504040204" pitchFamily="34" charset="0"/>
                <a:ea typeface="Verdana" panose="020B0604030504040204" pitchFamily="34" charset="0"/>
                <a:cs typeface="Verdana" panose="020B0604030504040204" pitchFamily="34" charset="0"/>
              </a:rPr>
              <a:t>S.Chand</a:t>
            </a:r>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&amp; Co.</a:t>
            </a:r>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endParaRPr lang="en-US" sz="1600" b="1" dirty="0" smtClean="0">
              <a:solidFill>
                <a:srgbClr val="002060"/>
              </a:solidFill>
              <a:latin typeface="Verdana" panose="020B0604030504040204" pitchFamily="34" charset="0"/>
              <a:ea typeface="Verdana" panose="020B0604030504040204" pitchFamily="34" charset="0"/>
              <a:cs typeface="Verdana" panose="020B0604030504040204" pitchFamily="34" charset="0"/>
            </a:endParaRPr>
          </a:p>
          <a:p>
            <a:pPr algn="just"/>
            <a:r>
              <a:rPr lang="en-US" sz="1600" b="1" dirty="0" smtClean="0">
                <a:solidFill>
                  <a:srgbClr val="FF0000"/>
                </a:solidFill>
                <a:latin typeface="Verdana" panose="020B0604030504040204" pitchFamily="34" charset="0"/>
                <a:ea typeface="Verdana" panose="020B0604030504040204" pitchFamily="34" charset="0"/>
                <a:cs typeface="Verdana" panose="020B0604030504040204" pitchFamily="34" charset="0"/>
              </a:rPr>
              <a:t>4. Fluid Mechanics by Frank .M. White, McGraw Hill Publishing Company Ltd.</a:t>
            </a:r>
            <a:endParaRPr lang="en-US" sz="1600" b="1" dirty="0" smtClean="0">
              <a:solidFill>
                <a:srgbClr val="FF0000"/>
              </a:solidFill>
              <a:latin typeface="Verdana" panose="020B0604030504040204" pitchFamily="34" charset="0"/>
              <a:ea typeface="Verdana" panose="020B0604030504040204" pitchFamily="34" charset="0"/>
              <a:cs typeface="Verdana" panose="020B0604030504040204" pitchFamily="34" charset="0"/>
            </a:endParaRPr>
          </a:p>
          <a:p>
            <a:pPr algn="just"/>
            <a:endParaRPr lang="en-US" sz="1600" b="1" dirty="0" smtClean="0">
              <a:solidFill>
                <a:srgbClr val="FF0000"/>
              </a:solidFill>
              <a:latin typeface="Verdana" panose="020B0604030504040204" pitchFamily="34" charset="0"/>
              <a:ea typeface="Verdana" panose="020B0604030504040204" pitchFamily="34" charset="0"/>
              <a:cs typeface="Verdana" panose="020B0604030504040204" pitchFamily="34" charset="0"/>
            </a:endParaRPr>
          </a:p>
          <a:p>
            <a:pPr algn="just"/>
            <a:r>
              <a:rPr lang="en-US" sz="1600" b="1" dirty="0" smtClean="0">
                <a:solidFill>
                  <a:srgbClr val="FF0000"/>
                </a:solidFill>
                <a:latin typeface="Verdana" panose="020B0604030504040204" pitchFamily="34" charset="0"/>
                <a:ea typeface="Verdana" panose="020B0604030504040204" pitchFamily="34" charset="0"/>
                <a:cs typeface="Verdana" panose="020B0604030504040204" pitchFamily="34" charset="0"/>
              </a:rPr>
              <a:t>5. Fundamentals of Fluid Mechanics by Munson, Wiley India Pvt. Ltd</a:t>
            </a:r>
            <a:endParaRPr lang="en-US" sz="1600" b="1" dirty="0" smtClean="0">
              <a:solidFill>
                <a:srgbClr val="FF0000"/>
              </a:solidFill>
              <a:latin typeface="Verdana" panose="020B0604030504040204" pitchFamily="34" charset="0"/>
              <a:ea typeface="Verdana" panose="020B0604030504040204" pitchFamily="34" charset="0"/>
              <a:cs typeface="Verdana" panose="020B0604030504040204" pitchFamily="34" charset="0"/>
            </a:endParaRPr>
          </a:p>
          <a:p>
            <a:pPr algn="just"/>
            <a:endParaRPr lang="en-US" sz="1600" b="1" dirty="0" smtClean="0">
              <a:solidFill>
                <a:srgbClr val="002060"/>
              </a:solidFill>
              <a:latin typeface="Verdana" panose="020B0604030504040204" pitchFamily="34" charset="0"/>
              <a:ea typeface="Verdana" panose="020B0604030504040204" pitchFamily="34" charset="0"/>
              <a:cs typeface="Verdana" panose="020B0604030504040204" pitchFamily="34" charset="0"/>
            </a:endParaRPr>
          </a:p>
          <a:p>
            <a:pPr algn="just"/>
            <a:r>
              <a:rPr lang="en-US" sz="1600" b="1" dirty="0" smtClean="0">
                <a:solidFill>
                  <a:srgbClr val="002060"/>
                </a:solidFill>
                <a:latin typeface="Verdana" panose="020B0604030504040204" pitchFamily="34" charset="0"/>
                <a:ea typeface="Verdana" panose="020B0604030504040204" pitchFamily="34" charset="0"/>
                <a:cs typeface="Verdana" panose="020B0604030504040204" pitchFamily="34" charset="0"/>
              </a:rPr>
              <a:t>6. </a:t>
            </a:r>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Fluid Mechanics by A. K. </a:t>
            </a:r>
            <a:r>
              <a:rPr lang="en-US" sz="1600" b="1" dirty="0" err="1" smtClean="0">
                <a:solidFill>
                  <a:schemeClr val="tx1"/>
                </a:solidFill>
                <a:latin typeface="Verdana" panose="020B0604030504040204" pitchFamily="34" charset="0"/>
                <a:ea typeface="Verdana" panose="020B0604030504040204" pitchFamily="34" charset="0"/>
                <a:cs typeface="Verdana" panose="020B0604030504040204" pitchFamily="34" charset="0"/>
              </a:rPr>
              <a:t>Mohanty</a:t>
            </a:r>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PHI Learning Pvt. Ltd.</a:t>
            </a:r>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7. Laboratory Manual Hydraulics and Hydraulic Machines by R V </a:t>
            </a:r>
            <a:r>
              <a:rPr lang="en-US" sz="1600" b="1" dirty="0" err="1" smtClean="0">
                <a:solidFill>
                  <a:schemeClr val="tx1"/>
                </a:solidFill>
                <a:latin typeface="Verdana" panose="020B0604030504040204" pitchFamily="34" charset="0"/>
                <a:ea typeface="Verdana" panose="020B0604030504040204" pitchFamily="34" charset="0"/>
                <a:cs typeface="Verdana" panose="020B0604030504040204" pitchFamily="34" charset="0"/>
              </a:rPr>
              <a:t>Raikar</a:t>
            </a:r>
            <a:endParaRPr lang="en-US" sz="1600" b="1" dirty="0" err="1" smtClean="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3" name="TextBox 2"/>
          <p:cNvSpPr txBox="1"/>
          <p:nvPr/>
        </p:nvSpPr>
        <p:spPr>
          <a:xfrm>
            <a:off x="2285365" y="124460"/>
            <a:ext cx="5486400" cy="707886"/>
          </a:xfrm>
          <a:prstGeom prst="rect">
            <a:avLst/>
          </a:prstGeom>
          <a:noFill/>
        </p:spPr>
        <p:txBody>
          <a:bodyPr wrap="square" rtlCol="0">
            <a:spAutoFit/>
          </a:bodyPr>
          <a:lstStyle/>
          <a:p>
            <a:r>
              <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Reference Books</a:t>
            </a:r>
            <a:endPar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752600"/>
            <a:ext cx="8763000" cy="2831544"/>
          </a:xfrm>
          <a:prstGeom prst="rect">
            <a:avLst/>
          </a:prstGeom>
        </p:spPr>
        <p:txBody>
          <a:bodyPr wrap="square">
            <a:spAutoFit/>
          </a:bodyPr>
          <a:lstStyle/>
          <a:p>
            <a:pPr algn="just">
              <a:buFont typeface="Wingdings" panose="05000000000000000000" pitchFamily="2" charset="2"/>
              <a:buChar char="Ø"/>
            </a:pPr>
            <a:r>
              <a:rPr lang="en-US" dirty="0" smtClean="0">
                <a:solidFill>
                  <a:schemeClr val="tx1"/>
                </a:solidFill>
              </a:rPr>
              <a:t> </a:t>
            </a:r>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Understand the basic concept of fluid mechanics.</a:t>
            </a:r>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buFont typeface="Wingdings" panose="05000000000000000000" pitchFamily="2" charset="2"/>
              <a:buChar char="Ø"/>
            </a:pPr>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Understand statics, dynamics and various approaches to fluid mechanics.</a:t>
            </a:r>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buFont typeface="Wingdings" panose="05000000000000000000" pitchFamily="2" charset="2"/>
              <a:buChar char="Ø"/>
            </a:pPr>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Understand fundamentals of flow through pipes</a:t>
            </a:r>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buFont typeface="Wingdings" panose="05000000000000000000" pitchFamily="2" charset="2"/>
              <a:buChar char="Ø"/>
            </a:pPr>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Understand basics of compressible flow</a:t>
            </a:r>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buFont typeface="Wingdings" panose="05000000000000000000" pitchFamily="2" charset="2"/>
              <a:buChar char="Ø"/>
            </a:pPr>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 Correlate fundamentals of fluid mechanics with various mechanical systems</a:t>
            </a:r>
            <a:endParaRPr lang="en-US" sz="1600"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3" name="TextBox 2"/>
          <p:cNvSpPr txBox="1"/>
          <p:nvPr/>
        </p:nvSpPr>
        <p:spPr>
          <a:xfrm>
            <a:off x="2019300" y="162560"/>
            <a:ext cx="5486400" cy="707886"/>
          </a:xfrm>
          <a:prstGeom prst="rect">
            <a:avLst/>
          </a:prstGeom>
          <a:noFill/>
        </p:spPr>
        <p:txBody>
          <a:bodyPr wrap="square" rtlCol="0">
            <a:spAutoFit/>
          </a:bodyPr>
          <a:lstStyle/>
          <a:p>
            <a:r>
              <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Course Outcome</a:t>
            </a:r>
            <a:endPar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4" name="TextBox 3"/>
          <p:cNvSpPr txBox="1"/>
          <p:nvPr/>
        </p:nvSpPr>
        <p:spPr>
          <a:xfrm>
            <a:off x="76200" y="1230868"/>
            <a:ext cx="3733800" cy="369332"/>
          </a:xfrm>
          <a:prstGeom prst="rect">
            <a:avLst/>
          </a:prstGeom>
          <a:noFill/>
        </p:spPr>
        <p:txBody>
          <a:bodyPr wrap="square" rtlCol="0">
            <a:spAutoFit/>
          </a:bodyPr>
          <a:lstStyle/>
          <a:p>
            <a:r>
              <a:rPr lang="en-US" b="1" u="sng" dirty="0" smtClean="0">
                <a:solidFill>
                  <a:schemeClr val="tx1"/>
                </a:solidFill>
                <a:latin typeface="Verdana" panose="020B0604030504040204" pitchFamily="34" charset="0"/>
                <a:ea typeface="Verdana" panose="020B0604030504040204" pitchFamily="34" charset="0"/>
                <a:cs typeface="Verdana" panose="020B0604030504040204" pitchFamily="34" charset="0"/>
              </a:rPr>
              <a:t>Students should be able to:</a:t>
            </a:r>
            <a:endParaRPr lang="en-US" b="1" u="sng"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95400" y="-83641"/>
            <a:ext cx="6096000" cy="706755"/>
          </a:xfrm>
          <a:prstGeom prst="rect">
            <a:avLst/>
          </a:prstGeom>
          <a:noFill/>
        </p:spPr>
        <p:txBody>
          <a:bodyPr wrap="square" rtlCol="0">
            <a:spAutoFit/>
          </a:bodyPr>
          <a:lstStyle/>
          <a:p>
            <a:pPr algn="ctr"/>
            <a:r>
              <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Fluid Mechanics</a:t>
            </a:r>
            <a:endPar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11" name="TextBox 10"/>
          <p:cNvSpPr txBox="1"/>
          <p:nvPr/>
        </p:nvSpPr>
        <p:spPr>
          <a:xfrm>
            <a:off x="-76200" y="1811263"/>
            <a:ext cx="2971800" cy="523220"/>
          </a:xfrm>
          <a:prstGeom prst="rect">
            <a:avLst/>
          </a:prstGeom>
          <a:noFill/>
        </p:spPr>
        <p:txBody>
          <a:bodyPr wrap="square" rtlCol="0">
            <a:spAutoFit/>
          </a:bodyPr>
          <a:lstStyle/>
          <a:p>
            <a:r>
              <a:rPr lang="en-US" sz="2800" b="1" dirty="0" smtClean="0">
                <a:solidFill>
                  <a:srgbClr val="C00000"/>
                </a:solidFill>
                <a:latin typeface="Verdana" panose="020B0604030504040204" pitchFamily="34" charset="0"/>
                <a:ea typeface="Verdana" panose="020B0604030504040204" pitchFamily="34" charset="0"/>
                <a:cs typeface="Verdana" panose="020B0604030504040204" pitchFamily="34" charset="0"/>
              </a:rPr>
              <a:t>Fluid Statics</a:t>
            </a:r>
            <a:endParaRPr lang="en-US" sz="2800" b="1" dirty="0" smtClean="0">
              <a:solidFill>
                <a:srgbClr val="C00000"/>
              </a:solidFill>
              <a:latin typeface="Verdana" panose="020B0604030504040204" pitchFamily="34" charset="0"/>
              <a:ea typeface="Verdana" panose="020B0604030504040204" pitchFamily="34" charset="0"/>
              <a:cs typeface="Verdana" panose="020B0604030504040204" pitchFamily="34" charset="0"/>
            </a:endParaRPr>
          </a:p>
        </p:txBody>
      </p:sp>
      <p:sp>
        <p:nvSpPr>
          <p:cNvPr id="12" name="TextBox 11"/>
          <p:cNvSpPr txBox="1"/>
          <p:nvPr/>
        </p:nvSpPr>
        <p:spPr>
          <a:xfrm>
            <a:off x="6019800" y="1811165"/>
            <a:ext cx="3429000" cy="523220"/>
          </a:xfrm>
          <a:prstGeom prst="rect">
            <a:avLst/>
          </a:prstGeom>
          <a:noFill/>
        </p:spPr>
        <p:txBody>
          <a:bodyPr wrap="square" rtlCol="0">
            <a:spAutoFit/>
          </a:bodyPr>
          <a:lstStyle/>
          <a:p>
            <a:r>
              <a:rPr lang="en-US" sz="2800" b="1" dirty="0" smtClean="0">
                <a:solidFill>
                  <a:srgbClr val="00B0F0"/>
                </a:solidFill>
                <a:latin typeface="Verdana" panose="020B0604030504040204" pitchFamily="34" charset="0"/>
                <a:ea typeface="Verdana" panose="020B0604030504040204" pitchFamily="34" charset="0"/>
                <a:cs typeface="Verdana" panose="020B0604030504040204" pitchFamily="34" charset="0"/>
              </a:rPr>
              <a:t>Fluid Dynamics</a:t>
            </a:r>
            <a:endParaRPr lang="en-US" sz="2800" b="1" dirty="0">
              <a:solidFill>
                <a:srgbClr val="00B0F0"/>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Rectangle 12"/>
          <p:cNvSpPr/>
          <p:nvPr/>
        </p:nvSpPr>
        <p:spPr>
          <a:xfrm>
            <a:off x="124461" y="2334260"/>
            <a:ext cx="2133600" cy="646331"/>
          </a:xfrm>
          <a:prstGeom prst="rect">
            <a:avLst/>
          </a:prstGeom>
        </p:spPr>
        <p:txBody>
          <a:bodyPr wrap="square">
            <a:spAutoFit/>
          </a:bodyPr>
          <a:lstStyle/>
          <a:p>
            <a:pPr algn="ctr"/>
            <a:r>
              <a:rPr lang="en-US" b="1" dirty="0" smtClean="0">
                <a:solidFill>
                  <a:srgbClr val="00B050"/>
                </a:solidFill>
                <a:latin typeface="Verdana" panose="020B0604030504040204" pitchFamily="34" charset="0"/>
                <a:ea typeface="Verdana" panose="020B0604030504040204" pitchFamily="34" charset="0"/>
                <a:cs typeface="Verdana" panose="020B0604030504040204" pitchFamily="34" charset="0"/>
              </a:rPr>
              <a:t>study of fluids at rest</a:t>
            </a:r>
            <a:endParaRPr lang="en-US" b="1" dirty="0">
              <a:solidFill>
                <a:srgbClr val="00B050"/>
              </a:solidFill>
              <a:latin typeface="Verdana" panose="020B0604030504040204" pitchFamily="34" charset="0"/>
              <a:ea typeface="Verdana" panose="020B0604030504040204" pitchFamily="34" charset="0"/>
              <a:cs typeface="Verdana" panose="020B0604030504040204" pitchFamily="34" charset="0"/>
            </a:endParaRPr>
          </a:p>
        </p:txBody>
      </p:sp>
      <p:grpSp>
        <p:nvGrpSpPr>
          <p:cNvPr id="22" name="Group 21"/>
          <p:cNvGrpSpPr/>
          <p:nvPr/>
        </p:nvGrpSpPr>
        <p:grpSpPr>
          <a:xfrm>
            <a:off x="1066800" y="660972"/>
            <a:ext cx="7086600" cy="1244822"/>
            <a:chOff x="1066800" y="508572"/>
            <a:chExt cx="7086600" cy="1244822"/>
          </a:xfrm>
        </p:grpSpPr>
        <p:grpSp>
          <p:nvGrpSpPr>
            <p:cNvPr id="21" name="Group 20"/>
            <p:cNvGrpSpPr/>
            <p:nvPr/>
          </p:nvGrpSpPr>
          <p:grpSpPr>
            <a:xfrm>
              <a:off x="1066800" y="508572"/>
              <a:ext cx="7086600" cy="788416"/>
              <a:chOff x="1066800" y="508572"/>
              <a:chExt cx="7086600" cy="788416"/>
            </a:xfrm>
          </p:grpSpPr>
          <p:cxnSp>
            <p:nvCxnSpPr>
              <p:cNvPr id="4" name="Straight Connector 3"/>
              <p:cNvCxnSpPr/>
              <p:nvPr/>
            </p:nvCxnSpPr>
            <p:spPr>
              <a:xfrm rot="5400000">
                <a:off x="3949987" y="901192"/>
                <a:ext cx="786827" cy="1588"/>
              </a:xfrm>
              <a:prstGeom prst="line">
                <a:avLst/>
              </a:prstGeom>
              <a:ln w="28575"/>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1066800" y="1295400"/>
                <a:ext cx="7086600" cy="1588"/>
              </a:xfrm>
              <a:prstGeom prst="line">
                <a:avLst/>
              </a:prstGeom>
              <a:ln w="28575"/>
            </p:spPr>
            <p:style>
              <a:lnRef idx="1">
                <a:schemeClr val="dk1"/>
              </a:lnRef>
              <a:fillRef idx="0">
                <a:schemeClr val="dk1"/>
              </a:fillRef>
              <a:effectRef idx="0">
                <a:schemeClr val="dk1"/>
              </a:effectRef>
              <a:fontRef idx="minor">
                <a:schemeClr val="tx1"/>
              </a:fontRef>
            </p:style>
          </p:cxnSp>
        </p:grpSp>
        <p:cxnSp>
          <p:nvCxnSpPr>
            <p:cNvPr id="9" name="Straight Arrow Connector 8"/>
            <p:cNvCxnSpPr/>
            <p:nvPr/>
          </p:nvCxnSpPr>
          <p:spPr>
            <a:xfrm rot="5400000">
              <a:off x="838994" y="1524000"/>
              <a:ext cx="457200" cy="1588"/>
            </a:xfrm>
            <a:prstGeom prst="straightConnector1">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0" name="Straight Arrow Connector 9"/>
            <p:cNvCxnSpPr/>
            <p:nvPr/>
          </p:nvCxnSpPr>
          <p:spPr>
            <a:xfrm rot="5400000">
              <a:off x="7924006" y="1522912"/>
              <a:ext cx="457200" cy="1588"/>
            </a:xfrm>
            <a:prstGeom prst="straightConnector1">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rot="5400000">
              <a:off x="4115594" y="1523206"/>
              <a:ext cx="457200" cy="1588"/>
            </a:xfrm>
            <a:prstGeom prst="straightConnector1">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grpSp>
      <p:sp>
        <p:nvSpPr>
          <p:cNvPr id="17" name="TextBox 16"/>
          <p:cNvSpPr txBox="1"/>
          <p:nvPr/>
        </p:nvSpPr>
        <p:spPr>
          <a:xfrm>
            <a:off x="2590898" y="1811020"/>
            <a:ext cx="3505200" cy="523220"/>
          </a:xfrm>
          <a:prstGeom prst="rect">
            <a:avLst/>
          </a:prstGeom>
          <a:noFill/>
        </p:spPr>
        <p:txBody>
          <a:bodyPr wrap="square" rtlCol="0">
            <a:spAutoFit/>
          </a:bodyPr>
          <a:lstStyle/>
          <a:p>
            <a:r>
              <a:rPr lang="en-US" sz="2800" b="1" dirty="0" smtClean="0">
                <a:solidFill>
                  <a:srgbClr val="7030A0"/>
                </a:solidFill>
                <a:latin typeface="Verdana" panose="020B0604030504040204" pitchFamily="34" charset="0"/>
                <a:ea typeface="Verdana" panose="020B0604030504040204" pitchFamily="34" charset="0"/>
                <a:cs typeface="Verdana" panose="020B0604030504040204" pitchFamily="34" charset="0"/>
              </a:rPr>
              <a:t>Fluid Kinematics</a:t>
            </a:r>
            <a:endParaRPr lang="en-US" sz="2800" b="1" dirty="0">
              <a:solidFill>
                <a:srgbClr val="7030A0"/>
              </a:solidFill>
              <a:latin typeface="Verdana" panose="020B0604030504040204" pitchFamily="34" charset="0"/>
              <a:ea typeface="Verdana" panose="020B0604030504040204" pitchFamily="34" charset="0"/>
              <a:cs typeface="Verdana" panose="020B0604030504040204" pitchFamily="34" charset="0"/>
            </a:endParaRPr>
          </a:p>
        </p:txBody>
      </p:sp>
      <p:sp>
        <p:nvSpPr>
          <p:cNvPr id="18" name="Rectangle 17"/>
          <p:cNvSpPr/>
          <p:nvPr/>
        </p:nvSpPr>
        <p:spPr>
          <a:xfrm>
            <a:off x="2476500" y="2334260"/>
            <a:ext cx="3505200" cy="1200329"/>
          </a:xfrm>
          <a:prstGeom prst="rect">
            <a:avLst/>
          </a:prstGeom>
        </p:spPr>
        <p:txBody>
          <a:bodyPr wrap="square">
            <a:spAutoFit/>
          </a:bodyPr>
          <a:lstStyle/>
          <a:p>
            <a:pPr algn="ctr"/>
            <a:r>
              <a:rPr lang="en-US" b="1" dirty="0" smtClean="0">
                <a:solidFill>
                  <a:srgbClr val="FFC000"/>
                </a:solidFill>
                <a:latin typeface="Verdana" panose="020B0604030504040204" pitchFamily="34" charset="0"/>
                <a:ea typeface="Verdana" panose="020B0604030504040204" pitchFamily="34" charset="0"/>
                <a:cs typeface="Verdana" panose="020B0604030504040204" pitchFamily="34" charset="0"/>
              </a:rPr>
              <a:t>study of fluids in motion without considering the forces acting on the system </a:t>
            </a:r>
            <a:endParaRPr lang="en-US" b="1" dirty="0">
              <a:solidFill>
                <a:srgbClr val="FFC000"/>
              </a:solidFill>
              <a:latin typeface="Verdana" panose="020B0604030504040204" pitchFamily="34" charset="0"/>
              <a:ea typeface="Verdana" panose="020B0604030504040204" pitchFamily="34" charset="0"/>
              <a:cs typeface="Verdana" panose="020B0604030504040204" pitchFamily="34" charset="0"/>
            </a:endParaRPr>
          </a:p>
        </p:txBody>
      </p:sp>
      <p:sp>
        <p:nvSpPr>
          <p:cNvPr id="20" name="Rectangle 19"/>
          <p:cNvSpPr/>
          <p:nvPr/>
        </p:nvSpPr>
        <p:spPr>
          <a:xfrm>
            <a:off x="6096000" y="2334260"/>
            <a:ext cx="2814955" cy="1198880"/>
          </a:xfrm>
          <a:prstGeom prst="rect">
            <a:avLst/>
          </a:prstGeom>
        </p:spPr>
        <p:txBody>
          <a:bodyPr wrap="square">
            <a:spAutoFit/>
          </a:bodyPr>
          <a:lstStyle/>
          <a:p>
            <a:pPr algn="ctr"/>
            <a:r>
              <a:rPr lang="en-US" b="1" dirty="0" smtClean="0">
                <a:solidFill>
                  <a:srgbClr val="00B050"/>
                </a:solidFill>
                <a:latin typeface="Verdana" panose="020B0604030504040204" pitchFamily="34" charset="0"/>
                <a:ea typeface="Verdana" panose="020B0604030504040204" pitchFamily="34" charset="0"/>
                <a:cs typeface="Verdana" panose="020B0604030504040204" pitchFamily="34" charset="0"/>
              </a:rPr>
              <a:t>study of fluids in motion with effect of forces acting on the system</a:t>
            </a:r>
            <a:r>
              <a:rPr lang="en-US" b="1" dirty="0" smtClean="0">
                <a:solidFill>
                  <a:srgbClr val="7030A0"/>
                </a:solidFill>
                <a:latin typeface="Verdana" panose="020B0604030504040204" pitchFamily="34" charset="0"/>
                <a:ea typeface="Verdana" panose="020B0604030504040204" pitchFamily="34" charset="0"/>
                <a:cs typeface="Verdana" panose="020B0604030504040204" pitchFamily="34" charset="0"/>
              </a:rPr>
              <a:t> </a:t>
            </a:r>
            <a:endParaRPr lang="en-US" b="1" dirty="0">
              <a:solidFill>
                <a:srgbClr val="7030A0"/>
              </a:solidFill>
              <a:latin typeface="Verdana" panose="020B0604030504040204" pitchFamily="34" charset="0"/>
              <a:ea typeface="Verdana" panose="020B0604030504040204" pitchFamily="34" charset="0"/>
              <a:cs typeface="Verdana" panose="020B0604030504040204" pitchFamily="34" charset="0"/>
            </a:endParaRPr>
          </a:p>
        </p:txBody>
      </p:sp>
      <p:sp>
        <p:nvSpPr>
          <p:cNvPr id="23" name="TextBox 22"/>
          <p:cNvSpPr txBox="1"/>
          <p:nvPr/>
        </p:nvSpPr>
        <p:spPr>
          <a:xfrm>
            <a:off x="304800" y="4267200"/>
            <a:ext cx="7848600" cy="400110"/>
          </a:xfrm>
          <a:prstGeom prst="rect">
            <a:avLst/>
          </a:prstGeom>
          <a:noFill/>
        </p:spPr>
        <p:txBody>
          <a:bodyPr wrap="square" rtlCol="0">
            <a:spAutoFit/>
          </a:bodyPr>
          <a:lstStyle/>
          <a:p>
            <a:pPr algn="just"/>
            <a:r>
              <a:rPr lang="en-US" sz="2000" b="1" dirty="0" smtClean="0">
                <a:latin typeface="Verdana" panose="020B0604030504040204" pitchFamily="34" charset="0"/>
                <a:ea typeface="Verdana" panose="020B0604030504040204" pitchFamily="34" charset="0"/>
                <a:cs typeface="Verdana" panose="020B0604030504040204" pitchFamily="34" charset="0"/>
              </a:rPr>
              <a:t>Fluid mechanics is a branch of </a:t>
            </a:r>
            <a:r>
              <a:rPr lang="en-US" sz="2000" b="1" dirty="0" smtClean="0">
                <a:latin typeface="Verdana" panose="020B0604030504040204" pitchFamily="34" charset="0"/>
                <a:ea typeface="Verdana" panose="020B0604030504040204" pitchFamily="34" charset="0"/>
                <a:cs typeface="Verdana" panose="020B0604030504040204" pitchFamily="34" charset="0"/>
                <a:hlinkClick r:id="rId1" tooltip="Continuum mechanics"/>
              </a:rPr>
              <a:t>continuum mechanics</a:t>
            </a:r>
            <a:r>
              <a:rPr lang="en-US" sz="2000" b="1" dirty="0" smtClean="0">
                <a:latin typeface="Verdana" panose="020B0604030504040204" pitchFamily="34" charset="0"/>
                <a:ea typeface="Verdana" panose="020B0604030504040204" pitchFamily="34" charset="0"/>
                <a:cs typeface="Verdana" panose="020B0604030504040204" pitchFamily="34" charset="0"/>
              </a:rPr>
              <a:t>.</a:t>
            </a:r>
            <a:endParaRPr lang="en-US" sz="2000" b="1" dirty="0" smtClean="0">
              <a:latin typeface="Verdana" panose="020B0604030504040204" pitchFamily="34" charset="0"/>
              <a:ea typeface="Verdana" panose="020B0604030504040204" pitchFamily="34" charset="0"/>
              <a:cs typeface="Verdana" panose="020B0604030504040204" pitchFamily="34" charset="0"/>
            </a:endParaRPr>
          </a:p>
        </p:txBody>
      </p:sp>
      <p:sp>
        <p:nvSpPr>
          <p:cNvPr id="24" name="TextBox 23"/>
          <p:cNvSpPr txBox="1"/>
          <p:nvPr/>
        </p:nvSpPr>
        <p:spPr>
          <a:xfrm>
            <a:off x="304800" y="5181600"/>
            <a:ext cx="8839200" cy="984885"/>
          </a:xfrm>
          <a:prstGeom prst="rect">
            <a:avLst/>
          </a:prstGeom>
          <a:noFill/>
        </p:spPr>
        <p:txBody>
          <a:bodyPr wrap="square" rtlCol="0">
            <a:spAutoFit/>
          </a:bodyPr>
          <a:lstStyle/>
          <a:p>
            <a:pPr algn="just"/>
            <a:r>
              <a:rPr lang="en-US" sz="2000" b="1" dirty="0" smtClean="0">
                <a:solidFill>
                  <a:srgbClr val="7030A0"/>
                </a:solidFill>
                <a:latin typeface="Verdana" panose="020B0604030504040204" pitchFamily="34" charset="0"/>
                <a:ea typeface="Verdana" panose="020B0604030504040204" pitchFamily="34" charset="0"/>
                <a:cs typeface="Verdana" panose="020B0604030504040204" pitchFamily="34" charset="0"/>
              </a:rPr>
              <a:t>Continuum mechanics models matter from a </a:t>
            </a:r>
            <a:r>
              <a:rPr lang="en-US" sz="2000" b="1" i="1" dirty="0" smtClean="0">
                <a:solidFill>
                  <a:srgbClr val="7030A0"/>
                </a:solidFill>
                <a:latin typeface="Verdana" panose="020B0604030504040204" pitchFamily="34" charset="0"/>
                <a:ea typeface="Verdana" panose="020B0604030504040204" pitchFamily="34" charset="0"/>
                <a:cs typeface="Verdana" panose="020B0604030504040204" pitchFamily="34" charset="0"/>
              </a:rPr>
              <a:t>macroscopic</a:t>
            </a:r>
            <a:r>
              <a:rPr lang="en-US" sz="2000" b="1" dirty="0" smtClean="0">
                <a:solidFill>
                  <a:srgbClr val="7030A0"/>
                </a:solidFill>
                <a:latin typeface="Verdana" panose="020B0604030504040204" pitchFamily="34" charset="0"/>
                <a:ea typeface="Verdana" panose="020B0604030504040204" pitchFamily="34" charset="0"/>
                <a:cs typeface="Verdana" panose="020B0604030504040204" pitchFamily="34" charset="0"/>
              </a:rPr>
              <a:t> viewpoint rather than from </a:t>
            </a:r>
            <a:r>
              <a:rPr lang="en-US" sz="2000" b="1" i="1" dirty="0" smtClean="0">
                <a:solidFill>
                  <a:srgbClr val="7030A0"/>
                </a:solidFill>
                <a:latin typeface="Verdana" panose="020B0604030504040204" pitchFamily="34" charset="0"/>
                <a:ea typeface="Verdana" panose="020B0604030504040204" pitchFamily="34" charset="0"/>
                <a:cs typeface="Verdana" panose="020B0604030504040204" pitchFamily="34" charset="0"/>
              </a:rPr>
              <a:t>microscopic</a:t>
            </a:r>
            <a:r>
              <a:rPr lang="en-US" sz="2000" b="1" dirty="0" smtClean="0">
                <a:solidFill>
                  <a:srgbClr val="7030A0"/>
                </a:solidFill>
                <a:latin typeface="Verdana" panose="020B0604030504040204" pitchFamily="34" charset="0"/>
                <a:ea typeface="Verdana" panose="020B0604030504040204" pitchFamily="34" charset="0"/>
                <a:cs typeface="Verdana" panose="020B0604030504040204" pitchFamily="34" charset="0"/>
              </a:rPr>
              <a:t>.</a:t>
            </a:r>
            <a:endParaRPr lang="en-US" sz="2000" b="1" dirty="0" smtClean="0">
              <a:solidFill>
                <a:srgbClr val="7030A0"/>
              </a:solidFill>
              <a:latin typeface="Verdana" panose="020B0604030504040204" pitchFamily="34" charset="0"/>
              <a:ea typeface="Verdana" panose="020B0604030504040204" pitchFamily="34" charset="0"/>
              <a:cs typeface="Verdana" panose="020B0604030504040204" pitchFamily="34" charset="0"/>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blinds(horizontal)">
                                      <p:cBhvr>
                                        <p:cTn id="13" dur="500"/>
                                        <p:tgtEl>
                                          <p:spTgt spid="17"/>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linds(horizontal)">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blinds(horizontal)">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blinds(horizontal)">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blinds(horizontal)">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blinds(horizontal)">
                                      <p:cBhvr>
                                        <p:cTn id="4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7" grpId="0"/>
      <p:bldP spid="18" grpId="0"/>
      <p:bldP spid="20" grpId="0"/>
      <p:bldP spid="23" grpId="0"/>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0660" y="154940"/>
            <a:ext cx="8610600" cy="706755"/>
          </a:xfrm>
          <a:prstGeom prst="rect">
            <a:avLst/>
          </a:prstGeom>
          <a:noFill/>
        </p:spPr>
        <p:txBody>
          <a:bodyPr wrap="square" rtlCol="0">
            <a:spAutoFit/>
          </a:bodyPr>
          <a:lstStyle/>
          <a:p>
            <a:pPr algn="ctr"/>
            <a:r>
              <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Fluid Continuum</a:t>
            </a:r>
            <a:endPar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3" name="TextBox 2"/>
          <p:cNvSpPr txBox="1"/>
          <p:nvPr/>
        </p:nvSpPr>
        <p:spPr>
          <a:xfrm>
            <a:off x="200660" y="1547495"/>
            <a:ext cx="8610600" cy="4246245"/>
          </a:xfrm>
          <a:prstGeom prst="rect">
            <a:avLst/>
          </a:prstGeom>
          <a:noFill/>
        </p:spPr>
        <p:txBody>
          <a:bodyPr wrap="square" rtlCol="0">
            <a:spAutoFit/>
          </a:bodyPr>
          <a:lstStyle/>
          <a:p>
            <a:pPr marL="285750" indent="-285750" algn="just">
              <a:buFont typeface="Arial" panose="020B0604020202020204" pitchFamily="34" charset="0"/>
              <a:buChar char="•"/>
            </a:pPr>
            <a:r>
              <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The concept of continuum assumes a continuous distribution of mass within the matter or system with no empty space, instead of the actual conglomeration of separate molecules</a:t>
            </a:r>
            <a:r>
              <a:rPr lang="en-IN" alt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rPr>
              <a:t>.</a:t>
            </a:r>
            <a:endParaRPr lang="en-IN" alt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285750" indent="-285750" algn="just">
              <a:buFont typeface="Arial" panose="020B0604020202020204" pitchFamily="34" charset="0"/>
              <a:buChar char="•"/>
            </a:pPr>
            <a:endParaRPr lang="en-IN" alt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sym typeface="+mn-ea"/>
            </a:endParaRPr>
          </a:p>
          <a:p>
            <a:pPr marL="285750" indent="-285750" algn="just">
              <a:buFont typeface="Arial" panose="020B0604020202020204" pitchFamily="34" charset="0"/>
              <a:buChar char="•"/>
            </a:pPr>
            <a:r>
              <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sym typeface="+mn-ea"/>
              </a:rPr>
              <a:t>In continuum approach, fluid properties such as density, viscosity, thermal conductivity, temp, etc can be expressed as functions of space and time.</a:t>
            </a:r>
            <a:endPar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sym typeface="+mn-ea"/>
            </a:endParaRPr>
          </a:p>
          <a:p>
            <a:pPr marL="285750" indent="-285750" algn="just">
              <a:buFont typeface="Arial" panose="020B0604020202020204" pitchFamily="34" charset="0"/>
              <a:buChar char="•"/>
            </a:pPr>
            <a:endPar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sym typeface="+mn-ea"/>
            </a:endParaRPr>
          </a:p>
          <a:p>
            <a:pPr marL="285750" indent="-285750" algn="just">
              <a:buFont typeface="Arial" panose="020B0604020202020204" pitchFamily="34" charset="0"/>
              <a:buChar char="•"/>
            </a:pPr>
            <a:r>
              <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sym typeface="+mn-ea"/>
              </a:rPr>
              <a:t>The space factor is the distance between the molecules which is a function of molecular density.</a:t>
            </a:r>
            <a:endPar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sym typeface="+mn-ea"/>
            </a:endParaRPr>
          </a:p>
          <a:p>
            <a:pPr marL="285750" indent="-285750" algn="just">
              <a:buFont typeface="Arial" panose="020B0604020202020204" pitchFamily="34" charset="0"/>
              <a:buChar char="•"/>
            </a:pPr>
            <a:endPar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sym typeface="+mn-ea"/>
            </a:endParaRPr>
          </a:p>
          <a:p>
            <a:pPr marL="285750" indent="-285750" algn="just">
              <a:buFont typeface="Arial" panose="020B0604020202020204" pitchFamily="34" charset="0"/>
              <a:buChar char="•"/>
            </a:pPr>
            <a:r>
              <a:rPr 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sym typeface="+mn-ea"/>
              </a:rPr>
              <a:t>The distance between the molecules is characterized by mean free path which is a statistical average distance the molecules travel between two successive collisions</a:t>
            </a:r>
            <a:endParaRPr lang="en-US" b="1"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algn="just"/>
            <a:endParaRPr lang="en-US" altLang="en-US" b="1" dirty="0" smtClean="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226695" y="69215"/>
            <a:ext cx="8688705" cy="706755"/>
          </a:xfrm>
          <a:prstGeom prst="rect">
            <a:avLst/>
          </a:prstGeom>
          <a:noFill/>
        </p:spPr>
        <p:txBody>
          <a:bodyPr wrap="square" rtlCol="0">
            <a:spAutoFit/>
          </a:bodyPr>
          <a:lstStyle/>
          <a:p>
            <a:pPr algn="ctr"/>
            <a:r>
              <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Fluid Continuum</a:t>
            </a:r>
            <a:endParaRPr lang="en-US" sz="40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4" name="Object 3"/>
          <p:cNvGraphicFramePr>
            <a:graphicFrameLocks noChangeAspect="1"/>
          </p:cNvGraphicFramePr>
          <p:nvPr/>
        </p:nvGraphicFramePr>
        <p:xfrm>
          <a:off x="1837008" y="976531"/>
          <a:ext cx="299358" cy="381001"/>
        </p:xfrm>
        <a:graphic>
          <a:graphicData uri="http://schemas.openxmlformats.org/presentationml/2006/ole">
            <mc:AlternateContent xmlns:mc="http://schemas.openxmlformats.org/markup-compatibility/2006">
              <mc:Choice xmlns:v="urn:schemas-microsoft-com:vml" Requires="v">
                <p:oleObj spid="_x0000_s17455" name="Equation" r:id="rId1" imgW="139700" imgH="177800" progId="Equation.3">
                  <p:embed/>
                </p:oleObj>
              </mc:Choice>
              <mc:Fallback>
                <p:oleObj name="Equation" r:id="rId1" imgW="139700" imgH="177800" progId="Equation.3">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7008" y="976531"/>
                        <a:ext cx="299358" cy="3810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nvSpPr>
        <p:spPr>
          <a:xfrm>
            <a:off x="1242695" y="1050332"/>
            <a:ext cx="4058528"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Say,    = mean free path</a:t>
            </a:r>
            <a:endParaRPr lang="en-US" b="1" dirty="0">
              <a:latin typeface="Verdana" panose="020B0604030504040204" pitchFamily="34" charset="0"/>
              <a:ea typeface="Verdana" panose="020B0604030504040204" pitchFamily="34" charset="0"/>
              <a:cs typeface="Verdana" panose="020B0604030504040204" pitchFamily="34" charset="0"/>
            </a:endParaRPr>
          </a:p>
        </p:txBody>
      </p:sp>
      <p:sp>
        <p:nvSpPr>
          <p:cNvPr id="6" name="TextBox 5"/>
          <p:cNvSpPr txBox="1"/>
          <p:nvPr/>
        </p:nvSpPr>
        <p:spPr>
          <a:xfrm>
            <a:off x="1828800" y="1481796"/>
            <a:ext cx="3733800"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L = Characteristic Length</a:t>
            </a:r>
            <a:endParaRPr lang="en-US" b="1" dirty="0">
              <a:latin typeface="Verdana" panose="020B0604030504040204" pitchFamily="34" charset="0"/>
              <a:ea typeface="Verdana" panose="020B0604030504040204" pitchFamily="34" charset="0"/>
              <a:cs typeface="Verdana" panose="020B0604030504040204" pitchFamily="34" charset="0"/>
            </a:endParaRPr>
          </a:p>
        </p:txBody>
      </p:sp>
      <p:grpSp>
        <p:nvGrpSpPr>
          <p:cNvPr id="10" name="Group 9"/>
          <p:cNvGrpSpPr/>
          <p:nvPr/>
        </p:nvGrpSpPr>
        <p:grpSpPr>
          <a:xfrm>
            <a:off x="838200" y="2209800"/>
            <a:ext cx="7696200" cy="750332"/>
            <a:chOff x="838200" y="2362200"/>
            <a:chExt cx="7696200" cy="750332"/>
          </a:xfrm>
        </p:grpSpPr>
        <p:sp>
          <p:nvSpPr>
            <p:cNvPr id="7" name="TextBox 6"/>
            <p:cNvSpPr txBox="1"/>
            <p:nvPr/>
          </p:nvSpPr>
          <p:spPr>
            <a:xfrm>
              <a:off x="838200" y="2362200"/>
              <a:ext cx="7696200"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If                     , fluid is considered as continuous medium</a:t>
              </a:r>
              <a:endParaRPr lang="en-US" b="1"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8" name="Object 7"/>
            <p:cNvGraphicFramePr>
              <a:graphicFrameLocks noChangeAspect="1"/>
            </p:cNvGraphicFramePr>
            <p:nvPr/>
          </p:nvGraphicFramePr>
          <p:xfrm>
            <a:off x="1300163" y="2376488"/>
            <a:ext cx="1333500" cy="381000"/>
          </p:xfrm>
          <a:graphic>
            <a:graphicData uri="http://schemas.openxmlformats.org/presentationml/2006/ole">
              <mc:AlternateContent xmlns:mc="http://schemas.openxmlformats.org/markup-compatibility/2006">
                <mc:Choice xmlns:v="urn:schemas-microsoft-com:vml" Requires="v">
                  <p:oleObj spid="_x0000_s17456" name="Equation" r:id="rId3" imgW="711200" imgH="203200" progId="Equation.3">
                    <p:embed/>
                  </p:oleObj>
                </mc:Choice>
                <mc:Fallback>
                  <p:oleObj name="Equation" r:id="rId3" imgW="711200" imgH="20320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0163" y="2376488"/>
                          <a:ext cx="13335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1676400" y="2743200"/>
              <a:ext cx="4495800" cy="369332"/>
            </a:xfrm>
            <a:prstGeom prst="rect">
              <a:avLst/>
            </a:prstGeom>
            <a:noFill/>
          </p:spPr>
          <p:txBody>
            <a:bodyPr wrap="square" rtlCol="0">
              <a:spAutoFit/>
            </a:bodyPr>
            <a:lstStyle/>
            <a:p>
              <a:r>
                <a:rPr lang="en-US" b="1" dirty="0" smtClean="0">
                  <a:solidFill>
                    <a:srgbClr val="C00000"/>
                  </a:solidFill>
                  <a:latin typeface="Verdana" panose="020B0604030504040204" pitchFamily="34" charset="0"/>
                  <a:ea typeface="Verdana" panose="020B0604030504040204" pitchFamily="34" charset="0"/>
                  <a:cs typeface="Verdana" panose="020B0604030504040204" pitchFamily="34" charset="0"/>
                </a:rPr>
                <a:t>(Molecular density is very high)</a:t>
              </a:r>
              <a:endParaRPr lang="en-US" b="1" dirty="0">
                <a:solidFill>
                  <a:srgbClr val="C00000"/>
                </a:solidFill>
                <a:latin typeface="Verdana" panose="020B0604030504040204" pitchFamily="34" charset="0"/>
                <a:ea typeface="Verdana" panose="020B0604030504040204" pitchFamily="34" charset="0"/>
                <a:cs typeface="Verdana" panose="020B0604030504040204" pitchFamily="34" charset="0"/>
              </a:endParaRPr>
            </a:p>
          </p:txBody>
        </p:sp>
      </p:grpSp>
      <p:grpSp>
        <p:nvGrpSpPr>
          <p:cNvPr id="11" name="Group 10"/>
          <p:cNvGrpSpPr/>
          <p:nvPr/>
        </p:nvGrpSpPr>
        <p:grpSpPr>
          <a:xfrm>
            <a:off x="762000" y="3124200"/>
            <a:ext cx="8153400" cy="750332"/>
            <a:chOff x="1246848" y="2362200"/>
            <a:chExt cx="7287552" cy="750332"/>
          </a:xfrm>
        </p:grpSpPr>
        <p:sp>
          <p:nvSpPr>
            <p:cNvPr id="12" name="TextBox 11"/>
            <p:cNvSpPr txBox="1"/>
            <p:nvPr/>
          </p:nvSpPr>
          <p:spPr>
            <a:xfrm>
              <a:off x="1246848" y="2362200"/>
              <a:ext cx="7287552" cy="369332"/>
            </a:xfrm>
            <a:prstGeom prst="rect">
              <a:avLst/>
            </a:prstGeom>
            <a:noFill/>
          </p:spPr>
          <p:txBody>
            <a:bodyPr wrap="square" rtlCol="0">
              <a:spAutoFit/>
            </a:bodyPr>
            <a:lstStyle/>
            <a:p>
              <a:r>
                <a:rPr lang="en-US" b="1" dirty="0" smtClean="0">
                  <a:latin typeface="Verdana" panose="020B0604030504040204" pitchFamily="34" charset="0"/>
                  <a:ea typeface="Verdana" panose="020B0604030504040204" pitchFamily="34" charset="0"/>
                  <a:cs typeface="Verdana" panose="020B0604030504040204" pitchFamily="34" charset="0"/>
                </a:rPr>
                <a:t>If            , fluid cannot be considered as continuous medium</a:t>
              </a:r>
              <a:endParaRPr lang="en-US" b="1"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13" name="Object 12"/>
            <p:cNvGraphicFramePr>
              <a:graphicFrameLocks noChangeAspect="1"/>
            </p:cNvGraphicFramePr>
            <p:nvPr/>
          </p:nvGraphicFramePr>
          <p:xfrm>
            <a:off x="1610090" y="2400300"/>
            <a:ext cx="713715" cy="333375"/>
          </p:xfrm>
          <a:graphic>
            <a:graphicData uri="http://schemas.openxmlformats.org/presentationml/2006/ole">
              <mc:AlternateContent xmlns:mc="http://schemas.openxmlformats.org/markup-compatibility/2006">
                <mc:Choice xmlns:v="urn:schemas-microsoft-com:vml" Requires="v">
                  <p:oleObj spid="_x0000_s17457" name="Equation" r:id="rId5" imgW="380365" imgH="177800" progId="Equation.3">
                    <p:embed/>
                  </p:oleObj>
                </mc:Choice>
                <mc:Fallback>
                  <p:oleObj name="Equation" r:id="rId5" imgW="380365" imgH="17780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0090" y="2400300"/>
                          <a:ext cx="713715" cy="33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1676400" y="2743200"/>
              <a:ext cx="5836381" cy="369332"/>
            </a:xfrm>
            <a:prstGeom prst="rect">
              <a:avLst/>
            </a:prstGeom>
            <a:noFill/>
          </p:spPr>
          <p:txBody>
            <a:bodyPr wrap="square" rtlCol="0">
              <a:spAutoFit/>
            </a:bodyPr>
            <a:lstStyle/>
            <a:p>
              <a:r>
                <a:rPr lang="en-US" b="1" dirty="0" smtClean="0">
                  <a:solidFill>
                    <a:srgbClr val="C00000"/>
                  </a:solidFill>
                  <a:latin typeface="Verdana" panose="020B0604030504040204" pitchFamily="34" charset="0"/>
                  <a:ea typeface="Verdana" panose="020B0604030504040204" pitchFamily="34" charset="0"/>
                  <a:cs typeface="Verdana" panose="020B0604030504040204" pitchFamily="34" charset="0"/>
                </a:rPr>
                <a:t>(Fluid system is analyzed by molecular theory)</a:t>
              </a:r>
              <a:endParaRPr lang="en-US" b="1" dirty="0">
                <a:solidFill>
                  <a:srgbClr val="C00000"/>
                </a:solidFill>
                <a:latin typeface="Verdana" panose="020B0604030504040204" pitchFamily="34" charset="0"/>
                <a:ea typeface="Verdana" panose="020B0604030504040204" pitchFamily="34" charset="0"/>
                <a:cs typeface="Verdana" panose="020B0604030504040204" pitchFamily="34" charset="0"/>
              </a:endParaRPr>
            </a:p>
          </p:txBody>
        </p:sp>
      </p:grpSp>
      <p:graphicFrame>
        <p:nvGraphicFramePr>
          <p:cNvPr id="15" name="Object 14"/>
          <p:cNvGraphicFramePr>
            <a:graphicFrameLocks noChangeAspect="1"/>
          </p:cNvGraphicFramePr>
          <p:nvPr/>
        </p:nvGraphicFramePr>
        <p:xfrm>
          <a:off x="990600" y="4038600"/>
          <a:ext cx="3810000" cy="609600"/>
        </p:xfrm>
        <a:graphic>
          <a:graphicData uri="http://schemas.openxmlformats.org/presentationml/2006/ole">
            <mc:AlternateContent xmlns:mc="http://schemas.openxmlformats.org/markup-compatibility/2006">
              <mc:Choice xmlns:v="urn:schemas-microsoft-com:vml" Requires="v">
                <p:oleObj spid="_x0000_s17458" name="Equation" r:id="rId7" imgW="1904365" imgH="304800" progId="Equation.3">
                  <p:embed/>
                </p:oleObj>
              </mc:Choice>
              <mc:Fallback>
                <p:oleObj name="Equation" r:id="rId7" imgW="1904365" imgH="304800" progId="Equation.3">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4038600"/>
                        <a:ext cx="3810000" cy="609600"/>
                      </a:xfrm>
                      <a:prstGeom prst="rect">
                        <a:avLst/>
                      </a:prstGeom>
                      <a:solidFill>
                        <a:srgbClr val="FFFF00"/>
                      </a:solidFill>
                    </p:spPr>
                  </p:pic>
                </p:oleObj>
              </mc:Fallback>
            </mc:AlternateContent>
          </a:graphicData>
        </a:graphic>
      </p:graphicFrame>
      <p:graphicFrame>
        <p:nvGraphicFramePr>
          <p:cNvPr id="16" name="Object 15"/>
          <p:cNvGraphicFramePr>
            <a:graphicFrameLocks noChangeAspect="1"/>
          </p:cNvGraphicFramePr>
          <p:nvPr/>
        </p:nvGraphicFramePr>
        <p:xfrm>
          <a:off x="714375" y="4724400"/>
          <a:ext cx="6411913" cy="1981200"/>
        </p:xfrm>
        <a:graphic>
          <a:graphicData uri="http://schemas.openxmlformats.org/presentationml/2006/ole">
            <mc:AlternateContent xmlns:mc="http://schemas.openxmlformats.org/markup-compatibility/2006">
              <mc:Choice xmlns:v="urn:schemas-microsoft-com:vml" Requires="v">
                <p:oleObj spid="_x0000_s17459" name="Equation" r:id="rId9" imgW="2959100" imgH="914400" progId="Equation.3">
                  <p:embed/>
                </p:oleObj>
              </mc:Choice>
              <mc:Fallback>
                <p:oleObj name="Equation" r:id="rId9" imgW="2959100" imgH="914400" progId="Equation.3">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4375" y="4724400"/>
                        <a:ext cx="6411913" cy="1981200"/>
                      </a:xfrm>
                      <a:prstGeom prst="rect">
                        <a:avLst/>
                      </a:prstGeom>
                      <a:solidFill>
                        <a:srgbClr val="FF9900"/>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linds(horizontal)">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54858"/>
            <a:ext cx="9144000" cy="630942"/>
          </a:xfrm>
          <a:prstGeom prst="rect">
            <a:avLst/>
          </a:prstGeom>
          <a:noFill/>
        </p:spPr>
        <p:txBody>
          <a:bodyPr wrap="square" rtlCol="0">
            <a:spAutoFit/>
          </a:bodyPr>
          <a:lstStyle/>
          <a:p>
            <a:pPr algn="ctr"/>
            <a:r>
              <a:rPr lang="en-US" sz="35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Methods of Describing Fluid Motion</a:t>
            </a:r>
            <a:endParaRPr lang="en-US" sz="35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pic>
        <p:nvPicPr>
          <p:cNvPr id="18434" name="Picture 2"/>
          <p:cNvPicPr>
            <a:picLocks noChangeAspect="1" noChangeArrowheads="1"/>
          </p:cNvPicPr>
          <p:nvPr/>
        </p:nvPicPr>
        <p:blipFill>
          <a:blip r:embed="rId1"/>
          <a:srcRect/>
          <a:stretch>
            <a:fillRect/>
          </a:stretch>
        </p:blipFill>
        <p:spPr bwMode="auto">
          <a:xfrm>
            <a:off x="0" y="990600"/>
            <a:ext cx="9144000" cy="481885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54858"/>
            <a:ext cx="9144000" cy="630942"/>
          </a:xfrm>
          <a:prstGeom prst="rect">
            <a:avLst/>
          </a:prstGeom>
          <a:noFill/>
        </p:spPr>
        <p:txBody>
          <a:bodyPr wrap="square" rtlCol="0">
            <a:spAutoFit/>
          </a:bodyPr>
          <a:lstStyle/>
          <a:p>
            <a:pPr algn="ctr"/>
            <a:r>
              <a:rPr lang="en-US" sz="35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Methods of Describing Fluid Motion</a:t>
            </a:r>
            <a:endParaRPr lang="en-US" sz="3500" b="1" i="1" dirty="0" smtClean="0">
              <a:solidFill>
                <a:schemeClr val="tx2">
                  <a:lumMod val="75000"/>
                </a:schemeClr>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12.jpg"/>
          <p:cNvPicPr>
            <a:picLocks noChangeAspect="1"/>
          </p:cNvPicPr>
          <p:nvPr/>
        </p:nvPicPr>
        <p:blipFill>
          <a:blip r:embed="rId1"/>
          <a:stretch>
            <a:fillRect/>
          </a:stretch>
        </p:blipFill>
        <p:spPr>
          <a:xfrm>
            <a:off x="838200" y="685800"/>
            <a:ext cx="7010400" cy="4323080"/>
          </a:xfrm>
          <a:prstGeom prst="rect">
            <a:avLst/>
          </a:prstGeom>
        </p:spPr>
      </p:pic>
      <p:sp>
        <p:nvSpPr>
          <p:cNvPr id="4" name="Freeform 3"/>
          <p:cNvSpPr/>
          <p:nvPr/>
        </p:nvSpPr>
        <p:spPr>
          <a:xfrm>
            <a:off x="2982351" y="1927274"/>
            <a:ext cx="426720" cy="3123028"/>
          </a:xfrm>
          <a:custGeom>
            <a:avLst/>
            <a:gdLst>
              <a:gd name="connsiteX0" fmla="*/ 0 w 426720"/>
              <a:gd name="connsiteY0" fmla="*/ 0 h 3123028"/>
              <a:gd name="connsiteX1" fmla="*/ 253218 w 426720"/>
              <a:gd name="connsiteY1" fmla="*/ 492369 h 3123028"/>
              <a:gd name="connsiteX2" fmla="*/ 407963 w 426720"/>
              <a:gd name="connsiteY2" fmla="*/ 829994 h 3123028"/>
              <a:gd name="connsiteX3" fmla="*/ 365760 w 426720"/>
              <a:gd name="connsiteY3" fmla="*/ 1378634 h 3123028"/>
              <a:gd name="connsiteX4" fmla="*/ 196947 w 426720"/>
              <a:gd name="connsiteY4" fmla="*/ 2307101 h 3123028"/>
              <a:gd name="connsiteX5" fmla="*/ 28135 w 426720"/>
              <a:gd name="connsiteY5" fmla="*/ 3123028 h 3123028"/>
              <a:gd name="connsiteX6" fmla="*/ 28135 w 426720"/>
              <a:gd name="connsiteY6" fmla="*/ 3123028 h 312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720" h="3123028">
                <a:moveTo>
                  <a:pt x="0" y="0"/>
                </a:moveTo>
                <a:cubicBezTo>
                  <a:pt x="92612" y="177018"/>
                  <a:pt x="185224" y="354037"/>
                  <a:pt x="253218" y="492369"/>
                </a:cubicBezTo>
                <a:cubicBezTo>
                  <a:pt x="321212" y="630701"/>
                  <a:pt x="389206" y="682283"/>
                  <a:pt x="407963" y="829994"/>
                </a:cubicBezTo>
                <a:cubicBezTo>
                  <a:pt x="426720" y="977705"/>
                  <a:pt x="400929" y="1132449"/>
                  <a:pt x="365760" y="1378634"/>
                </a:cubicBezTo>
                <a:cubicBezTo>
                  <a:pt x="330591" y="1624819"/>
                  <a:pt x="253218" y="2016369"/>
                  <a:pt x="196947" y="2307101"/>
                </a:cubicBezTo>
                <a:cubicBezTo>
                  <a:pt x="140676" y="2597833"/>
                  <a:pt x="28135" y="3123028"/>
                  <a:pt x="28135" y="3123028"/>
                </a:cubicBezTo>
                <a:lnTo>
                  <a:pt x="28135" y="3123028"/>
                </a:lnTo>
              </a:path>
            </a:pathLst>
          </a:custGeom>
          <a:ln w="5715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Oval 5"/>
          <p:cNvSpPr/>
          <p:nvPr/>
        </p:nvSpPr>
        <p:spPr>
          <a:xfrm>
            <a:off x="4953000" y="2743200"/>
            <a:ext cx="152400" cy="152400"/>
          </a:xfrm>
          <a:prstGeom prst="ellipse">
            <a:avLst/>
          </a:prstGeom>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524000" y="5334000"/>
            <a:ext cx="5867400" cy="461665"/>
          </a:xfrm>
          <a:prstGeom prst="rect">
            <a:avLst/>
          </a:prstGeom>
          <a:noFill/>
          <a:ln>
            <a:solidFill>
              <a:srgbClr val="FFFF00"/>
            </a:solidFill>
          </a:ln>
        </p:spPr>
        <p:txBody>
          <a:bodyPr wrap="square" rtlCol="0">
            <a:spAutoFit/>
          </a:bodyPr>
          <a:lstStyle/>
          <a:p>
            <a:r>
              <a:rPr lang="en-US" sz="2400" b="1" dirty="0" err="1" smtClean="0">
                <a:solidFill>
                  <a:srgbClr val="C00000"/>
                </a:solidFill>
                <a:latin typeface="Verdana" panose="020B0604030504040204" pitchFamily="34" charset="0"/>
                <a:ea typeface="Verdana" panose="020B0604030504040204" pitchFamily="34" charset="0"/>
                <a:cs typeface="Verdana" panose="020B0604030504040204" pitchFamily="34" charset="0"/>
              </a:rPr>
              <a:t>Lagrangian</a:t>
            </a:r>
            <a:r>
              <a:rPr lang="en-US" sz="2400" b="1" dirty="0" smtClean="0">
                <a:latin typeface="Verdana" panose="020B0604030504040204" pitchFamily="34" charset="0"/>
                <a:ea typeface="Verdana" panose="020B0604030504040204" pitchFamily="34" charset="0"/>
                <a:cs typeface="Verdana" panose="020B0604030504040204" pitchFamily="34" charset="0"/>
              </a:rPr>
              <a:t> vs </a:t>
            </a:r>
            <a:r>
              <a:rPr lang="en-US" sz="2400" b="1" dirty="0" err="1" smtClean="0">
                <a:solidFill>
                  <a:srgbClr val="FF0000"/>
                </a:solidFill>
                <a:latin typeface="Verdana" panose="020B0604030504040204" pitchFamily="34" charset="0"/>
                <a:ea typeface="Verdana" panose="020B0604030504040204" pitchFamily="34" charset="0"/>
                <a:cs typeface="Verdana" panose="020B0604030504040204" pitchFamily="34" charset="0"/>
              </a:rPr>
              <a:t>Eulerian</a:t>
            </a:r>
            <a:r>
              <a:rPr lang="en-US" sz="2400" b="1" dirty="0" smtClean="0">
                <a:latin typeface="Verdana" panose="020B0604030504040204" pitchFamily="34" charset="0"/>
                <a:ea typeface="Verdana" panose="020B0604030504040204" pitchFamily="34" charset="0"/>
                <a:cs typeface="Verdana" panose="020B0604030504040204" pitchFamily="34" charset="0"/>
              </a:rPr>
              <a:t> approach</a:t>
            </a:r>
            <a:endParaRPr lang="en-US" sz="2400" b="1"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60469" y="0"/>
            <a:ext cx="3587931" cy="665294"/>
          </a:xfrm>
        </p:spPr>
        <p:txBody>
          <a:bodyPr>
            <a:noAutofit/>
          </a:bodyPr>
          <a:lstStyle/>
          <a:p>
            <a:r>
              <a:rPr lang="en-US" sz="4400" b="1" i="1" dirty="0" smtClean="0">
                <a:solidFill>
                  <a:schemeClr val="tx2">
                    <a:lumMod val="75000"/>
                  </a:schemeClr>
                </a:solidFill>
                <a:effectLst>
                  <a:outerShdw blurRad="38100" dist="38100" dir="2700000" algn="tl">
                    <a:srgbClr val="000000">
                      <a:alpha val="43137"/>
                    </a:srgbClr>
                  </a:outerShdw>
                </a:effectLst>
              </a:rPr>
              <a:t>Fluid Vs. Solid</a:t>
            </a:r>
            <a:endParaRPr lang="en-US" sz="4400" b="1" i="1" dirty="0" smtClean="0">
              <a:solidFill>
                <a:schemeClr val="tx2">
                  <a:lumMod val="75000"/>
                </a:schemeClr>
              </a:solidFill>
              <a:effectLst>
                <a:outerShdw blurRad="38100" dist="38100" dir="2700000" algn="tl">
                  <a:srgbClr val="000000">
                    <a:alpha val="43137"/>
                  </a:srgbClr>
                </a:outerShdw>
              </a:effectLst>
            </a:endParaRPr>
          </a:p>
        </p:txBody>
      </p:sp>
      <p:sp>
        <p:nvSpPr>
          <p:cNvPr id="4" name="TextBox 3"/>
          <p:cNvSpPr txBox="1"/>
          <p:nvPr/>
        </p:nvSpPr>
        <p:spPr>
          <a:xfrm>
            <a:off x="186146" y="5867400"/>
            <a:ext cx="8723204" cy="707886"/>
          </a:xfrm>
          <a:prstGeom prst="rect">
            <a:avLst/>
          </a:prstGeom>
          <a:noFill/>
        </p:spPr>
        <p:txBody>
          <a:bodyPr wrap="square" rtlCol="0">
            <a:spAutoFit/>
          </a:bodyPr>
          <a:lstStyle/>
          <a:p>
            <a:pPr algn="just"/>
            <a:r>
              <a:rPr lang="en-US" sz="2000" b="1" dirty="0" smtClean="0">
                <a:solidFill>
                  <a:srgbClr val="002060"/>
                </a:solidFill>
              </a:rPr>
              <a:t>When this tangential stress disappears, solids regain either fully or partially their original shape, where as a fluid can never regain its original shape.</a:t>
            </a:r>
            <a:endParaRPr lang="en-US" sz="2000" b="1" dirty="0">
              <a:solidFill>
                <a:srgbClr val="002060"/>
              </a:solidFill>
            </a:endParaRPr>
          </a:p>
        </p:txBody>
      </p:sp>
      <p:sp>
        <p:nvSpPr>
          <p:cNvPr id="16" name="TextBox 15"/>
          <p:cNvSpPr txBox="1"/>
          <p:nvPr/>
        </p:nvSpPr>
        <p:spPr>
          <a:xfrm>
            <a:off x="228600" y="1493624"/>
            <a:ext cx="4577631" cy="1015663"/>
          </a:xfrm>
          <a:prstGeom prst="rect">
            <a:avLst/>
          </a:prstGeom>
          <a:noFill/>
        </p:spPr>
        <p:txBody>
          <a:bodyPr wrap="square" rtlCol="0">
            <a:spAutoFit/>
          </a:bodyPr>
          <a:lstStyle/>
          <a:p>
            <a:pPr algn="just"/>
            <a:r>
              <a:rPr lang="en-US" sz="2000" b="1" dirty="0" smtClean="0">
                <a:solidFill>
                  <a:srgbClr val="002060"/>
                </a:solidFill>
              </a:rPr>
              <a:t>A fluid is a substance that deforms continuously when subjected to a tangential or shear stress</a:t>
            </a:r>
            <a:endParaRPr lang="en-US" sz="2000" b="1" dirty="0" smtClean="0">
              <a:solidFill>
                <a:srgbClr val="002060"/>
              </a:solidFill>
            </a:endParaRPr>
          </a:p>
        </p:txBody>
      </p:sp>
      <p:sp>
        <p:nvSpPr>
          <p:cNvPr id="18" name="TextBox 17"/>
          <p:cNvSpPr txBox="1"/>
          <p:nvPr/>
        </p:nvSpPr>
        <p:spPr>
          <a:xfrm>
            <a:off x="304801" y="3657600"/>
            <a:ext cx="8839200" cy="1015663"/>
          </a:xfrm>
          <a:prstGeom prst="rect">
            <a:avLst/>
          </a:prstGeom>
          <a:noFill/>
        </p:spPr>
        <p:txBody>
          <a:bodyPr wrap="square" rtlCol="0">
            <a:spAutoFit/>
          </a:bodyPr>
          <a:lstStyle/>
          <a:p>
            <a:pPr algn="just"/>
            <a:r>
              <a:rPr lang="en-US" sz="2000" b="1" dirty="0" smtClean="0">
                <a:solidFill>
                  <a:srgbClr val="002060"/>
                </a:solidFill>
              </a:rPr>
              <a:t>But the molecules of a solid are closely packed as compared to that of a fluid. Attractive forces between the molecules of a solid are much larger than those of a fluid.</a:t>
            </a:r>
            <a:endParaRPr lang="en-US" sz="2000" b="1" dirty="0" smtClean="0">
              <a:solidFill>
                <a:srgbClr val="002060"/>
              </a:solidFill>
            </a:endParaRPr>
          </a:p>
        </p:txBody>
      </p:sp>
      <p:sp>
        <p:nvSpPr>
          <p:cNvPr id="22" name="TextBox 21"/>
          <p:cNvSpPr txBox="1"/>
          <p:nvPr/>
        </p:nvSpPr>
        <p:spPr>
          <a:xfrm>
            <a:off x="152400" y="4854714"/>
            <a:ext cx="6324600" cy="400110"/>
          </a:xfrm>
          <a:prstGeom prst="rect">
            <a:avLst/>
          </a:prstGeom>
          <a:noFill/>
        </p:spPr>
        <p:txBody>
          <a:bodyPr wrap="square" rtlCol="0">
            <a:spAutoFit/>
          </a:bodyPr>
          <a:lstStyle/>
          <a:p>
            <a:pPr algn="just"/>
            <a:r>
              <a:rPr lang="en-US" sz="2000" b="1" dirty="0" smtClean="0">
                <a:solidFill>
                  <a:srgbClr val="7030A0"/>
                </a:solidFill>
              </a:rPr>
              <a:t>Solids can resist tangential  stress under static conditions </a:t>
            </a:r>
            <a:endParaRPr lang="en-US" dirty="0"/>
          </a:p>
        </p:txBody>
      </p:sp>
      <p:grpSp>
        <p:nvGrpSpPr>
          <p:cNvPr id="2" name="Group 23"/>
          <p:cNvGrpSpPr/>
          <p:nvPr/>
        </p:nvGrpSpPr>
        <p:grpSpPr>
          <a:xfrm>
            <a:off x="5715000" y="152400"/>
            <a:ext cx="3124200" cy="3276600"/>
            <a:chOff x="2924629" y="465634"/>
            <a:chExt cx="8280400" cy="4469223"/>
          </a:xfrm>
        </p:grpSpPr>
        <p:sp>
          <p:nvSpPr>
            <p:cNvPr id="25" name="Rectangle 24"/>
            <p:cNvSpPr/>
            <p:nvPr/>
          </p:nvSpPr>
          <p:spPr>
            <a:xfrm>
              <a:off x="3381829" y="1262743"/>
              <a:ext cx="5994400" cy="3672114"/>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p:cNvCxnSpPr/>
            <p:nvPr/>
          </p:nvCxnSpPr>
          <p:spPr>
            <a:xfrm flipV="1">
              <a:off x="3381829" y="1262743"/>
              <a:ext cx="1828800" cy="36576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9376229" y="1277257"/>
              <a:ext cx="1828800" cy="36576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9376229" y="1262743"/>
              <a:ext cx="1828800" cy="1451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Arc 28"/>
            <p:cNvSpPr/>
            <p:nvPr/>
          </p:nvSpPr>
          <p:spPr>
            <a:xfrm>
              <a:off x="2924629" y="3455894"/>
              <a:ext cx="914400" cy="914400"/>
            </a:xfrm>
            <a:prstGeom prst="arc">
              <a:avLst>
                <a:gd name="adj1" fmla="val 16200000"/>
                <a:gd name="adj2" fmla="val 678593"/>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Arc 29"/>
            <p:cNvSpPr/>
            <p:nvPr/>
          </p:nvSpPr>
          <p:spPr>
            <a:xfrm>
              <a:off x="8919029" y="3455894"/>
              <a:ext cx="914400" cy="914400"/>
            </a:xfrm>
            <a:prstGeom prst="arc">
              <a:avLst>
                <a:gd name="adj1" fmla="val 16200000"/>
                <a:gd name="adj2" fmla="val 678593"/>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p:cNvSpPr txBox="1"/>
            <p:nvPr/>
          </p:nvSpPr>
          <p:spPr>
            <a:xfrm>
              <a:off x="3397662" y="2883642"/>
              <a:ext cx="481577" cy="862372"/>
            </a:xfrm>
            <a:prstGeom prst="rect">
              <a:avLst/>
            </a:prstGeom>
            <a:noFill/>
          </p:spPr>
          <p:txBody>
            <a:bodyPr wrap="square" rtlCol="0">
              <a:spAutoFit/>
            </a:bodyPr>
            <a:lstStyle/>
            <a:p>
              <a:r>
                <a:rPr lang="el-GR" sz="3200" dirty="0" smtClean="0"/>
                <a:t>α</a:t>
              </a:r>
              <a:endParaRPr lang="en-US" sz="3200" dirty="0"/>
            </a:p>
          </p:txBody>
        </p:sp>
        <p:sp>
          <p:nvSpPr>
            <p:cNvPr id="32" name="TextBox 31"/>
            <p:cNvSpPr txBox="1"/>
            <p:nvPr/>
          </p:nvSpPr>
          <p:spPr>
            <a:xfrm>
              <a:off x="9381607" y="2871635"/>
              <a:ext cx="480420" cy="862372"/>
            </a:xfrm>
            <a:prstGeom prst="rect">
              <a:avLst/>
            </a:prstGeom>
            <a:noFill/>
          </p:spPr>
          <p:txBody>
            <a:bodyPr wrap="square" rtlCol="0">
              <a:spAutoFit/>
            </a:bodyPr>
            <a:lstStyle/>
            <a:p>
              <a:r>
                <a:rPr lang="el-GR" sz="3200" dirty="0" smtClean="0"/>
                <a:t>α</a:t>
              </a:r>
              <a:endParaRPr lang="en-US" sz="3200" dirty="0"/>
            </a:p>
          </p:txBody>
        </p:sp>
        <p:cxnSp>
          <p:nvCxnSpPr>
            <p:cNvPr id="33" name="Straight Arrow Connector 32"/>
            <p:cNvCxnSpPr/>
            <p:nvPr/>
          </p:nvCxnSpPr>
          <p:spPr>
            <a:xfrm>
              <a:off x="6400800" y="1071922"/>
              <a:ext cx="972457" cy="21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071459" y="465634"/>
              <a:ext cx="725714" cy="1043925"/>
            </a:xfrm>
            <a:prstGeom prst="rect">
              <a:avLst/>
            </a:prstGeom>
            <a:noFill/>
          </p:spPr>
          <p:txBody>
            <a:bodyPr wrap="square" rtlCol="0">
              <a:spAutoFit/>
            </a:bodyPr>
            <a:lstStyle/>
            <a:p>
              <a:r>
                <a:rPr lang="el-GR" sz="4000" dirty="0" smtClean="0"/>
                <a:t>τ</a:t>
              </a:r>
              <a:endParaRPr lang="en-US" sz="40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linds(horizontal)">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blinds(horizontal)">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linds(horizontal)">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6" grpId="0"/>
      <p:bldP spid="18"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2362200" y="0"/>
            <a:ext cx="5035731" cy="665294"/>
          </a:xfrm>
          <a:prstGeom prst="rect">
            <a:avLst/>
          </a:prstGeom>
        </p:spPr>
        <p:txBody>
          <a:bodyPr>
            <a:noAutofit/>
          </a:bodyPr>
          <a:lstStyle/>
          <a:p>
            <a:pPr marL="342900" lvl="0" indent="-342900">
              <a:spcBef>
                <a:spcPct val="20000"/>
              </a:spcBef>
            </a:pPr>
            <a:r>
              <a:rPr lang="en-US" sz="4000" b="1" i="1" dirty="0" smtClean="0">
                <a:solidFill>
                  <a:schemeClr val="tx2">
                    <a:lumMod val="75000"/>
                  </a:schemeClr>
                </a:solidFill>
                <a:effectLst>
                  <a:outerShdw blurRad="38100" dist="38100" dir="2700000" algn="tl">
                    <a:srgbClr val="000000">
                      <a:alpha val="43137"/>
                    </a:srgbClr>
                  </a:outerShdw>
                </a:effectLst>
              </a:rPr>
              <a:t>Properties of Fluids</a:t>
            </a:r>
            <a:endParaRPr kumimoji="0" lang="en-US" sz="4000" b="1" i="1" u="none" strike="noStrike" kern="1200" cap="none" spc="0" normalizeH="0" baseline="0" noProof="0" dirty="0" smtClean="0">
              <a:ln>
                <a:noFill/>
              </a:ln>
              <a:solidFill>
                <a:schemeClr val="tx2">
                  <a:lumMod val="75000"/>
                </a:schemeClr>
              </a:solidFill>
              <a:effectLst>
                <a:outerShdw blurRad="38100" dist="38100" dir="2700000" algn="tl">
                  <a:srgbClr val="000000">
                    <a:alpha val="43137"/>
                  </a:srgbClr>
                </a:outerShdw>
              </a:effectLst>
              <a:uLnTx/>
              <a:uFillTx/>
              <a:latin typeface="+mn-lt"/>
              <a:ea typeface="+mn-ea"/>
              <a:cs typeface="+mn-cs"/>
            </a:endParaRPr>
          </a:p>
        </p:txBody>
      </p:sp>
      <p:sp>
        <p:nvSpPr>
          <p:cNvPr id="3" name="Rectangle 3"/>
          <p:cNvSpPr txBox="1">
            <a:spLocks noChangeArrowheads="1"/>
          </p:cNvSpPr>
          <p:nvPr/>
        </p:nvSpPr>
        <p:spPr>
          <a:xfrm>
            <a:off x="228600" y="5715000"/>
            <a:ext cx="8686800" cy="990600"/>
          </a:xfrm>
          <a:prstGeom prst="rect">
            <a:avLst/>
          </a:prstGeom>
          <a:solidFill>
            <a:srgbClr val="FFFF00"/>
          </a:solidFill>
        </p:spPr>
        <p:txBody>
          <a:bodyPr/>
          <a:lstStyle/>
          <a:p>
            <a:pPr marR="0" lvl="0" indent="-342900" algn="just" defTabSz="914400" rtl="0" eaLnBrk="1" fontAlgn="auto" latinLnBrk="0" hangingPunct="1">
              <a:lnSpc>
                <a:spcPct val="90000"/>
              </a:lnSpc>
              <a:spcAft>
                <a:spcPts val="0"/>
              </a:spcAft>
              <a:buClrTx/>
              <a:buSzTx/>
              <a:defRPr/>
            </a:pPr>
            <a:r>
              <a:rPr kumimoji="0" lang="en-US" sz="2200" b="1" i="0" u="none" strike="noStrike" kern="1200" cap="none" spc="0" normalizeH="0" baseline="0" noProof="0" dirty="0" smtClean="0">
                <a:ln>
                  <a:noFill/>
                </a:ln>
                <a:solidFill>
                  <a:schemeClr val="tx1"/>
                </a:solidFill>
                <a:effectLst/>
                <a:uLnTx/>
                <a:uFillTx/>
                <a:latin typeface="+mn-lt"/>
                <a:ea typeface="+mn-ea"/>
                <a:cs typeface="+mn-cs"/>
              </a:rPr>
              <a:t>Extensive properties per unit mass are called specific properties. Examples include specific volume </a:t>
            </a:r>
            <a:r>
              <a:rPr kumimoji="0" lang="en-US" sz="2200" b="1" i="1" u="none" strike="noStrike" kern="1200" cap="none" spc="0" normalizeH="0" baseline="0" noProof="0" dirty="0" smtClean="0">
                <a:ln>
                  <a:noFill/>
                </a:ln>
                <a:solidFill>
                  <a:schemeClr val="tx1"/>
                </a:solidFill>
                <a:effectLst/>
                <a:uLnTx/>
                <a:uFillTx/>
                <a:latin typeface="+mn-lt"/>
                <a:ea typeface="+mn-ea"/>
                <a:cs typeface="+mn-cs"/>
              </a:rPr>
              <a:t>v = V/m</a:t>
            </a:r>
            <a:r>
              <a:rPr kumimoji="0" lang="en-US" sz="2200" b="1" i="0" u="none" strike="noStrike" kern="1200" cap="none" spc="0" normalizeH="0" baseline="0" noProof="0" dirty="0" smtClean="0">
                <a:ln>
                  <a:noFill/>
                </a:ln>
                <a:solidFill>
                  <a:schemeClr val="tx1"/>
                </a:solidFill>
                <a:effectLst/>
                <a:uLnTx/>
                <a:uFillTx/>
                <a:latin typeface="+mn-lt"/>
                <a:ea typeface="+mn-ea"/>
                <a:cs typeface="+mn-cs"/>
              </a:rPr>
              <a:t> and specific total energy </a:t>
            </a:r>
            <a:r>
              <a:rPr kumimoji="0" lang="en-US" sz="2200" b="1" i="1" u="none" strike="noStrike" kern="1200" cap="none" spc="0" normalizeH="0" baseline="0" noProof="0" dirty="0" smtClean="0">
                <a:ln>
                  <a:noFill/>
                </a:ln>
                <a:solidFill>
                  <a:schemeClr val="tx1"/>
                </a:solidFill>
                <a:effectLst/>
                <a:uLnTx/>
                <a:uFillTx/>
                <a:latin typeface="+mn-lt"/>
                <a:ea typeface="+mn-ea"/>
                <a:cs typeface="+mn-cs"/>
              </a:rPr>
              <a:t>e=E/m.</a:t>
            </a:r>
            <a:r>
              <a:rPr kumimoji="0" lang="en-US" sz="2200" b="1"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200" b="1"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Box 3"/>
          <p:cNvSpPr txBox="1"/>
          <p:nvPr/>
        </p:nvSpPr>
        <p:spPr>
          <a:xfrm>
            <a:off x="457200" y="914400"/>
            <a:ext cx="8382000" cy="2332946"/>
          </a:xfrm>
          <a:prstGeom prst="rect">
            <a:avLst/>
          </a:prstGeom>
          <a:noFill/>
        </p:spPr>
        <p:txBody>
          <a:bodyPr wrap="square" rtlCol="0">
            <a:spAutoFit/>
          </a:bodyPr>
          <a:lstStyle/>
          <a:p>
            <a:pPr marL="342900" lvl="0" indent="-342900" algn="just">
              <a:lnSpc>
                <a:spcPct val="90000"/>
              </a:lnSpc>
              <a:spcBef>
                <a:spcPct val="20000"/>
              </a:spcBef>
              <a:buFont typeface="Wingdings" panose="05000000000000000000" pitchFamily="2" charset="2"/>
              <a:buChar char="Ø"/>
              <a:defRPr/>
            </a:pPr>
            <a:r>
              <a:rPr lang="en-US" sz="2400" dirty="0" smtClean="0">
                <a:solidFill>
                  <a:srgbClr val="7030A0"/>
                </a:solidFill>
              </a:rPr>
              <a:t> </a:t>
            </a:r>
            <a:r>
              <a:rPr lang="en-US" sz="2400" b="1" dirty="0" smtClean="0">
                <a:solidFill>
                  <a:srgbClr val="002060"/>
                </a:solidFill>
              </a:rPr>
              <a:t>Any characteristic of a system is called a property. </a:t>
            </a:r>
            <a:endParaRPr lang="en-US" sz="2400" b="1" dirty="0" smtClean="0">
              <a:solidFill>
                <a:srgbClr val="002060"/>
              </a:solidFill>
            </a:endParaRPr>
          </a:p>
          <a:p>
            <a:pPr marL="742950" lvl="1" indent="-285750" algn="just">
              <a:lnSpc>
                <a:spcPct val="90000"/>
              </a:lnSpc>
              <a:spcBef>
                <a:spcPct val="20000"/>
              </a:spcBef>
              <a:buFont typeface="Arial" panose="020B0604020202020204" pitchFamily="34" charset="0"/>
              <a:buChar char="–"/>
              <a:defRPr/>
            </a:pPr>
            <a:endParaRPr lang="en-US" sz="2000" b="1" dirty="0" smtClean="0">
              <a:solidFill>
                <a:srgbClr val="002060"/>
              </a:solidFill>
            </a:endParaRPr>
          </a:p>
          <a:p>
            <a:pPr marL="742950" lvl="1" indent="-285750" algn="just">
              <a:lnSpc>
                <a:spcPct val="90000"/>
              </a:lnSpc>
              <a:spcBef>
                <a:spcPct val="20000"/>
              </a:spcBef>
              <a:buFont typeface="Arial" panose="020B0604020202020204" pitchFamily="34" charset="0"/>
              <a:buChar char="–"/>
              <a:defRPr/>
            </a:pPr>
            <a:r>
              <a:rPr lang="en-US" sz="2000" b="1" dirty="0" smtClean="0">
                <a:solidFill>
                  <a:srgbClr val="002060"/>
                </a:solidFill>
              </a:rPr>
              <a:t>Familiar:  </a:t>
            </a:r>
            <a:r>
              <a:rPr lang="en-US" sz="2000" b="1" dirty="0" smtClean="0">
                <a:solidFill>
                  <a:srgbClr val="FF0000"/>
                </a:solidFill>
              </a:rPr>
              <a:t>pressure </a:t>
            </a:r>
            <a:r>
              <a:rPr lang="en-US" sz="2000" b="1" i="1" dirty="0" smtClean="0">
                <a:solidFill>
                  <a:srgbClr val="FF0000"/>
                </a:solidFill>
              </a:rPr>
              <a:t>P</a:t>
            </a:r>
            <a:r>
              <a:rPr lang="en-US" sz="2000" b="1" dirty="0" smtClean="0">
                <a:solidFill>
                  <a:srgbClr val="FF0000"/>
                </a:solidFill>
              </a:rPr>
              <a:t>, temperature </a:t>
            </a:r>
            <a:r>
              <a:rPr lang="en-US" sz="2000" b="1" i="1" dirty="0" smtClean="0">
                <a:solidFill>
                  <a:srgbClr val="FF0000"/>
                </a:solidFill>
              </a:rPr>
              <a:t>T,</a:t>
            </a:r>
            <a:r>
              <a:rPr lang="en-US" sz="2000" b="1" dirty="0" smtClean="0">
                <a:solidFill>
                  <a:srgbClr val="FF0000"/>
                </a:solidFill>
              </a:rPr>
              <a:t> volume </a:t>
            </a:r>
            <a:r>
              <a:rPr lang="en-US" sz="2000" b="1" i="1" dirty="0" smtClean="0">
                <a:solidFill>
                  <a:srgbClr val="FF0000"/>
                </a:solidFill>
              </a:rPr>
              <a:t>V</a:t>
            </a:r>
            <a:r>
              <a:rPr lang="en-US" sz="2000" b="1" dirty="0" smtClean="0">
                <a:solidFill>
                  <a:srgbClr val="FF0000"/>
                </a:solidFill>
              </a:rPr>
              <a:t>, and mass </a:t>
            </a:r>
            <a:r>
              <a:rPr lang="en-US" sz="2000" b="1" i="1" dirty="0" smtClean="0">
                <a:solidFill>
                  <a:srgbClr val="FF0000"/>
                </a:solidFill>
              </a:rPr>
              <a:t>m</a:t>
            </a:r>
            <a:r>
              <a:rPr lang="en-US" sz="2000" b="1" dirty="0" smtClean="0">
                <a:solidFill>
                  <a:srgbClr val="002060"/>
                </a:solidFill>
              </a:rPr>
              <a:t>.</a:t>
            </a:r>
            <a:endParaRPr lang="en-US" sz="2000" b="1" dirty="0" smtClean="0">
              <a:solidFill>
                <a:srgbClr val="002060"/>
              </a:solidFill>
            </a:endParaRPr>
          </a:p>
          <a:p>
            <a:pPr marL="742950" lvl="1" indent="-285750" algn="just">
              <a:lnSpc>
                <a:spcPct val="90000"/>
              </a:lnSpc>
              <a:spcBef>
                <a:spcPct val="20000"/>
              </a:spcBef>
              <a:buFont typeface="Arial" panose="020B0604020202020204" pitchFamily="34" charset="0"/>
              <a:buChar char="–"/>
              <a:defRPr/>
            </a:pPr>
            <a:endParaRPr lang="en-US" sz="2000" b="1" dirty="0" smtClean="0">
              <a:solidFill>
                <a:srgbClr val="002060"/>
              </a:solidFill>
            </a:endParaRPr>
          </a:p>
          <a:p>
            <a:pPr marL="742950" lvl="1" indent="-285750" algn="just">
              <a:lnSpc>
                <a:spcPct val="90000"/>
              </a:lnSpc>
              <a:spcBef>
                <a:spcPct val="20000"/>
              </a:spcBef>
              <a:buFont typeface="Arial" panose="020B0604020202020204" pitchFamily="34" charset="0"/>
              <a:buChar char="–"/>
              <a:defRPr/>
            </a:pPr>
            <a:r>
              <a:rPr lang="en-US" sz="2000" b="1" dirty="0" smtClean="0">
                <a:solidFill>
                  <a:srgbClr val="002060"/>
                </a:solidFill>
              </a:rPr>
              <a:t>Less familiar: </a:t>
            </a:r>
            <a:r>
              <a:rPr lang="en-US" sz="2000" b="1" dirty="0" smtClean="0">
                <a:solidFill>
                  <a:srgbClr val="FF0000"/>
                </a:solidFill>
              </a:rPr>
              <a:t>viscosity, thermal conductivity, modulus of elasticity, thermal expansion coefficient, vapor pressure, surface tension.</a:t>
            </a:r>
            <a:endParaRPr lang="en-US" sz="2000" b="1" dirty="0" smtClean="0">
              <a:solidFill>
                <a:srgbClr val="FF0000"/>
              </a:solidFill>
            </a:endParaRPr>
          </a:p>
          <a:p>
            <a:pPr algn="just"/>
            <a:endParaRPr lang="en-US" dirty="0"/>
          </a:p>
        </p:txBody>
      </p:sp>
      <p:sp>
        <p:nvSpPr>
          <p:cNvPr id="5" name="TextBox 4"/>
          <p:cNvSpPr txBox="1"/>
          <p:nvPr/>
        </p:nvSpPr>
        <p:spPr>
          <a:xfrm>
            <a:off x="304800" y="3276600"/>
            <a:ext cx="8534400" cy="769441"/>
          </a:xfrm>
          <a:prstGeom prst="rect">
            <a:avLst/>
          </a:prstGeom>
          <a:solidFill>
            <a:schemeClr val="accent6">
              <a:lumMod val="60000"/>
              <a:lumOff val="40000"/>
            </a:schemeClr>
          </a:solidFill>
        </p:spPr>
        <p:txBody>
          <a:bodyPr wrap="square" rtlCol="0">
            <a:spAutoFit/>
          </a:bodyPr>
          <a:lstStyle/>
          <a:p>
            <a:pPr lvl="0" algn="just"/>
            <a:r>
              <a:rPr lang="en-US" sz="2200" b="1" i="1" dirty="0" smtClean="0"/>
              <a:t>Intensive</a:t>
            </a:r>
            <a:r>
              <a:rPr lang="en-US" sz="2200" b="1" dirty="0" smtClean="0"/>
              <a:t> properties are independent of the mass of the system.  Examples:  </a:t>
            </a:r>
            <a:r>
              <a:rPr lang="en-US" sz="2200" b="1" dirty="0" smtClean="0">
                <a:solidFill>
                  <a:srgbClr val="0070C0"/>
                </a:solidFill>
              </a:rPr>
              <a:t>temperature, pressure, and density</a:t>
            </a:r>
            <a:r>
              <a:rPr lang="en-US" sz="2200" b="1" dirty="0" smtClean="0"/>
              <a:t>. </a:t>
            </a:r>
            <a:endParaRPr lang="en-US" sz="2200" dirty="0"/>
          </a:p>
        </p:txBody>
      </p:sp>
      <p:sp>
        <p:nvSpPr>
          <p:cNvPr id="6" name="TextBox 5"/>
          <p:cNvSpPr txBox="1"/>
          <p:nvPr/>
        </p:nvSpPr>
        <p:spPr>
          <a:xfrm>
            <a:off x="304800" y="4572000"/>
            <a:ext cx="8534400" cy="701731"/>
          </a:xfrm>
          <a:prstGeom prst="rect">
            <a:avLst/>
          </a:prstGeom>
          <a:solidFill>
            <a:schemeClr val="tx2">
              <a:lumMod val="40000"/>
              <a:lumOff val="60000"/>
            </a:schemeClr>
          </a:solidFill>
        </p:spPr>
        <p:txBody>
          <a:bodyPr wrap="square" rtlCol="0">
            <a:spAutoFit/>
          </a:bodyPr>
          <a:lstStyle/>
          <a:p>
            <a:pPr lvl="0" indent="-342900" algn="just">
              <a:lnSpc>
                <a:spcPct val="90000"/>
              </a:lnSpc>
              <a:defRPr/>
            </a:pPr>
            <a:r>
              <a:rPr lang="en-US" sz="2200" b="1" i="1" dirty="0" smtClean="0"/>
              <a:t>Extensive</a:t>
            </a:r>
            <a:r>
              <a:rPr lang="en-US" sz="2200" b="1" dirty="0" smtClean="0"/>
              <a:t> properties are those whose value depends on the size of the system.  Examples:  </a:t>
            </a:r>
            <a:r>
              <a:rPr lang="en-US" sz="2200" b="1" dirty="0" smtClean="0">
                <a:solidFill>
                  <a:srgbClr val="C00000"/>
                </a:solidFill>
              </a:rPr>
              <a:t>Total mass, total volume, and total momentum</a:t>
            </a:r>
            <a:r>
              <a:rPr lang="en-US" sz="2200" b="1" dirty="0" smtClean="0"/>
              <a:t>.</a:t>
            </a:r>
            <a:endParaRPr lang="en-US" sz="22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p:cNvSpPr txBox="1"/>
          <p:nvPr/>
        </p:nvSpPr>
        <p:spPr>
          <a:xfrm>
            <a:off x="2362200" y="0"/>
            <a:ext cx="5035731" cy="665294"/>
          </a:xfrm>
          <a:prstGeom prst="rect">
            <a:avLst/>
          </a:prstGeom>
        </p:spPr>
        <p:txBody>
          <a:bodyPr>
            <a:noAutofit/>
          </a:bodyPr>
          <a:lstStyle/>
          <a:p>
            <a:pPr marL="342900" lvl="0" indent="-342900">
              <a:spcBef>
                <a:spcPct val="20000"/>
              </a:spcBef>
            </a:pPr>
            <a:r>
              <a:rPr lang="en-US" sz="4000" b="1" i="1" dirty="0" smtClean="0">
                <a:solidFill>
                  <a:schemeClr val="tx2">
                    <a:lumMod val="75000"/>
                  </a:schemeClr>
                </a:solidFill>
                <a:effectLst>
                  <a:outerShdw blurRad="38100" dist="38100" dir="2700000" algn="tl">
                    <a:srgbClr val="000000">
                      <a:alpha val="43137"/>
                    </a:srgbClr>
                  </a:outerShdw>
                </a:effectLst>
              </a:rPr>
              <a:t>Properties of Fluids</a:t>
            </a:r>
            <a:endParaRPr kumimoji="0" lang="en-US" sz="4000" b="1" i="1" u="none" strike="noStrike" kern="1200" cap="none" spc="0" normalizeH="0" baseline="0" noProof="0" dirty="0" smtClean="0">
              <a:ln>
                <a:noFill/>
              </a:ln>
              <a:solidFill>
                <a:schemeClr val="tx2">
                  <a:lumMod val="75000"/>
                </a:schemeClr>
              </a:solidFill>
              <a:effectLst>
                <a:outerShdw blurRad="38100" dist="38100" dir="2700000" algn="tl">
                  <a:srgbClr val="000000">
                    <a:alpha val="43137"/>
                  </a:srgbClr>
                </a:outerShdw>
              </a:effectLst>
              <a:uLnTx/>
              <a:uFillTx/>
              <a:latin typeface="+mn-lt"/>
              <a:ea typeface="+mn-ea"/>
              <a:cs typeface="+mn-cs"/>
            </a:endParaRPr>
          </a:p>
        </p:txBody>
      </p:sp>
      <p:sp>
        <p:nvSpPr>
          <p:cNvPr id="7" name="TextBox 6"/>
          <p:cNvSpPr txBox="1"/>
          <p:nvPr/>
        </p:nvSpPr>
        <p:spPr>
          <a:xfrm>
            <a:off x="457200" y="958096"/>
            <a:ext cx="7315200" cy="1785104"/>
          </a:xfrm>
          <a:prstGeom prst="rect">
            <a:avLst/>
          </a:prstGeom>
          <a:solidFill>
            <a:schemeClr val="bg1"/>
          </a:solidFill>
          <a:ln>
            <a:noFill/>
          </a:ln>
        </p:spPr>
        <p:txBody>
          <a:bodyPr wrap="square" rtlCol="0">
            <a:spAutoFit/>
          </a:bodyPr>
          <a:lstStyle/>
          <a:p>
            <a:pPr marL="342900" indent="-342900">
              <a:buAutoNum type="arabicPeriod"/>
            </a:pPr>
            <a:r>
              <a:rPr lang="en-US" sz="2200" b="1" dirty="0" smtClean="0"/>
              <a:t>Density (</a:t>
            </a:r>
            <a:r>
              <a:rPr lang="el-GR" sz="2200" b="1" dirty="0" smtClean="0"/>
              <a:t>ρ</a:t>
            </a:r>
            <a:r>
              <a:rPr lang="en-US" sz="2200" b="1" dirty="0" smtClean="0"/>
              <a:t>): mass per unit volume.	(</a:t>
            </a:r>
            <a:r>
              <a:rPr lang="en-US" sz="2200" b="1" dirty="0" smtClean="0">
                <a:solidFill>
                  <a:srgbClr val="C00000"/>
                </a:solidFill>
              </a:rPr>
              <a:t>It decreases with increase in temperature)</a:t>
            </a:r>
            <a:endParaRPr lang="en-US" sz="2200" b="1" dirty="0" smtClean="0">
              <a:solidFill>
                <a:srgbClr val="C00000"/>
              </a:solidFill>
            </a:endParaRPr>
          </a:p>
          <a:p>
            <a:pPr marL="342900" indent="-342900"/>
            <a:r>
              <a:rPr lang="en-US" sz="2200" b="1" dirty="0" smtClean="0"/>
              <a:t>		</a:t>
            </a:r>
            <a:endParaRPr lang="en-US" sz="2200" b="1" dirty="0" smtClean="0"/>
          </a:p>
          <a:p>
            <a:pPr marL="342900" indent="-342900"/>
            <a:r>
              <a:rPr lang="en-US" sz="2200" b="1" dirty="0" smtClean="0"/>
              <a:t>						</a:t>
            </a:r>
            <a:r>
              <a:rPr lang="el-GR" sz="2200" b="1" dirty="0" smtClean="0"/>
              <a:t> </a:t>
            </a:r>
            <a:r>
              <a:rPr lang="en-US" sz="2200" b="1" dirty="0" smtClean="0"/>
              <a:t>(units: kg/m</a:t>
            </a:r>
            <a:r>
              <a:rPr lang="en-US" sz="2200" b="1" baseline="30000" dirty="0" smtClean="0"/>
              <a:t>3</a:t>
            </a:r>
            <a:r>
              <a:rPr lang="en-US" sz="2200" b="1" dirty="0" smtClean="0"/>
              <a:t>)</a:t>
            </a:r>
            <a:endParaRPr lang="en-US" sz="2200" b="1" dirty="0" smtClean="0"/>
          </a:p>
          <a:p>
            <a:pPr marL="342900" indent="-342900"/>
            <a:endParaRPr lang="en-US" sz="2200" b="1" dirty="0"/>
          </a:p>
        </p:txBody>
      </p:sp>
      <p:graphicFrame>
        <p:nvGraphicFramePr>
          <p:cNvPr id="10" name="Object 9"/>
          <p:cNvGraphicFramePr>
            <a:graphicFrameLocks noChangeAspect="1"/>
          </p:cNvGraphicFramePr>
          <p:nvPr/>
        </p:nvGraphicFramePr>
        <p:xfrm>
          <a:off x="2438400" y="1676400"/>
          <a:ext cx="1981200" cy="990600"/>
        </p:xfrm>
        <a:graphic>
          <a:graphicData uri="http://schemas.openxmlformats.org/presentationml/2006/ole">
            <mc:AlternateContent xmlns:mc="http://schemas.openxmlformats.org/markup-compatibility/2006">
              <mc:Choice xmlns:v="urn:schemas-microsoft-com:vml" Requires="v">
                <p:oleObj spid="_x0000_s50206" name="Equation" r:id="rId1" imgW="786765" imgH="393700" progId="Equation.DSMT4">
                  <p:embed/>
                </p:oleObj>
              </mc:Choice>
              <mc:Fallback>
                <p:oleObj name="Equation" r:id="rId1" imgW="786765" imgH="393700" progId="Equation.DSMT4">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676400"/>
                        <a:ext cx="19812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457200" y="3387804"/>
            <a:ext cx="7315200" cy="1107996"/>
          </a:xfrm>
          <a:prstGeom prst="rect">
            <a:avLst/>
          </a:prstGeom>
          <a:solidFill>
            <a:schemeClr val="bg1"/>
          </a:solidFill>
        </p:spPr>
        <p:txBody>
          <a:bodyPr wrap="square" rtlCol="0">
            <a:spAutoFit/>
          </a:bodyPr>
          <a:lstStyle/>
          <a:p>
            <a:pPr marL="342900" indent="-342900"/>
            <a:r>
              <a:rPr lang="en-US" sz="2200" b="1" dirty="0" smtClean="0"/>
              <a:t>2. Specific Weight (</a:t>
            </a:r>
            <a:r>
              <a:rPr lang="el-GR" sz="2200" b="1" dirty="0" smtClean="0"/>
              <a:t>ϒ</a:t>
            </a:r>
            <a:r>
              <a:rPr lang="en-US" sz="2200" b="1" dirty="0" smtClean="0"/>
              <a:t>):  weight per unit volume.	(</a:t>
            </a:r>
            <a:r>
              <a:rPr lang="en-US" sz="2200" b="1" dirty="0" smtClean="0">
                <a:solidFill>
                  <a:srgbClr val="C00000"/>
                </a:solidFill>
              </a:rPr>
              <a:t>It refers to the heaviness of the fluid</a:t>
            </a:r>
            <a:r>
              <a:rPr lang="en-US" sz="2200" b="1" dirty="0" smtClean="0"/>
              <a:t>)</a:t>
            </a:r>
            <a:endParaRPr lang="en-US" sz="2200" b="1" dirty="0" smtClean="0"/>
          </a:p>
          <a:p>
            <a:pPr marL="342900" indent="-342900"/>
            <a:r>
              <a:rPr lang="en-US" sz="2200" b="1" dirty="0" smtClean="0"/>
              <a:t>						</a:t>
            </a:r>
            <a:r>
              <a:rPr lang="el-GR" sz="2200" b="1" dirty="0" smtClean="0"/>
              <a:t> </a:t>
            </a:r>
            <a:r>
              <a:rPr lang="en-US" sz="2200" b="1" dirty="0" smtClean="0"/>
              <a:t>(units: N/m</a:t>
            </a:r>
            <a:r>
              <a:rPr lang="en-US" sz="2200" b="1" baseline="30000" dirty="0" smtClean="0"/>
              <a:t>3</a:t>
            </a:r>
            <a:r>
              <a:rPr lang="en-US" sz="2200" b="1" dirty="0" smtClean="0"/>
              <a:t>)</a:t>
            </a:r>
            <a:endParaRPr lang="en-US" sz="2200" b="1" dirty="0"/>
          </a:p>
        </p:txBody>
      </p:sp>
      <p:graphicFrame>
        <p:nvGraphicFramePr>
          <p:cNvPr id="50180" name="Object 4"/>
          <p:cNvGraphicFramePr>
            <a:graphicFrameLocks noChangeAspect="1"/>
          </p:cNvGraphicFramePr>
          <p:nvPr/>
        </p:nvGraphicFramePr>
        <p:xfrm>
          <a:off x="2897188" y="4099803"/>
          <a:ext cx="1214437" cy="415925"/>
        </p:xfrm>
        <a:graphic>
          <a:graphicData uri="http://schemas.openxmlformats.org/presentationml/2006/ole">
            <mc:AlternateContent xmlns:mc="http://schemas.openxmlformats.org/markup-compatibility/2006">
              <mc:Choice xmlns:v="urn:schemas-microsoft-com:vml" Requires="v">
                <p:oleObj spid="_x0000_s50207" name="Equation" r:id="rId3" imgW="482600" imgH="165100" progId="Equation.DSMT4">
                  <p:embed/>
                </p:oleObj>
              </mc:Choice>
              <mc:Fallback>
                <p:oleObj name="Equation" r:id="rId3" imgW="482600" imgH="165100" progId="Equation.DSMT4">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7188" y="4099803"/>
                        <a:ext cx="1214437" cy="415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Box 12"/>
          <p:cNvSpPr txBox="1"/>
          <p:nvPr/>
        </p:nvSpPr>
        <p:spPr>
          <a:xfrm>
            <a:off x="457200" y="5106650"/>
            <a:ext cx="7315200" cy="1446550"/>
          </a:xfrm>
          <a:prstGeom prst="rect">
            <a:avLst/>
          </a:prstGeom>
          <a:solidFill>
            <a:schemeClr val="bg1"/>
          </a:solidFill>
        </p:spPr>
        <p:txBody>
          <a:bodyPr wrap="square" rtlCol="0">
            <a:spAutoFit/>
          </a:bodyPr>
          <a:lstStyle/>
          <a:p>
            <a:pPr marL="342900" indent="-342900"/>
            <a:r>
              <a:rPr lang="en-US" sz="2200" b="1" dirty="0" smtClean="0"/>
              <a:t>3. Specific Volume (</a:t>
            </a:r>
            <a:r>
              <a:rPr lang="el-GR" sz="2200" b="1" dirty="0" smtClean="0"/>
              <a:t>υ</a:t>
            </a:r>
            <a:r>
              <a:rPr lang="en-US" sz="2200" b="1" dirty="0" smtClean="0"/>
              <a:t>):  volume occupied by unit mass of fluid	</a:t>
            </a:r>
            <a:endParaRPr lang="en-US" sz="2200" b="1" dirty="0" smtClean="0"/>
          </a:p>
          <a:p>
            <a:pPr marL="342900" indent="-342900"/>
            <a:r>
              <a:rPr lang="en-US" sz="2200" b="1" dirty="0" smtClean="0"/>
              <a:t>						</a:t>
            </a:r>
            <a:r>
              <a:rPr lang="el-GR" sz="2200" b="1" dirty="0" smtClean="0"/>
              <a:t> </a:t>
            </a:r>
            <a:r>
              <a:rPr lang="en-US" sz="2200" b="1" dirty="0" smtClean="0"/>
              <a:t>(units: m</a:t>
            </a:r>
            <a:r>
              <a:rPr lang="en-US" sz="2200" b="1" baseline="30000" dirty="0" smtClean="0"/>
              <a:t>3</a:t>
            </a:r>
            <a:r>
              <a:rPr lang="en-US" sz="2200" b="1" dirty="0" smtClean="0"/>
              <a:t> /kg)</a:t>
            </a:r>
            <a:endParaRPr lang="en-US" sz="2200" b="1" dirty="0" smtClean="0"/>
          </a:p>
          <a:p>
            <a:pPr marL="342900" indent="-342900"/>
            <a:endParaRPr lang="en-US" sz="2200" b="1" dirty="0"/>
          </a:p>
        </p:txBody>
      </p:sp>
      <p:graphicFrame>
        <p:nvGraphicFramePr>
          <p:cNvPr id="50181" name="Object 5"/>
          <p:cNvGraphicFramePr>
            <a:graphicFrameLocks noChangeAspect="1"/>
          </p:cNvGraphicFramePr>
          <p:nvPr/>
        </p:nvGraphicFramePr>
        <p:xfrm>
          <a:off x="3011488" y="5421313"/>
          <a:ext cx="992187" cy="1055687"/>
        </p:xfrm>
        <a:graphic>
          <a:graphicData uri="http://schemas.openxmlformats.org/presentationml/2006/ole">
            <mc:AlternateContent xmlns:mc="http://schemas.openxmlformats.org/markup-compatibility/2006">
              <mc:Choice xmlns:v="urn:schemas-microsoft-com:vml" Requires="v">
                <p:oleObj spid="_x0000_s50208" name="Equation" r:id="rId5" imgW="393700" imgH="419100" progId="Equation.DSMT4">
                  <p:embed/>
                </p:oleObj>
              </mc:Choice>
              <mc:Fallback>
                <p:oleObj name="Equation" r:id="rId5" imgW="393700" imgH="4191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1488" y="5421313"/>
                        <a:ext cx="992187" cy="1055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0180"/>
                                        </p:tgtEl>
                                        <p:attrNameLst>
                                          <p:attrName>style.visibility</p:attrName>
                                        </p:attrNameLst>
                                      </p:cBhvr>
                                      <p:to>
                                        <p:strVal val="visible"/>
                                      </p:to>
                                    </p:set>
                                    <p:animEffect transition="in" filter="blinds(horizontal)">
                                      <p:cBhvr>
                                        <p:cTn id="15" dur="500"/>
                                        <p:tgtEl>
                                          <p:spTgt spid="5018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linds(horizont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linds(horizontal)">
                                      <p:cBhvr>
                                        <p:cTn id="23" dur="500"/>
                                        <p:tgtEl>
                                          <p:spTgt spid="13"/>
                                        </p:tgtEl>
                                      </p:cBhvr>
                                    </p:animEffect>
                                  </p:childTnLst>
                                </p:cTn>
                              </p:par>
                              <p:par>
                                <p:cTn id="24" presetID="3" presetClass="entr" presetSubtype="10" fill="hold" nodeType="withEffect">
                                  <p:stCondLst>
                                    <p:cond delay="0"/>
                                  </p:stCondLst>
                                  <p:childTnLst>
                                    <p:set>
                                      <p:cBhvr>
                                        <p:cTn id="25" dur="1" fill="hold">
                                          <p:stCondLst>
                                            <p:cond delay="0"/>
                                          </p:stCondLst>
                                        </p:cTn>
                                        <p:tgtEl>
                                          <p:spTgt spid="50181"/>
                                        </p:tgtEl>
                                        <p:attrNameLst>
                                          <p:attrName>style.visibility</p:attrName>
                                        </p:attrNameLst>
                                      </p:cBhvr>
                                      <p:to>
                                        <p:strVal val="visible"/>
                                      </p:to>
                                    </p:set>
                                    <p:animEffect transition="in" filter="blinds(horizontal)">
                                      <p:cBhvr>
                                        <p:cTn id="26" dur="500"/>
                                        <p:tgtEl>
                                          <p:spTgt spid="50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1" grpId="0" bldLvl="0" animBg="1"/>
      <p:bldP spid="13"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p:cNvSpPr txBox="1"/>
          <p:nvPr/>
        </p:nvSpPr>
        <p:spPr>
          <a:xfrm>
            <a:off x="2362200" y="0"/>
            <a:ext cx="5035731" cy="665294"/>
          </a:xfrm>
          <a:prstGeom prst="rect">
            <a:avLst/>
          </a:prstGeom>
        </p:spPr>
        <p:txBody>
          <a:bodyPr>
            <a:noAutofit/>
          </a:bodyPr>
          <a:lstStyle/>
          <a:p>
            <a:pPr marL="342900" lvl="0" indent="-342900">
              <a:spcBef>
                <a:spcPct val="20000"/>
              </a:spcBef>
            </a:pPr>
            <a:r>
              <a:rPr lang="en-US" sz="4000" b="1" i="1" dirty="0" smtClean="0">
                <a:solidFill>
                  <a:schemeClr val="tx2">
                    <a:lumMod val="75000"/>
                  </a:schemeClr>
                </a:solidFill>
                <a:effectLst>
                  <a:outerShdw blurRad="38100" dist="38100" dir="2700000" algn="tl">
                    <a:srgbClr val="000000">
                      <a:alpha val="43137"/>
                    </a:srgbClr>
                  </a:outerShdw>
                </a:effectLst>
              </a:rPr>
              <a:t>Properties of Fluids</a:t>
            </a:r>
            <a:endParaRPr kumimoji="0" lang="en-US" sz="4000" b="1" i="1" u="none" strike="noStrike" kern="1200" cap="none" spc="0" normalizeH="0" baseline="0" noProof="0" dirty="0" smtClean="0">
              <a:ln>
                <a:noFill/>
              </a:ln>
              <a:solidFill>
                <a:schemeClr val="tx2">
                  <a:lumMod val="75000"/>
                </a:schemeClr>
              </a:solidFill>
              <a:effectLst>
                <a:outerShdw blurRad="38100" dist="38100" dir="2700000" algn="tl">
                  <a:srgbClr val="000000">
                    <a:alpha val="43137"/>
                  </a:srgbClr>
                </a:outerShdw>
              </a:effectLst>
              <a:uLnTx/>
              <a:uFillTx/>
              <a:latin typeface="+mn-lt"/>
              <a:ea typeface="+mn-ea"/>
              <a:cs typeface="+mn-cs"/>
            </a:endParaRPr>
          </a:p>
        </p:txBody>
      </p:sp>
      <p:sp>
        <p:nvSpPr>
          <p:cNvPr id="7" name="TextBox 6"/>
          <p:cNvSpPr txBox="1"/>
          <p:nvPr/>
        </p:nvSpPr>
        <p:spPr>
          <a:xfrm>
            <a:off x="457200" y="958097"/>
            <a:ext cx="8229600" cy="3139321"/>
          </a:xfrm>
          <a:prstGeom prst="rect">
            <a:avLst/>
          </a:prstGeom>
          <a:solidFill>
            <a:schemeClr val="bg1"/>
          </a:solidFill>
        </p:spPr>
        <p:txBody>
          <a:bodyPr wrap="square" rtlCol="0">
            <a:spAutoFit/>
          </a:bodyPr>
          <a:lstStyle/>
          <a:p>
            <a:pPr marL="342900" indent="-342900"/>
            <a:r>
              <a:rPr lang="en-US" sz="2200" b="1" dirty="0" smtClean="0"/>
              <a:t>4. Specific Gravity (s):</a:t>
            </a:r>
            <a:endParaRPr lang="en-US" sz="2200" b="1" dirty="0" smtClean="0"/>
          </a:p>
          <a:p>
            <a:pPr marL="342900" indent="-342900" algn="just"/>
            <a:r>
              <a:rPr lang="en-US" sz="2200" b="1" dirty="0" smtClean="0">
                <a:solidFill>
                  <a:srgbClr val="C00000"/>
                </a:solidFill>
              </a:rPr>
              <a:t>	</a:t>
            </a:r>
            <a:endParaRPr lang="en-US" sz="2200" b="1" dirty="0" smtClean="0">
              <a:solidFill>
                <a:srgbClr val="C00000"/>
              </a:solidFill>
            </a:endParaRPr>
          </a:p>
          <a:p>
            <a:pPr marL="342900" indent="-342900" algn="just"/>
            <a:r>
              <a:rPr lang="en-US" sz="2200" b="1" dirty="0" smtClean="0">
                <a:solidFill>
                  <a:srgbClr val="C00000"/>
                </a:solidFill>
              </a:rPr>
              <a:t>	For Liquids; it is the ratio of density of liquid at actual conditions to density of water at 101 </a:t>
            </a:r>
            <a:r>
              <a:rPr lang="en-US" sz="2200" b="1" dirty="0" err="1" smtClean="0">
                <a:solidFill>
                  <a:srgbClr val="C00000"/>
                </a:solidFill>
              </a:rPr>
              <a:t>kN</a:t>
            </a:r>
            <a:r>
              <a:rPr lang="en-US" sz="2200" b="1" dirty="0" smtClean="0">
                <a:solidFill>
                  <a:srgbClr val="C00000"/>
                </a:solidFill>
              </a:rPr>
              <a:t>/m</a:t>
            </a:r>
            <a:r>
              <a:rPr lang="en-US" sz="2200" b="1" baseline="30000" dirty="0" smtClean="0">
                <a:solidFill>
                  <a:srgbClr val="C00000"/>
                </a:solidFill>
              </a:rPr>
              <a:t>2 </a:t>
            </a:r>
            <a:r>
              <a:rPr lang="en-US" sz="2200" b="1" dirty="0" smtClean="0">
                <a:solidFill>
                  <a:srgbClr val="C00000"/>
                </a:solidFill>
              </a:rPr>
              <a:t> and at 4 </a:t>
            </a:r>
            <a:r>
              <a:rPr lang="en-US" sz="2200" b="1" baseline="30000" dirty="0" smtClean="0">
                <a:solidFill>
                  <a:srgbClr val="C00000"/>
                </a:solidFill>
              </a:rPr>
              <a:t>0</a:t>
            </a:r>
            <a:r>
              <a:rPr lang="en-US" sz="2200" b="1" dirty="0" smtClean="0">
                <a:solidFill>
                  <a:srgbClr val="C00000"/>
                </a:solidFill>
              </a:rPr>
              <a:t>C</a:t>
            </a:r>
            <a:endParaRPr lang="en-US" sz="2200" b="1" dirty="0" smtClean="0">
              <a:solidFill>
                <a:srgbClr val="C00000"/>
              </a:solidFill>
            </a:endParaRPr>
          </a:p>
          <a:p>
            <a:pPr marL="342900" indent="-342900" algn="just"/>
            <a:endParaRPr lang="en-US" sz="2200" b="1" dirty="0" smtClean="0">
              <a:solidFill>
                <a:srgbClr val="C00000"/>
              </a:solidFill>
            </a:endParaRPr>
          </a:p>
          <a:p>
            <a:pPr marL="342900" indent="-342900" algn="just"/>
            <a:r>
              <a:rPr lang="en-US" sz="2200" b="1" dirty="0" smtClean="0">
                <a:solidFill>
                  <a:srgbClr val="C00000"/>
                </a:solidFill>
              </a:rPr>
              <a:t>	For gases; it is the ratio of density of a particular gas at actual conditions to density of either hydrogen or air at some specified temperature or pressure.</a:t>
            </a:r>
            <a:r>
              <a:rPr lang="en-US" sz="2200" b="1" dirty="0" smtClean="0"/>
              <a:t>				</a:t>
            </a:r>
            <a:endParaRPr lang="en-US" sz="2200" b="1" dirty="0" smtClean="0"/>
          </a:p>
          <a:p>
            <a:pPr marL="342900" indent="-342900"/>
            <a:endParaRPr lang="en-US" sz="2200" b="1" dirty="0"/>
          </a:p>
        </p:txBody>
      </p:sp>
      <p:sp>
        <p:nvSpPr>
          <p:cNvPr id="13" name="TextBox 12"/>
          <p:cNvSpPr txBox="1"/>
          <p:nvPr/>
        </p:nvSpPr>
        <p:spPr>
          <a:xfrm>
            <a:off x="457200" y="5106650"/>
            <a:ext cx="8382000" cy="430887"/>
          </a:xfrm>
          <a:prstGeom prst="rect">
            <a:avLst/>
          </a:prstGeom>
          <a:solidFill>
            <a:srgbClr val="FFFF00"/>
          </a:solidFill>
        </p:spPr>
        <p:txBody>
          <a:bodyPr wrap="square" rtlCol="0">
            <a:spAutoFit/>
          </a:bodyPr>
          <a:lstStyle/>
          <a:p>
            <a:pPr marL="342900" indent="-342900"/>
            <a:r>
              <a:rPr lang="en-US" sz="2200" b="1" dirty="0" smtClean="0"/>
              <a:t>Conditions must be stated while referring to specific gravity </a:t>
            </a:r>
            <a:r>
              <a:rPr lang="en-US" sz="2200" b="1" smtClean="0"/>
              <a:t>of gases</a:t>
            </a:r>
            <a:r>
              <a:rPr lang="en-US" sz="2200" b="1" dirty="0" smtClean="0"/>
              <a:t>.</a:t>
            </a:r>
            <a:endParaRPr lang="en-US" sz="2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228600" y="685800"/>
            <a:ext cx="2971800" cy="792163"/>
          </a:xfrm>
        </p:spPr>
        <p:txBody>
          <a:bodyPr>
            <a:normAutofit/>
          </a:bodyPr>
          <a:lstStyle/>
          <a:p>
            <a:pPr algn="l"/>
            <a:r>
              <a:rPr lang="en-US" sz="3600" b="1" dirty="0" smtClean="0">
                <a:solidFill>
                  <a:srgbClr val="C00000"/>
                </a:solidFill>
                <a:latin typeface="+mn-lt"/>
              </a:rPr>
              <a:t>5. Viscosity</a:t>
            </a:r>
            <a:endParaRPr lang="en-US" sz="3600" b="1" dirty="0">
              <a:solidFill>
                <a:srgbClr val="C00000"/>
              </a:solidFill>
              <a:latin typeface="+mn-lt"/>
            </a:endParaRPr>
          </a:p>
        </p:txBody>
      </p:sp>
      <p:sp>
        <p:nvSpPr>
          <p:cNvPr id="189445" name="Rectangle 5"/>
          <p:cNvSpPr>
            <a:spLocks noGrp="1" noChangeArrowheads="1"/>
          </p:cNvSpPr>
          <p:nvPr>
            <p:ph type="body" sz="half" idx="2"/>
          </p:nvPr>
        </p:nvSpPr>
        <p:spPr>
          <a:xfrm>
            <a:off x="5029200" y="4191000"/>
            <a:ext cx="4038600" cy="1676400"/>
          </a:xfrm>
          <a:solidFill>
            <a:schemeClr val="accent3">
              <a:lumMod val="60000"/>
              <a:lumOff val="40000"/>
            </a:schemeClr>
          </a:solidFill>
        </p:spPr>
        <p:txBody>
          <a:bodyPr>
            <a:normAutofit/>
          </a:bodyPr>
          <a:lstStyle/>
          <a:p>
            <a:pPr marL="0" algn="just">
              <a:lnSpc>
                <a:spcPct val="90000"/>
              </a:lnSpc>
              <a:spcBef>
                <a:spcPts val="0"/>
              </a:spcBef>
              <a:buNone/>
            </a:pPr>
            <a:r>
              <a:rPr lang="en-US" sz="2200" b="1" dirty="0" smtClean="0"/>
              <a:t>The </a:t>
            </a:r>
            <a:r>
              <a:rPr lang="en-US" sz="2200" b="1" dirty="0"/>
              <a:t>force a flowing fluid exerts on a body in the flow direction is called the drag force, and the magnitude of this force depends, in part, on viscosity. </a:t>
            </a:r>
            <a:endParaRPr lang="en-US" sz="2200" b="1" dirty="0"/>
          </a:p>
        </p:txBody>
      </p:sp>
      <p:pic>
        <p:nvPicPr>
          <p:cNvPr id="189446" name="Picture 6" descr="cen72367_02011"/>
          <p:cNvPicPr>
            <a:picLocks noGrp="1" noChangeAspect="1" noChangeArrowheads="1"/>
          </p:cNvPicPr>
          <p:nvPr>
            <p:ph sz="half" idx="1"/>
          </p:nvPr>
        </p:nvPicPr>
        <p:blipFill>
          <a:blip r:embed="rId1"/>
          <a:srcRect/>
          <a:stretch>
            <a:fillRect/>
          </a:stretch>
        </p:blipFill>
        <p:spPr>
          <a:xfrm>
            <a:off x="304799" y="1600200"/>
            <a:ext cx="4551681" cy="4267200"/>
          </a:xfrm>
          <a:noFill/>
        </p:spPr>
      </p:pic>
      <p:sp>
        <p:nvSpPr>
          <p:cNvPr id="5" name="Subtitle 2"/>
          <p:cNvSpPr txBox="1"/>
          <p:nvPr/>
        </p:nvSpPr>
        <p:spPr>
          <a:xfrm>
            <a:off x="2362200" y="0"/>
            <a:ext cx="5035731" cy="665294"/>
          </a:xfrm>
          <a:prstGeom prst="rect">
            <a:avLst/>
          </a:prstGeom>
        </p:spPr>
        <p:txBody>
          <a:bodyPr>
            <a:noAutofit/>
          </a:bodyPr>
          <a:lstStyle/>
          <a:p>
            <a:pPr marL="342900" lvl="0" indent="-342900">
              <a:spcBef>
                <a:spcPct val="20000"/>
              </a:spcBef>
            </a:pPr>
            <a:r>
              <a:rPr lang="en-US" sz="4000" b="1" i="1" dirty="0" smtClean="0">
                <a:solidFill>
                  <a:schemeClr val="tx2">
                    <a:lumMod val="75000"/>
                  </a:schemeClr>
                </a:solidFill>
                <a:effectLst>
                  <a:outerShdw blurRad="38100" dist="38100" dir="2700000" algn="tl">
                    <a:srgbClr val="000000">
                      <a:alpha val="43137"/>
                    </a:srgbClr>
                  </a:outerShdw>
                </a:effectLst>
              </a:rPr>
              <a:t>Properties of Fluids</a:t>
            </a:r>
            <a:endParaRPr kumimoji="0" lang="en-US" sz="4000" b="1" i="1" u="none" strike="noStrike" kern="1200" cap="none" spc="0" normalizeH="0" baseline="0" noProof="0" dirty="0" smtClean="0">
              <a:ln>
                <a:noFill/>
              </a:ln>
              <a:solidFill>
                <a:schemeClr val="tx2">
                  <a:lumMod val="75000"/>
                </a:schemeClr>
              </a:solidFill>
              <a:effectLst>
                <a:outerShdw blurRad="38100" dist="38100" dir="2700000" algn="tl">
                  <a:srgbClr val="000000">
                    <a:alpha val="43137"/>
                  </a:srgbClr>
                </a:outerShdw>
              </a:effectLst>
              <a:uLnTx/>
              <a:uFillTx/>
              <a:latin typeface="+mn-lt"/>
              <a:ea typeface="+mn-ea"/>
              <a:cs typeface="+mn-cs"/>
            </a:endParaRPr>
          </a:p>
        </p:txBody>
      </p:sp>
      <p:sp>
        <p:nvSpPr>
          <p:cNvPr id="6" name="TextBox 5"/>
          <p:cNvSpPr txBox="1"/>
          <p:nvPr/>
        </p:nvSpPr>
        <p:spPr>
          <a:xfrm>
            <a:off x="4953000" y="1787604"/>
            <a:ext cx="4114800" cy="1107996"/>
          </a:xfrm>
          <a:prstGeom prst="rect">
            <a:avLst/>
          </a:prstGeom>
          <a:solidFill>
            <a:schemeClr val="accent5">
              <a:lumMod val="60000"/>
              <a:lumOff val="40000"/>
            </a:schemeClr>
          </a:solidFill>
        </p:spPr>
        <p:txBody>
          <a:bodyPr wrap="square" rtlCol="0">
            <a:spAutoFit/>
          </a:bodyPr>
          <a:lstStyle/>
          <a:p>
            <a:pPr algn="just"/>
            <a:r>
              <a:rPr lang="en-US" sz="2200" b="1" dirty="0" smtClean="0"/>
              <a:t>Viscosity is a property that represents the </a:t>
            </a:r>
            <a:r>
              <a:rPr lang="en-US" sz="2200" b="1" dirty="0" smtClean="0">
                <a:solidFill>
                  <a:srgbClr val="C00000"/>
                </a:solidFill>
              </a:rPr>
              <a:t>internal resistance </a:t>
            </a:r>
            <a:r>
              <a:rPr lang="en-US" sz="2200" b="1" dirty="0" smtClean="0"/>
              <a:t>of a fluid to motion.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9442"/>
                                        </p:tgtEl>
                                        <p:attrNameLst>
                                          <p:attrName>style.visibility</p:attrName>
                                        </p:attrNameLst>
                                      </p:cBhvr>
                                      <p:to>
                                        <p:strVal val="visible"/>
                                      </p:to>
                                    </p:set>
                                    <p:animEffect transition="in" filter="blinds(horizontal)">
                                      <p:cBhvr>
                                        <p:cTn id="7" dur="500"/>
                                        <p:tgtEl>
                                          <p:spTgt spid="18944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9446"/>
                                        </p:tgtEl>
                                        <p:attrNameLst>
                                          <p:attrName>style.visibility</p:attrName>
                                        </p:attrNameLst>
                                      </p:cBhvr>
                                      <p:to>
                                        <p:strVal val="visible"/>
                                      </p:to>
                                    </p:set>
                                    <p:animEffect transition="in" filter="blinds(horizontal)">
                                      <p:cBhvr>
                                        <p:cTn id="12" dur="500"/>
                                        <p:tgtEl>
                                          <p:spTgt spid="18944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9445">
                                            <p:bg/>
                                          </p:spTgt>
                                        </p:tgtEl>
                                        <p:attrNameLst>
                                          <p:attrName>style.visibility</p:attrName>
                                        </p:attrNameLst>
                                      </p:cBhvr>
                                      <p:to>
                                        <p:strVal val="visible"/>
                                      </p:to>
                                    </p:set>
                                    <p:animEffect transition="in" filter="blinds(horizontal)">
                                      <p:cBhvr>
                                        <p:cTn id="22" dur="500"/>
                                        <p:tgtEl>
                                          <p:spTgt spid="189445">
                                            <p:bg/>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9445">
                                            <p:txEl>
                                              <p:pRg st="0" end="0"/>
                                            </p:txEl>
                                          </p:spTgt>
                                        </p:tgtEl>
                                        <p:attrNameLst>
                                          <p:attrName>style.visibility</p:attrName>
                                        </p:attrNameLst>
                                      </p:cBhvr>
                                      <p:to>
                                        <p:strVal val="visible"/>
                                      </p:to>
                                    </p:set>
                                    <p:animEffect transition="in" filter="blinds(horizontal)">
                                      <p:cBhvr>
                                        <p:cTn id="27" dur="500"/>
                                        <p:tgtEl>
                                          <p:spTgt spid="1894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2" grpId="0"/>
      <p:bldP spid="189445" grpId="0" animBg="1" build="p"/>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457200" y="0"/>
            <a:ext cx="8229600" cy="792163"/>
          </a:xfrm>
        </p:spPr>
        <p:txBody>
          <a:bodyPr/>
          <a:lstStyle/>
          <a:p>
            <a:r>
              <a:rPr lang="en-US" sz="4000" b="1" i="1" dirty="0">
                <a:solidFill>
                  <a:schemeClr val="tx2">
                    <a:lumMod val="75000"/>
                  </a:schemeClr>
                </a:solidFill>
                <a:effectLst>
                  <a:outerShdw blurRad="38100" dist="38100" dir="2700000" algn="tl">
                    <a:srgbClr val="000000">
                      <a:alpha val="43137"/>
                    </a:srgbClr>
                  </a:outerShdw>
                </a:effectLst>
              </a:rPr>
              <a:t>Viscosity</a:t>
            </a:r>
            <a:endParaRPr lang="en-US" sz="4000" b="1" i="1" dirty="0">
              <a:solidFill>
                <a:schemeClr val="tx2">
                  <a:lumMod val="75000"/>
                </a:schemeClr>
              </a:solidFill>
              <a:effectLst>
                <a:outerShdw blurRad="38100" dist="38100" dir="2700000" algn="tl">
                  <a:srgbClr val="000000">
                    <a:alpha val="43137"/>
                  </a:srgbClr>
                </a:outerShdw>
              </a:effectLst>
            </a:endParaRPr>
          </a:p>
        </p:txBody>
      </p:sp>
      <p:sp>
        <p:nvSpPr>
          <p:cNvPr id="191493" name="Rectangle 5"/>
          <p:cNvSpPr>
            <a:spLocks noGrp="1" noChangeArrowheads="1"/>
          </p:cNvSpPr>
          <p:nvPr>
            <p:ph type="body" sz="half" idx="2"/>
          </p:nvPr>
        </p:nvSpPr>
        <p:spPr>
          <a:xfrm>
            <a:off x="152400" y="6172200"/>
            <a:ext cx="8382000" cy="457200"/>
          </a:xfrm>
          <a:solidFill>
            <a:schemeClr val="accent3">
              <a:lumMod val="60000"/>
              <a:lumOff val="40000"/>
            </a:schemeClr>
          </a:solidFill>
        </p:spPr>
        <p:txBody>
          <a:bodyPr>
            <a:normAutofit/>
          </a:bodyPr>
          <a:lstStyle/>
          <a:p>
            <a:pPr>
              <a:lnSpc>
                <a:spcPct val="90000"/>
              </a:lnSpc>
              <a:buNone/>
            </a:pPr>
            <a:r>
              <a:rPr lang="en-US" sz="2200" b="1" i="1" dirty="0" smtClean="0"/>
              <a:t>μ</a:t>
            </a:r>
            <a:r>
              <a:rPr lang="en-US" sz="2200" b="1" dirty="0" smtClean="0"/>
              <a:t> </a:t>
            </a:r>
            <a:r>
              <a:rPr lang="en-US" sz="2200" b="1" dirty="0"/>
              <a:t>is the dynamic viscosity and has units of </a:t>
            </a:r>
            <a:r>
              <a:rPr lang="en-US" sz="2200" b="1" i="1" dirty="0"/>
              <a:t>kg/</a:t>
            </a:r>
            <a:r>
              <a:rPr lang="en-US" sz="2200" b="1" i="1" dirty="0" err="1"/>
              <a:t>m</a:t>
            </a:r>
            <a:r>
              <a:rPr lang="en-US" sz="2200" b="1" i="1" dirty="0" err="1">
                <a:cs typeface="Arial" panose="020B0604020202020204" pitchFamily="34" charset="0"/>
              </a:rPr>
              <a:t>·s</a:t>
            </a:r>
            <a:r>
              <a:rPr lang="en-US" sz="2200" b="1" dirty="0"/>
              <a:t>, </a:t>
            </a:r>
            <a:r>
              <a:rPr lang="en-US" sz="2200" b="1" i="1" dirty="0" err="1"/>
              <a:t>Pa</a:t>
            </a:r>
            <a:r>
              <a:rPr lang="en-US" sz="2200" b="1" i="1" dirty="0" err="1">
                <a:cs typeface="Arial" panose="020B0604020202020204" pitchFamily="34" charset="0"/>
              </a:rPr>
              <a:t>·</a:t>
            </a:r>
            <a:r>
              <a:rPr lang="en-US" sz="2200" b="1" i="1" dirty="0" err="1"/>
              <a:t>s</a:t>
            </a:r>
            <a:r>
              <a:rPr lang="en-US" sz="2200" b="1" dirty="0"/>
              <a:t>, or poise.</a:t>
            </a:r>
            <a:endParaRPr lang="en-US" sz="2200" b="1" dirty="0"/>
          </a:p>
        </p:txBody>
      </p:sp>
      <p:pic>
        <p:nvPicPr>
          <p:cNvPr id="191494" name="Picture 6" descr="cen72367_02012"/>
          <p:cNvPicPr>
            <a:picLocks noGrp="1" noChangeAspect="1" noChangeArrowheads="1"/>
          </p:cNvPicPr>
          <p:nvPr>
            <p:ph sz="half" idx="1"/>
          </p:nvPr>
        </p:nvPicPr>
        <p:blipFill>
          <a:blip r:embed="rId1"/>
          <a:srcRect/>
          <a:stretch>
            <a:fillRect/>
          </a:stretch>
        </p:blipFill>
        <p:spPr>
          <a:xfrm>
            <a:off x="4252332" y="685800"/>
            <a:ext cx="4891668" cy="3581400"/>
          </a:xfrm>
          <a:solidFill>
            <a:schemeClr val="accent6">
              <a:lumMod val="60000"/>
              <a:lumOff val="40000"/>
            </a:schemeClr>
          </a:solidFill>
        </p:spPr>
      </p:pic>
      <p:sp>
        <p:nvSpPr>
          <p:cNvPr id="5" name="TextBox 4"/>
          <p:cNvSpPr txBox="1"/>
          <p:nvPr/>
        </p:nvSpPr>
        <p:spPr>
          <a:xfrm>
            <a:off x="76200" y="990600"/>
            <a:ext cx="3886200" cy="1723549"/>
          </a:xfrm>
          <a:prstGeom prst="rect">
            <a:avLst/>
          </a:prstGeom>
          <a:solidFill>
            <a:schemeClr val="accent2">
              <a:lumMod val="20000"/>
              <a:lumOff val="80000"/>
            </a:schemeClr>
          </a:solidFill>
        </p:spPr>
        <p:txBody>
          <a:bodyPr wrap="square" rtlCol="0">
            <a:spAutoFit/>
          </a:bodyPr>
          <a:lstStyle/>
          <a:p>
            <a:r>
              <a:rPr lang="en-US" sz="2200" b="1" dirty="0" smtClean="0"/>
              <a:t>To obtain a relation for viscosity, consider a fluid layer between two very large parallel plates separated by a distance </a:t>
            </a:r>
            <a:r>
              <a:rPr lang="en-US" sz="2200" b="1" dirty="0" smtClean="0">
                <a:cs typeface="Arial" panose="020B0604020202020204" pitchFamily="34" charset="0"/>
              </a:rPr>
              <a:t>ℓ</a:t>
            </a:r>
            <a:endParaRPr lang="en-US" sz="2200" b="1" dirty="0" smtClean="0">
              <a:cs typeface="Arial" panose="020B0604020202020204" pitchFamily="34" charset="0"/>
            </a:endParaRPr>
          </a:p>
          <a:p>
            <a:endParaRPr lang="en-US" dirty="0"/>
          </a:p>
        </p:txBody>
      </p:sp>
      <p:sp>
        <p:nvSpPr>
          <p:cNvPr id="6" name="TextBox 5"/>
          <p:cNvSpPr txBox="1"/>
          <p:nvPr/>
        </p:nvSpPr>
        <p:spPr>
          <a:xfrm>
            <a:off x="0" y="2971800"/>
            <a:ext cx="4343400" cy="707886"/>
          </a:xfrm>
          <a:prstGeom prst="rect">
            <a:avLst/>
          </a:prstGeom>
          <a:solidFill>
            <a:schemeClr val="accent5">
              <a:lumMod val="60000"/>
              <a:lumOff val="40000"/>
            </a:schemeClr>
          </a:solidFill>
        </p:spPr>
        <p:txBody>
          <a:bodyPr wrap="square" rtlCol="0">
            <a:spAutoFit/>
          </a:bodyPr>
          <a:lstStyle/>
          <a:p>
            <a:r>
              <a:rPr lang="en-US" sz="2200" b="1" dirty="0" smtClean="0"/>
              <a:t>Definition of shear stress is </a:t>
            </a:r>
            <a:r>
              <a:rPr lang="en-US" sz="2200" b="1" i="1" dirty="0" smtClean="0"/>
              <a:t>τ = F/A</a:t>
            </a:r>
            <a:r>
              <a:rPr lang="en-US" sz="2200" b="1" dirty="0" smtClean="0"/>
              <a:t>.</a:t>
            </a:r>
            <a:endParaRPr lang="en-US" sz="2200" b="1" dirty="0" smtClean="0"/>
          </a:p>
          <a:p>
            <a:endParaRPr lang="en-US" dirty="0"/>
          </a:p>
        </p:txBody>
      </p:sp>
      <p:sp>
        <p:nvSpPr>
          <p:cNvPr id="7" name="TextBox 6"/>
          <p:cNvSpPr txBox="1"/>
          <p:nvPr/>
        </p:nvSpPr>
        <p:spPr>
          <a:xfrm>
            <a:off x="152400" y="3810000"/>
            <a:ext cx="5410200" cy="1384995"/>
          </a:xfrm>
          <a:prstGeom prst="rect">
            <a:avLst/>
          </a:prstGeom>
          <a:solidFill>
            <a:schemeClr val="bg2">
              <a:lumMod val="75000"/>
            </a:schemeClr>
          </a:solidFill>
        </p:spPr>
        <p:txBody>
          <a:bodyPr wrap="square" rtlCol="0">
            <a:spAutoFit/>
          </a:bodyPr>
          <a:lstStyle/>
          <a:p>
            <a:r>
              <a:rPr lang="en-US" sz="2200" b="1" dirty="0" smtClean="0"/>
              <a:t>Using the no-slip condition, </a:t>
            </a:r>
            <a:br>
              <a:rPr lang="en-US" sz="2200" b="1" dirty="0" smtClean="0"/>
            </a:br>
            <a:r>
              <a:rPr lang="en-US" sz="2200" b="1" i="1" dirty="0" smtClean="0"/>
              <a:t>u(0) = 0</a:t>
            </a:r>
            <a:r>
              <a:rPr lang="en-US" sz="2200" b="1" dirty="0" smtClean="0"/>
              <a:t> and </a:t>
            </a:r>
            <a:r>
              <a:rPr lang="en-US" sz="2200" b="1" i="1" dirty="0" smtClean="0"/>
              <a:t>u(</a:t>
            </a:r>
            <a:r>
              <a:rPr lang="en-US" sz="2200" b="1" i="1" dirty="0" smtClean="0">
                <a:cs typeface="Arial" panose="020B0604020202020204" pitchFamily="34" charset="0"/>
              </a:rPr>
              <a:t>ℓ</a:t>
            </a:r>
            <a:r>
              <a:rPr lang="en-US" sz="2200" b="1" i="1" dirty="0" smtClean="0"/>
              <a:t>) = V</a:t>
            </a:r>
            <a:r>
              <a:rPr lang="en-US" sz="2200" b="1" dirty="0" smtClean="0"/>
              <a:t>, the velocity profile and gradient are </a:t>
            </a:r>
            <a:r>
              <a:rPr lang="en-US" sz="2200" b="1" i="1" dirty="0" smtClean="0"/>
              <a:t>u(y)= </a:t>
            </a:r>
            <a:r>
              <a:rPr lang="en-US" sz="2200" b="1" i="1" dirty="0" err="1" smtClean="0"/>
              <a:t>Vy</a:t>
            </a:r>
            <a:r>
              <a:rPr lang="en-US" sz="2200" b="1" i="1" dirty="0" smtClean="0"/>
              <a:t>/</a:t>
            </a:r>
            <a:r>
              <a:rPr lang="en-US" sz="2200" b="1" i="1" dirty="0" smtClean="0">
                <a:cs typeface="Arial" panose="020B0604020202020204" pitchFamily="34" charset="0"/>
              </a:rPr>
              <a:t>ℓ</a:t>
            </a:r>
            <a:r>
              <a:rPr lang="en-US" sz="2200" b="1" dirty="0" smtClean="0"/>
              <a:t> and </a:t>
            </a:r>
            <a:r>
              <a:rPr lang="en-US" sz="2200" b="1" i="1" dirty="0" smtClean="0"/>
              <a:t>du/</a:t>
            </a:r>
            <a:r>
              <a:rPr lang="en-US" sz="2200" b="1" i="1" dirty="0" err="1" smtClean="0"/>
              <a:t>dy</a:t>
            </a:r>
            <a:r>
              <a:rPr lang="en-US" sz="2200" b="1" i="1" dirty="0" smtClean="0"/>
              <a:t>=V/</a:t>
            </a:r>
            <a:r>
              <a:rPr lang="en-US" sz="2200" b="1" i="1" dirty="0" smtClean="0">
                <a:cs typeface="Arial" panose="020B0604020202020204" pitchFamily="34" charset="0"/>
              </a:rPr>
              <a:t>ℓ</a:t>
            </a:r>
            <a:endParaRPr lang="en-US" sz="2200" b="1" i="1" dirty="0" smtClean="0"/>
          </a:p>
          <a:p>
            <a:endParaRPr lang="en-US" dirty="0"/>
          </a:p>
        </p:txBody>
      </p:sp>
      <p:sp>
        <p:nvSpPr>
          <p:cNvPr id="8" name="TextBox 7"/>
          <p:cNvSpPr txBox="1"/>
          <p:nvPr/>
        </p:nvSpPr>
        <p:spPr>
          <a:xfrm>
            <a:off x="228600" y="5436513"/>
            <a:ext cx="6096000" cy="430887"/>
          </a:xfrm>
          <a:prstGeom prst="rect">
            <a:avLst/>
          </a:prstGeom>
          <a:solidFill>
            <a:schemeClr val="accent5">
              <a:lumMod val="20000"/>
              <a:lumOff val="80000"/>
            </a:schemeClr>
          </a:solidFill>
        </p:spPr>
        <p:txBody>
          <a:bodyPr wrap="square" rtlCol="0">
            <a:spAutoFit/>
          </a:bodyPr>
          <a:lstStyle/>
          <a:p>
            <a:r>
              <a:rPr lang="en-US" sz="2200" b="1" dirty="0" smtClean="0"/>
              <a:t>Shear stress for Newtonian fluid:</a:t>
            </a:r>
            <a:endParaRPr lang="en-US" sz="2200" b="1" dirty="0" smtClean="0"/>
          </a:p>
        </p:txBody>
      </p:sp>
      <p:graphicFrame>
        <p:nvGraphicFramePr>
          <p:cNvPr id="9" name="Object 8"/>
          <p:cNvGraphicFramePr>
            <a:graphicFrameLocks noChangeAspect="1"/>
          </p:cNvGraphicFramePr>
          <p:nvPr/>
        </p:nvGraphicFramePr>
        <p:xfrm>
          <a:off x="4267200" y="5276022"/>
          <a:ext cx="1143000" cy="819978"/>
        </p:xfrm>
        <a:graphic>
          <a:graphicData uri="http://schemas.openxmlformats.org/presentationml/2006/ole">
            <mc:AlternateContent xmlns:mc="http://schemas.openxmlformats.org/markup-compatibility/2006">
              <mc:Choice xmlns:v="urn:schemas-microsoft-com:vml" Requires="v">
                <p:oleObj spid="_x0000_s53259" name="Equation" r:id="rId2" imgW="584200" imgH="419100" progId="Equation.DSMT4">
                  <p:embed/>
                </p:oleObj>
              </mc:Choice>
              <mc:Fallback>
                <p:oleObj name="Equation" r:id="rId2" imgW="584200" imgH="419100" progId="Equation.DSMT4">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5276022"/>
                        <a:ext cx="1143000" cy="8199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5455939" y="5410200"/>
            <a:ext cx="3688061" cy="461665"/>
          </a:xfrm>
          <a:prstGeom prst="rect">
            <a:avLst/>
          </a:prstGeom>
          <a:solidFill>
            <a:srgbClr val="FFFF00"/>
          </a:solidFill>
        </p:spPr>
        <p:txBody>
          <a:bodyPr wrap="none" rtlCol="0">
            <a:spAutoFit/>
          </a:bodyPr>
          <a:lstStyle/>
          <a:p>
            <a:r>
              <a:rPr lang="en-US" sz="2400" b="1" dirty="0" smtClean="0"/>
              <a:t>(Newton’s Law of Viscosity)</a:t>
            </a:r>
            <a:endParaRPr 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191494"/>
                                        </p:tgtEl>
                                        <p:attrNameLst>
                                          <p:attrName>style.visibility</p:attrName>
                                        </p:attrNameLst>
                                      </p:cBhvr>
                                      <p:to>
                                        <p:strVal val="visible"/>
                                      </p:to>
                                    </p:set>
                                    <p:animEffect transition="in" filter="blinds(horizontal)">
                                      <p:cBhvr>
                                        <p:cTn id="10" dur="500"/>
                                        <p:tgtEl>
                                          <p:spTgt spid="19149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linds(horizontal)">
                                      <p:cBhvr>
                                        <p:cTn id="25" dur="500"/>
                                        <p:tgtEl>
                                          <p:spTgt spid="8"/>
                                        </p:tgtEl>
                                      </p:cBhvr>
                                    </p:animEffect>
                                  </p:childTnLst>
                                </p:cTn>
                              </p:par>
                              <p:par>
                                <p:cTn id="26" presetID="3" presetClass="entr" presetSubtype="1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linds(horizontal)">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blinds(horizontal)">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91493">
                                            <p:bg/>
                                          </p:spTgt>
                                        </p:tgtEl>
                                        <p:attrNameLst>
                                          <p:attrName>style.visibility</p:attrName>
                                        </p:attrNameLst>
                                      </p:cBhvr>
                                      <p:to>
                                        <p:strVal val="visible"/>
                                      </p:to>
                                    </p:set>
                                    <p:animEffect transition="in" filter="blinds(horizontal)">
                                      <p:cBhvr>
                                        <p:cTn id="38" dur="500"/>
                                        <p:tgtEl>
                                          <p:spTgt spid="191493">
                                            <p:bg/>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91493">
                                            <p:txEl>
                                              <p:pRg st="0" end="0"/>
                                            </p:txEl>
                                          </p:spTgt>
                                        </p:tgtEl>
                                        <p:attrNameLst>
                                          <p:attrName>style.visibility</p:attrName>
                                        </p:attrNameLst>
                                      </p:cBhvr>
                                      <p:to>
                                        <p:strVal val="visible"/>
                                      </p:to>
                                    </p:set>
                                    <p:animEffect transition="in" filter="blinds(horizontal)">
                                      <p:cBhvr>
                                        <p:cTn id="43" dur="500"/>
                                        <p:tgtEl>
                                          <p:spTgt spid="1914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3" grpId="0" animBg="1" build="p"/>
      <p:bldP spid="5" grpId="0" animBg="1"/>
      <p:bldP spid="6" grpId="0" animBg="1"/>
      <p:bldP spid="7" grpId="0" animBg="1"/>
      <p:bldP spid="8"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67000" y="-113030"/>
            <a:ext cx="4307840" cy="706755"/>
          </a:xfrm>
          <a:prstGeom prst="rect">
            <a:avLst/>
          </a:prstGeom>
          <a:noFill/>
        </p:spPr>
        <p:txBody>
          <a:bodyPr wrap="square" rtlCol="0">
            <a:spAutoFit/>
          </a:bodyPr>
          <a:lstStyle/>
          <a:p>
            <a:r>
              <a:rPr lang="en-US" sz="4000" b="1" i="1" dirty="0" smtClean="0">
                <a:solidFill>
                  <a:schemeClr val="tx2">
                    <a:lumMod val="75000"/>
                  </a:schemeClr>
                </a:solidFill>
                <a:effectLst>
                  <a:outerShdw blurRad="38100" dist="38100" dir="2700000" algn="tl">
                    <a:srgbClr val="000000">
                      <a:alpha val="43137"/>
                    </a:srgbClr>
                  </a:outerShdw>
                </a:effectLst>
              </a:rPr>
              <a:t>Causes of Viscosity</a:t>
            </a:r>
            <a:endParaRPr lang="en-US" sz="4000" b="1" i="1" dirty="0" smtClean="0">
              <a:solidFill>
                <a:schemeClr val="tx2">
                  <a:lumMod val="75000"/>
                </a:schemeClr>
              </a:solidFill>
              <a:effectLst>
                <a:outerShdw blurRad="38100" dist="38100" dir="2700000" algn="tl">
                  <a:srgbClr val="000000">
                    <a:alpha val="43137"/>
                  </a:srgbClr>
                </a:outerShdw>
              </a:effectLst>
            </a:endParaRPr>
          </a:p>
        </p:txBody>
      </p:sp>
      <p:sp>
        <p:nvSpPr>
          <p:cNvPr id="5" name="TextBox 4"/>
          <p:cNvSpPr txBox="1"/>
          <p:nvPr/>
        </p:nvSpPr>
        <p:spPr>
          <a:xfrm>
            <a:off x="228600" y="533400"/>
            <a:ext cx="3733800" cy="830997"/>
          </a:xfrm>
          <a:prstGeom prst="rect">
            <a:avLst/>
          </a:prstGeom>
          <a:solidFill>
            <a:srgbClr val="FFFF00"/>
          </a:solidFill>
        </p:spPr>
        <p:txBody>
          <a:bodyPr wrap="square" rtlCol="0">
            <a:spAutoFit/>
          </a:bodyPr>
          <a:lstStyle/>
          <a:p>
            <a:pPr algn="ctr"/>
            <a:r>
              <a:rPr lang="en-US" sz="2400" b="1" dirty="0" smtClean="0">
                <a:solidFill>
                  <a:srgbClr val="002060"/>
                </a:solidFill>
              </a:rPr>
              <a:t>Intermolecular force of cohesion</a:t>
            </a:r>
            <a:endParaRPr lang="en-US" sz="2400" b="1" dirty="0">
              <a:solidFill>
                <a:srgbClr val="002060"/>
              </a:solidFill>
            </a:endParaRPr>
          </a:p>
        </p:txBody>
      </p:sp>
      <p:sp>
        <p:nvSpPr>
          <p:cNvPr id="6" name="TextBox 5"/>
          <p:cNvSpPr txBox="1"/>
          <p:nvPr/>
        </p:nvSpPr>
        <p:spPr>
          <a:xfrm>
            <a:off x="5410200" y="533400"/>
            <a:ext cx="3048000" cy="830997"/>
          </a:xfrm>
          <a:prstGeom prst="rect">
            <a:avLst/>
          </a:prstGeom>
          <a:solidFill>
            <a:srgbClr val="FFFF00"/>
          </a:solidFill>
        </p:spPr>
        <p:txBody>
          <a:bodyPr wrap="square" rtlCol="0">
            <a:spAutoFit/>
          </a:bodyPr>
          <a:lstStyle/>
          <a:p>
            <a:pPr algn="ctr"/>
            <a:r>
              <a:rPr lang="en-US" sz="2400" b="1" dirty="0" smtClean="0"/>
              <a:t>Exchange of molecular momentum</a:t>
            </a:r>
            <a:endParaRPr lang="en-US" sz="2400" b="1" dirty="0">
              <a:solidFill>
                <a:srgbClr val="002060"/>
              </a:solidFill>
            </a:endParaRPr>
          </a:p>
        </p:txBody>
      </p:sp>
      <p:sp>
        <p:nvSpPr>
          <p:cNvPr id="8" name="TextBox 7"/>
          <p:cNvSpPr txBox="1"/>
          <p:nvPr/>
        </p:nvSpPr>
        <p:spPr>
          <a:xfrm>
            <a:off x="119269" y="1524000"/>
            <a:ext cx="4452731" cy="2123658"/>
          </a:xfrm>
          <a:prstGeom prst="rect">
            <a:avLst/>
          </a:prstGeom>
          <a:solidFill>
            <a:schemeClr val="accent2">
              <a:lumMod val="20000"/>
              <a:lumOff val="80000"/>
            </a:schemeClr>
          </a:solidFill>
        </p:spPr>
        <p:txBody>
          <a:bodyPr wrap="square" rtlCol="0">
            <a:spAutoFit/>
          </a:bodyPr>
          <a:lstStyle/>
          <a:p>
            <a:pPr indent="-400050" algn="just"/>
            <a:r>
              <a:rPr lang="en-US" sz="2200" b="1" dirty="0" smtClean="0">
                <a:solidFill>
                  <a:srgbClr val="002060"/>
                </a:solidFill>
              </a:rPr>
              <a:t>Due to strong cohesive forces between the molecules, any layer in a moving fluid tries to drag the adjacent layer to move with an equal speed and thus produces the effect of viscosity.</a:t>
            </a:r>
            <a:endParaRPr lang="en-US" sz="2200" b="1" dirty="0" smtClean="0">
              <a:solidFill>
                <a:srgbClr val="002060"/>
              </a:solidFill>
            </a:endParaRPr>
          </a:p>
        </p:txBody>
      </p:sp>
      <p:sp>
        <p:nvSpPr>
          <p:cNvPr id="9" name="TextBox 8"/>
          <p:cNvSpPr txBox="1"/>
          <p:nvPr/>
        </p:nvSpPr>
        <p:spPr>
          <a:xfrm>
            <a:off x="5105400" y="1500187"/>
            <a:ext cx="3657600" cy="2462213"/>
          </a:xfrm>
          <a:prstGeom prst="rect">
            <a:avLst/>
          </a:prstGeom>
          <a:solidFill>
            <a:schemeClr val="accent4">
              <a:lumMod val="20000"/>
              <a:lumOff val="80000"/>
            </a:schemeClr>
          </a:solidFill>
        </p:spPr>
        <p:txBody>
          <a:bodyPr wrap="square" rtlCol="0">
            <a:spAutoFit/>
          </a:bodyPr>
          <a:lstStyle/>
          <a:p>
            <a:pPr indent="-400050" algn="just"/>
            <a:r>
              <a:rPr lang="en-US" sz="2200" b="1" dirty="0" smtClean="0">
                <a:solidFill>
                  <a:srgbClr val="002060"/>
                </a:solidFill>
              </a:rPr>
              <a:t>The individual molecules of a fluid are continuously in motion and this motion makes a possible process of an exchange of momentum between different moving layers of this fluid.</a:t>
            </a:r>
            <a:endParaRPr lang="en-US" sz="2200" b="1" dirty="0" smtClean="0">
              <a:solidFill>
                <a:srgbClr val="002060"/>
              </a:solidFill>
            </a:endParaRPr>
          </a:p>
        </p:txBody>
      </p:sp>
      <p:sp>
        <p:nvSpPr>
          <p:cNvPr id="10" name="Rectangle 9"/>
          <p:cNvSpPr/>
          <p:nvPr/>
        </p:nvSpPr>
        <p:spPr>
          <a:xfrm>
            <a:off x="228600" y="5458361"/>
            <a:ext cx="8610600" cy="1323439"/>
          </a:xfrm>
          <a:prstGeom prst="rect">
            <a:avLst/>
          </a:prstGeom>
          <a:solidFill>
            <a:schemeClr val="accent5">
              <a:lumMod val="60000"/>
              <a:lumOff val="40000"/>
            </a:schemeClr>
          </a:solidFill>
        </p:spPr>
        <p:txBody>
          <a:bodyPr wrap="square">
            <a:spAutoFit/>
          </a:bodyPr>
          <a:lstStyle/>
          <a:p>
            <a:pPr indent="403225" algn="just"/>
            <a:r>
              <a:rPr lang="en-US" sz="2000" b="1" dirty="0" smtClean="0"/>
              <a:t>In gases, the intermolecular cohesive forces are very small and the viscosity is dictated by molecular momentum exchange. As the random molecular motion increases with a rise in temperature, the </a:t>
            </a:r>
            <a:r>
              <a:rPr lang="en-US" sz="2000" b="1" dirty="0" smtClean="0">
                <a:solidFill>
                  <a:srgbClr val="FF0000"/>
                </a:solidFill>
              </a:rPr>
              <a:t>viscosity also increases </a:t>
            </a:r>
            <a:r>
              <a:rPr lang="en-US" sz="2000" b="1" dirty="0" smtClean="0"/>
              <a:t>accordingly. </a:t>
            </a:r>
            <a:endParaRPr lang="en-US" sz="2000" b="1" dirty="0" smtClean="0"/>
          </a:p>
        </p:txBody>
      </p:sp>
      <p:sp>
        <p:nvSpPr>
          <p:cNvPr id="11" name="Rectangle 10"/>
          <p:cNvSpPr/>
          <p:nvPr/>
        </p:nvSpPr>
        <p:spPr>
          <a:xfrm>
            <a:off x="228600" y="4191000"/>
            <a:ext cx="8610600" cy="1015663"/>
          </a:xfrm>
          <a:prstGeom prst="rect">
            <a:avLst/>
          </a:prstGeom>
          <a:solidFill>
            <a:schemeClr val="accent5">
              <a:lumMod val="40000"/>
              <a:lumOff val="60000"/>
            </a:schemeClr>
          </a:solidFill>
        </p:spPr>
        <p:txBody>
          <a:bodyPr wrap="square">
            <a:spAutoFit/>
          </a:bodyPr>
          <a:lstStyle/>
          <a:p>
            <a:pPr indent="403225" algn="just"/>
            <a:r>
              <a:rPr lang="en-US" sz="2000" b="1" dirty="0" smtClean="0"/>
              <a:t>Although the process of molecular momentum exchange occurs in liquids, intermolecular cohesion is the predominant cause of viscosity in a liquid. </a:t>
            </a:r>
            <a:r>
              <a:rPr lang="en-US" sz="2000" b="1" dirty="0" smtClean="0">
                <a:solidFill>
                  <a:srgbClr val="FF0000"/>
                </a:solidFill>
              </a:rPr>
              <a:t>Since, cohesion decreases with temperature, the liquid viscosity does likewise</a:t>
            </a:r>
            <a:r>
              <a:rPr lang="en-US" sz="2000" b="1" dirty="0" smtClean="0"/>
              <a:t>.</a:t>
            </a:r>
            <a:endParaRPr lang="en-US" sz="20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linds(horizontal)">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linds(horizontal)">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3048000" y="-106363"/>
            <a:ext cx="3276600" cy="792163"/>
          </a:xfrm>
        </p:spPr>
        <p:txBody>
          <a:bodyPr/>
          <a:lstStyle/>
          <a:p>
            <a:r>
              <a:rPr lang="en-US" sz="4000" b="1" i="1" dirty="0">
                <a:solidFill>
                  <a:schemeClr val="tx2">
                    <a:lumMod val="75000"/>
                  </a:schemeClr>
                </a:solidFill>
                <a:effectLst>
                  <a:outerShdw blurRad="38100" dist="38100" dir="2700000" algn="tl">
                    <a:srgbClr val="000000">
                      <a:alpha val="43137"/>
                    </a:srgbClr>
                  </a:outerShdw>
                </a:effectLst>
                <a:latin typeface="+mn-lt"/>
              </a:rPr>
              <a:t>Viscometry</a:t>
            </a:r>
            <a:endParaRPr lang="en-US" sz="4000" b="1" i="1" dirty="0">
              <a:solidFill>
                <a:schemeClr val="tx2">
                  <a:lumMod val="75000"/>
                </a:schemeClr>
              </a:solidFill>
              <a:effectLst>
                <a:outerShdw blurRad="38100" dist="38100" dir="2700000" algn="tl">
                  <a:srgbClr val="000000">
                    <a:alpha val="43137"/>
                  </a:srgbClr>
                </a:outerShdw>
              </a:effectLst>
              <a:latin typeface="+mn-lt"/>
            </a:endParaRPr>
          </a:p>
        </p:txBody>
      </p:sp>
      <p:graphicFrame>
        <p:nvGraphicFramePr>
          <p:cNvPr id="193543" name="Object 7"/>
          <p:cNvGraphicFramePr>
            <a:graphicFrameLocks noGrp="1" noChangeAspect="1"/>
          </p:cNvGraphicFramePr>
          <p:nvPr>
            <p:ph sz="quarter" idx="2"/>
          </p:nvPr>
        </p:nvGraphicFramePr>
        <p:xfrm>
          <a:off x="1143000" y="4114800"/>
          <a:ext cx="2133600" cy="853154"/>
        </p:xfrm>
        <a:graphic>
          <a:graphicData uri="http://schemas.openxmlformats.org/presentationml/2006/ole">
            <mc:AlternateContent xmlns:mc="http://schemas.openxmlformats.org/markup-compatibility/2006">
              <mc:Choice xmlns:v="urn:schemas-microsoft-com:vml" Requires="v">
                <p:oleObj spid="_x0000_s52235" name="Equation" r:id="rId1" imgW="1524000" imgH="609600" progId="Equation.DSMT4">
                  <p:embed/>
                </p:oleObj>
              </mc:Choice>
              <mc:Fallback>
                <p:oleObj name="Equation" r:id="rId1" imgW="1524000" imgH="609600" progId="Equation.DSMT4">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114800"/>
                        <a:ext cx="2133600" cy="8531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93545" name="Picture 9" descr="cen72367_02018"/>
          <p:cNvPicPr>
            <a:picLocks noChangeAspect="1" noChangeArrowheads="1"/>
          </p:cNvPicPr>
          <p:nvPr/>
        </p:nvPicPr>
        <p:blipFill>
          <a:blip r:embed="rId3"/>
          <a:srcRect/>
          <a:stretch>
            <a:fillRect/>
          </a:stretch>
        </p:blipFill>
        <p:spPr bwMode="auto">
          <a:xfrm>
            <a:off x="5181600" y="838200"/>
            <a:ext cx="3889375" cy="4114800"/>
          </a:xfrm>
          <a:prstGeom prst="rect">
            <a:avLst/>
          </a:prstGeom>
          <a:noFill/>
        </p:spPr>
      </p:pic>
      <p:sp>
        <p:nvSpPr>
          <p:cNvPr id="6" name="TextBox 5"/>
          <p:cNvSpPr txBox="1"/>
          <p:nvPr/>
        </p:nvSpPr>
        <p:spPr>
          <a:xfrm>
            <a:off x="381000" y="838200"/>
            <a:ext cx="4495800" cy="523220"/>
          </a:xfrm>
          <a:prstGeom prst="rect">
            <a:avLst/>
          </a:prstGeom>
          <a:noFill/>
        </p:spPr>
        <p:txBody>
          <a:bodyPr wrap="square" rtlCol="0">
            <a:spAutoFit/>
          </a:bodyPr>
          <a:lstStyle/>
          <a:p>
            <a:r>
              <a:rPr lang="en-US" sz="2800" b="1" dirty="0" smtClean="0">
                <a:solidFill>
                  <a:srgbClr val="C00000"/>
                </a:solidFill>
              </a:rPr>
              <a:t>How is viscosity measured?</a:t>
            </a:r>
            <a:endParaRPr lang="en-US" sz="2800" b="1" dirty="0">
              <a:solidFill>
                <a:srgbClr val="C00000"/>
              </a:solidFill>
            </a:endParaRPr>
          </a:p>
        </p:txBody>
      </p:sp>
      <p:sp>
        <p:nvSpPr>
          <p:cNvPr id="8" name="Rectangle 7"/>
          <p:cNvSpPr/>
          <p:nvPr/>
        </p:nvSpPr>
        <p:spPr>
          <a:xfrm>
            <a:off x="304800" y="1518249"/>
            <a:ext cx="4572000" cy="2037481"/>
          </a:xfrm>
          <a:prstGeom prst="rect">
            <a:avLst/>
          </a:prstGeom>
          <a:solidFill>
            <a:schemeClr val="accent6">
              <a:lumMod val="20000"/>
              <a:lumOff val="80000"/>
            </a:schemeClr>
          </a:solidFill>
        </p:spPr>
        <p:txBody>
          <a:bodyPr>
            <a:spAutoFit/>
          </a:bodyPr>
          <a:lstStyle/>
          <a:p>
            <a:pPr>
              <a:lnSpc>
                <a:spcPct val="80000"/>
              </a:lnSpc>
            </a:pPr>
            <a:r>
              <a:rPr lang="en-US" sz="2400" b="1" dirty="0" smtClean="0">
                <a:solidFill>
                  <a:srgbClr val="002060"/>
                </a:solidFill>
              </a:rPr>
              <a:t>A rotating viscometer:</a:t>
            </a:r>
            <a:endParaRPr lang="en-US" sz="2400" b="1" dirty="0" smtClean="0">
              <a:solidFill>
                <a:srgbClr val="002060"/>
              </a:solidFill>
            </a:endParaRPr>
          </a:p>
          <a:p>
            <a:pPr>
              <a:lnSpc>
                <a:spcPct val="80000"/>
              </a:lnSpc>
            </a:pPr>
            <a:endParaRPr lang="en-US" sz="2400" b="1" dirty="0" smtClean="0"/>
          </a:p>
          <a:p>
            <a:pPr lvl="1">
              <a:lnSpc>
                <a:spcPct val="80000"/>
              </a:lnSpc>
              <a:buFont typeface="Arial" panose="020B0604020202020204" pitchFamily="34" charset="0"/>
              <a:buChar char="•"/>
            </a:pPr>
            <a:r>
              <a:rPr lang="en-US" sz="2200" b="1" dirty="0" smtClean="0"/>
              <a:t> </a:t>
            </a:r>
            <a:r>
              <a:rPr lang="en-US" sz="2200" b="1" dirty="0" smtClean="0">
                <a:solidFill>
                  <a:srgbClr val="00B050"/>
                </a:solidFill>
              </a:rPr>
              <a:t>Two concentric cylinders with a fluid in the small gap </a:t>
            </a:r>
            <a:r>
              <a:rPr lang="en-US" sz="2200" b="1" i="1" dirty="0" smtClean="0">
                <a:solidFill>
                  <a:srgbClr val="00B050"/>
                </a:solidFill>
                <a:cs typeface="Arial" panose="020B0604020202020204" pitchFamily="34" charset="0"/>
              </a:rPr>
              <a:t>ℓ</a:t>
            </a:r>
            <a:r>
              <a:rPr lang="en-US" sz="2200" b="1" dirty="0" smtClean="0">
                <a:solidFill>
                  <a:srgbClr val="00B050"/>
                </a:solidFill>
              </a:rPr>
              <a:t>.</a:t>
            </a:r>
            <a:endParaRPr lang="en-US" sz="2200" b="1" dirty="0" smtClean="0">
              <a:solidFill>
                <a:srgbClr val="00B050"/>
              </a:solidFill>
            </a:endParaRPr>
          </a:p>
          <a:p>
            <a:pPr lvl="1">
              <a:lnSpc>
                <a:spcPct val="80000"/>
              </a:lnSpc>
            </a:pPr>
            <a:endParaRPr lang="en-US" sz="2200" b="1" dirty="0" smtClean="0">
              <a:solidFill>
                <a:srgbClr val="00B050"/>
              </a:solidFill>
            </a:endParaRPr>
          </a:p>
          <a:p>
            <a:pPr lvl="1">
              <a:lnSpc>
                <a:spcPct val="80000"/>
              </a:lnSpc>
              <a:buFont typeface="Arial" panose="020B0604020202020204" pitchFamily="34" charset="0"/>
              <a:buChar char="•"/>
            </a:pPr>
            <a:r>
              <a:rPr lang="en-US" sz="2200" b="1" dirty="0" smtClean="0">
                <a:solidFill>
                  <a:srgbClr val="00B050"/>
                </a:solidFill>
              </a:rPr>
              <a:t> Inner cylinder is rotating, outer one is fixed.</a:t>
            </a:r>
            <a:endParaRPr lang="en-US" sz="2200" b="1" dirty="0">
              <a:solidFill>
                <a:srgbClr val="00B050"/>
              </a:solidFill>
            </a:endParaRPr>
          </a:p>
        </p:txBody>
      </p:sp>
      <p:sp>
        <p:nvSpPr>
          <p:cNvPr id="9" name="Rectangle 8"/>
          <p:cNvSpPr/>
          <p:nvPr/>
        </p:nvSpPr>
        <p:spPr>
          <a:xfrm>
            <a:off x="304800" y="3733800"/>
            <a:ext cx="3885294" cy="430887"/>
          </a:xfrm>
          <a:prstGeom prst="rect">
            <a:avLst/>
          </a:prstGeom>
        </p:spPr>
        <p:txBody>
          <a:bodyPr wrap="none">
            <a:spAutoFit/>
          </a:bodyPr>
          <a:lstStyle/>
          <a:p>
            <a:r>
              <a:rPr lang="en-US" sz="2200" b="1" dirty="0" smtClean="0"/>
              <a:t>As per definition of shear force:</a:t>
            </a:r>
            <a:endParaRPr lang="en-US" sz="2200" b="1" dirty="0"/>
          </a:p>
        </p:txBody>
      </p:sp>
      <p:sp>
        <p:nvSpPr>
          <p:cNvPr id="11" name="Rectangle 10"/>
          <p:cNvSpPr/>
          <p:nvPr/>
        </p:nvSpPr>
        <p:spPr>
          <a:xfrm>
            <a:off x="1447800" y="5029200"/>
            <a:ext cx="7543800" cy="1717393"/>
          </a:xfrm>
          <a:prstGeom prst="rect">
            <a:avLst/>
          </a:prstGeom>
          <a:solidFill>
            <a:srgbClr val="FFFF00"/>
          </a:solidFill>
        </p:spPr>
        <p:txBody>
          <a:bodyPr wrap="square">
            <a:spAutoFit/>
          </a:bodyPr>
          <a:lstStyle/>
          <a:p>
            <a:pPr>
              <a:lnSpc>
                <a:spcPct val="120000"/>
              </a:lnSpc>
            </a:pPr>
            <a:r>
              <a:rPr lang="en-US" sz="2200" b="1" dirty="0" smtClean="0"/>
              <a:t>If </a:t>
            </a:r>
            <a:r>
              <a:rPr lang="en-US" sz="2200" b="1" i="1" dirty="0" smtClean="0">
                <a:cs typeface="Arial" panose="020B0604020202020204" pitchFamily="34" charset="0"/>
              </a:rPr>
              <a:t>ℓ/</a:t>
            </a:r>
            <a:r>
              <a:rPr lang="en-US" sz="2200" b="1" i="1" dirty="0" smtClean="0"/>
              <a:t>R</a:t>
            </a:r>
            <a:r>
              <a:rPr lang="en-US" sz="2200" b="1" dirty="0" smtClean="0"/>
              <a:t> &lt;&lt; 1, then cylinders can be modeled as flat plates.</a:t>
            </a:r>
            <a:endParaRPr lang="en-US" sz="2200" b="1" dirty="0" smtClean="0"/>
          </a:p>
          <a:p>
            <a:pPr>
              <a:lnSpc>
                <a:spcPct val="120000"/>
              </a:lnSpc>
            </a:pPr>
            <a:r>
              <a:rPr lang="en-US" sz="2200" b="1" dirty="0" smtClean="0"/>
              <a:t>	Torque </a:t>
            </a:r>
            <a:r>
              <a:rPr lang="en-US" sz="2200" b="1" i="1" dirty="0" smtClean="0"/>
              <a:t>T = FR</a:t>
            </a:r>
            <a:r>
              <a:rPr lang="en-US" sz="2200" b="1" dirty="0" smtClean="0"/>
              <a:t>, and tangential velocity </a:t>
            </a:r>
            <a:r>
              <a:rPr lang="en-US" sz="2200" b="1" i="1" dirty="0" smtClean="0"/>
              <a:t>V= </a:t>
            </a:r>
            <a:r>
              <a:rPr lang="el-GR" sz="2200" b="1" i="1" dirty="0" smtClean="0"/>
              <a:t>ω</a:t>
            </a:r>
            <a:r>
              <a:rPr lang="en-US" sz="2200" b="1" i="1" dirty="0" smtClean="0"/>
              <a:t>R</a:t>
            </a:r>
            <a:endParaRPr lang="en-US" sz="2200" b="1" i="1" dirty="0" smtClean="0"/>
          </a:p>
          <a:p>
            <a:pPr>
              <a:lnSpc>
                <a:spcPct val="120000"/>
              </a:lnSpc>
            </a:pPr>
            <a:r>
              <a:rPr lang="en-US" sz="2200" b="1" dirty="0" smtClean="0"/>
              <a:t>Wetted surface area </a:t>
            </a:r>
            <a:r>
              <a:rPr lang="en-US" sz="2200" b="1" i="1" dirty="0" smtClean="0"/>
              <a:t>A=2</a:t>
            </a:r>
            <a:r>
              <a:rPr lang="el-GR" sz="2200" b="1" i="1" dirty="0" smtClean="0"/>
              <a:t>π</a:t>
            </a:r>
            <a:r>
              <a:rPr lang="en-US" sz="2200" b="1" i="1" dirty="0" smtClean="0"/>
              <a:t>RL</a:t>
            </a:r>
            <a:r>
              <a:rPr lang="en-US" sz="2200" b="1" dirty="0" smtClean="0"/>
              <a:t>.</a:t>
            </a:r>
            <a:endParaRPr lang="en-US" sz="2200" b="1" dirty="0" smtClean="0"/>
          </a:p>
          <a:p>
            <a:pPr>
              <a:lnSpc>
                <a:spcPct val="120000"/>
              </a:lnSpc>
            </a:pPr>
            <a:r>
              <a:rPr lang="en-US" sz="2200" b="1" dirty="0" smtClean="0"/>
              <a:t>Measure </a:t>
            </a:r>
            <a:r>
              <a:rPr lang="en-US" sz="2200" b="1" i="1" dirty="0" smtClean="0"/>
              <a:t>T</a:t>
            </a:r>
            <a:r>
              <a:rPr lang="en-US" sz="2200" b="1" dirty="0" smtClean="0"/>
              <a:t> and </a:t>
            </a:r>
            <a:r>
              <a:rPr lang="el-GR" sz="2200" b="1" dirty="0" smtClean="0"/>
              <a:t>ω</a:t>
            </a:r>
            <a:r>
              <a:rPr lang="en-US" sz="2200" b="1" dirty="0" smtClean="0"/>
              <a:t> to compute </a:t>
            </a:r>
            <a:r>
              <a:rPr lang="el-GR" sz="2200" b="1" dirty="0" smtClean="0"/>
              <a:t>μ</a:t>
            </a:r>
            <a:r>
              <a:rPr lang="en-US" sz="2200" b="1" dirty="0" smtClean="0"/>
              <a:t>.</a:t>
            </a:r>
            <a:endParaRPr lang="en-US" sz="22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3545"/>
                                        </p:tgtEl>
                                        <p:attrNameLst>
                                          <p:attrName>style.visibility</p:attrName>
                                        </p:attrNameLst>
                                      </p:cBhvr>
                                      <p:to>
                                        <p:strVal val="visible"/>
                                      </p:to>
                                    </p:set>
                                    <p:animEffect transition="in" filter="blinds(horizontal)">
                                      <p:cBhvr>
                                        <p:cTn id="12" dur="500"/>
                                        <p:tgtEl>
                                          <p:spTgt spid="19354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par>
                                <p:cTn id="21" presetID="3" presetClass="entr" presetSubtype="10" fill="hold" nodeType="withEffect">
                                  <p:stCondLst>
                                    <p:cond delay="0"/>
                                  </p:stCondLst>
                                  <p:childTnLst>
                                    <p:set>
                                      <p:cBhvr>
                                        <p:cTn id="22" dur="1" fill="hold">
                                          <p:stCondLst>
                                            <p:cond delay="0"/>
                                          </p:stCondLst>
                                        </p:cTn>
                                        <p:tgtEl>
                                          <p:spTgt spid="193543"/>
                                        </p:tgtEl>
                                        <p:attrNameLst>
                                          <p:attrName>style.visibility</p:attrName>
                                        </p:attrNameLst>
                                      </p:cBhvr>
                                      <p:to>
                                        <p:strVal val="visible"/>
                                      </p:to>
                                    </p:set>
                                    <p:animEffect transition="in" filter="blinds(horizontal)">
                                      <p:cBhvr>
                                        <p:cTn id="23" dur="500"/>
                                        <p:tgtEl>
                                          <p:spTgt spid="193543"/>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linds(horizontal)">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9" grpId="0"/>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0"/>
            <a:ext cx="2895600" cy="707886"/>
          </a:xfrm>
          <a:prstGeom prst="rect">
            <a:avLst/>
          </a:prstGeom>
          <a:noFill/>
        </p:spPr>
        <p:txBody>
          <a:bodyPr wrap="square" rtlCol="0">
            <a:spAutoFit/>
          </a:bodyPr>
          <a:lstStyle/>
          <a:p>
            <a:r>
              <a:rPr lang="en-US" sz="4000" dirty="0" smtClean="0">
                <a:solidFill>
                  <a:srgbClr val="FF0000"/>
                </a:solidFill>
              </a:rPr>
              <a:t>Problem # 1</a:t>
            </a:r>
            <a:endParaRPr lang="en-US" sz="4000" dirty="0">
              <a:solidFill>
                <a:srgbClr val="FF0000"/>
              </a:solidFill>
            </a:endParaRPr>
          </a:p>
        </p:txBody>
      </p:sp>
      <p:sp>
        <p:nvSpPr>
          <p:cNvPr id="3" name="TextBox 2"/>
          <p:cNvSpPr txBox="1"/>
          <p:nvPr/>
        </p:nvSpPr>
        <p:spPr>
          <a:xfrm>
            <a:off x="228600" y="838200"/>
            <a:ext cx="8686800" cy="1446550"/>
          </a:xfrm>
          <a:prstGeom prst="rect">
            <a:avLst/>
          </a:prstGeom>
          <a:noFill/>
        </p:spPr>
        <p:txBody>
          <a:bodyPr wrap="square" rtlCol="0">
            <a:spAutoFit/>
          </a:bodyPr>
          <a:lstStyle/>
          <a:p>
            <a:pPr algn="just"/>
            <a:r>
              <a:rPr lang="en-US" sz="2200" b="1" dirty="0" smtClean="0">
                <a:solidFill>
                  <a:srgbClr val="7030A0"/>
                </a:solidFill>
              </a:rPr>
              <a:t>A cylinder of 150 mm radius rotates concentrically inside a fixed cylinder of 155 mm radius. Both cylinders are 300 mm long. Determine the viscosity of the liquid which fills the space between the cylinders if a torque of 0.98 N-m is required to maintain an angular velocity of 60 RPM.</a:t>
            </a:r>
            <a:endParaRPr lang="en-US" sz="2200" b="1" dirty="0">
              <a:solidFill>
                <a:srgbClr val="7030A0"/>
              </a:solidFill>
            </a:endParaRPr>
          </a:p>
        </p:txBody>
      </p:sp>
      <p:sp>
        <p:nvSpPr>
          <p:cNvPr id="4" name="TextBox 3"/>
          <p:cNvSpPr txBox="1"/>
          <p:nvPr/>
        </p:nvSpPr>
        <p:spPr>
          <a:xfrm>
            <a:off x="6781800" y="2514600"/>
            <a:ext cx="1991251" cy="369332"/>
          </a:xfrm>
          <a:prstGeom prst="rect">
            <a:avLst/>
          </a:prstGeom>
          <a:noFill/>
        </p:spPr>
        <p:txBody>
          <a:bodyPr wrap="none" rtlCol="0">
            <a:spAutoFit/>
          </a:bodyPr>
          <a:lstStyle/>
          <a:p>
            <a:r>
              <a:rPr lang="en-US" b="1" dirty="0" smtClean="0">
                <a:solidFill>
                  <a:srgbClr val="00B050"/>
                </a:solidFill>
              </a:rPr>
              <a:t>(</a:t>
            </a:r>
            <a:r>
              <a:rPr lang="en-US" b="1" dirty="0" err="1" smtClean="0">
                <a:solidFill>
                  <a:srgbClr val="00B050"/>
                </a:solidFill>
              </a:rPr>
              <a:t>Ans</a:t>
            </a:r>
            <a:r>
              <a:rPr lang="en-US" b="1" dirty="0" smtClean="0">
                <a:solidFill>
                  <a:srgbClr val="00B050"/>
                </a:solidFill>
              </a:rPr>
              <a:t>: 0.123 Ns/m</a:t>
            </a:r>
            <a:r>
              <a:rPr lang="en-US" b="1" baseline="30000" dirty="0" smtClean="0">
                <a:solidFill>
                  <a:srgbClr val="00B050"/>
                </a:solidFill>
              </a:rPr>
              <a:t>2</a:t>
            </a:r>
            <a:r>
              <a:rPr lang="en-US" b="1" dirty="0" smtClean="0">
                <a:solidFill>
                  <a:srgbClr val="00B050"/>
                </a:solidFill>
              </a:rPr>
              <a:t>)</a:t>
            </a:r>
            <a:endParaRPr lang="en-US" b="1" dirty="0">
              <a:solidFill>
                <a:srgbClr val="00B050"/>
              </a:solidFill>
            </a:endParaRPr>
          </a:p>
        </p:txBody>
      </p:sp>
      <p:sp>
        <p:nvSpPr>
          <p:cNvPr id="6" name="TextBox 5"/>
          <p:cNvSpPr txBox="1"/>
          <p:nvPr/>
        </p:nvSpPr>
        <p:spPr>
          <a:xfrm>
            <a:off x="228600" y="3330714"/>
            <a:ext cx="2895600" cy="707886"/>
          </a:xfrm>
          <a:prstGeom prst="rect">
            <a:avLst/>
          </a:prstGeom>
          <a:noFill/>
        </p:spPr>
        <p:txBody>
          <a:bodyPr wrap="square" rtlCol="0">
            <a:spAutoFit/>
          </a:bodyPr>
          <a:lstStyle/>
          <a:p>
            <a:r>
              <a:rPr lang="en-US" sz="4000" dirty="0" smtClean="0">
                <a:solidFill>
                  <a:srgbClr val="FF0000"/>
                </a:solidFill>
              </a:rPr>
              <a:t>Problem # 2</a:t>
            </a:r>
            <a:endParaRPr lang="en-US" sz="4000" dirty="0">
              <a:solidFill>
                <a:srgbClr val="FF0000"/>
              </a:solidFill>
            </a:endParaRPr>
          </a:p>
        </p:txBody>
      </p:sp>
      <p:sp>
        <p:nvSpPr>
          <p:cNvPr id="7" name="TextBox 6"/>
          <p:cNvSpPr txBox="1"/>
          <p:nvPr/>
        </p:nvSpPr>
        <p:spPr>
          <a:xfrm>
            <a:off x="304800" y="4419600"/>
            <a:ext cx="8839200" cy="1446550"/>
          </a:xfrm>
          <a:prstGeom prst="rect">
            <a:avLst/>
          </a:prstGeom>
          <a:noFill/>
        </p:spPr>
        <p:txBody>
          <a:bodyPr wrap="square" rtlCol="0">
            <a:spAutoFit/>
          </a:bodyPr>
          <a:lstStyle/>
          <a:p>
            <a:pPr algn="just"/>
            <a:r>
              <a:rPr lang="en-US" sz="2200" b="1" dirty="0" smtClean="0">
                <a:solidFill>
                  <a:srgbClr val="7030A0"/>
                </a:solidFill>
              </a:rPr>
              <a:t>A piston of 796 mm diameter and 200 mm long works in a cylinder of 800 mm diameter. If the annular space is filled with a lubricating oil of viscosity 5 cP, calculate the speed of descent of piston in vertical position. The weight of the piston and the axial load are 9.8 N.</a:t>
            </a:r>
            <a:endParaRPr lang="en-US" sz="2200" b="1" dirty="0">
              <a:solidFill>
                <a:srgbClr val="7030A0"/>
              </a:solidFill>
            </a:endParaRPr>
          </a:p>
        </p:txBody>
      </p:sp>
      <p:sp>
        <p:nvSpPr>
          <p:cNvPr id="8" name="TextBox 7"/>
          <p:cNvSpPr txBox="1"/>
          <p:nvPr/>
        </p:nvSpPr>
        <p:spPr>
          <a:xfrm>
            <a:off x="6858000" y="5867400"/>
            <a:ext cx="1754198" cy="369332"/>
          </a:xfrm>
          <a:prstGeom prst="rect">
            <a:avLst/>
          </a:prstGeom>
          <a:noFill/>
        </p:spPr>
        <p:txBody>
          <a:bodyPr wrap="none" rtlCol="0">
            <a:spAutoFit/>
          </a:bodyPr>
          <a:lstStyle/>
          <a:p>
            <a:r>
              <a:rPr lang="en-US" b="1" dirty="0" smtClean="0">
                <a:solidFill>
                  <a:srgbClr val="00B050"/>
                </a:solidFill>
              </a:rPr>
              <a:t>(</a:t>
            </a:r>
            <a:r>
              <a:rPr lang="en-US" b="1" dirty="0" err="1" smtClean="0">
                <a:solidFill>
                  <a:srgbClr val="00B050"/>
                </a:solidFill>
              </a:rPr>
              <a:t>Ans</a:t>
            </a:r>
            <a:r>
              <a:rPr lang="en-US" b="1" dirty="0" smtClean="0">
                <a:solidFill>
                  <a:srgbClr val="00B050"/>
                </a:solidFill>
              </a:rPr>
              <a:t>: 7.841 m/s)</a:t>
            </a:r>
            <a:endParaRPr lang="en-US" b="1" dirty="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linds(horizontal)">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0"/>
            <a:ext cx="2895600" cy="707886"/>
          </a:xfrm>
          <a:prstGeom prst="rect">
            <a:avLst/>
          </a:prstGeom>
          <a:noFill/>
        </p:spPr>
        <p:txBody>
          <a:bodyPr wrap="square" rtlCol="0">
            <a:spAutoFit/>
          </a:bodyPr>
          <a:lstStyle/>
          <a:p>
            <a:r>
              <a:rPr lang="en-US" sz="4000" dirty="0" smtClean="0">
                <a:solidFill>
                  <a:srgbClr val="FF0000"/>
                </a:solidFill>
              </a:rPr>
              <a:t>Problem # 3</a:t>
            </a:r>
            <a:endParaRPr lang="en-US" sz="4000" dirty="0">
              <a:solidFill>
                <a:srgbClr val="FF0000"/>
              </a:solidFill>
            </a:endParaRPr>
          </a:p>
        </p:txBody>
      </p:sp>
      <p:sp>
        <p:nvSpPr>
          <p:cNvPr id="3" name="TextBox 2"/>
          <p:cNvSpPr txBox="1"/>
          <p:nvPr/>
        </p:nvSpPr>
        <p:spPr>
          <a:xfrm>
            <a:off x="304800" y="685800"/>
            <a:ext cx="8534400" cy="2631490"/>
          </a:xfrm>
          <a:prstGeom prst="rect">
            <a:avLst/>
          </a:prstGeom>
          <a:noFill/>
        </p:spPr>
        <p:txBody>
          <a:bodyPr wrap="square" rtlCol="0">
            <a:spAutoFit/>
          </a:bodyPr>
          <a:lstStyle/>
          <a:p>
            <a:pPr algn="just">
              <a:lnSpc>
                <a:spcPct val="125000"/>
              </a:lnSpc>
            </a:pPr>
            <a:r>
              <a:rPr lang="en-US" sz="2200" b="1" dirty="0" smtClean="0">
                <a:solidFill>
                  <a:srgbClr val="7030A0"/>
                </a:solidFill>
              </a:rPr>
              <a:t>A space of 25 mm wide between two large plane surfaces is filled with glycerine. What force is required to drag a very thin plate 0.75 m</a:t>
            </a:r>
            <a:r>
              <a:rPr lang="en-US" sz="2200" b="1" baseline="30000" dirty="0" smtClean="0">
                <a:solidFill>
                  <a:srgbClr val="7030A0"/>
                </a:solidFill>
              </a:rPr>
              <a:t>2</a:t>
            </a:r>
            <a:r>
              <a:rPr lang="en-US" sz="2200" b="1" dirty="0" smtClean="0">
                <a:solidFill>
                  <a:srgbClr val="7030A0"/>
                </a:solidFill>
              </a:rPr>
              <a:t> in area between the surfaces at a speed of 0.5 m/s </a:t>
            </a:r>
            <a:endParaRPr lang="en-US" sz="2200" b="1" dirty="0" smtClean="0">
              <a:solidFill>
                <a:srgbClr val="7030A0"/>
              </a:solidFill>
            </a:endParaRPr>
          </a:p>
          <a:p>
            <a:pPr marL="1314450" lvl="2" indent="-400050" algn="just">
              <a:lnSpc>
                <a:spcPct val="125000"/>
              </a:lnSpc>
              <a:buAutoNum type="romanLcParenBoth"/>
            </a:pPr>
            <a:r>
              <a:rPr lang="en-US" sz="2200" b="1" dirty="0" smtClean="0">
                <a:solidFill>
                  <a:srgbClr val="7030A0"/>
                </a:solidFill>
              </a:rPr>
              <a:t>If this plate remains equidistant from the two surfaces</a:t>
            </a:r>
            <a:endParaRPr lang="en-US" sz="2200" b="1" dirty="0" smtClean="0">
              <a:solidFill>
                <a:srgbClr val="7030A0"/>
              </a:solidFill>
            </a:endParaRPr>
          </a:p>
          <a:p>
            <a:pPr marL="1314450" lvl="2" indent="-400050" algn="just">
              <a:lnSpc>
                <a:spcPct val="125000"/>
              </a:lnSpc>
              <a:buAutoNum type="romanLcParenBoth"/>
            </a:pPr>
            <a:r>
              <a:rPr lang="en-US" sz="2200" b="1" dirty="0" smtClean="0">
                <a:solidFill>
                  <a:srgbClr val="7030A0"/>
                </a:solidFill>
              </a:rPr>
              <a:t>If it is at a distance of 10 mm from one of the surfaces.</a:t>
            </a:r>
            <a:endParaRPr lang="en-US" sz="2200" b="1" dirty="0" smtClean="0">
              <a:solidFill>
                <a:srgbClr val="7030A0"/>
              </a:solidFill>
            </a:endParaRPr>
          </a:p>
          <a:p>
            <a:pPr marL="400050" indent="-400050" algn="just">
              <a:lnSpc>
                <a:spcPct val="125000"/>
              </a:lnSpc>
            </a:pPr>
            <a:r>
              <a:rPr lang="en-US" sz="2200" b="1" dirty="0" smtClean="0">
                <a:solidFill>
                  <a:srgbClr val="7030A0"/>
                </a:solidFill>
              </a:rPr>
              <a:t> Consider </a:t>
            </a:r>
            <a:r>
              <a:rPr lang="el-GR" sz="2200" b="1" dirty="0" smtClean="0">
                <a:solidFill>
                  <a:srgbClr val="7030A0"/>
                </a:solidFill>
              </a:rPr>
              <a:t>μ</a:t>
            </a:r>
            <a:r>
              <a:rPr lang="en-US" sz="2200" b="1" dirty="0" smtClean="0">
                <a:solidFill>
                  <a:srgbClr val="7030A0"/>
                </a:solidFill>
              </a:rPr>
              <a:t> = 0.785 N-s/m</a:t>
            </a:r>
            <a:r>
              <a:rPr lang="en-US" sz="2200" b="1" baseline="30000" dirty="0" smtClean="0">
                <a:solidFill>
                  <a:srgbClr val="7030A0"/>
                </a:solidFill>
              </a:rPr>
              <a:t>2.</a:t>
            </a:r>
            <a:endParaRPr lang="en-US" sz="2200" b="1" dirty="0">
              <a:solidFill>
                <a:srgbClr val="7030A0"/>
              </a:solidFill>
            </a:endParaRPr>
          </a:p>
        </p:txBody>
      </p:sp>
      <p:sp>
        <p:nvSpPr>
          <p:cNvPr id="4" name="TextBox 3"/>
          <p:cNvSpPr txBox="1"/>
          <p:nvPr/>
        </p:nvSpPr>
        <p:spPr>
          <a:xfrm>
            <a:off x="6477000" y="3505200"/>
            <a:ext cx="2286000" cy="369332"/>
          </a:xfrm>
          <a:prstGeom prst="rect">
            <a:avLst/>
          </a:prstGeom>
          <a:noFill/>
        </p:spPr>
        <p:txBody>
          <a:bodyPr wrap="square" rtlCol="0">
            <a:spAutoFit/>
          </a:bodyPr>
          <a:lstStyle/>
          <a:p>
            <a:r>
              <a:rPr lang="en-US" b="1" dirty="0" err="1" smtClean="0">
                <a:solidFill>
                  <a:srgbClr val="00B050"/>
                </a:solidFill>
              </a:rPr>
              <a:t>Ans</a:t>
            </a:r>
            <a:r>
              <a:rPr lang="en-US" b="1" dirty="0" smtClean="0">
                <a:solidFill>
                  <a:srgbClr val="00B050"/>
                </a:solidFill>
              </a:rPr>
              <a:t>: (</a:t>
            </a:r>
            <a:r>
              <a:rPr lang="en-US" b="1" dirty="0" err="1" smtClean="0">
                <a:solidFill>
                  <a:srgbClr val="00B050"/>
                </a:solidFill>
              </a:rPr>
              <a:t>i</a:t>
            </a:r>
            <a:r>
              <a:rPr lang="en-US" b="1" dirty="0" smtClean="0">
                <a:solidFill>
                  <a:srgbClr val="00B050"/>
                </a:solidFill>
              </a:rPr>
              <a:t>) 47 N (ii) 49 N</a:t>
            </a:r>
            <a:endParaRPr lang="en-US" b="1" dirty="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00200" y="-76200"/>
            <a:ext cx="5410200" cy="706755"/>
          </a:xfrm>
          <a:prstGeom prst="rect">
            <a:avLst/>
          </a:prstGeom>
          <a:noFill/>
        </p:spPr>
        <p:txBody>
          <a:bodyPr wrap="square" rtlCol="0">
            <a:spAutoFit/>
          </a:bodyPr>
          <a:lstStyle/>
          <a:p>
            <a:pPr algn="ctr"/>
            <a:r>
              <a:rPr lang="en-IN" altLang="en-US" sz="4000" b="1" i="1" dirty="0" smtClean="0">
                <a:solidFill>
                  <a:schemeClr val="tx2">
                    <a:lumMod val="75000"/>
                  </a:schemeClr>
                </a:solidFill>
                <a:effectLst>
                  <a:outerShdw blurRad="38100" dist="38100" dir="2700000" algn="tl">
                    <a:srgbClr val="000000">
                      <a:alpha val="43137"/>
                    </a:srgbClr>
                  </a:outerShdw>
                </a:effectLst>
              </a:rPr>
              <a:t>Ideal Fluids</a:t>
            </a:r>
            <a:endParaRPr lang="en-IN" altLang="en-US" sz="4000" b="1" i="1" dirty="0" smtClean="0">
              <a:solidFill>
                <a:schemeClr val="tx2">
                  <a:lumMod val="75000"/>
                </a:schemeClr>
              </a:solidFill>
              <a:effectLst>
                <a:outerShdw blurRad="38100" dist="38100" dir="2700000" algn="tl">
                  <a:srgbClr val="000000">
                    <a:alpha val="43137"/>
                  </a:srgbClr>
                </a:outerShdw>
              </a:effectLst>
            </a:endParaRPr>
          </a:p>
        </p:txBody>
      </p:sp>
      <p:sp>
        <p:nvSpPr>
          <p:cNvPr id="10" name="Rectangle 9"/>
          <p:cNvSpPr/>
          <p:nvPr/>
        </p:nvSpPr>
        <p:spPr>
          <a:xfrm>
            <a:off x="228600" y="906145"/>
            <a:ext cx="5374005" cy="598805"/>
          </a:xfrm>
          <a:prstGeom prst="rect">
            <a:avLst/>
          </a:prstGeom>
          <a:solidFill>
            <a:schemeClr val="bg1"/>
          </a:solidFill>
        </p:spPr>
        <p:txBody>
          <a:bodyPr wrap="square">
            <a:spAutoFit/>
          </a:bodyPr>
          <a:lstStyle/>
          <a:p>
            <a:pPr indent="403225" algn="l">
              <a:lnSpc>
                <a:spcPct val="150000"/>
              </a:lnSpc>
            </a:pPr>
            <a:r>
              <a:rPr lang="en-IN" altLang="en-US" sz="2200" b="1" dirty="0" smtClean="0">
                <a:solidFill>
                  <a:srgbClr val="C00000"/>
                </a:solidFill>
              </a:rPr>
              <a:t>Hypothetical fluid having zero viscosity</a:t>
            </a:r>
            <a:endParaRPr lang="en-IN" altLang="en-US" sz="2200" b="1" dirty="0" smtClean="0">
              <a:solidFill>
                <a:srgbClr val="C00000"/>
              </a:solidFill>
            </a:endParaRPr>
          </a:p>
        </p:txBody>
      </p:sp>
      <p:sp>
        <p:nvSpPr>
          <p:cNvPr id="20" name="Rectangle 19"/>
          <p:cNvSpPr/>
          <p:nvPr/>
        </p:nvSpPr>
        <p:spPr>
          <a:xfrm>
            <a:off x="666750" y="1610995"/>
            <a:ext cx="6050280" cy="429895"/>
          </a:xfrm>
          <a:prstGeom prst="rect">
            <a:avLst/>
          </a:prstGeom>
        </p:spPr>
        <p:txBody>
          <a:bodyPr wrap="square">
            <a:spAutoFit/>
          </a:bodyPr>
          <a:lstStyle/>
          <a:p>
            <a:pPr algn="l"/>
            <a:r>
              <a:rPr lang="en-IN" altLang="en-US" sz="2200" b="1" dirty="0" smtClean="0">
                <a:solidFill>
                  <a:srgbClr val="FF0000"/>
                </a:solidFill>
              </a:rPr>
              <a:t>Resulting motion is called ideal or inviscid flow.</a:t>
            </a:r>
            <a:endParaRPr lang="en-IN" altLang="en-US" sz="2200" b="1" dirty="0" smtClean="0">
              <a:solidFill>
                <a:srgbClr val="FF0000"/>
              </a:solidFill>
            </a:endParaRPr>
          </a:p>
        </p:txBody>
      </p:sp>
      <p:sp>
        <p:nvSpPr>
          <p:cNvPr id="3" name="Rectangle 3"/>
          <p:cNvSpPr txBox="1">
            <a:spLocks noChangeArrowheads="1"/>
          </p:cNvSpPr>
          <p:nvPr/>
        </p:nvSpPr>
        <p:spPr>
          <a:xfrm>
            <a:off x="228600" y="2395855"/>
            <a:ext cx="8686800" cy="502920"/>
          </a:xfrm>
          <a:prstGeom prst="rect">
            <a:avLst/>
          </a:prstGeom>
          <a:solidFill>
            <a:srgbClr val="FFFF00"/>
          </a:solidFill>
        </p:spPr>
        <p:txBody>
          <a:bodyPr/>
          <a:p>
            <a:pPr marR="0" lvl="0" indent="-342900" algn="just" defTabSz="914400" rtl="0" eaLnBrk="1" fontAlgn="auto" latinLnBrk="0" hangingPunct="1">
              <a:lnSpc>
                <a:spcPct val="90000"/>
              </a:lnSpc>
              <a:spcAft>
                <a:spcPts val="0"/>
              </a:spcAft>
              <a:buClrTx/>
              <a:buSzTx/>
              <a:defRPr/>
            </a:pPr>
            <a:r>
              <a:rPr kumimoji="0" lang="en-IN" altLang="en-US" sz="2200" b="1" i="0" u="none" strike="noStrike" kern="1200" cap="none" spc="0" normalizeH="0" baseline="0" noProof="0" dirty="0" smtClean="0">
                <a:ln>
                  <a:noFill/>
                </a:ln>
                <a:solidFill>
                  <a:schemeClr val="tx1"/>
                </a:solidFill>
                <a:effectLst/>
                <a:uLnTx/>
                <a:uFillTx/>
                <a:latin typeface="+mn-lt"/>
                <a:ea typeface="+mn-ea"/>
                <a:cs typeface="+mn-cs"/>
              </a:rPr>
              <a:t>In ideal flow there is no existance of shear force.</a:t>
            </a:r>
            <a:endParaRPr kumimoji="0" lang="en-IN" altLang="en-US" sz="2200" b="1" i="0" u="none" strike="noStrike" kern="1200" cap="none" spc="0" normalizeH="0" baseline="0" noProof="0" dirty="0">
              <a:ln>
                <a:noFill/>
              </a:ln>
              <a:solidFill>
                <a:schemeClr val="tx1"/>
              </a:solidFill>
              <a:effectLst/>
              <a:uLnTx/>
              <a:uFillTx/>
              <a:latin typeface="+mn-lt"/>
              <a:ea typeface="+mn-ea"/>
              <a:cs typeface="+mn-cs"/>
            </a:endParaRPr>
          </a:p>
        </p:txBody>
      </p:sp>
      <p:sp>
        <p:nvSpPr>
          <p:cNvPr id="2" name="TextBox 8"/>
          <p:cNvSpPr txBox="1"/>
          <p:nvPr/>
        </p:nvSpPr>
        <p:spPr>
          <a:xfrm>
            <a:off x="228600" y="3234690"/>
            <a:ext cx="8686800" cy="2122805"/>
          </a:xfrm>
          <a:prstGeom prst="rect">
            <a:avLst/>
          </a:prstGeom>
          <a:solidFill>
            <a:schemeClr val="accent4">
              <a:lumMod val="20000"/>
              <a:lumOff val="80000"/>
            </a:schemeClr>
          </a:solidFill>
        </p:spPr>
        <p:txBody>
          <a:bodyPr wrap="square" rtlCol="0">
            <a:spAutoFit/>
          </a:bodyPr>
          <a:p>
            <a:pPr indent="-400050" algn="just"/>
            <a:r>
              <a:rPr lang="en-US" sz="2200" b="1" dirty="0" smtClean="0">
                <a:solidFill>
                  <a:srgbClr val="002060"/>
                </a:solidFill>
              </a:rPr>
              <a:t>All the fluids in reality have viscosity (μ &gt; 0) and hence they are termed as </a:t>
            </a:r>
            <a:r>
              <a:rPr lang="en-US" sz="2200" b="1" dirty="0" smtClean="0">
                <a:solidFill>
                  <a:srgbClr val="FF0000"/>
                </a:solidFill>
              </a:rPr>
              <a:t>real fluid</a:t>
            </a:r>
            <a:r>
              <a:rPr lang="en-US" sz="2200" b="1" dirty="0" smtClean="0">
                <a:solidFill>
                  <a:srgbClr val="002060"/>
                </a:solidFill>
              </a:rPr>
              <a:t> and their motion is known as </a:t>
            </a:r>
            <a:r>
              <a:rPr lang="en-US" sz="2200" b="1" dirty="0" smtClean="0">
                <a:solidFill>
                  <a:srgbClr val="FF0000"/>
                </a:solidFill>
              </a:rPr>
              <a:t>viscous flow</a:t>
            </a:r>
            <a:r>
              <a:rPr lang="en-US" sz="2200" b="1" dirty="0" smtClean="0">
                <a:solidFill>
                  <a:srgbClr val="002060"/>
                </a:solidFill>
              </a:rPr>
              <a:t>.</a:t>
            </a:r>
            <a:endParaRPr lang="en-US" sz="2200" b="1" dirty="0" smtClean="0">
              <a:solidFill>
                <a:srgbClr val="002060"/>
              </a:solidFill>
            </a:endParaRPr>
          </a:p>
          <a:p>
            <a:pPr indent="-400050" algn="just"/>
            <a:endParaRPr lang="en-US" sz="2200" b="1" dirty="0" smtClean="0">
              <a:solidFill>
                <a:srgbClr val="002060"/>
              </a:solidFill>
            </a:endParaRPr>
          </a:p>
          <a:p>
            <a:pPr indent="-400050" algn="just"/>
            <a:r>
              <a:rPr lang="en-US" sz="2200" b="1" dirty="0" smtClean="0">
                <a:solidFill>
                  <a:srgbClr val="002060"/>
                </a:solidFill>
              </a:rPr>
              <a:t>Under certain situations of very high velocity flow of viscous fluids, an accurate analysis of flow field away from a solid surface can be made from the ideal flow theory.</a:t>
            </a:r>
            <a:endParaRPr lang="en-US" sz="2200" b="1" dirty="0" smtClean="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linds(horizontal)">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20" grpId="0"/>
      <p:bldP spid="3" grpId="0" bldLvl="0" animBg="1"/>
      <p:bldP spid="2"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00200" y="-76200"/>
            <a:ext cx="5410200" cy="706755"/>
          </a:xfrm>
          <a:prstGeom prst="rect">
            <a:avLst/>
          </a:prstGeom>
          <a:noFill/>
        </p:spPr>
        <p:txBody>
          <a:bodyPr wrap="square" rtlCol="0">
            <a:spAutoFit/>
          </a:bodyPr>
          <a:lstStyle/>
          <a:p>
            <a:r>
              <a:rPr lang="en-US" sz="4000" b="1" i="1" dirty="0" smtClean="0">
                <a:solidFill>
                  <a:schemeClr val="tx2">
                    <a:lumMod val="75000"/>
                  </a:schemeClr>
                </a:solidFill>
                <a:effectLst>
                  <a:outerShdw blurRad="38100" dist="38100" dir="2700000" algn="tl">
                    <a:srgbClr val="000000">
                      <a:alpha val="43137"/>
                    </a:srgbClr>
                  </a:outerShdw>
                </a:effectLst>
              </a:rPr>
              <a:t>Non-Newtonian Fluids</a:t>
            </a:r>
            <a:endParaRPr lang="en-US" sz="4000" b="1" i="1" dirty="0" smtClean="0">
              <a:solidFill>
                <a:schemeClr val="tx2">
                  <a:lumMod val="75000"/>
                </a:schemeClr>
              </a:solidFill>
              <a:effectLst>
                <a:outerShdw blurRad="38100" dist="38100" dir="2700000" algn="tl">
                  <a:srgbClr val="000000">
                    <a:alpha val="43137"/>
                  </a:srgbClr>
                </a:outerShdw>
              </a:effectLst>
            </a:endParaRPr>
          </a:p>
        </p:txBody>
      </p:sp>
      <p:graphicFrame>
        <p:nvGraphicFramePr>
          <p:cNvPr id="9" name="Object 8"/>
          <p:cNvGraphicFramePr>
            <a:graphicFrameLocks noChangeAspect="1"/>
          </p:cNvGraphicFramePr>
          <p:nvPr/>
        </p:nvGraphicFramePr>
        <p:xfrm>
          <a:off x="1143000" y="704335"/>
          <a:ext cx="2133601" cy="1124465"/>
        </p:xfrm>
        <a:graphic>
          <a:graphicData uri="http://schemas.openxmlformats.org/presentationml/2006/ole">
            <mc:AlternateContent xmlns:mc="http://schemas.openxmlformats.org/markup-compatibility/2006">
              <mc:Choice xmlns:v="urn:schemas-microsoft-com:vml" Requires="v">
                <p:oleObj spid="_x0000_s65547" name="Equation" r:id="rId1" imgW="939165" imgH="495300" progId="Equation.DSMT4">
                  <p:embed/>
                </p:oleObj>
              </mc:Choice>
              <mc:Fallback>
                <p:oleObj name="Equation" r:id="rId1" imgW="939165" imgH="495300" progId="Equation.DSMT4">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704335"/>
                        <a:ext cx="2133601" cy="1124465"/>
                      </a:xfrm>
                      <a:prstGeom prst="rect">
                        <a:avLst/>
                      </a:prstGeom>
                      <a:solidFill>
                        <a:srgbClr val="FFFF00"/>
                      </a:solidFill>
                    </p:spPr>
                  </p:pic>
                </p:oleObj>
              </mc:Fallback>
            </mc:AlternateContent>
          </a:graphicData>
        </a:graphic>
      </p:graphicFrame>
      <p:sp>
        <p:nvSpPr>
          <p:cNvPr id="10" name="Rectangle 9"/>
          <p:cNvSpPr/>
          <p:nvPr/>
        </p:nvSpPr>
        <p:spPr>
          <a:xfrm>
            <a:off x="3922544" y="746539"/>
            <a:ext cx="4038600" cy="1055545"/>
          </a:xfrm>
          <a:prstGeom prst="rect">
            <a:avLst/>
          </a:prstGeom>
          <a:solidFill>
            <a:srgbClr val="00B0F0"/>
          </a:solidFill>
        </p:spPr>
        <p:txBody>
          <a:bodyPr wrap="square">
            <a:spAutoFit/>
          </a:bodyPr>
          <a:lstStyle/>
          <a:p>
            <a:pPr indent="403225" algn="just">
              <a:lnSpc>
                <a:spcPct val="150000"/>
              </a:lnSpc>
            </a:pPr>
            <a:r>
              <a:rPr lang="en-US" sz="2200" b="1" dirty="0" smtClean="0"/>
              <a:t>‘m’ : flow consistency index </a:t>
            </a:r>
            <a:endParaRPr lang="en-US" sz="2200" b="1" dirty="0" smtClean="0"/>
          </a:p>
          <a:p>
            <a:pPr indent="403225" algn="just">
              <a:lnSpc>
                <a:spcPct val="150000"/>
              </a:lnSpc>
            </a:pPr>
            <a:r>
              <a:rPr lang="en-US" sz="2200" b="1" dirty="0" smtClean="0"/>
              <a:t> ‘n’  : flow behavior index.</a:t>
            </a:r>
            <a:endParaRPr lang="en-US" sz="2200" b="1" dirty="0" smtClean="0"/>
          </a:p>
        </p:txBody>
      </p:sp>
      <p:pic>
        <p:nvPicPr>
          <p:cNvPr id="19" name="Picture 18" descr="17.jpg"/>
          <p:cNvPicPr>
            <a:picLocks noChangeAspect="1"/>
          </p:cNvPicPr>
          <p:nvPr/>
        </p:nvPicPr>
        <p:blipFill>
          <a:blip r:embed="rId3"/>
          <a:stretch>
            <a:fillRect/>
          </a:stretch>
        </p:blipFill>
        <p:spPr>
          <a:xfrm>
            <a:off x="304800" y="2286000"/>
            <a:ext cx="4243948" cy="3817246"/>
          </a:xfrm>
          <a:prstGeom prst="rect">
            <a:avLst/>
          </a:prstGeom>
        </p:spPr>
      </p:pic>
      <p:sp>
        <p:nvSpPr>
          <p:cNvPr id="20" name="Rectangle 19"/>
          <p:cNvSpPr/>
          <p:nvPr/>
        </p:nvSpPr>
        <p:spPr>
          <a:xfrm>
            <a:off x="4953000" y="2438400"/>
            <a:ext cx="3429000" cy="3477875"/>
          </a:xfrm>
          <a:prstGeom prst="rect">
            <a:avLst/>
          </a:prstGeom>
        </p:spPr>
        <p:txBody>
          <a:bodyPr wrap="square">
            <a:spAutoFit/>
          </a:bodyPr>
          <a:lstStyle/>
          <a:p>
            <a:pPr algn="just"/>
            <a:r>
              <a:rPr lang="en-US" sz="2200" b="1" dirty="0" smtClean="0"/>
              <a:t>For n = 1 → Newtonian fluid</a:t>
            </a:r>
            <a:endParaRPr lang="en-US" sz="2200" b="1" dirty="0" smtClean="0"/>
          </a:p>
          <a:p>
            <a:pPr algn="just"/>
            <a:r>
              <a:rPr lang="en-US" sz="2200" b="1" dirty="0" smtClean="0"/>
              <a:t>      </a:t>
            </a:r>
            <a:endParaRPr lang="en-US" sz="2200" b="1" dirty="0" smtClean="0"/>
          </a:p>
          <a:p>
            <a:pPr algn="just"/>
            <a:r>
              <a:rPr lang="en-US" sz="2200" b="1" dirty="0" smtClean="0"/>
              <a:t>n &lt; 1 → Pseudo-plastic fluids such as </a:t>
            </a:r>
            <a:r>
              <a:rPr lang="en-US" sz="2200" b="1" dirty="0" smtClean="0">
                <a:solidFill>
                  <a:srgbClr val="FF0000"/>
                </a:solidFill>
              </a:rPr>
              <a:t>gelatin, blood, milk, etc.</a:t>
            </a:r>
            <a:endParaRPr lang="en-US" sz="2200" b="1" dirty="0" smtClean="0">
              <a:solidFill>
                <a:srgbClr val="FF0000"/>
              </a:solidFill>
            </a:endParaRPr>
          </a:p>
          <a:p>
            <a:pPr algn="just"/>
            <a:endParaRPr lang="en-US" sz="2200" b="1" dirty="0" smtClean="0"/>
          </a:p>
          <a:p>
            <a:pPr algn="just"/>
            <a:r>
              <a:rPr lang="en-US" sz="2200" b="1" dirty="0" smtClean="0"/>
              <a:t>n &gt; 1 → Dilatant fluids such as </a:t>
            </a:r>
            <a:r>
              <a:rPr lang="en-US" sz="2200" b="1" dirty="0" smtClean="0">
                <a:solidFill>
                  <a:srgbClr val="FF0000"/>
                </a:solidFill>
              </a:rPr>
              <a:t>sugar in water, rice starch, etc.</a:t>
            </a:r>
            <a:endParaRPr lang="en-US" sz="2200" b="1" dirty="0"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blinds(horizontal)">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blinds(horizontal)">
                                      <p:cBhvr>
                                        <p:cTn id="2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2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432679"/>
            <a:ext cx="8534400" cy="3139321"/>
          </a:xfrm>
          <a:prstGeom prst="rect">
            <a:avLst/>
          </a:prstGeom>
        </p:spPr>
        <p:txBody>
          <a:bodyPr wrap="square">
            <a:spAutoFit/>
          </a:bodyPr>
          <a:lstStyle/>
          <a:p>
            <a:r>
              <a:rPr lang="en-US" altLang="zh-CN" sz="2200" b="1" dirty="0" smtClean="0">
                <a:ea typeface="SimSun" panose="02010600030101010101" pitchFamily="2" charset="-122"/>
              </a:rPr>
              <a:t>In an experiment, the following shear stress - time rate of shear strain values are obtained for a fluid:</a:t>
            </a:r>
            <a:endParaRPr lang="en-US" altLang="zh-CN" sz="2200" b="1" dirty="0" smtClean="0">
              <a:ea typeface="SimSun" panose="02010600030101010101" pitchFamily="2" charset="-122"/>
            </a:endParaRPr>
          </a:p>
          <a:p>
            <a:endParaRPr lang="en-US" altLang="zh-CN" sz="2200" b="1" dirty="0" smtClean="0">
              <a:ea typeface="SimSun" panose="02010600030101010101" pitchFamily="2" charset="-122"/>
            </a:endParaRPr>
          </a:p>
          <a:p>
            <a:r>
              <a:rPr lang="en-US" altLang="zh-CN" sz="2200" b="1" dirty="0" smtClean="0">
                <a:ea typeface="SimSun" panose="02010600030101010101" pitchFamily="2" charset="-122"/>
              </a:rPr>
              <a:t>Time rate of shear strain (1/s): 	 </a:t>
            </a:r>
            <a:r>
              <a:rPr lang="en-US" altLang="zh-CN" sz="2200" b="1" dirty="0" smtClean="0">
                <a:solidFill>
                  <a:srgbClr val="FF0000"/>
                </a:solidFill>
                <a:ea typeface="SimSun" panose="02010600030101010101" pitchFamily="2" charset="-122"/>
              </a:rPr>
              <a:t>0</a:t>
            </a:r>
            <a:r>
              <a:rPr lang="en-US" altLang="zh-CN" sz="2200" b="1" dirty="0" smtClean="0">
                <a:ea typeface="SimSun" panose="02010600030101010101" pitchFamily="2" charset="-122"/>
              </a:rPr>
              <a:t>             </a:t>
            </a:r>
            <a:r>
              <a:rPr lang="en-US" altLang="zh-CN" sz="2200" b="1" dirty="0" smtClean="0">
                <a:solidFill>
                  <a:srgbClr val="FF0000"/>
                </a:solidFill>
                <a:ea typeface="SimSun" panose="02010600030101010101" pitchFamily="2" charset="-122"/>
              </a:rPr>
              <a:t>2                      3                       4</a:t>
            </a:r>
            <a:endParaRPr lang="en-US" altLang="zh-CN" sz="2200" b="1" dirty="0" smtClean="0">
              <a:solidFill>
                <a:srgbClr val="FF0000"/>
              </a:solidFill>
              <a:ea typeface="SimSun" panose="02010600030101010101" pitchFamily="2" charset="-122"/>
            </a:endParaRPr>
          </a:p>
          <a:p>
            <a:r>
              <a:rPr lang="en-US" altLang="zh-CN" sz="2200" b="1" dirty="0" smtClean="0">
                <a:ea typeface="SimSun" panose="02010600030101010101" pitchFamily="2" charset="-122"/>
              </a:rPr>
              <a:t>Shear stress (</a:t>
            </a:r>
            <a:r>
              <a:rPr lang="en-US" altLang="zh-CN" sz="2200" b="1" dirty="0" err="1" smtClean="0">
                <a:ea typeface="SimSun" panose="02010600030101010101" pitchFamily="2" charset="-122"/>
              </a:rPr>
              <a:t>kPa</a:t>
            </a:r>
            <a:r>
              <a:rPr lang="en-US" altLang="zh-CN" sz="2200" b="1" dirty="0" smtClean="0">
                <a:ea typeface="SimSun" panose="02010600030101010101" pitchFamily="2" charset="-122"/>
              </a:rPr>
              <a:t>)                      :   </a:t>
            </a:r>
            <a:r>
              <a:rPr lang="en-US" altLang="zh-CN" sz="2200" b="1" dirty="0" smtClean="0">
                <a:solidFill>
                  <a:srgbClr val="FF0000"/>
                </a:solidFill>
                <a:ea typeface="SimSun" panose="02010600030101010101" pitchFamily="2" charset="-122"/>
              </a:rPr>
              <a:t>0             1.4                   2.6                    4</a:t>
            </a:r>
            <a:endParaRPr lang="en-US" altLang="zh-CN" sz="2200" b="1" dirty="0" smtClean="0">
              <a:solidFill>
                <a:srgbClr val="FF0000"/>
              </a:solidFill>
              <a:ea typeface="SimSun" panose="02010600030101010101" pitchFamily="2" charset="-122"/>
            </a:endParaRPr>
          </a:p>
          <a:p>
            <a:endParaRPr lang="en-US" altLang="zh-CN" sz="2200" b="1" dirty="0" smtClean="0">
              <a:ea typeface="SimSun" panose="02010600030101010101" pitchFamily="2" charset="-122"/>
            </a:endParaRPr>
          </a:p>
          <a:p>
            <a:endParaRPr lang="en-US" altLang="zh-CN" sz="2200" b="1" dirty="0" smtClean="0">
              <a:ea typeface="SimSun" panose="02010600030101010101" pitchFamily="2" charset="-122"/>
            </a:endParaRPr>
          </a:p>
          <a:p>
            <a:r>
              <a:rPr lang="en-US" altLang="zh-CN" dirty="0" smtClean="0">
                <a:ea typeface="SimSun" panose="02010600030101010101" pitchFamily="2" charset="-122"/>
              </a:rPr>
              <a:t>	</a:t>
            </a:r>
            <a:r>
              <a:rPr lang="en-US" altLang="zh-CN" sz="2200" b="1" dirty="0" smtClean="0">
                <a:solidFill>
                  <a:srgbClr val="7030A0"/>
                </a:solidFill>
                <a:ea typeface="SimSun" panose="02010600030101010101" pitchFamily="2" charset="-122"/>
              </a:rPr>
              <a:t>(a) Newtonian fluid</a:t>
            </a:r>
            <a:r>
              <a:rPr lang="en-US" altLang="zh-CN" sz="2200" b="1" dirty="0" smtClean="0">
                <a:ea typeface="SimSun" panose="02010600030101010101" pitchFamily="2" charset="-122"/>
              </a:rPr>
              <a:t>      </a:t>
            </a:r>
            <a:r>
              <a:rPr lang="en-US" altLang="zh-CN" sz="2200" b="1" dirty="0" smtClean="0">
                <a:solidFill>
                  <a:srgbClr val="00B0F0"/>
                </a:solidFill>
                <a:ea typeface="SimSun" panose="02010600030101010101" pitchFamily="2" charset="-122"/>
              </a:rPr>
              <a:t>(b) Bingham plastic</a:t>
            </a:r>
            <a:endParaRPr lang="en-US" altLang="zh-CN" sz="2200" b="1" dirty="0" smtClean="0">
              <a:solidFill>
                <a:srgbClr val="00B0F0"/>
              </a:solidFill>
              <a:ea typeface="SimSun" panose="02010600030101010101" pitchFamily="2" charset="-122"/>
            </a:endParaRPr>
          </a:p>
          <a:p>
            <a:r>
              <a:rPr lang="en-US" altLang="zh-CN" sz="2200" b="1" dirty="0" smtClean="0">
                <a:ea typeface="SimSun" panose="02010600030101010101" pitchFamily="2" charset="-122"/>
              </a:rPr>
              <a:t>	</a:t>
            </a:r>
            <a:r>
              <a:rPr lang="en-US" altLang="zh-CN" sz="2200" b="1" dirty="0" smtClean="0">
                <a:solidFill>
                  <a:srgbClr val="00B050"/>
                </a:solidFill>
                <a:ea typeface="SimSun" panose="02010600030101010101" pitchFamily="2" charset="-122"/>
              </a:rPr>
              <a:t>(c) Pseudo plastic</a:t>
            </a:r>
            <a:r>
              <a:rPr lang="en-US" altLang="zh-CN" sz="2200" b="1" dirty="0" smtClean="0">
                <a:ea typeface="SimSun" panose="02010600030101010101" pitchFamily="2" charset="-122"/>
              </a:rPr>
              <a:t>          </a:t>
            </a:r>
            <a:r>
              <a:rPr lang="en-US" altLang="zh-CN" sz="2200" b="1" dirty="0" smtClean="0">
                <a:solidFill>
                  <a:schemeClr val="accent6">
                    <a:lumMod val="75000"/>
                  </a:schemeClr>
                </a:solidFill>
                <a:ea typeface="SimSun" panose="02010600030101010101" pitchFamily="2" charset="-122"/>
              </a:rPr>
              <a:t>(d) Dilatant</a:t>
            </a:r>
            <a:endParaRPr lang="en-US" altLang="zh-CN" sz="2200" b="1" dirty="0" smtClean="0">
              <a:solidFill>
                <a:schemeClr val="accent6">
                  <a:lumMod val="75000"/>
                </a:schemeClr>
              </a:solidFill>
              <a:ea typeface="SimSun" panose="02010600030101010101" pitchFamily="2" charset="-122"/>
            </a:endParaRPr>
          </a:p>
        </p:txBody>
      </p:sp>
      <p:sp>
        <p:nvSpPr>
          <p:cNvPr id="3" name="TextBox 2"/>
          <p:cNvSpPr txBox="1"/>
          <p:nvPr/>
        </p:nvSpPr>
        <p:spPr>
          <a:xfrm>
            <a:off x="228600" y="0"/>
            <a:ext cx="2895600" cy="707886"/>
          </a:xfrm>
          <a:prstGeom prst="rect">
            <a:avLst/>
          </a:prstGeom>
          <a:noFill/>
        </p:spPr>
        <p:txBody>
          <a:bodyPr wrap="square" rtlCol="0">
            <a:spAutoFit/>
          </a:bodyPr>
          <a:lstStyle/>
          <a:p>
            <a:r>
              <a:rPr lang="en-US" sz="4000" dirty="0" smtClean="0">
                <a:solidFill>
                  <a:srgbClr val="FF0000"/>
                </a:solidFill>
              </a:rPr>
              <a:t>Problem # 4</a:t>
            </a:r>
            <a:endParaRPr lang="en-US" sz="4000" dirty="0">
              <a:solidFill>
                <a:srgbClr val="FF000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2362200" y="0"/>
            <a:ext cx="5035731" cy="665294"/>
          </a:xfrm>
          <a:prstGeom prst="rect">
            <a:avLst/>
          </a:prstGeom>
        </p:spPr>
        <p:txBody>
          <a:bodyPr>
            <a:noAutofit/>
          </a:bodyPr>
          <a:lstStyle/>
          <a:p>
            <a:pPr marL="342900" lvl="0" indent="-342900">
              <a:spcBef>
                <a:spcPct val="20000"/>
              </a:spcBef>
            </a:pPr>
            <a:r>
              <a:rPr lang="en-US" sz="4000" b="1" i="1" dirty="0" smtClean="0">
                <a:solidFill>
                  <a:schemeClr val="tx2">
                    <a:lumMod val="75000"/>
                  </a:schemeClr>
                </a:solidFill>
                <a:effectLst>
                  <a:outerShdw blurRad="38100" dist="38100" dir="2700000" algn="tl">
                    <a:srgbClr val="000000">
                      <a:alpha val="43137"/>
                    </a:srgbClr>
                  </a:outerShdw>
                </a:effectLst>
              </a:rPr>
              <a:t>Properties of Fluids</a:t>
            </a:r>
            <a:endParaRPr kumimoji="0" lang="en-US" sz="4000" b="1" i="1" u="none" strike="noStrike" kern="1200" cap="none" spc="0" normalizeH="0" baseline="0" noProof="0" dirty="0" smtClean="0">
              <a:ln>
                <a:noFill/>
              </a:ln>
              <a:solidFill>
                <a:schemeClr val="tx2">
                  <a:lumMod val="75000"/>
                </a:schemeClr>
              </a:solidFill>
              <a:effectLst>
                <a:outerShdw blurRad="38100" dist="38100" dir="2700000" algn="tl">
                  <a:srgbClr val="000000">
                    <a:alpha val="43137"/>
                  </a:srgbClr>
                </a:outerShdw>
              </a:effectLst>
              <a:uLnTx/>
              <a:uFillTx/>
              <a:latin typeface="+mn-lt"/>
              <a:ea typeface="+mn-ea"/>
              <a:cs typeface="+mn-cs"/>
            </a:endParaRPr>
          </a:p>
        </p:txBody>
      </p:sp>
      <p:sp>
        <p:nvSpPr>
          <p:cNvPr id="3" name="Rectangle 2"/>
          <p:cNvSpPr txBox="1">
            <a:spLocks noChangeArrowheads="1"/>
          </p:cNvSpPr>
          <p:nvPr/>
        </p:nvSpPr>
        <p:spPr>
          <a:xfrm>
            <a:off x="0" y="808037"/>
            <a:ext cx="5257800" cy="792163"/>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sz="3600" b="1" dirty="0" smtClean="0">
                <a:solidFill>
                  <a:srgbClr val="C00000"/>
                </a:solidFill>
                <a:ea typeface="+mj-ea"/>
                <a:cs typeface="+mj-cs"/>
              </a:rPr>
              <a:t> 6. Kinematic </a:t>
            </a:r>
            <a:r>
              <a:rPr kumimoji="0" lang="en-US" sz="3600" b="1" i="0" u="none" strike="noStrike" kern="1200" cap="none" spc="0" normalizeH="0" baseline="0" noProof="0" dirty="0" smtClean="0">
                <a:ln>
                  <a:noFill/>
                </a:ln>
                <a:solidFill>
                  <a:srgbClr val="C00000"/>
                </a:solidFill>
                <a:effectLst/>
                <a:uLnTx/>
                <a:uFillTx/>
                <a:latin typeface="+mn-lt"/>
                <a:ea typeface="+mj-ea"/>
                <a:cs typeface="+mj-cs"/>
              </a:rPr>
              <a:t>Viscosity (</a:t>
            </a:r>
            <a:r>
              <a:rPr kumimoji="0" lang="el-GR" sz="3600" b="1" i="0" u="none" strike="noStrike" kern="1200" cap="none" spc="0" normalizeH="0" baseline="0" noProof="0" dirty="0" smtClean="0">
                <a:ln>
                  <a:noFill/>
                </a:ln>
                <a:solidFill>
                  <a:srgbClr val="C00000"/>
                </a:solidFill>
                <a:effectLst/>
                <a:uLnTx/>
                <a:uFillTx/>
                <a:latin typeface="+mn-lt"/>
                <a:ea typeface="+mj-ea"/>
                <a:cs typeface="+mj-cs"/>
              </a:rPr>
              <a:t>ν</a:t>
            </a:r>
            <a:r>
              <a:rPr kumimoji="0" lang="en-US" sz="3600" b="1" i="0" u="none" strike="noStrike" kern="1200" cap="none" spc="0" normalizeH="0" baseline="0" noProof="0" dirty="0" smtClean="0">
                <a:ln>
                  <a:noFill/>
                </a:ln>
                <a:solidFill>
                  <a:srgbClr val="C00000"/>
                </a:solidFill>
                <a:effectLst/>
                <a:uLnTx/>
                <a:uFillTx/>
                <a:latin typeface="+mn-lt"/>
                <a:ea typeface="+mj-ea"/>
                <a:cs typeface="+mj-cs"/>
              </a:rPr>
              <a:t>)</a:t>
            </a:r>
            <a:endParaRPr kumimoji="0" lang="en-US" sz="3600" b="1" i="0" u="none" strike="noStrike" kern="1200" cap="none" spc="0" normalizeH="0" baseline="0" noProof="0" dirty="0">
              <a:ln>
                <a:noFill/>
              </a:ln>
              <a:solidFill>
                <a:srgbClr val="C00000"/>
              </a:solidFill>
              <a:effectLst/>
              <a:uLnTx/>
              <a:uFillTx/>
              <a:latin typeface="+mn-lt"/>
              <a:ea typeface="+mj-ea"/>
              <a:cs typeface="+mj-cs"/>
            </a:endParaRPr>
          </a:p>
        </p:txBody>
      </p:sp>
      <p:graphicFrame>
        <p:nvGraphicFramePr>
          <p:cNvPr id="5" name="Object 4"/>
          <p:cNvGraphicFramePr>
            <a:graphicFrameLocks noChangeAspect="1"/>
          </p:cNvGraphicFramePr>
          <p:nvPr/>
        </p:nvGraphicFramePr>
        <p:xfrm>
          <a:off x="3200400" y="1904999"/>
          <a:ext cx="1143000" cy="1178719"/>
        </p:xfrm>
        <a:graphic>
          <a:graphicData uri="http://schemas.openxmlformats.org/presentationml/2006/ole">
            <mc:AlternateContent xmlns:mc="http://schemas.openxmlformats.org/markup-compatibility/2006">
              <mc:Choice xmlns:v="urn:schemas-microsoft-com:vml" Requires="v">
                <p:oleObj spid="_x0000_s73757" name="Equation" r:id="rId1" imgW="406400" imgH="419100" progId="Equation.DSMT4">
                  <p:embed/>
                </p:oleObj>
              </mc:Choice>
              <mc:Fallback>
                <p:oleObj name="Equation" r:id="rId1" imgW="406400" imgH="419100" progId="Equation.DSMT4">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904999"/>
                        <a:ext cx="1143000" cy="1178719"/>
                      </a:xfrm>
                      <a:prstGeom prst="rect">
                        <a:avLst/>
                      </a:prstGeom>
                      <a:solidFill>
                        <a:srgbClr val="FF00FF"/>
                      </a:solidFill>
                    </p:spPr>
                  </p:pic>
                </p:oleObj>
              </mc:Fallback>
            </mc:AlternateContent>
          </a:graphicData>
        </a:graphic>
      </p:graphicFrame>
      <p:sp>
        <p:nvSpPr>
          <p:cNvPr id="6" name="TextBox 5"/>
          <p:cNvSpPr txBox="1"/>
          <p:nvPr/>
        </p:nvSpPr>
        <p:spPr>
          <a:xfrm>
            <a:off x="5257800" y="2236113"/>
            <a:ext cx="1219200" cy="523220"/>
          </a:xfrm>
          <a:prstGeom prst="rect">
            <a:avLst/>
          </a:prstGeom>
          <a:noFill/>
        </p:spPr>
        <p:txBody>
          <a:bodyPr wrap="square" rtlCol="0">
            <a:spAutoFit/>
          </a:bodyPr>
          <a:lstStyle/>
          <a:p>
            <a:r>
              <a:rPr lang="en-US" sz="2800" b="1" dirty="0" smtClean="0">
                <a:solidFill>
                  <a:srgbClr val="00B050"/>
                </a:solidFill>
              </a:rPr>
              <a:t>(m</a:t>
            </a:r>
            <a:r>
              <a:rPr lang="en-US" sz="2800" b="1" baseline="30000" dirty="0" smtClean="0">
                <a:solidFill>
                  <a:srgbClr val="00B050"/>
                </a:solidFill>
              </a:rPr>
              <a:t>2</a:t>
            </a:r>
            <a:r>
              <a:rPr lang="en-US" sz="2800" b="1" dirty="0" smtClean="0">
                <a:solidFill>
                  <a:srgbClr val="00B050"/>
                </a:solidFill>
              </a:rPr>
              <a:t> /s) </a:t>
            </a:r>
            <a:endParaRPr lang="en-US" sz="2800" b="1" dirty="0">
              <a:solidFill>
                <a:srgbClr val="00B050"/>
              </a:solidFill>
            </a:endParaRPr>
          </a:p>
        </p:txBody>
      </p:sp>
      <p:sp>
        <p:nvSpPr>
          <p:cNvPr id="7" name="TextBox 6"/>
          <p:cNvSpPr txBox="1"/>
          <p:nvPr/>
        </p:nvSpPr>
        <p:spPr>
          <a:xfrm>
            <a:off x="6629400" y="2236113"/>
            <a:ext cx="1219200" cy="523220"/>
          </a:xfrm>
          <a:prstGeom prst="rect">
            <a:avLst/>
          </a:prstGeom>
          <a:noFill/>
        </p:spPr>
        <p:txBody>
          <a:bodyPr wrap="square" rtlCol="0">
            <a:spAutoFit/>
          </a:bodyPr>
          <a:lstStyle/>
          <a:p>
            <a:r>
              <a:rPr lang="en-US" sz="2800" b="1" dirty="0" smtClean="0">
                <a:solidFill>
                  <a:srgbClr val="7030A0"/>
                </a:solidFill>
              </a:rPr>
              <a:t>[L</a:t>
            </a:r>
            <a:r>
              <a:rPr lang="en-US" sz="2800" b="1" baseline="30000" dirty="0" smtClean="0">
                <a:solidFill>
                  <a:srgbClr val="7030A0"/>
                </a:solidFill>
              </a:rPr>
              <a:t>2  </a:t>
            </a:r>
            <a:r>
              <a:rPr lang="en-US" sz="2800" b="1" dirty="0" smtClean="0">
                <a:solidFill>
                  <a:srgbClr val="7030A0"/>
                </a:solidFill>
              </a:rPr>
              <a:t>T</a:t>
            </a:r>
            <a:r>
              <a:rPr lang="en-US" sz="2800" b="1" baseline="30000" dirty="0" smtClean="0">
                <a:solidFill>
                  <a:srgbClr val="7030A0"/>
                </a:solidFill>
              </a:rPr>
              <a:t>-1 </a:t>
            </a:r>
            <a:r>
              <a:rPr lang="en-US" sz="2800" b="1" dirty="0" smtClean="0">
                <a:solidFill>
                  <a:srgbClr val="7030A0"/>
                </a:solidFill>
              </a:rPr>
              <a:t>] </a:t>
            </a:r>
            <a:endParaRPr lang="en-US" sz="2800" b="1" dirty="0">
              <a:solidFill>
                <a:srgbClr val="7030A0"/>
              </a:solidFill>
            </a:endParaRPr>
          </a:p>
        </p:txBody>
      </p:sp>
      <p:grpSp>
        <p:nvGrpSpPr>
          <p:cNvPr id="11" name="Group 10"/>
          <p:cNvGrpSpPr/>
          <p:nvPr/>
        </p:nvGrpSpPr>
        <p:grpSpPr>
          <a:xfrm>
            <a:off x="0" y="3581400"/>
            <a:ext cx="9144000" cy="2237936"/>
            <a:chOff x="304800" y="3581400"/>
            <a:chExt cx="8610600" cy="2237936"/>
          </a:xfrm>
        </p:grpSpPr>
        <p:sp>
          <p:nvSpPr>
            <p:cNvPr id="8" name="TextBox 7"/>
            <p:cNvSpPr txBox="1"/>
            <p:nvPr/>
          </p:nvSpPr>
          <p:spPr>
            <a:xfrm>
              <a:off x="304800" y="3581400"/>
              <a:ext cx="8610600" cy="2123658"/>
            </a:xfrm>
            <a:prstGeom prst="rect">
              <a:avLst/>
            </a:prstGeom>
            <a:solidFill>
              <a:srgbClr val="FFFF00"/>
            </a:solidFill>
          </p:spPr>
          <p:txBody>
            <a:bodyPr wrap="square" rtlCol="0">
              <a:spAutoFit/>
            </a:bodyPr>
            <a:lstStyle/>
            <a:p>
              <a:pPr algn="just">
                <a:lnSpc>
                  <a:spcPct val="120000"/>
                </a:lnSpc>
              </a:pPr>
              <a:r>
                <a:rPr lang="en-US" sz="2200" b="1" dirty="0" smtClean="0"/>
                <a:t>The importance of kinematic viscosity in practice is realized due to the fact that while the viscous force on a fluid element is proportional to </a:t>
              </a:r>
              <a:r>
                <a:rPr lang="el-GR" sz="2200" b="1" dirty="0" smtClean="0"/>
                <a:t>μ</a:t>
              </a:r>
              <a:r>
                <a:rPr lang="en-US" sz="2200" b="1" dirty="0" smtClean="0"/>
                <a:t>, the inertia force is proportional to </a:t>
              </a:r>
              <a:r>
                <a:rPr lang="el-GR" sz="2200" b="1" dirty="0" smtClean="0"/>
                <a:t>ρ</a:t>
              </a:r>
              <a:r>
                <a:rPr lang="en-US" sz="2200" b="1" dirty="0" smtClean="0"/>
                <a:t> and this ratio of </a:t>
              </a:r>
              <a:r>
                <a:rPr lang="el-GR" sz="2200" b="1" dirty="0" smtClean="0"/>
                <a:t>μ</a:t>
              </a:r>
              <a:r>
                <a:rPr lang="en-US" sz="2200" b="1" dirty="0" smtClean="0"/>
                <a:t> and </a:t>
              </a:r>
              <a:r>
                <a:rPr lang="el-GR" sz="2200" b="1" dirty="0" smtClean="0"/>
                <a:t>ρ</a:t>
              </a:r>
              <a:r>
                <a:rPr lang="en-US" sz="2200" b="1" dirty="0" smtClean="0"/>
                <a:t> appears in several dimensionless similarity parameters like Reynolds number (	              ), </a:t>
              </a:r>
              <a:r>
                <a:rPr lang="en-US" sz="2200" b="1" dirty="0" err="1" smtClean="0"/>
                <a:t>Prandtl</a:t>
              </a:r>
              <a:r>
                <a:rPr lang="en-US" sz="2200" b="1" dirty="0" smtClean="0"/>
                <a:t> number (                 ), etc. in describing various physical problems.</a:t>
              </a:r>
              <a:endParaRPr lang="en-US" sz="2200" b="1" dirty="0"/>
            </a:p>
          </p:txBody>
        </p:sp>
        <p:graphicFrame>
          <p:nvGraphicFramePr>
            <p:cNvPr id="9" name="Object 8"/>
            <p:cNvGraphicFramePr>
              <a:graphicFrameLocks noChangeAspect="1"/>
            </p:cNvGraphicFramePr>
            <p:nvPr/>
          </p:nvGraphicFramePr>
          <p:xfrm>
            <a:off x="7065229" y="4759432"/>
            <a:ext cx="845602" cy="610712"/>
          </p:xfrm>
          <a:graphic>
            <a:graphicData uri="http://schemas.openxmlformats.org/presentationml/2006/ole">
              <mc:AlternateContent xmlns:mc="http://schemas.openxmlformats.org/markup-compatibility/2006">
                <mc:Choice xmlns:v="urn:schemas-microsoft-com:vml" Requires="v">
                  <p:oleObj spid="_x0000_s73758" name="Equation" r:id="rId3" imgW="685800" imgH="419100" progId="Equation.DSMT4">
                    <p:embed/>
                  </p:oleObj>
                </mc:Choice>
                <mc:Fallback>
                  <p:oleObj name="Equation" r:id="rId3" imgW="685800" imgH="4191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5229" y="4759432"/>
                          <a:ext cx="845602" cy="610712"/>
                        </a:xfrm>
                        <a:prstGeom prst="rect">
                          <a:avLst/>
                        </a:prstGeom>
                        <a:solidFill>
                          <a:srgbClr val="00FF00"/>
                        </a:solidFill>
                      </p:spPr>
                    </p:pic>
                  </p:oleObj>
                </mc:Fallback>
              </mc:AlternateContent>
            </a:graphicData>
          </a:graphic>
        </p:graphicFrame>
        <p:graphicFrame>
          <p:nvGraphicFramePr>
            <p:cNvPr id="10" name="Object 9"/>
            <p:cNvGraphicFramePr>
              <a:graphicFrameLocks noChangeAspect="1"/>
            </p:cNvGraphicFramePr>
            <p:nvPr/>
          </p:nvGraphicFramePr>
          <p:xfrm>
            <a:off x="2313940" y="5181600"/>
            <a:ext cx="860283" cy="637736"/>
          </p:xfrm>
          <a:graphic>
            <a:graphicData uri="http://schemas.openxmlformats.org/presentationml/2006/ole">
              <mc:AlternateContent xmlns:mc="http://schemas.openxmlformats.org/markup-compatibility/2006">
                <mc:Choice xmlns:v="urn:schemas-microsoft-com:vml" Requires="v">
                  <p:oleObj spid="_x0000_s73759" name="Equation" r:id="rId5" imgW="469900" imgH="393700" progId="Equation.DSMT4">
                    <p:embed/>
                  </p:oleObj>
                </mc:Choice>
                <mc:Fallback>
                  <p:oleObj name="Equation" r:id="rId5" imgW="469900" imgH="39370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3940" y="5181600"/>
                          <a:ext cx="860283" cy="637736"/>
                        </a:xfrm>
                        <a:prstGeom prst="rect">
                          <a:avLst/>
                        </a:prstGeom>
                        <a:solidFill>
                          <a:srgbClr val="00FF00"/>
                        </a:solidFill>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horizontal)">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2362200" y="0"/>
            <a:ext cx="5035731" cy="665294"/>
          </a:xfrm>
          <a:prstGeom prst="rect">
            <a:avLst/>
          </a:prstGeom>
        </p:spPr>
        <p:txBody>
          <a:bodyPr>
            <a:noAutofit/>
          </a:bodyPr>
          <a:lstStyle/>
          <a:p>
            <a:pPr marL="342900" lvl="0" indent="-342900">
              <a:spcBef>
                <a:spcPct val="20000"/>
              </a:spcBef>
            </a:pPr>
            <a:r>
              <a:rPr lang="en-US" sz="4000" b="1" i="1" dirty="0" smtClean="0">
                <a:solidFill>
                  <a:schemeClr val="tx2">
                    <a:lumMod val="75000"/>
                  </a:schemeClr>
                </a:solidFill>
                <a:effectLst>
                  <a:outerShdw blurRad="38100" dist="38100" dir="2700000" algn="tl">
                    <a:srgbClr val="000000">
                      <a:alpha val="43137"/>
                    </a:srgbClr>
                  </a:outerShdw>
                </a:effectLst>
              </a:rPr>
              <a:t>Properties of Fluids</a:t>
            </a:r>
            <a:endParaRPr kumimoji="0" lang="en-US" sz="4000" b="1" i="1" u="none" strike="noStrike" kern="1200" cap="none" spc="0" normalizeH="0" baseline="0" noProof="0" dirty="0" smtClean="0">
              <a:ln>
                <a:noFill/>
              </a:ln>
              <a:solidFill>
                <a:schemeClr val="tx2">
                  <a:lumMod val="75000"/>
                </a:schemeClr>
              </a:solidFill>
              <a:effectLst>
                <a:outerShdw blurRad="38100" dist="38100" dir="2700000" algn="tl">
                  <a:srgbClr val="000000">
                    <a:alpha val="43137"/>
                  </a:srgbClr>
                </a:outerShdw>
              </a:effectLst>
              <a:uLnTx/>
              <a:uFillTx/>
              <a:latin typeface="+mn-lt"/>
              <a:ea typeface="+mn-ea"/>
              <a:cs typeface="+mn-cs"/>
            </a:endParaRPr>
          </a:p>
        </p:txBody>
      </p:sp>
      <p:sp>
        <p:nvSpPr>
          <p:cNvPr id="3" name="Rectangle 2"/>
          <p:cNvSpPr txBox="1">
            <a:spLocks noChangeArrowheads="1"/>
          </p:cNvSpPr>
          <p:nvPr/>
        </p:nvSpPr>
        <p:spPr>
          <a:xfrm>
            <a:off x="0" y="808037"/>
            <a:ext cx="5257800" cy="792163"/>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sz="3600" b="1" dirty="0" smtClean="0">
                <a:solidFill>
                  <a:srgbClr val="C00000"/>
                </a:solidFill>
                <a:ea typeface="+mj-ea"/>
                <a:cs typeface="+mj-cs"/>
              </a:rPr>
              <a:t> 7. Compressibility</a:t>
            </a:r>
            <a:endParaRPr kumimoji="0" lang="en-US" sz="3600" b="1" i="0" u="none" strike="noStrike" kern="1200" cap="none" spc="0" normalizeH="0" baseline="0" noProof="0" dirty="0">
              <a:ln>
                <a:noFill/>
              </a:ln>
              <a:solidFill>
                <a:srgbClr val="C00000"/>
              </a:solidFill>
              <a:effectLst/>
              <a:uLnTx/>
              <a:uFillTx/>
              <a:latin typeface="+mn-lt"/>
              <a:ea typeface="+mj-ea"/>
              <a:cs typeface="+mj-cs"/>
            </a:endParaRPr>
          </a:p>
        </p:txBody>
      </p:sp>
      <p:sp>
        <p:nvSpPr>
          <p:cNvPr id="4" name="TextBox 3"/>
          <p:cNvSpPr txBox="1"/>
          <p:nvPr/>
        </p:nvSpPr>
        <p:spPr>
          <a:xfrm>
            <a:off x="76200" y="1676400"/>
            <a:ext cx="4038600" cy="1935786"/>
          </a:xfrm>
          <a:prstGeom prst="rect">
            <a:avLst/>
          </a:prstGeom>
          <a:solidFill>
            <a:srgbClr val="92D050"/>
          </a:solidFill>
        </p:spPr>
        <p:txBody>
          <a:bodyPr wrap="square" rtlCol="0">
            <a:spAutoFit/>
          </a:bodyPr>
          <a:lstStyle/>
          <a:p>
            <a:pPr algn="just">
              <a:lnSpc>
                <a:spcPct val="110000"/>
              </a:lnSpc>
            </a:pPr>
            <a:r>
              <a:rPr lang="en-US" sz="2200" b="1" dirty="0" smtClean="0">
                <a:solidFill>
                  <a:srgbClr val="002060"/>
                </a:solidFill>
              </a:rPr>
              <a:t>Compressibility of any substance is the measure of its change in volume under the action of external forces (</a:t>
            </a:r>
            <a:r>
              <a:rPr lang="en-US" sz="2200" b="1" dirty="0" smtClean="0">
                <a:solidFill>
                  <a:srgbClr val="FF0000"/>
                </a:solidFill>
              </a:rPr>
              <a:t>namely, the normal compressive forces</a:t>
            </a:r>
            <a:r>
              <a:rPr lang="en-US" sz="2200" b="1" dirty="0" smtClean="0">
                <a:solidFill>
                  <a:srgbClr val="002060"/>
                </a:solidFill>
              </a:rPr>
              <a:t>)</a:t>
            </a:r>
            <a:endParaRPr lang="en-US" sz="2200" b="1" dirty="0">
              <a:solidFill>
                <a:srgbClr val="002060"/>
              </a:solidFill>
            </a:endParaRPr>
          </a:p>
        </p:txBody>
      </p:sp>
      <p:sp>
        <p:nvSpPr>
          <p:cNvPr id="5" name="TextBox 4"/>
          <p:cNvSpPr txBox="1"/>
          <p:nvPr/>
        </p:nvSpPr>
        <p:spPr>
          <a:xfrm>
            <a:off x="4724400" y="1600200"/>
            <a:ext cx="4343400" cy="2123658"/>
          </a:xfrm>
          <a:prstGeom prst="rect">
            <a:avLst/>
          </a:prstGeom>
          <a:solidFill>
            <a:schemeClr val="accent6">
              <a:lumMod val="40000"/>
              <a:lumOff val="60000"/>
            </a:schemeClr>
          </a:solidFill>
        </p:spPr>
        <p:txBody>
          <a:bodyPr wrap="square" rtlCol="0">
            <a:spAutoFit/>
          </a:bodyPr>
          <a:lstStyle/>
          <a:p>
            <a:pPr algn="just"/>
            <a:r>
              <a:rPr lang="en-US" sz="2200" b="1" dirty="0" smtClean="0"/>
              <a:t>The normal compressive stress on any  fluid element at rest is known as hydrostatic pressure P and arises as a </a:t>
            </a:r>
            <a:r>
              <a:rPr lang="en-US" sz="2200" b="1" dirty="0" smtClean="0">
                <a:solidFill>
                  <a:srgbClr val="7030A0"/>
                </a:solidFill>
              </a:rPr>
              <a:t>result of innumerable molecular collisions in the entire field</a:t>
            </a:r>
            <a:r>
              <a:rPr lang="en-US" sz="2200" b="1" dirty="0" smtClean="0"/>
              <a:t>.</a:t>
            </a:r>
            <a:endParaRPr lang="en-US" sz="2200" b="1" dirty="0"/>
          </a:p>
        </p:txBody>
      </p:sp>
      <p:sp>
        <p:nvSpPr>
          <p:cNvPr id="6" name="TextBox 5"/>
          <p:cNvSpPr txBox="1"/>
          <p:nvPr/>
        </p:nvSpPr>
        <p:spPr>
          <a:xfrm>
            <a:off x="152400" y="4191000"/>
            <a:ext cx="8763000" cy="769441"/>
          </a:xfrm>
          <a:prstGeom prst="rect">
            <a:avLst/>
          </a:prstGeom>
          <a:noFill/>
        </p:spPr>
        <p:txBody>
          <a:bodyPr wrap="square" rtlCol="0">
            <a:spAutoFit/>
          </a:bodyPr>
          <a:lstStyle/>
          <a:p>
            <a:pPr algn="just"/>
            <a:r>
              <a:rPr lang="en-US" sz="2200" b="1" dirty="0" smtClean="0"/>
              <a:t>The degree of compressibility of a substance is characterized by the bulk modulus of elasticity (E).</a:t>
            </a:r>
            <a:endParaRPr lang="en-US" sz="2200" b="1" dirty="0"/>
          </a:p>
        </p:txBody>
      </p:sp>
      <p:graphicFrame>
        <p:nvGraphicFramePr>
          <p:cNvPr id="7" name="Object 6"/>
          <p:cNvGraphicFramePr>
            <a:graphicFrameLocks noChangeAspect="1"/>
          </p:cNvGraphicFramePr>
          <p:nvPr/>
        </p:nvGraphicFramePr>
        <p:xfrm>
          <a:off x="2916238" y="5229225"/>
          <a:ext cx="2927350" cy="1428750"/>
        </p:xfrm>
        <a:graphic>
          <a:graphicData uri="http://schemas.openxmlformats.org/presentationml/2006/ole">
            <mc:AlternateContent xmlns:mc="http://schemas.openxmlformats.org/markup-compatibility/2006">
              <mc:Choice xmlns:v="urn:schemas-microsoft-com:vml" Requires="v">
                <p:oleObj spid="_x0000_s74763" name="Equation" r:id="rId1" imgW="1066800" imgH="520700" progId="Equation.DSMT4">
                  <p:embed/>
                </p:oleObj>
              </mc:Choice>
              <mc:Fallback>
                <p:oleObj name="Equation" r:id="rId1" imgW="1066800" imgH="520700" progId="Equation.DSMT4">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238" y="5229225"/>
                        <a:ext cx="2927350" cy="1428750"/>
                      </a:xfrm>
                      <a:prstGeom prst="rect">
                        <a:avLst/>
                      </a:prstGeom>
                      <a:solidFill>
                        <a:srgbClr val="00FF00"/>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par>
                                <p:cTn id="18" presetID="3" presetClass="entr" presetSubtype="1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667000" y="-152400"/>
            <a:ext cx="4114800" cy="792163"/>
          </a:xfrm>
          <a:prstGeom prst="rect">
            <a:avLst/>
          </a:prstGeom>
        </p:spPr>
        <p:txBody>
          <a:bodyPr>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sz="4400" b="1" dirty="0" smtClean="0">
                <a:solidFill>
                  <a:srgbClr val="C00000"/>
                </a:solidFill>
                <a:ea typeface="+mj-ea"/>
                <a:cs typeface="+mj-cs"/>
              </a:rPr>
              <a:t> Compressibility</a:t>
            </a:r>
            <a:endParaRPr kumimoji="0" lang="en-US" sz="4400" b="1" i="0" u="none" strike="noStrike" kern="1200" cap="none" spc="0" normalizeH="0" baseline="0" noProof="0" dirty="0">
              <a:ln>
                <a:noFill/>
              </a:ln>
              <a:solidFill>
                <a:srgbClr val="C00000"/>
              </a:solidFill>
              <a:effectLst/>
              <a:uLnTx/>
              <a:uFillTx/>
              <a:latin typeface="+mn-lt"/>
              <a:ea typeface="+mj-ea"/>
              <a:cs typeface="+mj-cs"/>
            </a:endParaRPr>
          </a:p>
        </p:txBody>
      </p:sp>
      <p:sp>
        <p:nvSpPr>
          <p:cNvPr id="3" name="TextBox 2"/>
          <p:cNvSpPr txBox="1"/>
          <p:nvPr/>
        </p:nvSpPr>
        <p:spPr>
          <a:xfrm>
            <a:off x="228600" y="762000"/>
            <a:ext cx="8534400" cy="769441"/>
          </a:xfrm>
          <a:prstGeom prst="rect">
            <a:avLst/>
          </a:prstGeom>
          <a:noFill/>
        </p:spPr>
        <p:txBody>
          <a:bodyPr wrap="square" rtlCol="0">
            <a:spAutoFit/>
          </a:bodyPr>
          <a:lstStyle/>
          <a:p>
            <a:pPr algn="just"/>
            <a:r>
              <a:rPr lang="en-US" sz="2200" b="1" dirty="0" smtClean="0">
                <a:solidFill>
                  <a:srgbClr val="002060"/>
                </a:solidFill>
              </a:rPr>
              <a:t>For a given mass of a substance, the change in its volume and density satisfies the relation :</a:t>
            </a:r>
            <a:endParaRPr lang="en-US" sz="2200" b="1" dirty="0">
              <a:solidFill>
                <a:srgbClr val="002060"/>
              </a:solidFill>
            </a:endParaRPr>
          </a:p>
        </p:txBody>
      </p:sp>
      <p:graphicFrame>
        <p:nvGraphicFramePr>
          <p:cNvPr id="4" name="Object 3"/>
          <p:cNvGraphicFramePr>
            <a:graphicFrameLocks noChangeAspect="1"/>
          </p:cNvGraphicFramePr>
          <p:nvPr/>
        </p:nvGraphicFramePr>
        <p:xfrm>
          <a:off x="3527386" y="1371600"/>
          <a:ext cx="1737014" cy="971550"/>
        </p:xfrm>
        <a:graphic>
          <a:graphicData uri="http://schemas.openxmlformats.org/presentationml/2006/ole">
            <mc:AlternateContent xmlns:mc="http://schemas.openxmlformats.org/markup-compatibility/2006">
              <mc:Choice xmlns:v="urn:schemas-microsoft-com:vml" Requires="v">
                <p:oleObj spid="_x0000_s75796" name="Equation" r:id="rId1" imgW="749300" imgH="419100" progId="Equation.DSMT4">
                  <p:embed/>
                </p:oleObj>
              </mc:Choice>
              <mc:Fallback>
                <p:oleObj name="Equation" r:id="rId1" imgW="749300" imgH="419100" progId="Equation.DSMT4">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7386" y="1371600"/>
                        <a:ext cx="1737014" cy="971550"/>
                      </a:xfrm>
                      <a:prstGeom prst="rect">
                        <a:avLst/>
                      </a:prstGeom>
                      <a:solidFill>
                        <a:srgbClr val="00FF00"/>
                      </a:solidFill>
                    </p:spPr>
                  </p:pic>
                </p:oleObj>
              </mc:Fallback>
            </mc:AlternateContent>
          </a:graphicData>
        </a:graphic>
      </p:graphicFrame>
      <p:sp>
        <p:nvSpPr>
          <p:cNvPr id="5" name="TextBox 4"/>
          <p:cNvSpPr txBox="1"/>
          <p:nvPr/>
        </p:nvSpPr>
        <p:spPr>
          <a:xfrm>
            <a:off x="180536" y="2514600"/>
            <a:ext cx="6096000" cy="430887"/>
          </a:xfrm>
          <a:prstGeom prst="rect">
            <a:avLst/>
          </a:prstGeom>
          <a:noFill/>
        </p:spPr>
        <p:txBody>
          <a:bodyPr wrap="square" rtlCol="0">
            <a:spAutoFit/>
          </a:bodyPr>
          <a:lstStyle/>
          <a:p>
            <a:r>
              <a:rPr lang="en-US" sz="2200" b="1" dirty="0" smtClean="0">
                <a:solidFill>
                  <a:srgbClr val="002060"/>
                </a:solidFill>
              </a:rPr>
              <a:t>Therefore, Compressibility can be expressed as:</a:t>
            </a:r>
            <a:endParaRPr lang="en-US" sz="2200" b="1" dirty="0">
              <a:solidFill>
                <a:srgbClr val="002060"/>
              </a:solidFill>
            </a:endParaRPr>
          </a:p>
        </p:txBody>
      </p:sp>
      <p:graphicFrame>
        <p:nvGraphicFramePr>
          <p:cNvPr id="6" name="Object 5"/>
          <p:cNvGraphicFramePr>
            <a:graphicFrameLocks noChangeAspect="1"/>
          </p:cNvGraphicFramePr>
          <p:nvPr/>
        </p:nvGraphicFramePr>
        <p:xfrm>
          <a:off x="2743200" y="2971800"/>
          <a:ext cx="3305387" cy="1219200"/>
        </p:xfrm>
        <a:graphic>
          <a:graphicData uri="http://schemas.openxmlformats.org/presentationml/2006/ole">
            <mc:AlternateContent xmlns:mc="http://schemas.openxmlformats.org/markup-compatibility/2006">
              <mc:Choice xmlns:v="urn:schemas-microsoft-com:vml" Requires="v">
                <p:oleObj spid="_x0000_s75797" name="Equation" r:id="rId3" imgW="1548765" imgH="571500" progId="Equation.DSMT4">
                  <p:embed/>
                </p:oleObj>
              </mc:Choice>
              <mc:Fallback>
                <p:oleObj name="Equation" r:id="rId3" imgW="1548765" imgH="5715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971800"/>
                        <a:ext cx="3305387" cy="1219200"/>
                      </a:xfrm>
                      <a:prstGeom prst="rect">
                        <a:avLst/>
                      </a:prstGeom>
                      <a:solidFill>
                        <a:srgbClr val="00FFFF"/>
                      </a:solidFill>
                    </p:spPr>
                  </p:pic>
                </p:oleObj>
              </mc:Fallback>
            </mc:AlternateContent>
          </a:graphicData>
        </a:graphic>
      </p:graphicFrame>
      <p:sp>
        <p:nvSpPr>
          <p:cNvPr id="7" name="TextBox 6"/>
          <p:cNvSpPr txBox="1"/>
          <p:nvPr/>
        </p:nvSpPr>
        <p:spPr>
          <a:xfrm>
            <a:off x="228600" y="4725650"/>
            <a:ext cx="8686800" cy="1446550"/>
          </a:xfrm>
          <a:prstGeom prst="rect">
            <a:avLst/>
          </a:prstGeom>
          <a:solidFill>
            <a:schemeClr val="accent2">
              <a:lumMod val="60000"/>
              <a:lumOff val="40000"/>
            </a:schemeClr>
          </a:solidFill>
        </p:spPr>
        <p:txBody>
          <a:bodyPr wrap="square" rtlCol="0">
            <a:spAutoFit/>
          </a:bodyPr>
          <a:lstStyle/>
          <a:p>
            <a:pPr algn="just"/>
            <a:r>
              <a:rPr lang="en-US" sz="2200" b="1" dirty="0" smtClean="0"/>
              <a:t>Values of E for liquids are very high as compared with those of gases (Except at very high pressure). Therefore, liquids are usually termed as incompressible fluids though, in fact, no substance is theoretically incompressible with a value of E as infinity.</a:t>
            </a:r>
            <a:endParaRPr lang="en-US" sz="2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667000" y="-152400"/>
            <a:ext cx="4114800" cy="792163"/>
          </a:xfrm>
          <a:prstGeom prst="rect">
            <a:avLst/>
          </a:prstGeom>
        </p:spPr>
        <p:txBody>
          <a:bodyPr>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sz="4400" b="1" dirty="0" smtClean="0">
                <a:solidFill>
                  <a:srgbClr val="C00000"/>
                </a:solidFill>
                <a:ea typeface="+mj-ea"/>
                <a:cs typeface="+mj-cs"/>
              </a:rPr>
              <a:t> Compressibility</a:t>
            </a:r>
            <a:endParaRPr kumimoji="0" lang="en-US" sz="4400" b="1" i="0" u="none" strike="noStrike" kern="1200" cap="none" spc="0" normalizeH="0" baseline="0" noProof="0" dirty="0">
              <a:ln>
                <a:noFill/>
              </a:ln>
              <a:solidFill>
                <a:srgbClr val="C00000"/>
              </a:solidFill>
              <a:effectLst/>
              <a:uLnTx/>
              <a:uFillTx/>
              <a:latin typeface="+mn-lt"/>
              <a:ea typeface="+mj-ea"/>
              <a:cs typeface="+mj-cs"/>
            </a:endParaRPr>
          </a:p>
        </p:txBody>
      </p:sp>
      <p:sp>
        <p:nvSpPr>
          <p:cNvPr id="3" name="TextBox 2"/>
          <p:cNvSpPr txBox="1"/>
          <p:nvPr/>
        </p:nvSpPr>
        <p:spPr>
          <a:xfrm>
            <a:off x="228600" y="762000"/>
            <a:ext cx="8534400" cy="768350"/>
          </a:xfrm>
          <a:prstGeom prst="rect">
            <a:avLst/>
          </a:prstGeom>
          <a:noFill/>
        </p:spPr>
        <p:txBody>
          <a:bodyPr wrap="square" rtlCol="0">
            <a:spAutoFit/>
          </a:bodyPr>
          <a:lstStyle/>
          <a:p>
            <a:pPr algn="just"/>
            <a:r>
              <a:rPr lang="en-US" sz="2200" b="1" dirty="0" smtClean="0">
                <a:solidFill>
                  <a:srgbClr val="002060"/>
                </a:solidFill>
              </a:rPr>
              <a:t>For gases another characteristic parameter, known as compressibility K, is usually defined , it is the reciprocal of E:</a:t>
            </a:r>
            <a:endParaRPr lang="en-US" sz="2200" b="1" dirty="0">
              <a:solidFill>
                <a:srgbClr val="002060"/>
              </a:solidFill>
            </a:endParaRPr>
          </a:p>
        </p:txBody>
      </p:sp>
      <p:sp>
        <p:nvSpPr>
          <p:cNvPr id="7" name="TextBox 6"/>
          <p:cNvSpPr txBox="1"/>
          <p:nvPr/>
        </p:nvSpPr>
        <p:spPr>
          <a:xfrm>
            <a:off x="318135" y="3180695"/>
            <a:ext cx="8686800" cy="1783715"/>
          </a:xfrm>
          <a:prstGeom prst="rect">
            <a:avLst/>
          </a:prstGeom>
          <a:solidFill>
            <a:srgbClr val="92D050"/>
          </a:solidFill>
        </p:spPr>
        <p:txBody>
          <a:bodyPr wrap="square" rtlCol="0">
            <a:spAutoFit/>
          </a:bodyPr>
          <a:lstStyle/>
          <a:p>
            <a:pPr algn="just"/>
            <a:r>
              <a:rPr lang="en-US" sz="2200" b="1" dirty="0" smtClean="0"/>
              <a:t>For any gaseous substance, a change in pressure is generally associated with a change in volume and a change in temperature simultaneously.</a:t>
            </a:r>
            <a:endParaRPr lang="en-US" sz="2200" b="1" dirty="0" smtClean="0"/>
          </a:p>
          <a:p>
            <a:pPr algn="just"/>
            <a:r>
              <a:rPr lang="en-US" sz="2200" b="1" dirty="0" smtClean="0"/>
              <a:t>A functional relationship between the pressure, volume and temperature at any equilibrium state is known as thermodynamic equation of state for the gas.</a:t>
            </a:r>
            <a:endParaRPr lang="en-US" sz="2200" b="1" dirty="0" smtClean="0"/>
          </a:p>
        </p:txBody>
      </p:sp>
      <p:graphicFrame>
        <p:nvGraphicFramePr>
          <p:cNvPr id="8" name="Object 7">
            <a:hlinkClick r:id="" action="ppaction://ole?verb="/>
          </p:cNvPr>
          <p:cNvGraphicFramePr>
            <a:graphicFrameLocks noChangeAspect="1"/>
          </p:cNvGraphicFramePr>
          <p:nvPr/>
        </p:nvGraphicFramePr>
        <p:xfrm>
          <a:off x="2414270" y="1835150"/>
          <a:ext cx="4315460" cy="1064260"/>
        </p:xfrm>
        <a:graphic>
          <a:graphicData uri="http://schemas.openxmlformats.org/presentationml/2006/ole">
            <mc:AlternateContent xmlns:mc="http://schemas.openxmlformats.org/markup-compatibility/2006">
              <mc:Choice xmlns:v="urn:schemas-microsoft-com:vml" Requires="v">
                <p:oleObj spid="_x0000_s1025" name="" r:id="rId1" imgW="1854200" imgH="457200" progId="Equation.KSEE3">
                  <p:embed/>
                </p:oleObj>
              </mc:Choice>
              <mc:Fallback>
                <p:oleObj name="" r:id="rId1" imgW="1854200" imgH="457200" progId="Equation.KSEE3">
                  <p:embed/>
                  <p:pic>
                    <p:nvPicPr>
                      <p:cNvPr id="0" name="Picture 1024"/>
                      <p:cNvPicPr/>
                      <p:nvPr/>
                    </p:nvPicPr>
                    <p:blipFill>
                      <a:blip r:embed="rId2">
                        <a:grayscl/>
                      </a:blip>
                      <a:stretch>
                        <a:fillRect/>
                      </a:stretch>
                    </p:blipFill>
                    <p:spPr>
                      <a:xfrm>
                        <a:off x="2414270" y="1835150"/>
                        <a:ext cx="4315460" cy="1064260"/>
                      </a:xfrm>
                      <a:prstGeom prst="rect">
                        <a:avLst/>
                      </a:prstGeom>
                      <a:ln>
                        <a:solidFill>
                          <a:srgbClr val="00B050"/>
                        </a:solidFill>
                      </a:ln>
                    </p:spPr>
                  </p:pic>
                </p:oleObj>
              </mc:Fallback>
            </mc:AlternateContent>
          </a:graphicData>
        </a:graphic>
      </p:graphicFrame>
      <p:graphicFrame>
        <p:nvGraphicFramePr>
          <p:cNvPr id="9" name="Object 8">
            <a:hlinkClick r:id="" action="ppaction://ole?verb="/>
          </p:cNvPr>
          <p:cNvGraphicFramePr>
            <a:graphicFrameLocks noChangeAspect="1"/>
          </p:cNvGraphicFramePr>
          <p:nvPr/>
        </p:nvGraphicFramePr>
        <p:xfrm>
          <a:off x="3815715" y="5327650"/>
          <a:ext cx="1360170" cy="473710"/>
        </p:xfrm>
        <a:graphic>
          <a:graphicData uri="http://schemas.openxmlformats.org/presentationml/2006/ole">
            <mc:AlternateContent xmlns:mc="http://schemas.openxmlformats.org/markup-compatibility/2006">
              <mc:Choice xmlns:v="urn:schemas-microsoft-com:vml" Requires="v">
                <p:oleObj spid="_x0000_s4" name="" r:id="rId3" imgW="584200" imgH="203200" progId="Equation.KSEE3">
                  <p:embed/>
                </p:oleObj>
              </mc:Choice>
              <mc:Fallback>
                <p:oleObj name="" r:id="rId3" imgW="584200" imgH="203200" progId="Equation.KSEE3">
                  <p:embed/>
                  <p:pic>
                    <p:nvPicPr>
                      <p:cNvPr id="0" name="Picture 1024"/>
                      <p:cNvPicPr/>
                      <p:nvPr/>
                    </p:nvPicPr>
                    <p:blipFill>
                      <a:blip r:embed="rId4">
                        <a:grayscl/>
                      </a:blip>
                      <a:stretch>
                        <a:fillRect/>
                      </a:stretch>
                    </p:blipFill>
                    <p:spPr>
                      <a:xfrm>
                        <a:off x="3815715" y="5327650"/>
                        <a:ext cx="1360170" cy="473710"/>
                      </a:xfrm>
                      <a:prstGeom prst="rect">
                        <a:avLst/>
                      </a:prstGeom>
                      <a:ln>
                        <a:solidFill>
                          <a:srgbClr val="00B050"/>
                        </a:solid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p:tgtEl>
                                          <p:spTgt spid="8"/>
                                        </p:tgtEl>
                                        <p:attrNameLst>
                                          <p:attrName>ppt_y</p:attrName>
                                        </p:attrNameLst>
                                      </p:cBhvr>
                                      <p:tavLst>
                                        <p:tav tm="0">
                                          <p:val>
                                            <p:strVal val="#ppt_y+#ppt_h*1.125000"/>
                                          </p:val>
                                        </p:tav>
                                        <p:tav tm="100000">
                                          <p:val>
                                            <p:strVal val="#ppt_y"/>
                                          </p:val>
                                        </p:tav>
                                      </p:tavLst>
                                    </p:anim>
                                    <p:animEffect transition="in" filter="wipe(up)">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checkerboard(across)">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4294967295"/>
          </p:nvPr>
        </p:nvSpPr>
        <p:spPr>
          <a:xfrm>
            <a:off x="304800" y="1066800"/>
            <a:ext cx="8412163" cy="4219575"/>
          </a:xfrm>
          <a:prstGeom prst="rect">
            <a:avLst/>
          </a:prstGeom>
        </p:spPr>
        <p:txBody>
          <a:bodyPr>
            <a:normAutofit fontScale="92500"/>
          </a:bodyPr>
          <a:lstStyle/>
          <a:p>
            <a:pPr marL="0" algn="just" eaLnBrk="1" hangingPunct="1">
              <a:spcBef>
                <a:spcPts val="0"/>
              </a:spcBef>
              <a:buFontTx/>
              <a:buNone/>
            </a:pPr>
            <a:r>
              <a:rPr lang="en-US" altLang="zh-CN" b="1" dirty="0" smtClean="0">
                <a:solidFill>
                  <a:srgbClr val="7030A0"/>
                </a:solidFill>
                <a:ea typeface="SimSun" panose="02010600030101010101" pitchFamily="2" charset="-122"/>
              </a:rPr>
              <a:t>When the pressure on a given mass of liquid is increased from 3.0 </a:t>
            </a:r>
            <a:r>
              <a:rPr lang="en-US" altLang="zh-CN" b="1" dirty="0" err="1" smtClean="0">
                <a:solidFill>
                  <a:srgbClr val="7030A0"/>
                </a:solidFill>
                <a:ea typeface="SimSun" panose="02010600030101010101" pitchFamily="2" charset="-122"/>
              </a:rPr>
              <a:t>MPa</a:t>
            </a:r>
            <a:r>
              <a:rPr lang="en-US" altLang="zh-CN" b="1" dirty="0" smtClean="0">
                <a:solidFill>
                  <a:srgbClr val="7030A0"/>
                </a:solidFill>
                <a:ea typeface="SimSun" panose="02010600030101010101" pitchFamily="2" charset="-122"/>
              </a:rPr>
              <a:t> to 3.5 </a:t>
            </a:r>
            <a:r>
              <a:rPr lang="en-US" altLang="zh-CN" b="1" dirty="0" err="1" smtClean="0">
                <a:solidFill>
                  <a:srgbClr val="7030A0"/>
                </a:solidFill>
                <a:ea typeface="SimSun" panose="02010600030101010101" pitchFamily="2" charset="-122"/>
              </a:rPr>
              <a:t>MPa</a:t>
            </a:r>
            <a:r>
              <a:rPr lang="en-US" altLang="zh-CN" b="1" dirty="0" smtClean="0">
                <a:solidFill>
                  <a:srgbClr val="7030A0"/>
                </a:solidFill>
                <a:ea typeface="SimSun" panose="02010600030101010101" pitchFamily="2" charset="-122"/>
              </a:rPr>
              <a:t>, the density of the liquid increases from 500 kg/m</a:t>
            </a:r>
            <a:r>
              <a:rPr lang="en-US" altLang="zh-CN" b="1" baseline="30000" dirty="0" smtClean="0">
                <a:solidFill>
                  <a:srgbClr val="7030A0"/>
                </a:solidFill>
                <a:ea typeface="SimSun" panose="02010600030101010101" pitchFamily="2" charset="-122"/>
              </a:rPr>
              <a:t>3</a:t>
            </a:r>
            <a:r>
              <a:rPr lang="en-US" altLang="zh-CN" b="1" dirty="0" smtClean="0">
                <a:solidFill>
                  <a:srgbClr val="7030A0"/>
                </a:solidFill>
                <a:ea typeface="SimSun" panose="02010600030101010101" pitchFamily="2" charset="-122"/>
              </a:rPr>
              <a:t> to 501 kg/m</a:t>
            </a:r>
            <a:r>
              <a:rPr lang="en-US" altLang="zh-CN" b="1" baseline="30000" dirty="0" smtClean="0">
                <a:solidFill>
                  <a:srgbClr val="7030A0"/>
                </a:solidFill>
                <a:ea typeface="SimSun" panose="02010600030101010101" pitchFamily="2" charset="-122"/>
              </a:rPr>
              <a:t>3</a:t>
            </a:r>
            <a:r>
              <a:rPr lang="en-US" altLang="zh-CN" b="1" dirty="0" smtClean="0">
                <a:solidFill>
                  <a:srgbClr val="7030A0"/>
                </a:solidFill>
                <a:ea typeface="SimSun" panose="02010600030101010101" pitchFamily="2" charset="-122"/>
              </a:rPr>
              <a:t>. What is the average value of bulk modulus of the liquid over the given pressure range?</a:t>
            </a:r>
            <a:endParaRPr lang="en-US" altLang="zh-CN" b="1" dirty="0" smtClean="0">
              <a:solidFill>
                <a:srgbClr val="7030A0"/>
              </a:solidFill>
              <a:ea typeface="SimSun" panose="02010600030101010101" pitchFamily="2" charset="-122"/>
            </a:endParaRPr>
          </a:p>
          <a:p>
            <a:pPr marL="0" algn="just" eaLnBrk="1" hangingPunct="1">
              <a:spcBef>
                <a:spcPts val="0"/>
              </a:spcBef>
              <a:buFontTx/>
              <a:buNone/>
            </a:pPr>
            <a:endParaRPr lang="en-US" altLang="zh-CN" b="1" dirty="0" smtClean="0">
              <a:solidFill>
                <a:srgbClr val="7030A0"/>
              </a:solidFill>
              <a:ea typeface="SimSun" panose="02010600030101010101" pitchFamily="2" charset="-122"/>
            </a:endParaRPr>
          </a:p>
          <a:p>
            <a:pPr eaLnBrk="1" hangingPunct="1">
              <a:buFontTx/>
              <a:buNone/>
            </a:pPr>
            <a:r>
              <a:rPr lang="en-US" altLang="zh-CN" dirty="0" smtClean="0">
                <a:solidFill>
                  <a:srgbClr val="00B050"/>
                </a:solidFill>
                <a:ea typeface="SimSun" panose="02010600030101010101" pitchFamily="2" charset="-122"/>
              </a:rPr>
              <a:t>(a) 700 </a:t>
            </a:r>
            <a:r>
              <a:rPr lang="en-US" altLang="zh-CN" dirty="0" err="1" smtClean="0">
                <a:solidFill>
                  <a:srgbClr val="00B050"/>
                </a:solidFill>
                <a:ea typeface="SimSun" panose="02010600030101010101" pitchFamily="2" charset="-122"/>
              </a:rPr>
              <a:t>MPa</a:t>
            </a:r>
            <a:r>
              <a:rPr lang="en-US" altLang="zh-CN" dirty="0" smtClean="0">
                <a:solidFill>
                  <a:srgbClr val="00B050"/>
                </a:solidFill>
                <a:ea typeface="SimSun" panose="02010600030101010101" pitchFamily="2" charset="-122"/>
              </a:rPr>
              <a:t>                              </a:t>
            </a:r>
            <a:r>
              <a:rPr lang="en-US" altLang="zh-CN" dirty="0" smtClean="0">
                <a:solidFill>
                  <a:srgbClr val="FF0000"/>
                </a:solidFill>
                <a:ea typeface="SimSun" panose="02010600030101010101" pitchFamily="2" charset="-122"/>
              </a:rPr>
              <a:t>(b) 600MPa</a:t>
            </a:r>
            <a:endParaRPr lang="en-US" altLang="zh-CN" dirty="0" smtClean="0">
              <a:solidFill>
                <a:srgbClr val="FF0000"/>
              </a:solidFill>
              <a:ea typeface="SimSun" panose="02010600030101010101" pitchFamily="2" charset="-122"/>
            </a:endParaRPr>
          </a:p>
          <a:p>
            <a:pPr eaLnBrk="1" hangingPunct="1">
              <a:buFontTx/>
              <a:buNone/>
            </a:pPr>
            <a:r>
              <a:rPr lang="en-US" altLang="zh-CN" dirty="0" smtClean="0">
                <a:solidFill>
                  <a:srgbClr val="00B0F0"/>
                </a:solidFill>
                <a:ea typeface="SimSun" panose="02010600030101010101" pitchFamily="2" charset="-122"/>
              </a:rPr>
              <a:t>(c) 500MPa                               </a:t>
            </a:r>
            <a:r>
              <a:rPr lang="en-US" altLang="zh-CN" dirty="0" smtClean="0">
                <a:solidFill>
                  <a:srgbClr val="FFC000"/>
                </a:solidFill>
                <a:ea typeface="SimSun" panose="02010600030101010101" pitchFamily="2" charset="-122"/>
              </a:rPr>
              <a:t>(d) 250MPa</a:t>
            </a:r>
            <a:endParaRPr lang="en-US" altLang="zh-CN" dirty="0" smtClean="0">
              <a:solidFill>
                <a:srgbClr val="FFC000"/>
              </a:solidFill>
              <a:ea typeface="SimSun" panose="02010600030101010101" pitchFamily="2" charset="-122"/>
            </a:endParaRPr>
          </a:p>
        </p:txBody>
      </p:sp>
      <p:sp>
        <p:nvSpPr>
          <p:cNvPr id="3" name="TextBox 2"/>
          <p:cNvSpPr txBox="1"/>
          <p:nvPr/>
        </p:nvSpPr>
        <p:spPr>
          <a:xfrm>
            <a:off x="228600" y="0"/>
            <a:ext cx="2895600" cy="707886"/>
          </a:xfrm>
          <a:prstGeom prst="rect">
            <a:avLst/>
          </a:prstGeom>
          <a:noFill/>
        </p:spPr>
        <p:txBody>
          <a:bodyPr wrap="square" rtlCol="0">
            <a:spAutoFit/>
          </a:bodyPr>
          <a:lstStyle/>
          <a:p>
            <a:r>
              <a:rPr lang="en-US" sz="4000" dirty="0" smtClean="0">
                <a:solidFill>
                  <a:srgbClr val="FF0000"/>
                </a:solidFill>
              </a:rPr>
              <a:t>Problem # 5</a:t>
            </a:r>
            <a:endParaRPr lang="en-US" sz="4000" dirty="0">
              <a:solidFill>
                <a:srgbClr val="FF0000"/>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2736669" y="-131894"/>
            <a:ext cx="5035731" cy="665294"/>
          </a:xfrm>
          <a:prstGeom prst="rect">
            <a:avLst/>
          </a:prstGeom>
        </p:spPr>
        <p:txBody>
          <a:bodyPr>
            <a:noAutofit/>
          </a:bodyPr>
          <a:lstStyle/>
          <a:p>
            <a:pPr marL="342900" lvl="0" indent="-342900">
              <a:spcBef>
                <a:spcPct val="20000"/>
              </a:spcBef>
            </a:pPr>
            <a:r>
              <a:rPr lang="en-US" sz="4000" b="1" i="1" dirty="0" smtClean="0">
                <a:solidFill>
                  <a:schemeClr val="tx2">
                    <a:lumMod val="75000"/>
                  </a:schemeClr>
                </a:solidFill>
                <a:effectLst>
                  <a:outerShdw blurRad="38100" dist="38100" dir="2700000" algn="tl">
                    <a:srgbClr val="000000">
                      <a:alpha val="43137"/>
                    </a:srgbClr>
                  </a:outerShdw>
                </a:effectLst>
              </a:rPr>
              <a:t>Properties of Fluids</a:t>
            </a:r>
            <a:endParaRPr kumimoji="0" lang="en-US" sz="4000" b="1" i="1" u="none" strike="noStrike" kern="1200" cap="none" spc="0" normalizeH="0" baseline="0" noProof="0" dirty="0" smtClean="0">
              <a:ln>
                <a:noFill/>
              </a:ln>
              <a:solidFill>
                <a:schemeClr val="tx2">
                  <a:lumMod val="75000"/>
                </a:schemeClr>
              </a:solidFill>
              <a:effectLst>
                <a:outerShdw blurRad="38100" dist="38100" dir="2700000" algn="tl">
                  <a:srgbClr val="000000">
                    <a:alpha val="43137"/>
                  </a:srgbClr>
                </a:outerShdw>
              </a:effectLst>
              <a:uLnTx/>
              <a:uFillTx/>
              <a:latin typeface="+mn-lt"/>
              <a:ea typeface="+mn-ea"/>
              <a:cs typeface="+mn-cs"/>
            </a:endParaRPr>
          </a:p>
        </p:txBody>
      </p:sp>
      <p:sp>
        <p:nvSpPr>
          <p:cNvPr id="3" name="Rectangle 2"/>
          <p:cNvSpPr txBox="1">
            <a:spLocks noChangeArrowheads="1"/>
          </p:cNvSpPr>
          <p:nvPr/>
        </p:nvSpPr>
        <p:spPr>
          <a:xfrm>
            <a:off x="0" y="427037"/>
            <a:ext cx="3733800" cy="639763"/>
          </a:xfrm>
          <a:prstGeom prst="rect">
            <a:avLst/>
          </a:prstGeom>
        </p:spPr>
        <p:txBody>
          <a:bodyPr>
            <a:normAutofit lnSpcReduction="10000"/>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sz="3600" b="1" dirty="0" smtClean="0">
                <a:solidFill>
                  <a:srgbClr val="C00000"/>
                </a:solidFill>
                <a:ea typeface="+mj-ea"/>
                <a:cs typeface="+mj-cs"/>
              </a:rPr>
              <a:t> 8. Surface Tension</a:t>
            </a:r>
            <a:endParaRPr kumimoji="0" lang="en-US" sz="3600" b="1" i="0" u="none" strike="noStrike" kern="1200" cap="none" spc="0" normalizeH="0" baseline="0" noProof="0" dirty="0">
              <a:ln>
                <a:noFill/>
              </a:ln>
              <a:solidFill>
                <a:srgbClr val="C00000"/>
              </a:solidFill>
              <a:effectLst/>
              <a:uLnTx/>
              <a:uFillTx/>
              <a:latin typeface="+mn-lt"/>
              <a:ea typeface="+mj-ea"/>
              <a:cs typeface="+mj-cs"/>
            </a:endParaRPr>
          </a:p>
        </p:txBody>
      </p:sp>
      <p:pic>
        <p:nvPicPr>
          <p:cNvPr id="4" name="Picture 3" descr="24.jpg"/>
          <p:cNvPicPr>
            <a:picLocks noChangeAspect="1"/>
          </p:cNvPicPr>
          <p:nvPr/>
        </p:nvPicPr>
        <p:blipFill>
          <a:blip r:embed="rId1"/>
          <a:stretch>
            <a:fillRect/>
          </a:stretch>
        </p:blipFill>
        <p:spPr>
          <a:xfrm>
            <a:off x="380999" y="1219200"/>
            <a:ext cx="3627841" cy="2057400"/>
          </a:xfrm>
          <a:prstGeom prst="rect">
            <a:avLst/>
          </a:prstGeom>
        </p:spPr>
      </p:pic>
      <p:pic>
        <p:nvPicPr>
          <p:cNvPr id="5" name="Picture 4" descr="25.jpg"/>
          <p:cNvPicPr>
            <a:picLocks noChangeAspect="1"/>
          </p:cNvPicPr>
          <p:nvPr/>
        </p:nvPicPr>
        <p:blipFill>
          <a:blip r:embed="rId2"/>
          <a:stretch>
            <a:fillRect/>
          </a:stretch>
        </p:blipFill>
        <p:spPr>
          <a:xfrm>
            <a:off x="5562600" y="1219200"/>
            <a:ext cx="3124200" cy="2079013"/>
          </a:xfrm>
          <a:prstGeom prst="rect">
            <a:avLst/>
          </a:prstGeom>
        </p:spPr>
      </p:pic>
      <p:pic>
        <p:nvPicPr>
          <p:cNvPr id="6" name="Picture 5" descr="26.jpg"/>
          <p:cNvPicPr>
            <a:picLocks noChangeAspect="1"/>
          </p:cNvPicPr>
          <p:nvPr/>
        </p:nvPicPr>
        <p:blipFill>
          <a:blip r:embed="rId3"/>
          <a:stretch>
            <a:fillRect/>
          </a:stretch>
        </p:blipFill>
        <p:spPr>
          <a:xfrm>
            <a:off x="381000" y="4114801"/>
            <a:ext cx="3581400" cy="1981200"/>
          </a:xfrm>
          <a:prstGeom prst="rect">
            <a:avLst/>
          </a:prstGeom>
        </p:spPr>
      </p:pic>
      <p:pic>
        <p:nvPicPr>
          <p:cNvPr id="7" name="Picture 6" descr="27.jpg"/>
          <p:cNvPicPr>
            <a:picLocks noChangeAspect="1"/>
          </p:cNvPicPr>
          <p:nvPr/>
        </p:nvPicPr>
        <p:blipFill>
          <a:blip r:embed="rId4"/>
          <a:stretch>
            <a:fillRect/>
          </a:stretch>
        </p:blipFill>
        <p:spPr>
          <a:xfrm>
            <a:off x="5562600" y="4114801"/>
            <a:ext cx="3048000" cy="1981199"/>
          </a:xfrm>
          <a:prstGeom prst="rect">
            <a:avLst/>
          </a:prstGeom>
        </p:spPr>
      </p:pic>
      <p:sp>
        <p:nvSpPr>
          <p:cNvPr id="8" name="TextBox 7"/>
          <p:cNvSpPr txBox="1"/>
          <p:nvPr/>
        </p:nvSpPr>
        <p:spPr>
          <a:xfrm>
            <a:off x="1181100" y="3352801"/>
            <a:ext cx="2286000" cy="430887"/>
          </a:xfrm>
          <a:prstGeom prst="rect">
            <a:avLst/>
          </a:prstGeom>
          <a:solidFill>
            <a:srgbClr val="FFFF00"/>
          </a:solidFill>
        </p:spPr>
        <p:txBody>
          <a:bodyPr wrap="square" rtlCol="0">
            <a:spAutoFit/>
          </a:bodyPr>
          <a:lstStyle/>
          <a:p>
            <a:r>
              <a:rPr lang="en-US" sz="2200" b="1" dirty="0" smtClean="0"/>
              <a:t>Walking on Water</a:t>
            </a:r>
            <a:endParaRPr lang="en-US" sz="2200" b="1" dirty="0"/>
          </a:p>
        </p:txBody>
      </p:sp>
      <p:sp>
        <p:nvSpPr>
          <p:cNvPr id="9" name="TextBox 8"/>
          <p:cNvSpPr txBox="1"/>
          <p:nvPr/>
        </p:nvSpPr>
        <p:spPr>
          <a:xfrm>
            <a:off x="5562600" y="6274713"/>
            <a:ext cx="3048000" cy="430887"/>
          </a:xfrm>
          <a:prstGeom prst="rect">
            <a:avLst/>
          </a:prstGeom>
          <a:solidFill>
            <a:srgbClr val="FFFF00"/>
          </a:solidFill>
        </p:spPr>
        <p:txBody>
          <a:bodyPr wrap="square" rtlCol="0">
            <a:spAutoFit/>
          </a:bodyPr>
          <a:lstStyle/>
          <a:p>
            <a:r>
              <a:rPr lang="en-US" sz="2200" b="1" dirty="0" smtClean="0"/>
              <a:t>Spherical Water Bubbles</a:t>
            </a:r>
            <a:endParaRPr lang="en-US" sz="2200" b="1" dirty="0"/>
          </a:p>
        </p:txBody>
      </p:sp>
      <p:sp>
        <p:nvSpPr>
          <p:cNvPr id="10" name="TextBox 9"/>
          <p:cNvSpPr txBox="1"/>
          <p:nvPr/>
        </p:nvSpPr>
        <p:spPr>
          <a:xfrm>
            <a:off x="1028700" y="6274713"/>
            <a:ext cx="2590800" cy="430887"/>
          </a:xfrm>
          <a:prstGeom prst="rect">
            <a:avLst/>
          </a:prstGeom>
          <a:solidFill>
            <a:srgbClr val="FFFF00"/>
          </a:solidFill>
        </p:spPr>
        <p:txBody>
          <a:bodyPr wrap="square" rtlCol="0">
            <a:spAutoFit/>
          </a:bodyPr>
          <a:lstStyle/>
          <a:p>
            <a:r>
              <a:rPr lang="en-US" sz="2200" b="1" dirty="0" smtClean="0"/>
              <a:t>Washing of Clothes</a:t>
            </a:r>
            <a:endParaRPr lang="en-US" sz="2200" b="1" dirty="0"/>
          </a:p>
        </p:txBody>
      </p:sp>
      <p:sp>
        <p:nvSpPr>
          <p:cNvPr id="11" name="TextBox 10"/>
          <p:cNvSpPr txBox="1"/>
          <p:nvPr/>
        </p:nvSpPr>
        <p:spPr>
          <a:xfrm>
            <a:off x="5943600" y="3352801"/>
            <a:ext cx="2286000" cy="430887"/>
          </a:xfrm>
          <a:prstGeom prst="rect">
            <a:avLst/>
          </a:prstGeom>
          <a:solidFill>
            <a:srgbClr val="FFFF00"/>
          </a:solidFill>
        </p:spPr>
        <p:txBody>
          <a:bodyPr wrap="square" rtlCol="0">
            <a:spAutoFit/>
          </a:bodyPr>
          <a:lstStyle/>
          <a:p>
            <a:r>
              <a:rPr lang="en-US" sz="2200" b="1" dirty="0" smtClean="0"/>
              <a:t>Floating a Needle</a:t>
            </a:r>
            <a:endParaRPr lang="en-US" sz="2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linds(horizont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linds(horizontal)">
                                      <p:cBhvr>
                                        <p:cTn id="23" dur="500"/>
                                        <p:tgtEl>
                                          <p:spTgt spid="6"/>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linds(horizontal)">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blinds(horizontal)">
                                      <p:cBhvr>
                                        <p:cTn id="31" dur="500"/>
                                        <p:tgtEl>
                                          <p:spTgt spid="7"/>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linds(horizontal)">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2590800" y="0"/>
            <a:ext cx="4038600" cy="639763"/>
          </a:xfrm>
          <a:prstGeom prst="rect">
            <a:avLst/>
          </a:prstGeom>
        </p:spPr>
        <p:txBody>
          <a:bodyPr>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sz="4400" b="1" dirty="0" smtClean="0">
                <a:solidFill>
                  <a:srgbClr val="C00000"/>
                </a:solidFill>
                <a:ea typeface="+mj-ea"/>
                <a:cs typeface="+mj-cs"/>
              </a:rPr>
              <a:t> Surface Tension</a:t>
            </a:r>
            <a:endParaRPr kumimoji="0" lang="en-US" sz="4400" b="1" i="0" u="none" strike="noStrike" kern="1200" cap="none" spc="0" normalizeH="0" baseline="0" noProof="0" dirty="0">
              <a:ln>
                <a:noFill/>
              </a:ln>
              <a:solidFill>
                <a:srgbClr val="C00000"/>
              </a:solidFill>
              <a:effectLst/>
              <a:uLnTx/>
              <a:uFillTx/>
              <a:latin typeface="+mn-lt"/>
              <a:ea typeface="+mj-ea"/>
              <a:cs typeface="+mj-cs"/>
            </a:endParaRPr>
          </a:p>
        </p:txBody>
      </p:sp>
      <p:sp>
        <p:nvSpPr>
          <p:cNvPr id="4" name="TextBox 3"/>
          <p:cNvSpPr txBox="1"/>
          <p:nvPr/>
        </p:nvSpPr>
        <p:spPr>
          <a:xfrm>
            <a:off x="152400" y="5707559"/>
            <a:ext cx="8763000" cy="769441"/>
          </a:xfrm>
          <a:prstGeom prst="rect">
            <a:avLst/>
          </a:prstGeom>
          <a:solidFill>
            <a:srgbClr val="FFFF00"/>
          </a:solidFill>
        </p:spPr>
        <p:txBody>
          <a:bodyPr wrap="square" rtlCol="0">
            <a:spAutoFit/>
          </a:bodyPr>
          <a:lstStyle/>
          <a:p>
            <a:pPr algn="just"/>
            <a:r>
              <a:rPr lang="en-US" sz="2200" b="1" dirty="0" smtClean="0">
                <a:solidFill>
                  <a:srgbClr val="002060"/>
                </a:solidFill>
              </a:rPr>
              <a:t>Surface tension is measured as the energy required to increase the surface area of a liquid by a unit of area. </a:t>
            </a:r>
            <a:endParaRPr lang="en-US" sz="2200" b="1" dirty="0">
              <a:solidFill>
                <a:srgbClr val="002060"/>
              </a:solidFill>
            </a:endParaRPr>
          </a:p>
        </p:txBody>
      </p:sp>
      <p:sp>
        <p:nvSpPr>
          <p:cNvPr id="5" name="Rectangle 4"/>
          <p:cNvSpPr/>
          <p:nvPr/>
        </p:nvSpPr>
        <p:spPr>
          <a:xfrm>
            <a:off x="152400" y="4488359"/>
            <a:ext cx="8763000" cy="769441"/>
          </a:xfrm>
          <a:prstGeom prst="rect">
            <a:avLst/>
          </a:prstGeom>
          <a:solidFill>
            <a:schemeClr val="tx2">
              <a:lumMod val="20000"/>
              <a:lumOff val="80000"/>
            </a:schemeClr>
          </a:solidFill>
        </p:spPr>
        <p:txBody>
          <a:bodyPr wrap="square">
            <a:spAutoFit/>
          </a:bodyPr>
          <a:lstStyle/>
          <a:p>
            <a:pPr algn="just"/>
            <a:r>
              <a:rPr lang="en-US" sz="2200" b="1" dirty="0" smtClean="0"/>
              <a:t>The surface tension of a liquid results from an imbalance of intermolecular attractive forces, the </a:t>
            </a:r>
            <a:r>
              <a:rPr lang="en-US" sz="2200" b="1" i="1" dirty="0" smtClean="0">
                <a:solidFill>
                  <a:srgbClr val="FF0000"/>
                </a:solidFill>
              </a:rPr>
              <a:t>cohesive forces</a:t>
            </a:r>
            <a:r>
              <a:rPr lang="en-US" sz="2200" b="1" dirty="0" smtClean="0">
                <a:solidFill>
                  <a:srgbClr val="FF0000"/>
                </a:solidFill>
              </a:rPr>
              <a:t> </a:t>
            </a:r>
            <a:r>
              <a:rPr lang="en-US" sz="2200" b="1" dirty="0" smtClean="0"/>
              <a:t>between molecules.</a:t>
            </a:r>
            <a:endParaRPr lang="en-US" sz="2200" b="1" dirty="0"/>
          </a:p>
        </p:txBody>
      </p:sp>
      <p:sp>
        <p:nvSpPr>
          <p:cNvPr id="6" name="Rectangle 5"/>
          <p:cNvSpPr/>
          <p:nvPr/>
        </p:nvSpPr>
        <p:spPr>
          <a:xfrm>
            <a:off x="152400" y="3200400"/>
            <a:ext cx="3581400" cy="923330"/>
          </a:xfrm>
          <a:prstGeom prst="rect">
            <a:avLst/>
          </a:prstGeom>
          <a:solidFill>
            <a:srgbClr val="FFFF00"/>
          </a:solidFill>
        </p:spPr>
        <p:txBody>
          <a:bodyPr wrap="square">
            <a:spAutoFit/>
          </a:bodyPr>
          <a:lstStyle/>
          <a:p>
            <a:pPr algn="just"/>
            <a:r>
              <a:rPr lang="en-US" b="1" dirty="0" smtClean="0"/>
              <a:t>A molecule in the bulk liquid experiences cohesive forces with other molecules in all directions.</a:t>
            </a:r>
            <a:endParaRPr lang="en-US" b="1" dirty="0" smtClean="0"/>
          </a:p>
        </p:txBody>
      </p:sp>
      <p:pic>
        <p:nvPicPr>
          <p:cNvPr id="15" name="Picture 14" descr="19.jpg"/>
          <p:cNvPicPr>
            <a:picLocks noChangeAspect="1"/>
          </p:cNvPicPr>
          <p:nvPr/>
        </p:nvPicPr>
        <p:blipFill>
          <a:blip r:embed="rId1"/>
          <a:stretch>
            <a:fillRect/>
          </a:stretch>
        </p:blipFill>
        <p:spPr>
          <a:xfrm>
            <a:off x="3581400" y="762000"/>
            <a:ext cx="5286375" cy="2228850"/>
          </a:xfrm>
          <a:prstGeom prst="rect">
            <a:avLst/>
          </a:prstGeom>
        </p:spPr>
      </p:pic>
      <p:sp>
        <p:nvSpPr>
          <p:cNvPr id="16" name="Rectangle 15"/>
          <p:cNvSpPr/>
          <p:nvPr/>
        </p:nvSpPr>
        <p:spPr>
          <a:xfrm>
            <a:off x="4191000" y="3276600"/>
            <a:ext cx="4572000" cy="646331"/>
          </a:xfrm>
          <a:prstGeom prst="rect">
            <a:avLst/>
          </a:prstGeom>
          <a:solidFill>
            <a:srgbClr val="00B0F0"/>
          </a:solidFill>
        </p:spPr>
        <p:txBody>
          <a:bodyPr>
            <a:spAutoFit/>
          </a:bodyPr>
          <a:lstStyle/>
          <a:p>
            <a:pPr algn="just"/>
            <a:r>
              <a:rPr lang="en-US" b="1" dirty="0" smtClean="0"/>
              <a:t>A molecule at the surface of a liquid experiences only net inward cohesive forces.</a:t>
            </a:r>
            <a:endParaRPr lang="en-US" b="1" dirty="0"/>
          </a:p>
        </p:txBody>
      </p:sp>
      <p:pic>
        <p:nvPicPr>
          <p:cNvPr id="17" name="Picture 16" descr="23.jpg"/>
          <p:cNvPicPr>
            <a:picLocks noChangeAspect="1"/>
          </p:cNvPicPr>
          <p:nvPr/>
        </p:nvPicPr>
        <p:blipFill>
          <a:blip r:embed="rId2"/>
          <a:stretch>
            <a:fillRect/>
          </a:stretch>
        </p:blipFill>
        <p:spPr>
          <a:xfrm>
            <a:off x="685800" y="835532"/>
            <a:ext cx="2311400" cy="20918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par>
                                <p:cTn id="8" presetID="3" presetClass="entr" presetSubtype="1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linds(horizontal)">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linds(horizontal)">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895600" y="-30163"/>
            <a:ext cx="4038600" cy="639763"/>
          </a:xfrm>
          <a:prstGeom prst="rect">
            <a:avLst/>
          </a:prstGeom>
        </p:spPr>
        <p:txBody>
          <a:bodyPr>
            <a:normAutofit fontScale="77500" lnSpcReduction="20000"/>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sz="3600" b="1" dirty="0" smtClean="0">
                <a:solidFill>
                  <a:srgbClr val="C00000"/>
                </a:solidFill>
                <a:ea typeface="+mj-ea"/>
                <a:cs typeface="+mj-cs"/>
              </a:rPr>
              <a:t> </a:t>
            </a:r>
            <a:r>
              <a:rPr lang="en-US" sz="5700" b="1" dirty="0" smtClean="0">
                <a:solidFill>
                  <a:srgbClr val="C00000"/>
                </a:solidFill>
                <a:ea typeface="+mj-ea"/>
                <a:cs typeface="+mj-cs"/>
              </a:rPr>
              <a:t>Surface Tension</a:t>
            </a:r>
            <a:endParaRPr kumimoji="0" lang="en-US" sz="5700" b="1" i="0" u="none" strike="noStrike" kern="1200" cap="none" spc="0" normalizeH="0" baseline="0" noProof="0" dirty="0">
              <a:ln>
                <a:noFill/>
              </a:ln>
              <a:solidFill>
                <a:srgbClr val="C00000"/>
              </a:solidFill>
              <a:effectLst/>
              <a:uLnTx/>
              <a:uFillTx/>
              <a:latin typeface="+mn-lt"/>
              <a:ea typeface="+mj-ea"/>
              <a:cs typeface="+mj-cs"/>
            </a:endParaRPr>
          </a:p>
        </p:txBody>
      </p:sp>
      <p:sp>
        <p:nvSpPr>
          <p:cNvPr id="4" name="Rectangle 3"/>
          <p:cNvSpPr/>
          <p:nvPr/>
        </p:nvSpPr>
        <p:spPr>
          <a:xfrm>
            <a:off x="228600" y="609600"/>
            <a:ext cx="8686800" cy="2462213"/>
          </a:xfrm>
          <a:prstGeom prst="rect">
            <a:avLst/>
          </a:prstGeom>
        </p:spPr>
        <p:txBody>
          <a:bodyPr wrap="square">
            <a:spAutoFit/>
          </a:bodyPr>
          <a:lstStyle/>
          <a:p>
            <a:pPr algn="just"/>
            <a:r>
              <a:rPr lang="en-US" sz="2200" b="1" dirty="0" smtClean="0">
                <a:solidFill>
                  <a:srgbClr val="002060"/>
                </a:solidFill>
              </a:rPr>
              <a:t>If an imaginary line is drawn on the surface, the liquid molecules on both sides will pull the linear element in both the directions and this line will be subjected to a state of tensile force. </a:t>
            </a:r>
            <a:endParaRPr lang="en-US" sz="2200" b="1" dirty="0" smtClean="0">
              <a:solidFill>
                <a:srgbClr val="002060"/>
              </a:solidFill>
            </a:endParaRPr>
          </a:p>
          <a:p>
            <a:pPr algn="just"/>
            <a:endParaRPr lang="en-US" sz="2200" b="1" dirty="0" smtClean="0"/>
          </a:p>
          <a:p>
            <a:pPr algn="just"/>
            <a:r>
              <a:rPr lang="en-US" sz="2200" b="1" dirty="0" smtClean="0">
                <a:solidFill>
                  <a:srgbClr val="C00000"/>
                </a:solidFill>
              </a:rPr>
              <a:t>The magnitude of surface tension is defined as the tensile force acting across such short and straight elemental line divided by the length of the line.</a:t>
            </a:r>
            <a:endParaRPr lang="en-US" sz="2200" b="1" dirty="0">
              <a:solidFill>
                <a:srgbClr val="C00000"/>
              </a:solidFill>
            </a:endParaRPr>
          </a:p>
        </p:txBody>
      </p:sp>
      <p:sp>
        <p:nvSpPr>
          <p:cNvPr id="5" name="Rectangle 4"/>
          <p:cNvSpPr/>
          <p:nvPr/>
        </p:nvSpPr>
        <p:spPr>
          <a:xfrm>
            <a:off x="228600" y="3540204"/>
            <a:ext cx="3429000" cy="769441"/>
          </a:xfrm>
          <a:prstGeom prst="rect">
            <a:avLst/>
          </a:prstGeom>
          <a:solidFill>
            <a:srgbClr val="FFFF00"/>
          </a:solidFill>
        </p:spPr>
        <p:txBody>
          <a:bodyPr wrap="square">
            <a:spAutoFit/>
          </a:bodyPr>
          <a:lstStyle/>
          <a:p>
            <a:pPr algn="ctr"/>
            <a:r>
              <a:rPr lang="en-US" sz="2200" b="1" dirty="0" smtClean="0"/>
              <a:t>The dimensional formula is:</a:t>
            </a:r>
            <a:endParaRPr lang="en-US" sz="2200" b="1" dirty="0" smtClean="0"/>
          </a:p>
          <a:p>
            <a:pPr algn="ctr"/>
            <a:r>
              <a:rPr lang="en-US" sz="2200" b="1" dirty="0" smtClean="0"/>
              <a:t> F/L or MT</a:t>
            </a:r>
            <a:r>
              <a:rPr lang="en-US" sz="2200" b="1" baseline="30000" dirty="0" smtClean="0"/>
              <a:t>-2</a:t>
            </a:r>
            <a:r>
              <a:rPr lang="en-US" sz="2200" b="1" dirty="0" smtClean="0"/>
              <a:t> (Unit: N/m)</a:t>
            </a:r>
            <a:endParaRPr lang="en-US" sz="2200" b="1" dirty="0"/>
          </a:p>
        </p:txBody>
      </p:sp>
      <p:sp>
        <p:nvSpPr>
          <p:cNvPr id="6" name="Rectangle 5"/>
          <p:cNvSpPr/>
          <p:nvPr/>
        </p:nvSpPr>
        <p:spPr>
          <a:xfrm>
            <a:off x="4191000" y="3387804"/>
            <a:ext cx="4724400" cy="1107996"/>
          </a:xfrm>
          <a:prstGeom prst="rect">
            <a:avLst/>
          </a:prstGeom>
          <a:solidFill>
            <a:srgbClr val="00B0F0"/>
          </a:solidFill>
        </p:spPr>
        <p:txBody>
          <a:bodyPr wrap="square">
            <a:spAutoFit/>
          </a:bodyPr>
          <a:lstStyle/>
          <a:p>
            <a:pPr algn="just"/>
            <a:r>
              <a:rPr lang="en-US" sz="2200" b="1" dirty="0" smtClean="0"/>
              <a:t>Surface tension decreases slightly with increase in temperature. Surface tension of water at 20 </a:t>
            </a:r>
            <a:r>
              <a:rPr lang="en-US" sz="2200" b="1" baseline="30000" dirty="0" smtClean="0"/>
              <a:t>0</a:t>
            </a:r>
            <a:r>
              <a:rPr lang="en-US" sz="2200" b="1" dirty="0" smtClean="0"/>
              <a:t>C is 0.073 N/m.</a:t>
            </a:r>
            <a:endParaRPr lang="en-US" sz="2200" b="1" dirty="0"/>
          </a:p>
        </p:txBody>
      </p:sp>
      <p:sp>
        <p:nvSpPr>
          <p:cNvPr id="7" name="Rectangle 6"/>
          <p:cNvSpPr/>
          <p:nvPr/>
        </p:nvSpPr>
        <p:spPr>
          <a:xfrm>
            <a:off x="304800" y="4988004"/>
            <a:ext cx="8534400" cy="1106805"/>
          </a:xfrm>
          <a:prstGeom prst="rect">
            <a:avLst/>
          </a:prstGeom>
          <a:solidFill>
            <a:schemeClr val="accent4">
              <a:lumMod val="20000"/>
              <a:lumOff val="80000"/>
            </a:schemeClr>
          </a:solidFill>
        </p:spPr>
        <p:txBody>
          <a:bodyPr wrap="square">
            <a:spAutoFit/>
          </a:bodyPr>
          <a:lstStyle/>
          <a:p>
            <a:pPr algn="just"/>
            <a:r>
              <a:rPr lang="en-US" sz="2200" b="1" dirty="0" smtClean="0">
                <a:solidFill>
                  <a:srgbClr val="002060"/>
                </a:solidFill>
              </a:rPr>
              <a:t>It is due to surface tension</a:t>
            </a:r>
            <a:r>
              <a:rPr lang="en-IN" altLang="en-US" sz="2200" b="1" dirty="0" smtClean="0">
                <a:solidFill>
                  <a:srgbClr val="002060"/>
                </a:solidFill>
              </a:rPr>
              <a:t>,</a:t>
            </a:r>
            <a:r>
              <a:rPr lang="en-US" sz="2200" b="1" dirty="0" smtClean="0">
                <a:solidFill>
                  <a:srgbClr val="002060"/>
                </a:solidFill>
              </a:rPr>
              <a:t> that a liquid interface </a:t>
            </a:r>
            <a:r>
              <a:rPr lang="en-IN" altLang="en-US" sz="2200" b="1" dirty="0" smtClean="0">
                <a:solidFill>
                  <a:srgbClr val="002060"/>
                </a:solidFill>
              </a:rPr>
              <a:t>curved and </a:t>
            </a:r>
            <a:r>
              <a:rPr lang="en-US" sz="2200" b="1" dirty="0" smtClean="0">
                <a:solidFill>
                  <a:srgbClr val="002060"/>
                </a:solidFill>
              </a:rPr>
              <a:t> in equilibrium results in a greater pressure at the concave side of the surface than at its convex side.</a:t>
            </a:r>
            <a:endParaRPr lang="en-US" sz="2200" b="1"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895600" y="-30163"/>
            <a:ext cx="4038600" cy="639763"/>
          </a:xfrm>
          <a:prstGeom prst="rect">
            <a:avLst/>
          </a:prstGeom>
        </p:spPr>
        <p:txBody>
          <a:bodyPr>
            <a:normAutofit fontScale="77500" lnSpcReduction="20000"/>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sz="3600" b="1" dirty="0" smtClean="0">
                <a:solidFill>
                  <a:srgbClr val="C00000"/>
                </a:solidFill>
                <a:ea typeface="+mj-ea"/>
                <a:cs typeface="+mj-cs"/>
              </a:rPr>
              <a:t> </a:t>
            </a:r>
            <a:r>
              <a:rPr lang="en-US" sz="5700" b="1" dirty="0" smtClean="0">
                <a:solidFill>
                  <a:srgbClr val="C00000"/>
                </a:solidFill>
                <a:ea typeface="+mj-ea"/>
                <a:cs typeface="+mj-cs"/>
              </a:rPr>
              <a:t>Surface Tension</a:t>
            </a:r>
            <a:endParaRPr kumimoji="0" lang="en-US" sz="5700" b="1" i="0" u="none" strike="noStrike" kern="1200" cap="none" spc="0" normalizeH="0" baseline="0" noProof="0" dirty="0">
              <a:ln>
                <a:noFill/>
              </a:ln>
              <a:solidFill>
                <a:srgbClr val="C00000"/>
              </a:solidFill>
              <a:effectLst/>
              <a:uLnTx/>
              <a:uFillTx/>
              <a:latin typeface="+mn-lt"/>
              <a:ea typeface="+mj-ea"/>
              <a:cs typeface="+mj-cs"/>
            </a:endParaRPr>
          </a:p>
        </p:txBody>
      </p:sp>
      <p:graphicFrame>
        <p:nvGraphicFramePr>
          <p:cNvPr id="78850" name="Object 2"/>
          <p:cNvGraphicFramePr>
            <a:graphicFrameLocks noChangeAspect="1"/>
          </p:cNvGraphicFramePr>
          <p:nvPr/>
        </p:nvGraphicFramePr>
        <p:xfrm>
          <a:off x="3657600" y="3505200"/>
          <a:ext cx="1219200" cy="820070"/>
        </p:xfrm>
        <a:graphic>
          <a:graphicData uri="http://schemas.openxmlformats.org/presentationml/2006/ole">
            <mc:AlternateContent xmlns:mc="http://schemas.openxmlformats.org/markup-compatibility/2006">
              <mc:Choice xmlns:v="urn:schemas-microsoft-com:vml" Requires="v">
                <p:oleObj spid="_x0000_s78877" name="Equation" r:id="rId1" imgW="584200" imgH="393700" progId="Equation.DSMT4">
                  <p:embed/>
                </p:oleObj>
              </mc:Choice>
              <mc:Fallback>
                <p:oleObj name="Equation" r:id="rId1" imgW="584200" imgH="393700" progId="Equation.DSMT4">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3505200"/>
                        <a:ext cx="1219200" cy="820070"/>
                      </a:xfrm>
                      <a:prstGeom prst="rect">
                        <a:avLst/>
                      </a:prstGeom>
                      <a:solidFill>
                        <a:srgbClr val="00FF00"/>
                      </a:solidFill>
                    </p:spPr>
                  </p:pic>
                </p:oleObj>
              </mc:Fallback>
            </mc:AlternateContent>
          </a:graphicData>
        </a:graphic>
      </p:graphicFrame>
      <p:sp>
        <p:nvSpPr>
          <p:cNvPr id="5" name="Rectangle 4"/>
          <p:cNvSpPr/>
          <p:nvPr/>
        </p:nvSpPr>
        <p:spPr>
          <a:xfrm>
            <a:off x="762000" y="990600"/>
            <a:ext cx="3364447" cy="430887"/>
          </a:xfrm>
          <a:prstGeom prst="rect">
            <a:avLst/>
          </a:prstGeom>
        </p:spPr>
        <p:txBody>
          <a:bodyPr wrap="none">
            <a:spAutoFit/>
          </a:bodyPr>
          <a:lstStyle/>
          <a:p>
            <a:r>
              <a:rPr lang="en-US" sz="2200" b="1" dirty="0" smtClean="0">
                <a:solidFill>
                  <a:srgbClr val="7030A0"/>
                </a:solidFill>
              </a:rPr>
              <a:t>For a spherical liquid drop: </a:t>
            </a:r>
            <a:endParaRPr lang="en-US" sz="2200" b="1" dirty="0">
              <a:solidFill>
                <a:srgbClr val="7030A0"/>
              </a:solidFill>
            </a:endParaRPr>
          </a:p>
        </p:txBody>
      </p:sp>
      <p:graphicFrame>
        <p:nvGraphicFramePr>
          <p:cNvPr id="78851" name="Object 3"/>
          <p:cNvGraphicFramePr>
            <a:graphicFrameLocks noChangeAspect="1"/>
          </p:cNvGraphicFramePr>
          <p:nvPr/>
        </p:nvGraphicFramePr>
        <p:xfrm>
          <a:off x="4126960" y="838200"/>
          <a:ext cx="1130840" cy="762000"/>
        </p:xfrm>
        <a:graphic>
          <a:graphicData uri="http://schemas.openxmlformats.org/presentationml/2006/ole">
            <mc:AlternateContent xmlns:mc="http://schemas.openxmlformats.org/markup-compatibility/2006">
              <mc:Choice xmlns:v="urn:schemas-microsoft-com:vml" Requires="v">
                <p:oleObj spid="_x0000_s78878" name="Equation" r:id="rId3" imgW="584200" imgH="393700" progId="Equation.DSMT4">
                  <p:embed/>
                </p:oleObj>
              </mc:Choice>
              <mc:Fallback>
                <p:oleObj name="Equation" r:id="rId3" imgW="584200" imgH="3937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6960" y="838200"/>
                        <a:ext cx="1130840" cy="762000"/>
                      </a:xfrm>
                      <a:prstGeom prst="rect">
                        <a:avLst/>
                      </a:prstGeom>
                      <a:solidFill>
                        <a:srgbClr val="00FF00"/>
                      </a:solidFill>
                    </p:spPr>
                  </p:pic>
                </p:oleObj>
              </mc:Fallback>
            </mc:AlternateContent>
          </a:graphicData>
        </a:graphic>
      </p:graphicFrame>
      <p:sp>
        <p:nvSpPr>
          <p:cNvPr id="7" name="Rectangle 6"/>
          <p:cNvSpPr/>
          <p:nvPr/>
        </p:nvSpPr>
        <p:spPr>
          <a:xfrm>
            <a:off x="838200" y="2209800"/>
            <a:ext cx="3055003" cy="430887"/>
          </a:xfrm>
          <a:prstGeom prst="rect">
            <a:avLst/>
          </a:prstGeom>
        </p:spPr>
        <p:txBody>
          <a:bodyPr wrap="none">
            <a:spAutoFit/>
          </a:bodyPr>
          <a:lstStyle/>
          <a:p>
            <a:r>
              <a:rPr lang="en-US" sz="2200" b="1" dirty="0" smtClean="0">
                <a:solidFill>
                  <a:srgbClr val="00B050"/>
                </a:solidFill>
              </a:rPr>
              <a:t>For cylindrical liquid jet: </a:t>
            </a:r>
            <a:endParaRPr lang="en-US" sz="2200" b="1" dirty="0">
              <a:solidFill>
                <a:srgbClr val="00B050"/>
              </a:solidFill>
            </a:endParaRPr>
          </a:p>
        </p:txBody>
      </p:sp>
      <p:graphicFrame>
        <p:nvGraphicFramePr>
          <p:cNvPr id="78852" name="Object 4"/>
          <p:cNvGraphicFramePr>
            <a:graphicFrameLocks noChangeAspect="1"/>
          </p:cNvGraphicFramePr>
          <p:nvPr/>
        </p:nvGraphicFramePr>
        <p:xfrm>
          <a:off x="3832091" y="2009482"/>
          <a:ext cx="1044709" cy="809918"/>
        </p:xfrm>
        <a:graphic>
          <a:graphicData uri="http://schemas.openxmlformats.org/presentationml/2006/ole">
            <mc:AlternateContent xmlns:mc="http://schemas.openxmlformats.org/markup-compatibility/2006">
              <mc:Choice xmlns:v="urn:schemas-microsoft-com:vml" Requires="v">
                <p:oleObj spid="_x0000_s78879" name="Equation" r:id="rId5" imgW="508000" imgH="393700" progId="Equation.DSMT4">
                  <p:embed/>
                </p:oleObj>
              </mc:Choice>
              <mc:Fallback>
                <p:oleObj name="Equation" r:id="rId5" imgW="508000" imgH="39370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2091" y="2009482"/>
                        <a:ext cx="1044709" cy="809918"/>
                      </a:xfrm>
                      <a:prstGeom prst="rect">
                        <a:avLst/>
                      </a:prstGeom>
                      <a:solidFill>
                        <a:srgbClr val="00FF00"/>
                      </a:solidFill>
                    </p:spPr>
                  </p:pic>
                </p:oleObj>
              </mc:Fallback>
            </mc:AlternateContent>
          </a:graphicData>
        </a:graphic>
      </p:graphicFrame>
      <p:sp>
        <p:nvSpPr>
          <p:cNvPr id="9" name="Rectangle 8"/>
          <p:cNvSpPr/>
          <p:nvPr/>
        </p:nvSpPr>
        <p:spPr>
          <a:xfrm>
            <a:off x="838200" y="3657600"/>
            <a:ext cx="2904641" cy="430887"/>
          </a:xfrm>
          <a:prstGeom prst="rect">
            <a:avLst/>
          </a:prstGeom>
        </p:spPr>
        <p:txBody>
          <a:bodyPr wrap="none">
            <a:spAutoFit/>
          </a:bodyPr>
          <a:lstStyle/>
          <a:p>
            <a:r>
              <a:rPr lang="en-US" sz="2200" b="1" dirty="0" smtClean="0">
                <a:solidFill>
                  <a:srgbClr val="00B0F0"/>
                </a:solidFill>
              </a:rPr>
              <a:t>For a spherical bubble: </a:t>
            </a:r>
            <a:endParaRPr lang="en-US" sz="2200" b="1" dirty="0">
              <a:solidFill>
                <a:srgbClr val="00B0F0"/>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0"/>
            <a:ext cx="2895600" cy="707886"/>
          </a:xfrm>
          <a:prstGeom prst="rect">
            <a:avLst/>
          </a:prstGeom>
          <a:noFill/>
        </p:spPr>
        <p:txBody>
          <a:bodyPr wrap="square" rtlCol="0">
            <a:spAutoFit/>
          </a:bodyPr>
          <a:lstStyle/>
          <a:p>
            <a:r>
              <a:rPr lang="en-US" sz="4000" dirty="0" smtClean="0">
                <a:solidFill>
                  <a:srgbClr val="FF0000"/>
                </a:solidFill>
              </a:rPr>
              <a:t>Problem # 6</a:t>
            </a:r>
            <a:endParaRPr lang="en-US" sz="4000" dirty="0">
              <a:solidFill>
                <a:srgbClr val="FF0000"/>
              </a:solidFill>
            </a:endParaRPr>
          </a:p>
        </p:txBody>
      </p:sp>
      <p:sp>
        <p:nvSpPr>
          <p:cNvPr id="4" name="Rectangle 3"/>
          <p:cNvSpPr/>
          <p:nvPr/>
        </p:nvSpPr>
        <p:spPr>
          <a:xfrm>
            <a:off x="457200" y="990600"/>
            <a:ext cx="7924800" cy="1785104"/>
          </a:xfrm>
          <a:prstGeom prst="rect">
            <a:avLst/>
          </a:prstGeom>
        </p:spPr>
        <p:txBody>
          <a:bodyPr wrap="square">
            <a:spAutoFit/>
          </a:bodyPr>
          <a:lstStyle/>
          <a:p>
            <a:pPr algn="just"/>
            <a:r>
              <a:rPr lang="en-US" altLang="zh-CN" sz="2200" b="1" dirty="0" smtClean="0">
                <a:solidFill>
                  <a:srgbClr val="7030A0"/>
                </a:solidFill>
                <a:ea typeface="SimSun" panose="02010600030101010101" pitchFamily="2" charset="-122"/>
              </a:rPr>
              <a:t>If the surface tension of water-air interface is 0.073 N/m, the gauge pressure inside a rain drop of 1 mm diameter will be:</a:t>
            </a:r>
            <a:endParaRPr lang="en-US" altLang="zh-CN" sz="2200" b="1" dirty="0" smtClean="0">
              <a:solidFill>
                <a:srgbClr val="7030A0"/>
              </a:solidFill>
              <a:ea typeface="SimSun" panose="02010600030101010101" pitchFamily="2" charset="-122"/>
            </a:endParaRPr>
          </a:p>
          <a:p>
            <a:pPr algn="just"/>
            <a:endParaRPr lang="en-US" altLang="zh-CN" sz="2200" b="1" dirty="0" smtClean="0">
              <a:solidFill>
                <a:srgbClr val="7030A0"/>
              </a:solidFill>
              <a:ea typeface="SimSun" panose="02010600030101010101" pitchFamily="2" charset="-122"/>
            </a:endParaRPr>
          </a:p>
          <a:p>
            <a:pPr algn="just"/>
            <a:r>
              <a:rPr lang="en-US" altLang="zh-CN" sz="2200" b="1" dirty="0" smtClean="0">
                <a:solidFill>
                  <a:srgbClr val="00B050"/>
                </a:solidFill>
                <a:ea typeface="SimSun" panose="02010600030101010101" pitchFamily="2" charset="-122"/>
              </a:rPr>
              <a:t>	(a) 0.146N/m</a:t>
            </a:r>
            <a:r>
              <a:rPr lang="en-US" altLang="zh-CN" sz="2200" b="1" baseline="30000" dirty="0" smtClean="0">
                <a:solidFill>
                  <a:srgbClr val="00B050"/>
                </a:solidFill>
                <a:ea typeface="SimSun" panose="02010600030101010101" pitchFamily="2" charset="-122"/>
              </a:rPr>
              <a:t>2</a:t>
            </a:r>
            <a:r>
              <a:rPr lang="en-US" altLang="zh-CN" sz="2200" b="1" dirty="0" smtClean="0">
                <a:solidFill>
                  <a:srgbClr val="00B050"/>
                </a:solidFill>
                <a:ea typeface="SimSun" panose="02010600030101010101" pitchFamily="2" charset="-122"/>
              </a:rPr>
              <a:t>                 </a:t>
            </a:r>
            <a:r>
              <a:rPr lang="en-US" altLang="zh-CN" sz="2200" b="1" dirty="0" smtClean="0">
                <a:solidFill>
                  <a:srgbClr val="FFC000"/>
                </a:solidFill>
                <a:ea typeface="SimSun" panose="02010600030101010101" pitchFamily="2" charset="-122"/>
              </a:rPr>
              <a:t>(b) 73N/m</a:t>
            </a:r>
            <a:r>
              <a:rPr lang="en-US" altLang="zh-CN" sz="2200" b="1" baseline="30000" dirty="0" smtClean="0">
                <a:solidFill>
                  <a:srgbClr val="FFC000"/>
                </a:solidFill>
                <a:ea typeface="SimSun" panose="02010600030101010101" pitchFamily="2" charset="-122"/>
              </a:rPr>
              <a:t>2 </a:t>
            </a:r>
            <a:endParaRPr lang="en-US" altLang="zh-CN" sz="2200" b="1" baseline="30000" dirty="0" smtClean="0">
              <a:solidFill>
                <a:srgbClr val="FFC000"/>
              </a:solidFill>
              <a:ea typeface="SimSun" panose="02010600030101010101" pitchFamily="2" charset="-122"/>
            </a:endParaRPr>
          </a:p>
          <a:p>
            <a:pPr algn="just"/>
            <a:r>
              <a:rPr lang="en-US" altLang="zh-CN" sz="2200" b="1" dirty="0" smtClean="0">
                <a:solidFill>
                  <a:srgbClr val="FF0000"/>
                </a:solidFill>
                <a:ea typeface="SimSun" panose="02010600030101010101" pitchFamily="2" charset="-122"/>
              </a:rPr>
              <a:t>	(c) 146N/m</a:t>
            </a:r>
            <a:r>
              <a:rPr lang="en-US" altLang="zh-CN" sz="2200" b="1" baseline="30000" dirty="0" smtClean="0">
                <a:solidFill>
                  <a:srgbClr val="FF0000"/>
                </a:solidFill>
                <a:ea typeface="SimSun" panose="02010600030101010101" pitchFamily="2" charset="-122"/>
              </a:rPr>
              <a:t>2</a:t>
            </a:r>
            <a:r>
              <a:rPr lang="en-US" altLang="zh-CN" sz="2200" b="1" dirty="0" smtClean="0">
                <a:solidFill>
                  <a:srgbClr val="FF0000"/>
                </a:solidFill>
                <a:ea typeface="SimSun" panose="02010600030101010101" pitchFamily="2" charset="-122"/>
              </a:rPr>
              <a:t>                    </a:t>
            </a:r>
            <a:r>
              <a:rPr lang="en-US" altLang="zh-CN" sz="2200" b="1" dirty="0" smtClean="0">
                <a:solidFill>
                  <a:srgbClr val="0070C0"/>
                </a:solidFill>
                <a:ea typeface="SimSun" panose="02010600030101010101" pitchFamily="2" charset="-122"/>
              </a:rPr>
              <a:t>(d) 292 N/m</a:t>
            </a:r>
            <a:r>
              <a:rPr lang="en-US" altLang="zh-CN" sz="2200" b="1" baseline="30000" dirty="0" smtClean="0">
                <a:solidFill>
                  <a:srgbClr val="0070C0"/>
                </a:solidFill>
                <a:ea typeface="SimSun" panose="02010600030101010101" pitchFamily="2" charset="-122"/>
              </a:rPr>
              <a:t>2</a:t>
            </a:r>
            <a:endParaRPr lang="en-US" altLang="zh-CN" sz="2200" b="1" baseline="30000" dirty="0" smtClean="0">
              <a:solidFill>
                <a:srgbClr val="0070C0"/>
              </a:solidFill>
              <a:ea typeface="SimSun" panose="02010600030101010101" pitchFamily="2" charset="-122"/>
            </a:endParaRPr>
          </a:p>
        </p:txBody>
      </p:sp>
      <p:sp>
        <p:nvSpPr>
          <p:cNvPr id="5" name="Rectangle 4"/>
          <p:cNvSpPr/>
          <p:nvPr/>
        </p:nvSpPr>
        <p:spPr>
          <a:xfrm>
            <a:off x="533400" y="4572000"/>
            <a:ext cx="8077200" cy="1785104"/>
          </a:xfrm>
          <a:prstGeom prst="rect">
            <a:avLst/>
          </a:prstGeom>
        </p:spPr>
        <p:txBody>
          <a:bodyPr wrap="square">
            <a:spAutoFit/>
          </a:bodyPr>
          <a:lstStyle/>
          <a:p>
            <a:pPr algn="just"/>
            <a:r>
              <a:rPr lang="en-US" altLang="zh-CN" sz="2200" b="1" dirty="0" smtClean="0">
                <a:solidFill>
                  <a:srgbClr val="7030A0"/>
                </a:solidFill>
                <a:ea typeface="SimSun" panose="02010600030101010101" pitchFamily="2" charset="-122"/>
              </a:rPr>
              <a:t>What is the pressure inside a soap bubble, over the atmospheric pressure if its diameter is 2 cm and the surface tension is 0·1 N/m?</a:t>
            </a:r>
            <a:endParaRPr lang="en-US" altLang="zh-CN" sz="2200" b="1" dirty="0" smtClean="0">
              <a:solidFill>
                <a:srgbClr val="7030A0"/>
              </a:solidFill>
              <a:ea typeface="SimSun" panose="02010600030101010101" pitchFamily="2" charset="-122"/>
            </a:endParaRPr>
          </a:p>
          <a:p>
            <a:pPr algn="just"/>
            <a:endParaRPr lang="en-US" altLang="zh-CN" sz="2200" b="1" dirty="0" smtClean="0">
              <a:solidFill>
                <a:srgbClr val="7030A0"/>
              </a:solidFill>
              <a:ea typeface="SimSun" panose="02010600030101010101" pitchFamily="2" charset="-122"/>
            </a:endParaRPr>
          </a:p>
          <a:p>
            <a:pPr algn="just"/>
            <a:r>
              <a:rPr lang="en-US" altLang="zh-CN" sz="2200" b="1" dirty="0" smtClean="0">
                <a:solidFill>
                  <a:srgbClr val="7030A0"/>
                </a:solidFill>
                <a:ea typeface="SimSun" panose="02010600030101010101" pitchFamily="2" charset="-122"/>
              </a:rPr>
              <a:t>	</a:t>
            </a:r>
            <a:r>
              <a:rPr lang="en-US" altLang="zh-CN" sz="2200" b="1" dirty="0" smtClean="0">
                <a:solidFill>
                  <a:srgbClr val="00B0F0"/>
                </a:solidFill>
                <a:ea typeface="SimSun" panose="02010600030101010101" pitchFamily="2" charset="-122"/>
              </a:rPr>
              <a:t>(a) 0·4 N/m</a:t>
            </a:r>
            <a:r>
              <a:rPr lang="en-US" altLang="zh-CN" sz="2200" b="1" baseline="30000" dirty="0" smtClean="0">
                <a:solidFill>
                  <a:srgbClr val="00B0F0"/>
                </a:solidFill>
                <a:ea typeface="SimSun" panose="02010600030101010101" pitchFamily="2" charset="-122"/>
              </a:rPr>
              <a:t>2</a:t>
            </a:r>
            <a:r>
              <a:rPr lang="en-US" altLang="zh-CN" sz="2200" b="1" dirty="0" smtClean="0">
                <a:solidFill>
                  <a:srgbClr val="00B0F0"/>
                </a:solidFill>
                <a:ea typeface="SimSun" panose="02010600030101010101" pitchFamily="2" charset="-122"/>
              </a:rPr>
              <a:t>                             </a:t>
            </a:r>
            <a:r>
              <a:rPr lang="en-US" altLang="zh-CN" sz="2200" b="1" dirty="0" smtClean="0">
                <a:solidFill>
                  <a:srgbClr val="FF0000"/>
                </a:solidFill>
                <a:ea typeface="SimSun" panose="02010600030101010101" pitchFamily="2" charset="-122"/>
              </a:rPr>
              <a:t>(b) 4·0 N/m</a:t>
            </a:r>
            <a:r>
              <a:rPr lang="en-US" altLang="zh-CN" sz="2200" b="1" baseline="30000" dirty="0" smtClean="0">
                <a:solidFill>
                  <a:srgbClr val="FF0000"/>
                </a:solidFill>
                <a:ea typeface="SimSun" panose="02010600030101010101" pitchFamily="2" charset="-122"/>
              </a:rPr>
              <a:t>2</a:t>
            </a:r>
            <a:r>
              <a:rPr lang="en-US" altLang="zh-CN" sz="2200" b="1" dirty="0" smtClean="0">
                <a:solidFill>
                  <a:srgbClr val="FF0000"/>
                </a:solidFill>
                <a:ea typeface="SimSun" panose="02010600030101010101" pitchFamily="2" charset="-122"/>
              </a:rPr>
              <a:t> </a:t>
            </a:r>
            <a:endParaRPr lang="en-US" altLang="zh-CN" sz="2200" b="1" dirty="0" smtClean="0">
              <a:solidFill>
                <a:srgbClr val="FF0000"/>
              </a:solidFill>
              <a:ea typeface="SimSun" panose="02010600030101010101" pitchFamily="2" charset="-122"/>
            </a:endParaRPr>
          </a:p>
          <a:p>
            <a:pPr algn="just"/>
            <a:r>
              <a:rPr lang="en-US" altLang="zh-CN" sz="2200" b="1" dirty="0" smtClean="0">
                <a:solidFill>
                  <a:srgbClr val="7030A0"/>
                </a:solidFill>
                <a:ea typeface="SimSun" panose="02010600030101010101" pitchFamily="2" charset="-122"/>
              </a:rPr>
              <a:t>	</a:t>
            </a:r>
            <a:r>
              <a:rPr lang="en-US" altLang="zh-CN" sz="2200" b="1" dirty="0" smtClean="0">
                <a:solidFill>
                  <a:srgbClr val="FFC000"/>
                </a:solidFill>
                <a:ea typeface="SimSun" panose="02010600030101010101" pitchFamily="2" charset="-122"/>
              </a:rPr>
              <a:t>(c) 40.0 N/m</a:t>
            </a:r>
            <a:r>
              <a:rPr lang="en-US" altLang="zh-CN" sz="2200" b="1" baseline="30000" dirty="0" smtClean="0">
                <a:solidFill>
                  <a:srgbClr val="FFC000"/>
                </a:solidFill>
                <a:ea typeface="SimSun" panose="02010600030101010101" pitchFamily="2" charset="-122"/>
              </a:rPr>
              <a:t>2</a:t>
            </a:r>
            <a:r>
              <a:rPr lang="en-US" altLang="zh-CN" sz="2200" b="1" dirty="0" smtClean="0">
                <a:solidFill>
                  <a:srgbClr val="FFC000"/>
                </a:solidFill>
                <a:ea typeface="SimSun" panose="02010600030101010101" pitchFamily="2" charset="-122"/>
              </a:rPr>
              <a:t>                           </a:t>
            </a:r>
            <a:r>
              <a:rPr lang="en-US" altLang="zh-CN" sz="2200" b="1" dirty="0" smtClean="0">
                <a:solidFill>
                  <a:srgbClr val="00B050"/>
                </a:solidFill>
                <a:ea typeface="SimSun" panose="02010600030101010101" pitchFamily="2" charset="-122"/>
              </a:rPr>
              <a:t>(d) 400.0 N/m</a:t>
            </a:r>
            <a:r>
              <a:rPr lang="en-US" altLang="zh-CN" sz="2200" b="1" baseline="30000" dirty="0" smtClean="0">
                <a:solidFill>
                  <a:srgbClr val="00B050"/>
                </a:solidFill>
                <a:ea typeface="SimSun" panose="02010600030101010101" pitchFamily="2" charset="-122"/>
              </a:rPr>
              <a:t>2</a:t>
            </a:r>
            <a:endParaRPr lang="en-US" altLang="zh-CN" sz="2200" b="1" dirty="0" smtClean="0">
              <a:solidFill>
                <a:srgbClr val="00B050"/>
              </a:solidFill>
              <a:ea typeface="SimSun" panose="02010600030101010101" pitchFamily="2" charset="-122"/>
            </a:endParaRPr>
          </a:p>
        </p:txBody>
      </p:sp>
      <p:sp>
        <p:nvSpPr>
          <p:cNvPr id="6" name="TextBox 5"/>
          <p:cNvSpPr txBox="1"/>
          <p:nvPr/>
        </p:nvSpPr>
        <p:spPr>
          <a:xfrm>
            <a:off x="228600" y="3733800"/>
            <a:ext cx="2895600" cy="707886"/>
          </a:xfrm>
          <a:prstGeom prst="rect">
            <a:avLst/>
          </a:prstGeom>
          <a:noFill/>
        </p:spPr>
        <p:txBody>
          <a:bodyPr wrap="square" rtlCol="0">
            <a:spAutoFit/>
          </a:bodyPr>
          <a:lstStyle/>
          <a:p>
            <a:r>
              <a:rPr lang="en-US" sz="4000" dirty="0" smtClean="0">
                <a:solidFill>
                  <a:srgbClr val="FF0000"/>
                </a:solidFill>
              </a:rPr>
              <a:t>Problem # 7</a:t>
            </a:r>
            <a:endParaRPr lang="en-US" sz="40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2736669" y="-131894"/>
            <a:ext cx="5035731" cy="665294"/>
          </a:xfrm>
          <a:prstGeom prst="rect">
            <a:avLst/>
          </a:prstGeom>
        </p:spPr>
        <p:txBody>
          <a:bodyPr>
            <a:noAutofit/>
          </a:bodyPr>
          <a:lstStyle/>
          <a:p>
            <a:pPr marL="342900" lvl="0" indent="-342900">
              <a:spcBef>
                <a:spcPct val="20000"/>
              </a:spcBef>
            </a:pPr>
            <a:r>
              <a:rPr lang="en-US" sz="4000" b="1" i="1" dirty="0" smtClean="0">
                <a:solidFill>
                  <a:schemeClr val="tx2">
                    <a:lumMod val="75000"/>
                  </a:schemeClr>
                </a:solidFill>
                <a:effectLst>
                  <a:outerShdw blurRad="38100" dist="38100" dir="2700000" algn="tl">
                    <a:srgbClr val="000000">
                      <a:alpha val="43137"/>
                    </a:srgbClr>
                  </a:outerShdw>
                </a:effectLst>
              </a:rPr>
              <a:t>Properties of Fluids</a:t>
            </a:r>
            <a:endParaRPr kumimoji="0" lang="en-US" sz="4000" b="1" i="1" u="none" strike="noStrike" kern="1200" cap="none" spc="0" normalizeH="0" baseline="0" noProof="0" dirty="0" smtClean="0">
              <a:ln>
                <a:noFill/>
              </a:ln>
              <a:solidFill>
                <a:schemeClr val="tx2">
                  <a:lumMod val="75000"/>
                </a:schemeClr>
              </a:solidFill>
              <a:effectLst>
                <a:outerShdw blurRad="38100" dist="38100" dir="2700000" algn="tl">
                  <a:srgbClr val="000000">
                    <a:alpha val="43137"/>
                  </a:srgbClr>
                </a:outerShdw>
              </a:effectLst>
              <a:uLnTx/>
              <a:uFillTx/>
              <a:latin typeface="+mn-lt"/>
              <a:ea typeface="+mn-ea"/>
              <a:cs typeface="+mn-cs"/>
            </a:endParaRPr>
          </a:p>
        </p:txBody>
      </p:sp>
      <p:sp>
        <p:nvSpPr>
          <p:cNvPr id="3" name="Rectangle 2"/>
          <p:cNvSpPr txBox="1">
            <a:spLocks noChangeArrowheads="1"/>
          </p:cNvSpPr>
          <p:nvPr/>
        </p:nvSpPr>
        <p:spPr>
          <a:xfrm>
            <a:off x="0" y="427037"/>
            <a:ext cx="3733800" cy="639763"/>
          </a:xfrm>
          <a:prstGeom prst="rect">
            <a:avLst/>
          </a:prstGeom>
        </p:spPr>
        <p:txBody>
          <a:bodyPr>
            <a:normAutofit lnSpcReduction="10000"/>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sz="3600" b="1" dirty="0" smtClean="0">
                <a:solidFill>
                  <a:srgbClr val="C00000"/>
                </a:solidFill>
                <a:ea typeface="+mj-ea"/>
                <a:cs typeface="+mj-cs"/>
              </a:rPr>
              <a:t> 9. Capillarity</a:t>
            </a:r>
            <a:endParaRPr kumimoji="0" lang="en-US" sz="3600" b="1" i="0" u="none" strike="noStrike" kern="1200" cap="none" spc="0" normalizeH="0" baseline="0" noProof="0" dirty="0">
              <a:ln>
                <a:noFill/>
              </a:ln>
              <a:solidFill>
                <a:srgbClr val="C00000"/>
              </a:solidFill>
              <a:effectLst/>
              <a:uLnTx/>
              <a:uFillTx/>
              <a:latin typeface="+mn-lt"/>
              <a:ea typeface="+mj-ea"/>
              <a:cs typeface="+mj-cs"/>
            </a:endParaRPr>
          </a:p>
        </p:txBody>
      </p:sp>
      <p:pic>
        <p:nvPicPr>
          <p:cNvPr id="5" name="Picture 4" descr="28.jpg"/>
          <p:cNvPicPr>
            <a:picLocks noChangeAspect="1"/>
          </p:cNvPicPr>
          <p:nvPr/>
        </p:nvPicPr>
        <p:blipFill>
          <a:blip r:embed="rId1"/>
          <a:stretch>
            <a:fillRect/>
          </a:stretch>
        </p:blipFill>
        <p:spPr>
          <a:xfrm>
            <a:off x="1219200" y="1066800"/>
            <a:ext cx="2682426" cy="3581400"/>
          </a:xfrm>
          <a:prstGeom prst="rect">
            <a:avLst/>
          </a:prstGeom>
        </p:spPr>
      </p:pic>
      <p:pic>
        <p:nvPicPr>
          <p:cNvPr id="6" name="Picture 5" descr="29.jpg"/>
          <p:cNvPicPr>
            <a:picLocks noChangeAspect="1"/>
          </p:cNvPicPr>
          <p:nvPr/>
        </p:nvPicPr>
        <p:blipFill>
          <a:blip r:embed="rId2"/>
          <a:stretch>
            <a:fillRect/>
          </a:stretch>
        </p:blipFill>
        <p:spPr>
          <a:xfrm>
            <a:off x="5257800" y="990600"/>
            <a:ext cx="2971801" cy="3670174"/>
          </a:xfrm>
          <a:prstGeom prst="rect">
            <a:avLst/>
          </a:prstGeom>
        </p:spPr>
      </p:pic>
      <p:sp>
        <p:nvSpPr>
          <p:cNvPr id="7" name="TextBox 6"/>
          <p:cNvSpPr txBox="1"/>
          <p:nvPr/>
        </p:nvSpPr>
        <p:spPr>
          <a:xfrm>
            <a:off x="685800" y="4903113"/>
            <a:ext cx="8077200" cy="430887"/>
          </a:xfrm>
          <a:prstGeom prst="rect">
            <a:avLst/>
          </a:prstGeom>
          <a:noFill/>
        </p:spPr>
        <p:txBody>
          <a:bodyPr wrap="square" rtlCol="0">
            <a:spAutoFit/>
          </a:bodyPr>
          <a:lstStyle/>
          <a:p>
            <a:r>
              <a:rPr lang="en-US" sz="2200" b="1" dirty="0" smtClean="0">
                <a:solidFill>
                  <a:srgbClr val="FF0000"/>
                </a:solidFill>
              </a:rPr>
              <a:t>Capillary effect is the rise or fall of a liquid in a small-diameter tube.</a:t>
            </a:r>
            <a:endParaRPr lang="en-US" b="1" dirty="0">
              <a:solidFill>
                <a:srgbClr val="FF0000"/>
              </a:solidFill>
            </a:endParaRPr>
          </a:p>
        </p:txBody>
      </p:sp>
      <p:sp>
        <p:nvSpPr>
          <p:cNvPr id="8" name="Rectangle 7"/>
          <p:cNvSpPr/>
          <p:nvPr/>
        </p:nvSpPr>
        <p:spPr>
          <a:xfrm>
            <a:off x="1142999" y="5573627"/>
            <a:ext cx="7086601" cy="363176"/>
          </a:xfrm>
          <a:prstGeom prst="rect">
            <a:avLst/>
          </a:prstGeom>
        </p:spPr>
        <p:txBody>
          <a:bodyPr wrap="square">
            <a:spAutoFit/>
          </a:bodyPr>
          <a:lstStyle/>
          <a:p>
            <a:pPr>
              <a:lnSpc>
                <a:spcPct val="80000"/>
              </a:lnSpc>
            </a:pPr>
            <a:r>
              <a:rPr lang="en-US" sz="2200" b="1" dirty="0" smtClean="0"/>
              <a:t>The curved free surface in the tube is called the meniscus.</a:t>
            </a:r>
            <a:endParaRPr lang="en-US" sz="2200" b="1" dirty="0"/>
          </a:p>
        </p:txBody>
      </p:sp>
      <p:sp>
        <p:nvSpPr>
          <p:cNvPr id="9" name="Rectangle 8"/>
          <p:cNvSpPr/>
          <p:nvPr/>
        </p:nvSpPr>
        <p:spPr>
          <a:xfrm>
            <a:off x="304800" y="6140984"/>
            <a:ext cx="8610600" cy="640816"/>
          </a:xfrm>
          <a:prstGeom prst="rect">
            <a:avLst/>
          </a:prstGeom>
        </p:spPr>
        <p:txBody>
          <a:bodyPr wrap="square">
            <a:spAutoFit/>
          </a:bodyPr>
          <a:lstStyle/>
          <a:p>
            <a:pPr algn="ctr">
              <a:lnSpc>
                <a:spcPct val="80000"/>
              </a:lnSpc>
            </a:pPr>
            <a:r>
              <a:rPr lang="en-US" sz="2200" b="1" dirty="0" smtClean="0">
                <a:solidFill>
                  <a:srgbClr val="7030A0"/>
                </a:solidFill>
              </a:rPr>
              <a:t>Water meniscus curves up because water is a </a:t>
            </a:r>
            <a:r>
              <a:rPr lang="en-US" sz="2200" b="1" i="1" dirty="0" smtClean="0">
                <a:solidFill>
                  <a:srgbClr val="FF0000"/>
                </a:solidFill>
              </a:rPr>
              <a:t>wetting fluid.</a:t>
            </a:r>
            <a:endParaRPr lang="en-US" sz="2200" b="1" i="1" dirty="0" smtClean="0">
              <a:solidFill>
                <a:srgbClr val="FF0000"/>
              </a:solidFill>
            </a:endParaRPr>
          </a:p>
          <a:p>
            <a:pPr algn="ctr">
              <a:lnSpc>
                <a:spcPct val="80000"/>
              </a:lnSpc>
            </a:pPr>
            <a:r>
              <a:rPr lang="en-US" sz="2200" b="1" dirty="0" smtClean="0">
                <a:solidFill>
                  <a:srgbClr val="7030A0"/>
                </a:solidFill>
              </a:rPr>
              <a:t>Mercury meniscus curves down because mercury is a </a:t>
            </a:r>
            <a:r>
              <a:rPr lang="en-US" sz="2200" b="1" i="1" dirty="0" smtClean="0">
                <a:solidFill>
                  <a:srgbClr val="FF0000"/>
                </a:solidFill>
              </a:rPr>
              <a:t>nonwetting fluid</a:t>
            </a:r>
            <a:r>
              <a:rPr lang="en-US" sz="2200" b="1" dirty="0" smtClean="0">
                <a:solidFill>
                  <a:srgbClr val="FF0000"/>
                </a:solidFill>
              </a:rPr>
              <a:t>.</a:t>
            </a:r>
            <a:endParaRPr lang="en-US" sz="22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124200" y="0"/>
            <a:ext cx="2667000" cy="639763"/>
          </a:xfrm>
          <a:prstGeom prst="rect">
            <a:avLst/>
          </a:prstGeom>
        </p:spPr>
        <p:txBody>
          <a:bodyPr>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sz="4400" b="1" dirty="0" smtClean="0">
                <a:solidFill>
                  <a:srgbClr val="C00000"/>
                </a:solidFill>
                <a:ea typeface="+mj-ea"/>
                <a:cs typeface="+mj-cs"/>
              </a:rPr>
              <a:t> Capillarity</a:t>
            </a:r>
            <a:endParaRPr kumimoji="0" lang="en-US" sz="4400" b="1" i="0" u="none" strike="noStrike" kern="1200" cap="none" spc="0" normalizeH="0" baseline="0" noProof="0" dirty="0">
              <a:ln>
                <a:noFill/>
              </a:ln>
              <a:solidFill>
                <a:srgbClr val="C00000"/>
              </a:solidFill>
              <a:effectLst/>
              <a:uLnTx/>
              <a:uFillTx/>
              <a:latin typeface="+mn-lt"/>
              <a:ea typeface="+mj-ea"/>
              <a:cs typeface="+mj-cs"/>
            </a:endParaRPr>
          </a:p>
        </p:txBody>
      </p:sp>
      <p:graphicFrame>
        <p:nvGraphicFramePr>
          <p:cNvPr id="79874" name="Object 2"/>
          <p:cNvGraphicFramePr>
            <a:graphicFrameLocks noChangeAspect="1"/>
          </p:cNvGraphicFramePr>
          <p:nvPr/>
        </p:nvGraphicFramePr>
        <p:xfrm>
          <a:off x="5486400" y="2819400"/>
          <a:ext cx="3303165" cy="1905000"/>
        </p:xfrm>
        <a:graphic>
          <a:graphicData uri="http://schemas.openxmlformats.org/presentationml/2006/ole">
            <mc:AlternateContent xmlns:mc="http://schemas.openxmlformats.org/markup-compatibility/2006">
              <mc:Choice xmlns:v="urn:schemas-microsoft-com:vml" Requires="v">
                <p:oleObj spid="_x0000_s79883" name="Equation" r:id="rId1" imgW="1447800" imgH="838200" progId="Equation.DSMT4">
                  <p:embed/>
                </p:oleObj>
              </mc:Choice>
              <mc:Fallback>
                <p:oleObj name="Equation" r:id="rId1" imgW="1447800" imgH="838200" progId="Equation.DSMT4">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2819400"/>
                        <a:ext cx="3303165" cy="1905000"/>
                      </a:xfrm>
                      <a:prstGeom prst="rect">
                        <a:avLst/>
                      </a:prstGeom>
                      <a:solidFill>
                        <a:srgbClr val="00FF00"/>
                      </a:solidFill>
                    </p:spPr>
                  </p:pic>
                </p:oleObj>
              </mc:Fallback>
            </mc:AlternateContent>
          </a:graphicData>
        </a:graphic>
      </p:graphicFrame>
      <p:sp>
        <p:nvSpPr>
          <p:cNvPr id="5" name="TextBox 4"/>
          <p:cNvSpPr txBox="1"/>
          <p:nvPr/>
        </p:nvSpPr>
        <p:spPr>
          <a:xfrm>
            <a:off x="5181600" y="1144250"/>
            <a:ext cx="3733800" cy="1446550"/>
          </a:xfrm>
          <a:prstGeom prst="rect">
            <a:avLst/>
          </a:prstGeom>
          <a:noFill/>
        </p:spPr>
        <p:txBody>
          <a:bodyPr wrap="square" rtlCol="0">
            <a:spAutoFit/>
          </a:bodyPr>
          <a:lstStyle/>
          <a:p>
            <a:pPr algn="just"/>
            <a:r>
              <a:rPr lang="en-US" sz="2200" b="1" dirty="0" smtClean="0"/>
              <a:t>Equating the weight of the column of liquid ‘h’ with the vertical component of the surface tension force: </a:t>
            </a:r>
            <a:endParaRPr lang="en-US" sz="2200" b="1" dirty="0"/>
          </a:p>
        </p:txBody>
      </p:sp>
      <p:pic>
        <p:nvPicPr>
          <p:cNvPr id="79877" name="Picture 5"/>
          <p:cNvPicPr>
            <a:picLocks noChangeAspect="1" noChangeArrowheads="1"/>
          </p:cNvPicPr>
          <p:nvPr/>
        </p:nvPicPr>
        <p:blipFill>
          <a:blip r:embed="rId3"/>
          <a:srcRect/>
          <a:stretch>
            <a:fillRect/>
          </a:stretch>
        </p:blipFill>
        <p:spPr bwMode="auto">
          <a:xfrm>
            <a:off x="42204" y="1219200"/>
            <a:ext cx="5164254" cy="3657600"/>
          </a:xfrm>
          <a:prstGeom prst="rect">
            <a:avLst/>
          </a:prstGeom>
          <a:noFill/>
          <a:ln w="9525">
            <a:noFill/>
            <a:miter lim="800000"/>
            <a:headEnd/>
            <a:tailEnd/>
          </a:ln>
          <a:effectLst/>
        </p:spPr>
      </p:pic>
      <p:sp>
        <p:nvSpPr>
          <p:cNvPr id="10" name="Rectangle 9"/>
          <p:cNvSpPr/>
          <p:nvPr/>
        </p:nvSpPr>
        <p:spPr>
          <a:xfrm>
            <a:off x="152400" y="4953000"/>
            <a:ext cx="8610600" cy="1785104"/>
          </a:xfrm>
          <a:prstGeom prst="rect">
            <a:avLst/>
          </a:prstGeom>
        </p:spPr>
        <p:txBody>
          <a:bodyPr wrap="square">
            <a:spAutoFit/>
          </a:bodyPr>
          <a:lstStyle/>
          <a:p>
            <a:pPr algn="just"/>
            <a:r>
              <a:rPr lang="en-US" sz="2200" b="1" dirty="0" smtClean="0">
                <a:solidFill>
                  <a:srgbClr val="FF0000"/>
                </a:solidFill>
              </a:rPr>
              <a:t>For pure water in contact with air in a glass tube, the capillary rise takes place with </a:t>
            </a:r>
            <a:r>
              <a:rPr lang="el-GR" sz="2200" b="1" dirty="0" smtClean="0">
                <a:solidFill>
                  <a:srgbClr val="FF0000"/>
                </a:solidFill>
              </a:rPr>
              <a:t>ϴ</a:t>
            </a:r>
            <a:r>
              <a:rPr lang="en-US" sz="2200" b="1" dirty="0" smtClean="0">
                <a:solidFill>
                  <a:srgbClr val="FF0000"/>
                </a:solidFill>
              </a:rPr>
              <a:t> = 0</a:t>
            </a:r>
            <a:r>
              <a:rPr lang="en-US" sz="2200" b="1" baseline="30000" dirty="0" smtClean="0">
                <a:solidFill>
                  <a:srgbClr val="FF0000"/>
                </a:solidFill>
              </a:rPr>
              <a:t>0</a:t>
            </a:r>
            <a:r>
              <a:rPr lang="en-US" sz="2200" b="1" dirty="0" smtClean="0">
                <a:solidFill>
                  <a:srgbClr val="FF0000"/>
                </a:solidFill>
              </a:rPr>
              <a:t>. </a:t>
            </a:r>
            <a:endParaRPr lang="en-US" sz="2200" b="1" dirty="0" smtClean="0">
              <a:solidFill>
                <a:srgbClr val="FF0000"/>
              </a:solidFill>
            </a:endParaRPr>
          </a:p>
          <a:p>
            <a:pPr algn="just"/>
            <a:endParaRPr lang="en-US" sz="2200" b="1" dirty="0" smtClean="0"/>
          </a:p>
          <a:p>
            <a:pPr algn="just"/>
            <a:r>
              <a:rPr lang="en-US" sz="2200" b="1" dirty="0" smtClean="0">
                <a:solidFill>
                  <a:srgbClr val="00B050"/>
                </a:solidFill>
              </a:rPr>
              <a:t>Mercury causes capillary depression with an angle of contact of about 130</a:t>
            </a:r>
            <a:r>
              <a:rPr lang="en-US" sz="2200" b="1" baseline="30000" dirty="0" smtClean="0">
                <a:solidFill>
                  <a:srgbClr val="00B050"/>
                </a:solidFill>
              </a:rPr>
              <a:t>0</a:t>
            </a:r>
            <a:r>
              <a:rPr lang="en-US" sz="2200" b="1" dirty="0" smtClean="0">
                <a:solidFill>
                  <a:srgbClr val="00B050"/>
                </a:solidFill>
              </a:rPr>
              <a:t> in a clean glass in contact with air. </a:t>
            </a:r>
            <a:endParaRPr lang="en-US" sz="2200" b="1" dirty="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9874"/>
                                        </p:tgtEl>
                                        <p:attrNameLst>
                                          <p:attrName>style.visibility</p:attrName>
                                        </p:attrNameLst>
                                      </p:cBhvr>
                                      <p:to>
                                        <p:strVal val="visible"/>
                                      </p:to>
                                    </p:set>
                                    <p:animEffect transition="in" filter="blinds(horizontal)">
                                      <p:cBhvr>
                                        <p:cTn id="12" dur="500"/>
                                        <p:tgtEl>
                                          <p:spTgt spid="7987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0"/>
            <a:ext cx="2895600" cy="706755"/>
          </a:xfrm>
          <a:prstGeom prst="rect">
            <a:avLst/>
          </a:prstGeom>
          <a:noFill/>
        </p:spPr>
        <p:txBody>
          <a:bodyPr wrap="square" rtlCol="0">
            <a:spAutoFit/>
          </a:bodyPr>
          <a:lstStyle/>
          <a:p>
            <a:r>
              <a:rPr lang="en-US" sz="4000" dirty="0" smtClean="0">
                <a:solidFill>
                  <a:srgbClr val="FF0000"/>
                </a:solidFill>
              </a:rPr>
              <a:t>Problem # </a:t>
            </a:r>
            <a:r>
              <a:rPr lang="en-IN" altLang="en-US" sz="4000" dirty="0" smtClean="0">
                <a:solidFill>
                  <a:srgbClr val="FF0000"/>
                </a:solidFill>
              </a:rPr>
              <a:t>8</a:t>
            </a:r>
            <a:endParaRPr lang="en-IN" altLang="en-US" sz="4000" dirty="0" smtClean="0">
              <a:solidFill>
                <a:srgbClr val="FF0000"/>
              </a:solidFill>
            </a:endParaRPr>
          </a:p>
        </p:txBody>
      </p:sp>
      <p:sp>
        <p:nvSpPr>
          <p:cNvPr id="4" name="Rectangle 3"/>
          <p:cNvSpPr/>
          <p:nvPr/>
        </p:nvSpPr>
        <p:spPr>
          <a:xfrm>
            <a:off x="457200" y="990600"/>
            <a:ext cx="7924800" cy="1906270"/>
          </a:xfrm>
          <a:prstGeom prst="rect">
            <a:avLst/>
          </a:prstGeom>
        </p:spPr>
        <p:txBody>
          <a:bodyPr wrap="square">
            <a:spAutoFit/>
          </a:bodyPr>
          <a:lstStyle/>
          <a:p>
            <a:pPr algn="just"/>
            <a:r>
              <a:rPr lang="en-US" altLang="zh-CN" sz="2200" b="1" dirty="0" smtClean="0">
                <a:solidFill>
                  <a:srgbClr val="7030A0"/>
                </a:solidFill>
                <a:ea typeface="SimSun" panose="02010600030101010101" pitchFamily="2" charset="-122"/>
              </a:rPr>
              <a:t>What is the approximate capillary rise of water in contact with air (surface tension 0.073 N/m) in a clean glass tube of 5mm in diameter?</a:t>
            </a:r>
            <a:endParaRPr lang="en-US" altLang="zh-CN" sz="2200" b="1" dirty="0" smtClean="0">
              <a:solidFill>
                <a:srgbClr val="7030A0"/>
              </a:solidFill>
              <a:ea typeface="SimSun" panose="02010600030101010101" pitchFamily="2" charset="-122"/>
            </a:endParaRPr>
          </a:p>
          <a:p>
            <a:pPr algn="just"/>
            <a:endParaRPr lang="en-US" altLang="zh-CN" sz="2200" b="1" baseline="30000" dirty="0" smtClean="0">
              <a:solidFill>
                <a:srgbClr val="0070C0"/>
              </a:solidFill>
              <a:ea typeface="SimSun" panose="02010600030101010101" pitchFamily="2" charset="-122"/>
            </a:endParaRPr>
          </a:p>
          <a:p>
            <a:pPr algn="just"/>
            <a:endParaRPr lang="en-US" altLang="zh-CN" sz="2200" b="1" baseline="30000" dirty="0" smtClean="0">
              <a:solidFill>
                <a:srgbClr val="0070C0"/>
              </a:solidFill>
              <a:ea typeface="SimSun" panose="02010600030101010101" pitchFamily="2" charset="-122"/>
            </a:endParaRPr>
          </a:p>
          <a:p>
            <a:pPr algn="r"/>
            <a:r>
              <a:rPr lang="en-IN" altLang="en-US" sz="3600" b="1" baseline="30000" dirty="0" smtClean="0">
                <a:solidFill>
                  <a:srgbClr val="0070C0"/>
                </a:solidFill>
                <a:ea typeface="SimSun" panose="02010600030101010101" pitchFamily="2" charset="-122"/>
              </a:rPr>
              <a:t>Ans: 5.95</a:t>
            </a:r>
            <a:endParaRPr lang="en-IN" altLang="en-US" sz="3600" b="1" baseline="30000" dirty="0" smtClean="0">
              <a:solidFill>
                <a:srgbClr val="0070C0"/>
              </a:solidFill>
              <a:ea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2736669" y="-131894"/>
            <a:ext cx="5035731" cy="665294"/>
          </a:xfrm>
          <a:prstGeom prst="rect">
            <a:avLst/>
          </a:prstGeom>
        </p:spPr>
        <p:txBody>
          <a:bodyPr>
            <a:noAutofit/>
          </a:bodyPr>
          <a:lstStyle/>
          <a:p>
            <a:pPr marL="342900" lvl="0" indent="-342900">
              <a:spcBef>
                <a:spcPct val="20000"/>
              </a:spcBef>
            </a:pPr>
            <a:r>
              <a:rPr lang="en-US" sz="4000" b="1" i="1" dirty="0" smtClean="0">
                <a:solidFill>
                  <a:schemeClr val="tx2">
                    <a:lumMod val="75000"/>
                  </a:schemeClr>
                </a:solidFill>
                <a:effectLst>
                  <a:outerShdw blurRad="38100" dist="38100" dir="2700000" algn="tl">
                    <a:srgbClr val="000000">
                      <a:alpha val="43137"/>
                    </a:srgbClr>
                  </a:outerShdw>
                </a:effectLst>
              </a:rPr>
              <a:t>Properties of Fluids</a:t>
            </a:r>
            <a:endParaRPr kumimoji="0" lang="en-US" sz="4000" b="1" i="1" u="none" strike="noStrike" kern="1200" cap="none" spc="0" normalizeH="0" baseline="0" noProof="0" dirty="0" smtClean="0">
              <a:ln>
                <a:noFill/>
              </a:ln>
              <a:solidFill>
                <a:schemeClr val="tx2">
                  <a:lumMod val="75000"/>
                </a:schemeClr>
              </a:solidFill>
              <a:effectLst>
                <a:outerShdw blurRad="38100" dist="38100" dir="2700000" algn="tl">
                  <a:srgbClr val="000000">
                    <a:alpha val="43137"/>
                  </a:srgbClr>
                </a:outerShdw>
              </a:effectLst>
              <a:uLnTx/>
              <a:uFillTx/>
              <a:latin typeface="+mn-lt"/>
              <a:ea typeface="+mn-ea"/>
              <a:cs typeface="+mn-cs"/>
            </a:endParaRPr>
          </a:p>
        </p:txBody>
      </p:sp>
      <p:sp>
        <p:nvSpPr>
          <p:cNvPr id="3" name="Rectangle 2"/>
          <p:cNvSpPr txBox="1">
            <a:spLocks noChangeArrowheads="1"/>
          </p:cNvSpPr>
          <p:nvPr/>
        </p:nvSpPr>
        <p:spPr>
          <a:xfrm>
            <a:off x="0" y="427037"/>
            <a:ext cx="3733800" cy="639763"/>
          </a:xfrm>
          <a:prstGeom prst="rect">
            <a:avLst/>
          </a:prstGeom>
        </p:spPr>
        <p:txBody>
          <a:bodyPr>
            <a:normAutofit fontScale="92500"/>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sz="3600" b="1" dirty="0" smtClean="0">
                <a:solidFill>
                  <a:srgbClr val="C00000"/>
                </a:solidFill>
                <a:ea typeface="+mj-ea"/>
                <a:cs typeface="+mj-cs"/>
              </a:rPr>
              <a:t> 10. Vapor Pressure</a:t>
            </a:r>
            <a:endParaRPr kumimoji="0" lang="en-US" sz="3600" b="1" i="0" u="none" strike="noStrike" kern="1200" cap="none" spc="0" normalizeH="0" baseline="0" noProof="0" dirty="0">
              <a:ln>
                <a:noFill/>
              </a:ln>
              <a:solidFill>
                <a:srgbClr val="C00000"/>
              </a:solidFill>
              <a:effectLst/>
              <a:uLnTx/>
              <a:uFillTx/>
              <a:latin typeface="+mn-lt"/>
              <a:ea typeface="+mj-ea"/>
              <a:cs typeface="+mj-cs"/>
            </a:endParaRPr>
          </a:p>
        </p:txBody>
      </p:sp>
      <p:sp>
        <p:nvSpPr>
          <p:cNvPr id="10" name="Rectangle 9"/>
          <p:cNvSpPr/>
          <p:nvPr/>
        </p:nvSpPr>
        <p:spPr>
          <a:xfrm>
            <a:off x="152400" y="5029200"/>
            <a:ext cx="8839200" cy="1785104"/>
          </a:xfrm>
          <a:prstGeom prst="rect">
            <a:avLst/>
          </a:prstGeom>
          <a:solidFill>
            <a:schemeClr val="accent5">
              <a:lumMod val="40000"/>
              <a:lumOff val="60000"/>
            </a:schemeClr>
          </a:solidFill>
        </p:spPr>
        <p:txBody>
          <a:bodyPr wrap="square">
            <a:spAutoFit/>
          </a:bodyPr>
          <a:lstStyle/>
          <a:p>
            <a:pPr algn="just"/>
            <a:r>
              <a:rPr lang="en-US" sz="2200" b="1" dirty="0" smtClean="0"/>
              <a:t>Eventually, an equilibrium condition will evolve when the rate at which the number of vapor molecules striking back the liquid surface and condensing is just equal to the rate at which they have evaporated from the surface. The space above the liquid then becomes saturated with vapor.</a:t>
            </a:r>
            <a:endParaRPr lang="en-US" sz="2200" b="1" dirty="0" smtClean="0"/>
          </a:p>
        </p:txBody>
      </p:sp>
      <p:sp>
        <p:nvSpPr>
          <p:cNvPr id="12" name="Rectangle 11"/>
          <p:cNvSpPr/>
          <p:nvPr/>
        </p:nvSpPr>
        <p:spPr>
          <a:xfrm>
            <a:off x="228600" y="1143000"/>
            <a:ext cx="8763000" cy="1785104"/>
          </a:xfrm>
          <a:prstGeom prst="rect">
            <a:avLst/>
          </a:prstGeom>
        </p:spPr>
        <p:txBody>
          <a:bodyPr wrap="square">
            <a:spAutoFit/>
          </a:bodyPr>
          <a:lstStyle/>
          <a:p>
            <a:pPr algn="just"/>
            <a:r>
              <a:rPr lang="en-US" sz="2200" b="1" dirty="0" smtClean="0">
                <a:solidFill>
                  <a:srgbClr val="002060"/>
                </a:solidFill>
              </a:rPr>
              <a:t>All liquid have a tendency to evaporate when exposed to a gaseous atmosphere. </a:t>
            </a:r>
            <a:r>
              <a:rPr lang="en-US" sz="2200" b="1" dirty="0" smtClean="0">
                <a:solidFill>
                  <a:srgbClr val="00B0F0"/>
                </a:solidFill>
              </a:rPr>
              <a:t>The rate of evaporation depends upon the molecular energy of the liquid which in turn depends upon the type of liquid and its temperature. </a:t>
            </a:r>
            <a:r>
              <a:rPr lang="en-US" sz="2200" b="1" dirty="0" smtClean="0">
                <a:solidFill>
                  <a:srgbClr val="002060"/>
                </a:solidFill>
              </a:rPr>
              <a:t>The vapor molecules exert a partial pressure in the space above the liquid, known as vapor pressure.</a:t>
            </a:r>
            <a:endParaRPr lang="en-US" sz="2200" b="1" dirty="0" smtClean="0">
              <a:solidFill>
                <a:srgbClr val="002060"/>
              </a:solidFill>
            </a:endParaRPr>
          </a:p>
        </p:txBody>
      </p:sp>
      <p:sp>
        <p:nvSpPr>
          <p:cNvPr id="13" name="Rectangle 12"/>
          <p:cNvSpPr/>
          <p:nvPr/>
        </p:nvSpPr>
        <p:spPr>
          <a:xfrm>
            <a:off x="228600" y="3352800"/>
            <a:ext cx="8686800" cy="1446550"/>
          </a:xfrm>
          <a:prstGeom prst="rect">
            <a:avLst/>
          </a:prstGeom>
          <a:solidFill>
            <a:srgbClr val="FFFF00"/>
          </a:solidFill>
        </p:spPr>
        <p:txBody>
          <a:bodyPr wrap="square">
            <a:spAutoFit/>
          </a:bodyPr>
          <a:lstStyle/>
          <a:p>
            <a:pPr algn="just"/>
            <a:r>
              <a:rPr lang="en-US" sz="2200" b="1" dirty="0" smtClean="0"/>
              <a:t>If the space above the liquid is confined and the liquid is maintained at constant temperature, after sufficient time, the confined space above the liquid will contain the vapor molecules to the extent that some of them will be forced to enter the liquid.</a:t>
            </a:r>
            <a:endParaRPr lang="en-US" sz="2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819400" y="0"/>
            <a:ext cx="3962400" cy="639763"/>
          </a:xfrm>
          <a:prstGeom prst="rect">
            <a:avLst/>
          </a:prstGeom>
        </p:spPr>
        <p:txBody>
          <a:bodyPr>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lang="en-US" sz="4400" b="1" dirty="0" smtClean="0">
                <a:solidFill>
                  <a:srgbClr val="C00000"/>
                </a:solidFill>
                <a:ea typeface="+mj-ea"/>
                <a:cs typeface="+mj-cs"/>
              </a:rPr>
              <a:t> Vapor Pressure</a:t>
            </a:r>
            <a:endParaRPr kumimoji="0" lang="en-US" sz="4400" b="1" i="0" u="none" strike="noStrike" kern="1200" cap="none" spc="0" normalizeH="0" baseline="0" noProof="0" dirty="0">
              <a:ln>
                <a:noFill/>
              </a:ln>
              <a:solidFill>
                <a:srgbClr val="C00000"/>
              </a:solidFill>
              <a:effectLst/>
              <a:uLnTx/>
              <a:uFillTx/>
              <a:latin typeface="+mn-lt"/>
              <a:ea typeface="+mj-ea"/>
              <a:cs typeface="+mj-cs"/>
            </a:endParaRPr>
          </a:p>
        </p:txBody>
      </p:sp>
      <p:sp>
        <p:nvSpPr>
          <p:cNvPr id="4" name="TextBox 3"/>
          <p:cNvSpPr txBox="1"/>
          <p:nvPr/>
        </p:nvSpPr>
        <p:spPr>
          <a:xfrm>
            <a:off x="304800" y="4419600"/>
            <a:ext cx="2057400" cy="430887"/>
          </a:xfrm>
          <a:prstGeom prst="rect">
            <a:avLst/>
          </a:prstGeom>
          <a:noFill/>
        </p:spPr>
        <p:txBody>
          <a:bodyPr wrap="square" rtlCol="0">
            <a:spAutoFit/>
          </a:bodyPr>
          <a:lstStyle/>
          <a:p>
            <a:pPr marL="285750" indent="-285750" algn="just">
              <a:buFont typeface="Wingdings" panose="05000000000000000000" pitchFamily="2" charset="2"/>
              <a:buChar char="Ø"/>
            </a:pPr>
            <a:r>
              <a:rPr lang="en-US" sz="2200" b="1" dirty="0" smtClean="0">
                <a:solidFill>
                  <a:srgbClr val="00B050"/>
                </a:solidFill>
              </a:rPr>
              <a:t>Density ( ↓ )</a:t>
            </a:r>
            <a:endParaRPr lang="en-US" sz="2200" b="1" dirty="0">
              <a:solidFill>
                <a:srgbClr val="00B050"/>
              </a:solidFill>
            </a:endParaRPr>
          </a:p>
        </p:txBody>
      </p:sp>
      <p:sp>
        <p:nvSpPr>
          <p:cNvPr id="5" name="Rectangle 4"/>
          <p:cNvSpPr/>
          <p:nvPr/>
        </p:nvSpPr>
        <p:spPr>
          <a:xfrm>
            <a:off x="152400" y="838200"/>
            <a:ext cx="6640087" cy="523220"/>
          </a:xfrm>
          <a:prstGeom prst="rect">
            <a:avLst/>
          </a:prstGeom>
        </p:spPr>
        <p:txBody>
          <a:bodyPr wrap="none">
            <a:spAutoFit/>
          </a:bodyPr>
          <a:lstStyle/>
          <a:p>
            <a:pPr algn="just"/>
            <a:r>
              <a:rPr lang="en-US" sz="2800" b="1" i="1" u="sng" dirty="0" smtClean="0">
                <a:solidFill>
                  <a:srgbClr val="FF0000"/>
                </a:solidFill>
              </a:rPr>
              <a:t>Factors influencing the rate of evaporation:</a:t>
            </a:r>
            <a:endParaRPr lang="en-US" sz="2800" b="1" i="1" u="sng" dirty="0" smtClean="0">
              <a:solidFill>
                <a:srgbClr val="FF0000"/>
              </a:solidFill>
            </a:endParaRPr>
          </a:p>
        </p:txBody>
      </p:sp>
      <p:sp>
        <p:nvSpPr>
          <p:cNvPr id="6" name="Rectangle 5"/>
          <p:cNvSpPr/>
          <p:nvPr/>
        </p:nvSpPr>
        <p:spPr>
          <a:xfrm>
            <a:off x="304800" y="1524000"/>
            <a:ext cx="8839200" cy="429895"/>
          </a:xfrm>
          <a:prstGeom prst="rect">
            <a:avLst/>
          </a:prstGeom>
        </p:spPr>
        <p:txBody>
          <a:bodyPr wrap="square">
            <a:spAutoFit/>
          </a:bodyPr>
          <a:lstStyle/>
          <a:p>
            <a:pPr marL="285750" indent="-285750" algn="just">
              <a:buFont typeface="Wingdings" panose="05000000000000000000" pitchFamily="2" charset="2"/>
              <a:buChar char="Ø"/>
            </a:pPr>
            <a:r>
              <a:rPr lang="en-US" sz="2200" b="1" dirty="0" smtClean="0">
                <a:solidFill>
                  <a:srgbClr val="7030A0"/>
                </a:solidFill>
              </a:rPr>
              <a:t>Concentration of the evaporating </a:t>
            </a:r>
            <a:r>
              <a:rPr lang="en-US" sz="2200" b="1" dirty="0" smtClean="0">
                <a:solidFill>
                  <a:srgbClr val="7030A0"/>
                </a:solidFill>
                <a:sym typeface="+mn-ea"/>
              </a:rPr>
              <a:t>substance</a:t>
            </a:r>
            <a:r>
              <a:rPr lang="en-US" sz="2200" b="1" dirty="0" smtClean="0">
                <a:solidFill>
                  <a:srgbClr val="7030A0"/>
                </a:solidFill>
              </a:rPr>
              <a:t> in the air ( ↓ , slowly )</a:t>
            </a:r>
            <a:endParaRPr lang="en-US" sz="2200" b="1" dirty="0" smtClean="0">
              <a:solidFill>
                <a:srgbClr val="7030A0"/>
              </a:solidFill>
            </a:endParaRPr>
          </a:p>
        </p:txBody>
      </p:sp>
      <p:sp>
        <p:nvSpPr>
          <p:cNvPr id="7" name="Rectangle 6"/>
          <p:cNvSpPr/>
          <p:nvPr/>
        </p:nvSpPr>
        <p:spPr>
          <a:xfrm>
            <a:off x="304800" y="2133600"/>
            <a:ext cx="8153400" cy="430887"/>
          </a:xfrm>
          <a:prstGeom prst="rect">
            <a:avLst/>
          </a:prstGeom>
        </p:spPr>
        <p:txBody>
          <a:bodyPr wrap="square">
            <a:spAutoFit/>
          </a:bodyPr>
          <a:lstStyle/>
          <a:p>
            <a:pPr>
              <a:buFont typeface="Wingdings" panose="05000000000000000000" pitchFamily="2" charset="2"/>
              <a:buChar char="Ø"/>
            </a:pPr>
            <a:r>
              <a:rPr lang="en-US" sz="2200" b="1" dirty="0" smtClean="0">
                <a:solidFill>
                  <a:srgbClr val="00B050"/>
                </a:solidFill>
              </a:rPr>
              <a:t> Concentration of other substances in the air (↓ , slowly )</a:t>
            </a:r>
            <a:endParaRPr lang="en-US" sz="2200" b="1" dirty="0">
              <a:solidFill>
                <a:srgbClr val="00B050"/>
              </a:solidFill>
            </a:endParaRPr>
          </a:p>
        </p:txBody>
      </p:sp>
      <p:sp>
        <p:nvSpPr>
          <p:cNvPr id="8" name="Rectangle 7"/>
          <p:cNvSpPr/>
          <p:nvPr/>
        </p:nvSpPr>
        <p:spPr>
          <a:xfrm>
            <a:off x="304800" y="2693313"/>
            <a:ext cx="6553200" cy="430887"/>
          </a:xfrm>
          <a:prstGeom prst="rect">
            <a:avLst/>
          </a:prstGeom>
        </p:spPr>
        <p:txBody>
          <a:bodyPr wrap="square">
            <a:spAutoFit/>
          </a:bodyPr>
          <a:lstStyle/>
          <a:p>
            <a:pPr marL="285750" indent="-285750" algn="just">
              <a:buFont typeface="Wingdings" panose="05000000000000000000" pitchFamily="2" charset="2"/>
              <a:buChar char="Ø"/>
            </a:pPr>
            <a:r>
              <a:rPr lang="en-US" sz="2200" b="1" dirty="0" smtClean="0">
                <a:solidFill>
                  <a:srgbClr val="7030A0"/>
                </a:solidFill>
              </a:rPr>
              <a:t>Concentration of other substances in the liquid ( ↓ )</a:t>
            </a:r>
            <a:endParaRPr lang="en-US" sz="2200" b="1" dirty="0" smtClean="0">
              <a:solidFill>
                <a:srgbClr val="7030A0"/>
              </a:solidFill>
            </a:endParaRPr>
          </a:p>
        </p:txBody>
      </p:sp>
      <p:sp>
        <p:nvSpPr>
          <p:cNvPr id="9" name="Rectangle 8"/>
          <p:cNvSpPr/>
          <p:nvPr/>
        </p:nvSpPr>
        <p:spPr>
          <a:xfrm>
            <a:off x="304800" y="3352800"/>
            <a:ext cx="2869632" cy="430887"/>
          </a:xfrm>
          <a:prstGeom prst="rect">
            <a:avLst/>
          </a:prstGeom>
        </p:spPr>
        <p:txBody>
          <a:bodyPr wrap="none">
            <a:spAutoFit/>
          </a:bodyPr>
          <a:lstStyle/>
          <a:p>
            <a:pPr marL="285750" indent="-285750" algn="just">
              <a:buFont typeface="Wingdings" panose="05000000000000000000" pitchFamily="2" charset="2"/>
              <a:buChar char="Ø"/>
            </a:pPr>
            <a:r>
              <a:rPr lang="en-US" sz="2200" b="1" dirty="0" smtClean="0">
                <a:solidFill>
                  <a:srgbClr val="00B050"/>
                </a:solidFill>
              </a:rPr>
              <a:t>Flow rate of air ( ↑ )</a:t>
            </a:r>
            <a:endParaRPr lang="en-US" sz="2200" b="1" dirty="0" smtClean="0">
              <a:solidFill>
                <a:srgbClr val="00B050"/>
              </a:solidFill>
            </a:endParaRPr>
          </a:p>
        </p:txBody>
      </p:sp>
      <p:sp>
        <p:nvSpPr>
          <p:cNvPr id="10" name="Rectangle 9"/>
          <p:cNvSpPr/>
          <p:nvPr/>
        </p:nvSpPr>
        <p:spPr>
          <a:xfrm>
            <a:off x="304800" y="3886200"/>
            <a:ext cx="3688895" cy="430887"/>
          </a:xfrm>
          <a:prstGeom prst="rect">
            <a:avLst/>
          </a:prstGeom>
        </p:spPr>
        <p:txBody>
          <a:bodyPr wrap="none">
            <a:spAutoFit/>
          </a:bodyPr>
          <a:lstStyle/>
          <a:p>
            <a:pPr marL="285750" indent="-285750" algn="just">
              <a:buFont typeface="Wingdings" panose="05000000000000000000" pitchFamily="2" charset="2"/>
              <a:buChar char="Ø"/>
            </a:pPr>
            <a:r>
              <a:rPr lang="en-US" sz="2200" b="1" dirty="0" smtClean="0">
                <a:solidFill>
                  <a:srgbClr val="7030A0"/>
                </a:solidFill>
              </a:rPr>
              <a:t>Inter-molecular forces (↓ )</a:t>
            </a:r>
            <a:endParaRPr lang="en-US" sz="2200" b="1" dirty="0" smtClean="0">
              <a:solidFill>
                <a:srgbClr val="7030A0"/>
              </a:solidFill>
            </a:endParaRPr>
          </a:p>
        </p:txBody>
      </p:sp>
      <p:sp>
        <p:nvSpPr>
          <p:cNvPr id="11" name="Rectangle 10"/>
          <p:cNvSpPr/>
          <p:nvPr/>
        </p:nvSpPr>
        <p:spPr>
          <a:xfrm>
            <a:off x="304800" y="5715000"/>
            <a:ext cx="2103589" cy="430887"/>
          </a:xfrm>
          <a:prstGeom prst="rect">
            <a:avLst/>
          </a:prstGeom>
        </p:spPr>
        <p:txBody>
          <a:bodyPr wrap="none">
            <a:spAutoFit/>
          </a:bodyPr>
          <a:lstStyle/>
          <a:p>
            <a:pPr marL="285750" indent="-285750" algn="just">
              <a:buFont typeface="Wingdings" panose="05000000000000000000" pitchFamily="2" charset="2"/>
              <a:buChar char="Ø"/>
            </a:pPr>
            <a:r>
              <a:rPr lang="en-US" sz="2200" b="1" dirty="0" smtClean="0">
                <a:solidFill>
                  <a:srgbClr val="00B050"/>
                </a:solidFill>
              </a:rPr>
              <a:t>Pressure ( ↑ )</a:t>
            </a:r>
            <a:endParaRPr lang="en-US" sz="2200" b="1" dirty="0" smtClean="0">
              <a:solidFill>
                <a:srgbClr val="00B050"/>
              </a:solidFill>
            </a:endParaRPr>
          </a:p>
        </p:txBody>
      </p:sp>
      <p:sp>
        <p:nvSpPr>
          <p:cNvPr id="12" name="Rectangle 11"/>
          <p:cNvSpPr/>
          <p:nvPr/>
        </p:nvSpPr>
        <p:spPr>
          <a:xfrm>
            <a:off x="304800" y="5029200"/>
            <a:ext cx="2551019" cy="430887"/>
          </a:xfrm>
          <a:prstGeom prst="rect">
            <a:avLst/>
          </a:prstGeom>
        </p:spPr>
        <p:txBody>
          <a:bodyPr wrap="none">
            <a:spAutoFit/>
          </a:bodyPr>
          <a:lstStyle/>
          <a:p>
            <a:pPr marL="285750" indent="-285750" algn="just">
              <a:buFont typeface="Wingdings" panose="05000000000000000000" pitchFamily="2" charset="2"/>
              <a:buChar char="Ø"/>
            </a:pPr>
            <a:r>
              <a:rPr lang="en-US" sz="2200" b="1" dirty="0" smtClean="0">
                <a:solidFill>
                  <a:srgbClr val="7030A0"/>
                </a:solidFill>
              </a:rPr>
              <a:t>Surface area ( ↑ )</a:t>
            </a:r>
            <a:endParaRPr lang="en-US" sz="2200" b="1" dirty="0" smtClean="0">
              <a:solidFill>
                <a:srgbClr val="7030A0"/>
              </a:solidFill>
            </a:endParaRPr>
          </a:p>
        </p:txBody>
      </p:sp>
      <p:sp>
        <p:nvSpPr>
          <p:cNvPr id="13" name="Rectangle 12"/>
          <p:cNvSpPr/>
          <p:nvPr/>
        </p:nvSpPr>
        <p:spPr>
          <a:xfrm>
            <a:off x="304800" y="6248400"/>
            <a:ext cx="4703211" cy="430887"/>
          </a:xfrm>
          <a:prstGeom prst="rect">
            <a:avLst/>
          </a:prstGeom>
        </p:spPr>
        <p:txBody>
          <a:bodyPr wrap="none">
            <a:spAutoFit/>
          </a:bodyPr>
          <a:lstStyle/>
          <a:p>
            <a:pPr marL="285750" indent="-285750" algn="just">
              <a:buFont typeface="Wingdings" panose="05000000000000000000" pitchFamily="2" charset="2"/>
              <a:buChar char="Ø"/>
            </a:pPr>
            <a:r>
              <a:rPr lang="en-US" sz="2200" b="1" dirty="0" smtClean="0">
                <a:solidFill>
                  <a:srgbClr val="7030A0"/>
                </a:solidFill>
              </a:rPr>
              <a:t>Temperature of the substances ( ↑ )</a:t>
            </a:r>
            <a:endParaRPr lang="en-US" sz="2200" b="1" dirty="0" smtClean="0">
              <a:solidFill>
                <a:srgbClr val="7030A0"/>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txBox="1">
            <a:spLocks noChangeArrowheads="1"/>
          </p:cNvSpPr>
          <p:nvPr/>
        </p:nvSpPr>
        <p:spPr>
          <a:xfrm>
            <a:off x="76200" y="1066800"/>
            <a:ext cx="4114800" cy="3581400"/>
          </a:xfrm>
          <a:prstGeom prst="rect">
            <a:avLst/>
          </a:prstGeom>
        </p:spPr>
        <p:txBody>
          <a:bodyPr/>
          <a:lstStyle/>
          <a:p>
            <a:pPr marL="342900" marR="0" lvl="0" indent="-342900" algn="just" defTabSz="914400" rtl="0" eaLnBrk="1" fontAlgn="auto" latinLnBrk="0" hangingPunct="1">
              <a:lnSpc>
                <a:spcPct val="80000"/>
              </a:lnSpc>
              <a:spcBef>
                <a:spcPct val="20000"/>
              </a:spcBef>
              <a:spcAft>
                <a:spcPts val="0"/>
              </a:spcAft>
              <a:buClrTx/>
              <a:buSzTx/>
              <a:buFont typeface="Arial" panose="020B0604020202020204" pitchFamily="34" charset="0"/>
              <a:buChar char="•"/>
              <a:defRPr/>
            </a:pPr>
            <a:r>
              <a:rPr kumimoji="0" lang="en-US" sz="2200" b="1" i="0" u="none" strike="noStrike" kern="1200" cap="none" spc="0" normalizeH="0" baseline="0" noProof="0" smtClean="0">
                <a:ln>
                  <a:noFill/>
                </a:ln>
                <a:solidFill>
                  <a:srgbClr val="7030A0"/>
                </a:solidFill>
                <a:effectLst/>
                <a:uLnTx/>
                <a:uFillTx/>
                <a:latin typeface="+mn-lt"/>
                <a:ea typeface="+mn-ea"/>
                <a:cs typeface="+mn-cs"/>
              </a:rPr>
              <a:t>Vapor Pressure </a:t>
            </a:r>
            <a:r>
              <a:rPr kumimoji="0" lang="en-US" sz="2200" b="1" i="1" u="none" strike="noStrike" kern="1200" cap="none" spc="0" normalizeH="0" baseline="0" noProof="0" smtClean="0">
                <a:ln>
                  <a:noFill/>
                </a:ln>
                <a:solidFill>
                  <a:srgbClr val="7030A0"/>
                </a:solidFill>
                <a:effectLst/>
                <a:uLnTx/>
                <a:uFillTx/>
                <a:latin typeface="+mn-lt"/>
                <a:ea typeface="+mn-ea"/>
                <a:cs typeface="+mn-cs"/>
              </a:rPr>
              <a:t>P</a:t>
            </a:r>
            <a:r>
              <a:rPr kumimoji="0" lang="en-US" sz="2200" b="1" i="1" u="none" strike="noStrike" kern="1200" cap="none" spc="0" normalizeH="0" baseline="-25000" noProof="0" smtClean="0">
                <a:ln>
                  <a:noFill/>
                </a:ln>
                <a:solidFill>
                  <a:srgbClr val="7030A0"/>
                </a:solidFill>
                <a:effectLst/>
                <a:uLnTx/>
                <a:uFillTx/>
                <a:latin typeface="+mn-lt"/>
                <a:ea typeface="+mn-ea"/>
                <a:cs typeface="+mn-cs"/>
              </a:rPr>
              <a:t>v</a:t>
            </a:r>
            <a:r>
              <a:rPr kumimoji="0" lang="en-US" sz="2200" b="1" i="0" u="none" strike="noStrike" kern="1200" cap="none" spc="0" normalizeH="0" baseline="0" noProof="0" smtClean="0">
                <a:ln>
                  <a:noFill/>
                </a:ln>
                <a:solidFill>
                  <a:srgbClr val="7030A0"/>
                </a:solidFill>
                <a:effectLst/>
                <a:uLnTx/>
                <a:uFillTx/>
                <a:latin typeface="+mn-lt"/>
                <a:ea typeface="+mn-ea"/>
                <a:cs typeface="+mn-cs"/>
              </a:rPr>
              <a:t> is defined as </a:t>
            </a:r>
            <a:r>
              <a:rPr kumimoji="0" lang="en-US" sz="2200" b="1" i="1" u="none" strike="noStrike" kern="1200" cap="none" spc="0" normalizeH="0" baseline="0" noProof="0" smtClean="0">
                <a:ln>
                  <a:noFill/>
                </a:ln>
                <a:solidFill>
                  <a:srgbClr val="7030A0"/>
                </a:solidFill>
                <a:effectLst/>
                <a:uLnTx/>
                <a:uFillTx/>
                <a:latin typeface="+mn-lt"/>
                <a:ea typeface="+mn-ea"/>
                <a:cs typeface="+mn-cs"/>
              </a:rPr>
              <a:t>the pressure exerted by its vapor in phase equilibrium with its liquid at a given temperature</a:t>
            </a:r>
            <a:endParaRPr kumimoji="0" lang="en-US" sz="2200" b="1" i="1" u="none" strike="noStrike" kern="1200" cap="none" spc="0" normalizeH="0" baseline="0" noProof="0" smtClean="0">
              <a:ln>
                <a:noFill/>
              </a:ln>
              <a:solidFill>
                <a:srgbClr val="7030A0"/>
              </a:solidFill>
              <a:effectLst/>
              <a:uLnTx/>
              <a:uFillTx/>
              <a:latin typeface="+mn-lt"/>
              <a:ea typeface="+mn-ea"/>
              <a:cs typeface="+mn-cs"/>
            </a:endParaRPr>
          </a:p>
          <a:p>
            <a:pPr marL="342900" marR="0" lvl="0" indent="-342900" algn="just" defTabSz="914400" rtl="0" eaLnBrk="1" fontAlgn="auto" latinLnBrk="0" hangingPunct="1">
              <a:lnSpc>
                <a:spcPct val="80000"/>
              </a:lnSpc>
              <a:spcBef>
                <a:spcPct val="20000"/>
              </a:spcBef>
              <a:spcAft>
                <a:spcPts val="0"/>
              </a:spcAft>
              <a:buClrTx/>
              <a:buSzTx/>
              <a:buFont typeface="Arial" panose="020B0604020202020204" pitchFamily="34" charset="0"/>
              <a:buChar char="•"/>
              <a:defRPr/>
            </a:pPr>
            <a:endParaRPr kumimoji="0" lang="en-US" sz="2200" b="1"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80000"/>
              </a:lnSpc>
              <a:spcBef>
                <a:spcPct val="20000"/>
              </a:spcBef>
              <a:spcAft>
                <a:spcPts val="0"/>
              </a:spcAft>
              <a:buClrTx/>
              <a:buSzTx/>
              <a:buFont typeface="Arial" panose="020B0604020202020204" pitchFamily="34" charset="0"/>
              <a:buChar char="•"/>
              <a:defRPr/>
            </a:pPr>
            <a:r>
              <a:rPr kumimoji="0" lang="en-US" sz="2200" b="1" i="0" u="none" strike="noStrike" kern="1200" cap="none" spc="0" normalizeH="0" baseline="0" noProof="0" smtClean="0">
                <a:ln>
                  <a:noFill/>
                </a:ln>
                <a:solidFill>
                  <a:srgbClr val="00B050"/>
                </a:solidFill>
                <a:effectLst/>
                <a:uLnTx/>
                <a:uFillTx/>
                <a:latin typeface="+mn-lt"/>
                <a:ea typeface="+mn-ea"/>
                <a:cs typeface="+mn-cs"/>
              </a:rPr>
              <a:t>If P drops below </a:t>
            </a:r>
            <a:r>
              <a:rPr kumimoji="0" lang="en-US" sz="2200" b="1" i="1" u="none" strike="noStrike" kern="1200" cap="none" spc="0" normalizeH="0" baseline="0" noProof="0" smtClean="0">
                <a:ln>
                  <a:noFill/>
                </a:ln>
                <a:solidFill>
                  <a:srgbClr val="00B050"/>
                </a:solidFill>
                <a:effectLst/>
                <a:uLnTx/>
                <a:uFillTx/>
                <a:latin typeface="+mn-lt"/>
                <a:ea typeface="+mn-ea"/>
                <a:cs typeface="+mn-cs"/>
              </a:rPr>
              <a:t>P</a:t>
            </a:r>
            <a:r>
              <a:rPr kumimoji="0" lang="en-US" sz="2200" b="1" i="1" u="none" strike="noStrike" kern="1200" cap="none" spc="0" normalizeH="0" baseline="-25000" noProof="0" smtClean="0">
                <a:ln>
                  <a:noFill/>
                </a:ln>
                <a:solidFill>
                  <a:srgbClr val="00B050"/>
                </a:solidFill>
                <a:effectLst/>
                <a:uLnTx/>
                <a:uFillTx/>
                <a:latin typeface="+mn-lt"/>
                <a:ea typeface="+mn-ea"/>
                <a:cs typeface="+mn-cs"/>
              </a:rPr>
              <a:t>v</a:t>
            </a:r>
            <a:r>
              <a:rPr kumimoji="0" lang="en-US" sz="2200" b="1" i="0" u="none" strike="noStrike" kern="1200" cap="none" spc="0" normalizeH="0" baseline="0" noProof="0" smtClean="0">
                <a:ln>
                  <a:noFill/>
                </a:ln>
                <a:solidFill>
                  <a:srgbClr val="00B050"/>
                </a:solidFill>
                <a:effectLst/>
                <a:uLnTx/>
                <a:uFillTx/>
                <a:latin typeface="+mn-lt"/>
                <a:ea typeface="+mn-ea"/>
                <a:cs typeface="+mn-cs"/>
              </a:rPr>
              <a:t>, liquid is locally vaporized, creating cavities of vapor.  </a:t>
            </a:r>
            <a:endParaRPr kumimoji="0" lang="en-US" sz="2200" b="1" i="0" u="none" strike="noStrike" kern="1200" cap="none" spc="0" normalizeH="0" baseline="0" noProof="0" smtClean="0">
              <a:ln>
                <a:noFill/>
              </a:ln>
              <a:solidFill>
                <a:srgbClr val="00B050"/>
              </a:solidFill>
              <a:effectLst/>
              <a:uLnTx/>
              <a:uFillTx/>
              <a:latin typeface="+mn-lt"/>
              <a:ea typeface="+mn-ea"/>
              <a:cs typeface="+mn-cs"/>
            </a:endParaRPr>
          </a:p>
          <a:p>
            <a:pPr marL="342900" marR="0" lvl="0" indent="-342900" algn="just" defTabSz="914400" rtl="0" eaLnBrk="1" fontAlgn="auto" latinLnBrk="0" hangingPunct="1">
              <a:lnSpc>
                <a:spcPct val="80000"/>
              </a:lnSpc>
              <a:spcBef>
                <a:spcPct val="20000"/>
              </a:spcBef>
              <a:spcAft>
                <a:spcPts val="0"/>
              </a:spcAft>
              <a:buClrTx/>
              <a:buSzTx/>
              <a:buFont typeface="Arial" panose="020B0604020202020204" pitchFamily="34" charset="0"/>
              <a:buChar char="•"/>
              <a:defRPr/>
            </a:pPr>
            <a:endParaRPr kumimoji="0" lang="en-US" sz="2200" b="1"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80000"/>
              </a:lnSpc>
              <a:spcBef>
                <a:spcPct val="20000"/>
              </a:spcBef>
              <a:spcAft>
                <a:spcPts val="0"/>
              </a:spcAft>
              <a:buClrTx/>
              <a:buSzTx/>
              <a:buFont typeface="Arial" panose="020B0604020202020204" pitchFamily="34" charset="0"/>
              <a:buChar char="•"/>
              <a:defRPr/>
            </a:pPr>
            <a:r>
              <a:rPr kumimoji="0" lang="en-US" sz="2200" b="1" i="0" u="none" strike="noStrike" kern="1200" cap="none" spc="0" normalizeH="0" baseline="0" noProof="0" smtClean="0">
                <a:ln>
                  <a:noFill/>
                </a:ln>
                <a:solidFill>
                  <a:srgbClr val="7030A0"/>
                </a:solidFill>
                <a:effectLst/>
                <a:uLnTx/>
                <a:uFillTx/>
                <a:latin typeface="+mn-lt"/>
                <a:ea typeface="+mn-ea"/>
                <a:cs typeface="+mn-cs"/>
              </a:rPr>
              <a:t>Vapor cavities collapse when local </a:t>
            </a:r>
            <a:r>
              <a:rPr kumimoji="0" lang="en-US" sz="2200" b="1" i="1" u="none" strike="noStrike" kern="1200" cap="none" spc="0" normalizeH="0" baseline="0" noProof="0" smtClean="0">
                <a:ln>
                  <a:noFill/>
                </a:ln>
                <a:solidFill>
                  <a:srgbClr val="7030A0"/>
                </a:solidFill>
                <a:effectLst/>
                <a:uLnTx/>
                <a:uFillTx/>
                <a:latin typeface="+mn-lt"/>
                <a:ea typeface="+mn-ea"/>
                <a:cs typeface="+mn-cs"/>
              </a:rPr>
              <a:t>P</a:t>
            </a:r>
            <a:r>
              <a:rPr kumimoji="0" lang="en-US" sz="2200" b="1" i="0" u="none" strike="noStrike" kern="1200" cap="none" spc="0" normalizeH="0" baseline="0" noProof="0" smtClean="0">
                <a:ln>
                  <a:noFill/>
                </a:ln>
                <a:solidFill>
                  <a:srgbClr val="7030A0"/>
                </a:solidFill>
                <a:effectLst/>
                <a:uLnTx/>
                <a:uFillTx/>
                <a:latin typeface="+mn-lt"/>
                <a:ea typeface="+mn-ea"/>
                <a:cs typeface="+mn-cs"/>
              </a:rPr>
              <a:t> rises above </a:t>
            </a:r>
            <a:r>
              <a:rPr kumimoji="0" lang="en-US" sz="2200" b="1" i="1" u="none" strike="noStrike" kern="1200" cap="none" spc="0" normalizeH="0" baseline="0" noProof="0" smtClean="0">
                <a:ln>
                  <a:noFill/>
                </a:ln>
                <a:solidFill>
                  <a:srgbClr val="7030A0"/>
                </a:solidFill>
                <a:effectLst/>
                <a:uLnTx/>
                <a:uFillTx/>
                <a:latin typeface="+mn-lt"/>
                <a:ea typeface="+mn-ea"/>
                <a:cs typeface="+mn-cs"/>
              </a:rPr>
              <a:t>P</a:t>
            </a:r>
            <a:r>
              <a:rPr kumimoji="0" lang="en-US" sz="2200" b="1" i="1" u="none" strike="noStrike" kern="1200" cap="none" spc="0" normalizeH="0" baseline="-25000" noProof="0" smtClean="0">
                <a:ln>
                  <a:noFill/>
                </a:ln>
                <a:solidFill>
                  <a:srgbClr val="7030A0"/>
                </a:solidFill>
                <a:effectLst/>
                <a:uLnTx/>
                <a:uFillTx/>
                <a:latin typeface="+mn-lt"/>
                <a:ea typeface="+mn-ea"/>
                <a:cs typeface="+mn-cs"/>
              </a:rPr>
              <a:t>v</a:t>
            </a:r>
            <a:r>
              <a:rPr kumimoji="0" lang="en-US" sz="2200" b="1" i="0" u="none" strike="noStrike" kern="1200" cap="none" spc="0" normalizeH="0" baseline="0" noProof="0" smtClean="0">
                <a:ln>
                  <a:noFill/>
                </a:ln>
                <a:solidFill>
                  <a:srgbClr val="7030A0"/>
                </a:solidFill>
                <a:effectLst/>
                <a:uLnTx/>
                <a:uFillTx/>
                <a:latin typeface="+mn-lt"/>
                <a:ea typeface="+mn-ea"/>
                <a:cs typeface="+mn-cs"/>
              </a:rPr>
              <a:t>.</a:t>
            </a:r>
            <a:endParaRPr kumimoji="0" lang="en-US" sz="2200" b="1" i="0" u="none" strike="noStrike" kern="1200" cap="none" spc="0" normalizeH="0" baseline="0" noProof="0" smtClean="0">
              <a:ln>
                <a:noFill/>
              </a:ln>
              <a:solidFill>
                <a:srgbClr val="7030A0"/>
              </a:solidFill>
              <a:effectLst/>
              <a:uLnTx/>
              <a:uFillTx/>
              <a:latin typeface="+mn-lt"/>
              <a:ea typeface="+mn-ea"/>
              <a:cs typeface="+mn-cs"/>
            </a:endParaRPr>
          </a:p>
          <a:p>
            <a:pPr marL="342900" marR="0" lvl="0" indent="-342900" algn="just" defTabSz="914400" rtl="0" eaLnBrk="1" fontAlgn="auto" latinLnBrk="0" hangingPunct="1">
              <a:lnSpc>
                <a:spcPct val="80000"/>
              </a:lnSpc>
              <a:spcBef>
                <a:spcPct val="20000"/>
              </a:spcBef>
              <a:spcAft>
                <a:spcPts val="0"/>
              </a:spcAft>
              <a:buClrTx/>
              <a:buSzTx/>
              <a:buFont typeface="Arial" panose="020B0604020202020204" pitchFamily="34" charset="0"/>
              <a:buChar char="•"/>
              <a:defRPr/>
            </a:pPr>
            <a:endParaRPr kumimoji="0" lang="en-US" sz="2200" b="1"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 name="Rectangle 2"/>
          <p:cNvSpPr txBox="1">
            <a:spLocks noChangeArrowheads="1"/>
          </p:cNvSpPr>
          <p:nvPr/>
        </p:nvSpPr>
        <p:spPr>
          <a:xfrm>
            <a:off x="990600" y="0"/>
            <a:ext cx="7315200" cy="639763"/>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US" sz="4400" b="1" dirty="0" smtClean="0">
                <a:solidFill>
                  <a:srgbClr val="C00000"/>
                </a:solidFill>
                <a:ea typeface="+mj-ea"/>
                <a:cs typeface="+mj-cs"/>
              </a:rPr>
              <a:t> Vapor Pressure and Cavitation</a:t>
            </a:r>
            <a:endParaRPr kumimoji="0" lang="en-US" sz="4400" b="1" i="0" u="none" strike="noStrike" kern="1200" cap="none" spc="0" normalizeH="0" baseline="0" noProof="0" dirty="0">
              <a:ln>
                <a:noFill/>
              </a:ln>
              <a:solidFill>
                <a:srgbClr val="C00000"/>
              </a:solidFill>
              <a:effectLst/>
              <a:uLnTx/>
              <a:uFillTx/>
              <a:latin typeface="+mn-lt"/>
              <a:ea typeface="+mj-ea"/>
              <a:cs typeface="+mj-cs"/>
            </a:endParaRPr>
          </a:p>
        </p:txBody>
      </p:sp>
      <p:pic>
        <p:nvPicPr>
          <p:cNvPr id="4" name="Picture 3" descr="31.jpg"/>
          <p:cNvPicPr>
            <a:picLocks noChangeAspect="1"/>
          </p:cNvPicPr>
          <p:nvPr/>
        </p:nvPicPr>
        <p:blipFill>
          <a:blip r:embed="rId1"/>
          <a:stretch>
            <a:fillRect/>
          </a:stretch>
        </p:blipFill>
        <p:spPr>
          <a:xfrm>
            <a:off x="4368800" y="1143000"/>
            <a:ext cx="4470400" cy="3352800"/>
          </a:xfrm>
          <a:prstGeom prst="rect">
            <a:avLst/>
          </a:prstGeom>
        </p:spPr>
      </p:pic>
      <p:sp>
        <p:nvSpPr>
          <p:cNvPr id="5" name="Rectangle 4"/>
          <p:cNvSpPr/>
          <p:nvPr/>
        </p:nvSpPr>
        <p:spPr>
          <a:xfrm>
            <a:off x="0" y="5181600"/>
            <a:ext cx="8915400" cy="1040285"/>
          </a:xfrm>
          <a:prstGeom prst="rect">
            <a:avLst/>
          </a:prstGeom>
        </p:spPr>
        <p:txBody>
          <a:bodyPr wrap="square">
            <a:spAutoFit/>
          </a:bodyPr>
          <a:lstStyle/>
          <a:p>
            <a:pPr marL="342900" lvl="0" indent="-342900" algn="just">
              <a:lnSpc>
                <a:spcPct val="80000"/>
              </a:lnSpc>
              <a:spcBef>
                <a:spcPct val="20000"/>
              </a:spcBef>
              <a:buFont typeface="Arial" panose="020B0604020202020204" pitchFamily="34" charset="0"/>
              <a:buChar char="•"/>
              <a:defRPr/>
            </a:pPr>
            <a:r>
              <a:rPr lang="en-US" sz="2200" b="1" dirty="0" smtClean="0">
                <a:solidFill>
                  <a:srgbClr val="00B050"/>
                </a:solidFill>
              </a:rPr>
              <a:t>Collapse of cavities is a violent process which can damage machinery.</a:t>
            </a:r>
            <a:endParaRPr lang="en-US" sz="2200" b="1" dirty="0" smtClean="0">
              <a:solidFill>
                <a:srgbClr val="00B050"/>
              </a:solidFill>
            </a:endParaRPr>
          </a:p>
          <a:p>
            <a:pPr marL="342900" lvl="0" indent="-342900" algn="just">
              <a:lnSpc>
                <a:spcPct val="80000"/>
              </a:lnSpc>
              <a:spcBef>
                <a:spcPct val="20000"/>
              </a:spcBef>
              <a:buFont typeface="Arial" panose="020B0604020202020204" pitchFamily="34" charset="0"/>
              <a:buChar char="•"/>
              <a:defRPr/>
            </a:pPr>
            <a:endParaRPr lang="en-US" sz="2200" b="1" dirty="0" smtClean="0"/>
          </a:p>
          <a:p>
            <a:pPr marL="342900" lvl="0" indent="-342900" algn="just">
              <a:lnSpc>
                <a:spcPct val="80000"/>
              </a:lnSpc>
              <a:spcBef>
                <a:spcPct val="20000"/>
              </a:spcBef>
              <a:buFont typeface="Arial" panose="020B0604020202020204" pitchFamily="34" charset="0"/>
              <a:buChar char="•"/>
              <a:defRPr/>
            </a:pPr>
            <a:r>
              <a:rPr lang="en-US" sz="2200" b="1" dirty="0" smtClean="0">
                <a:solidFill>
                  <a:srgbClr val="7030A0"/>
                </a:solidFill>
              </a:rPr>
              <a:t>Cavitation is noisy, and can cause structural vibrations.</a:t>
            </a:r>
            <a:endParaRPr lang="en-US" sz="2200" b="1" dirty="0">
              <a:solidFill>
                <a:srgbClr val="7030A0"/>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62622" y="-76200"/>
            <a:ext cx="5676378" cy="706755"/>
          </a:xfrm>
          <a:prstGeom prst="rect">
            <a:avLst/>
          </a:prstGeom>
          <a:noFill/>
        </p:spPr>
        <p:txBody>
          <a:bodyPr wrap="square" rtlCol="0">
            <a:spAutoFit/>
          </a:bodyPr>
          <a:lstStyle/>
          <a:p>
            <a:r>
              <a:rPr lang="en-US" sz="4000" b="1" i="1" dirty="0" smtClean="0">
                <a:solidFill>
                  <a:schemeClr val="tx2">
                    <a:lumMod val="75000"/>
                  </a:schemeClr>
                </a:solidFill>
                <a:effectLst>
                  <a:outerShdw blurRad="38100" dist="38100" dir="2700000" algn="tl">
                    <a:srgbClr val="000000">
                      <a:alpha val="43137"/>
                    </a:srgbClr>
                  </a:outerShdw>
                </a:effectLst>
              </a:rPr>
              <a:t>Ideal Fluids  vs Real Fluids</a:t>
            </a:r>
            <a:endParaRPr lang="en-US" sz="4000" b="1" i="1" dirty="0" smtClean="0">
              <a:solidFill>
                <a:schemeClr val="tx2">
                  <a:lumMod val="75000"/>
                </a:schemeClr>
              </a:solidFill>
              <a:effectLst>
                <a:outerShdw blurRad="38100" dist="38100" dir="2700000" algn="tl">
                  <a:srgbClr val="000000">
                    <a:alpha val="43137"/>
                  </a:srgbClr>
                </a:outerShdw>
              </a:effectLst>
            </a:endParaRPr>
          </a:p>
        </p:txBody>
      </p:sp>
      <p:sp>
        <p:nvSpPr>
          <p:cNvPr id="3" name="TextBox 2"/>
          <p:cNvSpPr txBox="1"/>
          <p:nvPr/>
        </p:nvSpPr>
        <p:spPr>
          <a:xfrm>
            <a:off x="152400" y="1828800"/>
            <a:ext cx="4114800" cy="2400657"/>
          </a:xfrm>
          <a:prstGeom prst="rect">
            <a:avLst/>
          </a:prstGeom>
          <a:noFill/>
        </p:spPr>
        <p:txBody>
          <a:bodyPr wrap="square" rtlCol="0">
            <a:spAutoFit/>
          </a:bodyPr>
          <a:lstStyle/>
          <a:p>
            <a:r>
              <a:rPr lang="en-US" sz="2200" b="1" dirty="0" smtClean="0">
                <a:solidFill>
                  <a:srgbClr val="7030A0"/>
                </a:solidFill>
              </a:rPr>
              <a:t>Incompressible</a:t>
            </a:r>
            <a:endParaRPr lang="en-US" sz="2200" b="1" dirty="0" smtClean="0">
              <a:solidFill>
                <a:srgbClr val="7030A0"/>
              </a:solidFill>
            </a:endParaRPr>
          </a:p>
          <a:p>
            <a:br>
              <a:rPr lang="en-US" sz="2200" b="1" dirty="0" smtClean="0">
                <a:solidFill>
                  <a:srgbClr val="7030A0"/>
                </a:solidFill>
              </a:rPr>
            </a:br>
            <a:r>
              <a:rPr lang="en-US" sz="2200" b="1" dirty="0" smtClean="0">
                <a:solidFill>
                  <a:srgbClr val="7030A0"/>
                </a:solidFill>
              </a:rPr>
              <a:t>It has zero viscosity</a:t>
            </a:r>
            <a:endParaRPr lang="en-US" sz="2200" b="1" dirty="0" smtClean="0">
              <a:solidFill>
                <a:srgbClr val="7030A0"/>
              </a:solidFill>
            </a:endParaRPr>
          </a:p>
          <a:p>
            <a:br>
              <a:rPr lang="en-US" sz="2200" b="1" dirty="0" smtClean="0">
                <a:solidFill>
                  <a:srgbClr val="7030A0"/>
                </a:solidFill>
              </a:rPr>
            </a:br>
            <a:r>
              <a:rPr lang="en-US" sz="2200" b="1" dirty="0" smtClean="0">
                <a:solidFill>
                  <a:srgbClr val="7030A0"/>
                </a:solidFill>
              </a:rPr>
              <a:t>No resistance is encountered as the fluid moves</a:t>
            </a:r>
            <a:endParaRPr lang="en-US" sz="2200" b="1" dirty="0" smtClean="0">
              <a:solidFill>
                <a:srgbClr val="7030A0"/>
              </a:solidFill>
            </a:endParaRPr>
          </a:p>
          <a:p>
            <a:endParaRPr lang="en-US" dirty="0"/>
          </a:p>
        </p:txBody>
      </p:sp>
      <p:sp>
        <p:nvSpPr>
          <p:cNvPr id="4" name="Rectangle 3"/>
          <p:cNvSpPr/>
          <p:nvPr/>
        </p:nvSpPr>
        <p:spPr>
          <a:xfrm>
            <a:off x="4953000" y="1752600"/>
            <a:ext cx="3886200" cy="2462213"/>
          </a:xfrm>
          <a:prstGeom prst="rect">
            <a:avLst/>
          </a:prstGeom>
        </p:spPr>
        <p:txBody>
          <a:bodyPr wrap="square">
            <a:spAutoFit/>
          </a:bodyPr>
          <a:lstStyle/>
          <a:p>
            <a:r>
              <a:rPr lang="en-US" sz="2200" b="1" dirty="0" smtClean="0">
                <a:solidFill>
                  <a:srgbClr val="00B0F0"/>
                </a:solidFill>
              </a:rPr>
              <a:t>Compressible</a:t>
            </a:r>
            <a:endParaRPr lang="en-US" sz="2200" b="1" dirty="0" smtClean="0">
              <a:solidFill>
                <a:srgbClr val="00B0F0"/>
              </a:solidFill>
            </a:endParaRPr>
          </a:p>
          <a:p>
            <a:br>
              <a:rPr lang="en-US" sz="2200" b="1" dirty="0" smtClean="0">
                <a:solidFill>
                  <a:srgbClr val="00B0F0"/>
                </a:solidFill>
              </a:rPr>
            </a:br>
            <a:r>
              <a:rPr lang="en-US" sz="2200" b="1" dirty="0" smtClean="0">
                <a:solidFill>
                  <a:srgbClr val="00B0F0"/>
                </a:solidFill>
              </a:rPr>
              <a:t>Viscous in nature</a:t>
            </a:r>
            <a:endParaRPr lang="en-US" sz="2200" b="1" dirty="0" smtClean="0">
              <a:solidFill>
                <a:srgbClr val="00B0F0"/>
              </a:solidFill>
            </a:endParaRPr>
          </a:p>
          <a:p>
            <a:br>
              <a:rPr lang="en-US" sz="2200" b="1" dirty="0" smtClean="0">
                <a:solidFill>
                  <a:srgbClr val="00B0F0"/>
                </a:solidFill>
              </a:rPr>
            </a:br>
            <a:r>
              <a:rPr lang="en-US" sz="2200" b="1" dirty="0" smtClean="0">
                <a:solidFill>
                  <a:srgbClr val="00B0F0"/>
                </a:solidFill>
              </a:rPr>
              <a:t>Certain amount of resistance is always offered by these fluids as they move</a:t>
            </a:r>
            <a:endParaRPr lang="en-US" sz="2200" b="1" dirty="0">
              <a:solidFill>
                <a:srgbClr val="00B0F0"/>
              </a:solidFill>
            </a:endParaRPr>
          </a:p>
        </p:txBody>
      </p:sp>
      <p:sp>
        <p:nvSpPr>
          <p:cNvPr id="5" name="Rectangle 4"/>
          <p:cNvSpPr/>
          <p:nvPr/>
        </p:nvSpPr>
        <p:spPr>
          <a:xfrm>
            <a:off x="914400" y="990600"/>
            <a:ext cx="1952779" cy="523220"/>
          </a:xfrm>
          <a:prstGeom prst="rect">
            <a:avLst/>
          </a:prstGeom>
          <a:solidFill>
            <a:srgbClr val="FFFF00"/>
          </a:solidFill>
        </p:spPr>
        <p:txBody>
          <a:bodyPr wrap="none">
            <a:spAutoFit/>
          </a:bodyPr>
          <a:lstStyle/>
          <a:p>
            <a:r>
              <a:rPr lang="en-US" sz="2800" b="1" dirty="0" smtClean="0"/>
              <a:t>Ideal Fluids </a:t>
            </a:r>
            <a:endParaRPr lang="en-US" sz="2800" dirty="0"/>
          </a:p>
        </p:txBody>
      </p:sp>
      <p:sp>
        <p:nvSpPr>
          <p:cNvPr id="6" name="Rectangle 5"/>
          <p:cNvSpPr/>
          <p:nvPr/>
        </p:nvSpPr>
        <p:spPr>
          <a:xfrm>
            <a:off x="6172200" y="990600"/>
            <a:ext cx="1779205" cy="523220"/>
          </a:xfrm>
          <a:prstGeom prst="rect">
            <a:avLst/>
          </a:prstGeom>
          <a:solidFill>
            <a:srgbClr val="FFFF00"/>
          </a:solidFill>
        </p:spPr>
        <p:txBody>
          <a:bodyPr wrap="none">
            <a:spAutoFit/>
          </a:bodyPr>
          <a:lstStyle/>
          <a:p>
            <a:r>
              <a:rPr lang="en-US" sz="2800" b="1" dirty="0" smtClean="0"/>
              <a:t>Real Fluids</a:t>
            </a:r>
            <a:endParaRPr lang="en-US" sz="28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685800" y="-76200"/>
            <a:ext cx="8153400" cy="707886"/>
          </a:xfrm>
          <a:prstGeom prst="rect">
            <a:avLst/>
          </a:prstGeom>
          <a:noFill/>
        </p:spPr>
        <p:txBody>
          <a:bodyPr wrap="square" rtlCol="0">
            <a:spAutoFit/>
          </a:bodyPr>
          <a:lstStyle/>
          <a:p>
            <a:r>
              <a:rPr lang="en-US" sz="4000" b="1" i="1" dirty="0" smtClean="0">
                <a:solidFill>
                  <a:schemeClr val="tx2">
                    <a:lumMod val="75000"/>
                  </a:schemeClr>
                </a:solidFill>
                <a:effectLst>
                  <a:outerShdw blurRad="38100" dist="38100" dir="2700000" algn="tl">
                    <a:srgbClr val="000000">
                      <a:alpha val="43137"/>
                    </a:srgbClr>
                  </a:outerShdw>
                </a:effectLst>
              </a:rPr>
              <a:t>Incompressible vs Compressible Flow</a:t>
            </a:r>
            <a:endParaRPr lang="en-US" sz="4000" b="1" i="1" dirty="0" smtClean="0">
              <a:solidFill>
                <a:schemeClr val="tx2">
                  <a:lumMod val="75000"/>
                </a:schemeClr>
              </a:solidFill>
              <a:effectLst>
                <a:outerShdw blurRad="38100" dist="38100" dir="2700000" algn="tl">
                  <a:srgbClr val="000000">
                    <a:alpha val="43137"/>
                  </a:srgbClr>
                </a:outerShdw>
              </a:effectLst>
            </a:endParaRPr>
          </a:p>
        </p:txBody>
      </p:sp>
      <p:sp>
        <p:nvSpPr>
          <p:cNvPr id="3" name="TextBox 2"/>
          <p:cNvSpPr txBox="1"/>
          <p:nvPr/>
        </p:nvSpPr>
        <p:spPr>
          <a:xfrm>
            <a:off x="533400" y="1143000"/>
            <a:ext cx="3276600" cy="523220"/>
          </a:xfrm>
          <a:prstGeom prst="rect">
            <a:avLst/>
          </a:prstGeom>
          <a:solidFill>
            <a:srgbClr val="FFFF00"/>
          </a:solidFill>
        </p:spPr>
        <p:txBody>
          <a:bodyPr wrap="square" rtlCol="0">
            <a:spAutoFit/>
          </a:bodyPr>
          <a:lstStyle/>
          <a:p>
            <a:r>
              <a:rPr lang="en-US" sz="2800" b="1" dirty="0" smtClean="0"/>
              <a:t>Incompressible Flow</a:t>
            </a:r>
            <a:endParaRPr lang="en-US" sz="2800" b="1" dirty="0"/>
          </a:p>
        </p:txBody>
      </p:sp>
      <p:sp>
        <p:nvSpPr>
          <p:cNvPr id="4" name="TextBox 3"/>
          <p:cNvSpPr txBox="1"/>
          <p:nvPr/>
        </p:nvSpPr>
        <p:spPr>
          <a:xfrm>
            <a:off x="5334000" y="1143000"/>
            <a:ext cx="3276600" cy="523220"/>
          </a:xfrm>
          <a:prstGeom prst="rect">
            <a:avLst/>
          </a:prstGeom>
          <a:solidFill>
            <a:srgbClr val="FFFF00"/>
          </a:solidFill>
        </p:spPr>
        <p:txBody>
          <a:bodyPr wrap="square" rtlCol="0">
            <a:spAutoFit/>
          </a:bodyPr>
          <a:lstStyle/>
          <a:p>
            <a:r>
              <a:rPr lang="en-US" sz="2800" b="1" dirty="0" smtClean="0"/>
              <a:t>Compressible Flow</a:t>
            </a:r>
            <a:endParaRPr lang="en-US" sz="2800" b="1" dirty="0"/>
          </a:p>
        </p:txBody>
      </p:sp>
      <p:sp>
        <p:nvSpPr>
          <p:cNvPr id="5" name="Rectangle 4"/>
          <p:cNvSpPr/>
          <p:nvPr/>
        </p:nvSpPr>
        <p:spPr>
          <a:xfrm>
            <a:off x="5257800" y="1981200"/>
            <a:ext cx="3864007" cy="430887"/>
          </a:xfrm>
          <a:prstGeom prst="rect">
            <a:avLst/>
          </a:prstGeom>
        </p:spPr>
        <p:txBody>
          <a:bodyPr wrap="none">
            <a:spAutoFit/>
          </a:bodyPr>
          <a:lstStyle/>
          <a:p>
            <a:r>
              <a:rPr lang="en-US" sz="2200" b="1" dirty="0" smtClean="0">
                <a:solidFill>
                  <a:srgbClr val="00B0F0"/>
                </a:solidFill>
              </a:rPr>
              <a:t>Variable density (Usually gases)</a:t>
            </a:r>
            <a:endParaRPr lang="en-US" sz="2200" b="1" dirty="0">
              <a:solidFill>
                <a:srgbClr val="00B0F0"/>
              </a:solidFill>
            </a:endParaRPr>
          </a:p>
        </p:txBody>
      </p:sp>
      <p:sp>
        <p:nvSpPr>
          <p:cNvPr id="6" name="Rectangle 5"/>
          <p:cNvSpPr/>
          <p:nvPr/>
        </p:nvSpPr>
        <p:spPr>
          <a:xfrm>
            <a:off x="76200" y="1905000"/>
            <a:ext cx="4572000" cy="1785104"/>
          </a:xfrm>
          <a:prstGeom prst="rect">
            <a:avLst/>
          </a:prstGeom>
        </p:spPr>
        <p:txBody>
          <a:bodyPr>
            <a:spAutoFit/>
          </a:bodyPr>
          <a:lstStyle/>
          <a:p>
            <a:pPr algn="just"/>
            <a:r>
              <a:rPr lang="en-US" sz="2200" b="1" dirty="0" smtClean="0">
                <a:solidFill>
                  <a:srgbClr val="7030A0"/>
                </a:solidFill>
              </a:rPr>
              <a:t>Constant density (Usually liquids) (even though they are very slightly compressible in the real world, this is negligible from an educational standpoint)</a:t>
            </a:r>
            <a:endParaRPr lang="en-US" sz="2200" b="1" dirty="0">
              <a:solidFill>
                <a:srgbClr val="7030A0"/>
              </a:solidFill>
            </a:endParaRPr>
          </a:p>
        </p:txBody>
      </p:sp>
      <p:sp>
        <p:nvSpPr>
          <p:cNvPr id="7" name="Rectangle 6"/>
          <p:cNvSpPr/>
          <p:nvPr/>
        </p:nvSpPr>
        <p:spPr>
          <a:xfrm>
            <a:off x="76200" y="4268450"/>
            <a:ext cx="4572000" cy="1446550"/>
          </a:xfrm>
          <a:prstGeom prst="rect">
            <a:avLst/>
          </a:prstGeom>
        </p:spPr>
        <p:txBody>
          <a:bodyPr>
            <a:spAutoFit/>
          </a:bodyPr>
          <a:lstStyle/>
          <a:p>
            <a:pPr algn="just"/>
            <a:r>
              <a:rPr lang="en-US" sz="2200" b="1" dirty="0" smtClean="0">
                <a:solidFill>
                  <a:srgbClr val="7030A0"/>
                </a:solidFill>
              </a:rPr>
              <a:t>Mach number (</a:t>
            </a:r>
            <a:r>
              <a:rPr lang="en-US" sz="2200" b="1" dirty="0" smtClean="0">
                <a:solidFill>
                  <a:srgbClr val="C00000"/>
                </a:solidFill>
              </a:rPr>
              <a:t>which is the ratio of the speed of the flow to the speed of sound at a particular temperature</a:t>
            </a:r>
            <a:r>
              <a:rPr lang="en-US" sz="2200" b="1" dirty="0" smtClean="0">
                <a:solidFill>
                  <a:srgbClr val="7030A0"/>
                </a:solidFill>
              </a:rPr>
              <a:t>) is less than 0.3</a:t>
            </a:r>
            <a:endParaRPr lang="en-US" sz="2200" b="1" dirty="0">
              <a:solidFill>
                <a:srgbClr val="7030A0"/>
              </a:solidFill>
            </a:endParaRPr>
          </a:p>
        </p:txBody>
      </p:sp>
      <p:sp>
        <p:nvSpPr>
          <p:cNvPr id="8" name="Rectangle 7"/>
          <p:cNvSpPr/>
          <p:nvPr/>
        </p:nvSpPr>
        <p:spPr>
          <a:xfrm>
            <a:off x="5181600" y="4343400"/>
            <a:ext cx="3962400" cy="769441"/>
          </a:xfrm>
          <a:prstGeom prst="rect">
            <a:avLst/>
          </a:prstGeom>
        </p:spPr>
        <p:txBody>
          <a:bodyPr wrap="square">
            <a:spAutoFit/>
          </a:bodyPr>
          <a:lstStyle/>
          <a:p>
            <a:pPr algn="just"/>
            <a:r>
              <a:rPr lang="en-US" sz="2200" b="1" dirty="0" smtClean="0">
                <a:solidFill>
                  <a:srgbClr val="00B0F0"/>
                </a:solidFill>
              </a:rPr>
              <a:t>Mach number is greater than 0.3</a:t>
            </a:r>
            <a:endParaRPr lang="en-US" sz="2200" b="1" dirty="0">
              <a:solidFill>
                <a:srgbClr val="00B0F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15800</Words>
  <Application>WPS Presentation</Application>
  <PresentationFormat>On-screen Show (4:3)</PresentationFormat>
  <Paragraphs>508</Paragraphs>
  <Slides>44</Slides>
  <Notes>0</Notes>
  <HiddenSlides>0</HiddenSlides>
  <MMClips>0</MMClips>
  <ScaleCrop>false</ScaleCrop>
  <HeadingPairs>
    <vt:vector size="8" baseType="variant">
      <vt:variant>
        <vt:lpstr>已用的字体</vt:lpstr>
      </vt:variant>
      <vt:variant>
        <vt:i4>7</vt:i4>
      </vt:variant>
      <vt:variant>
        <vt:lpstr>主题</vt:lpstr>
      </vt:variant>
      <vt:variant>
        <vt:i4>2</vt:i4>
      </vt:variant>
      <vt:variant>
        <vt:lpstr>嵌入 OLE 服务器</vt:lpstr>
      </vt:variant>
      <vt:variant>
        <vt:i4>23</vt:i4>
      </vt:variant>
      <vt:variant>
        <vt:lpstr>幻灯片标题</vt:lpstr>
      </vt:variant>
      <vt:variant>
        <vt:i4>44</vt:i4>
      </vt:variant>
    </vt:vector>
  </HeadingPairs>
  <TitlesOfParts>
    <vt:vector size="76" baseType="lpstr">
      <vt:lpstr>Arial</vt:lpstr>
      <vt:lpstr>SimSun</vt:lpstr>
      <vt:lpstr>Wingdings</vt:lpstr>
      <vt:lpstr>Verdana</vt:lpstr>
      <vt:lpstr>Calibri</vt:lpstr>
      <vt:lpstr>Microsoft YaHei</vt:lpstr>
      <vt:lpstr>Arial Unicode MS</vt:lpstr>
      <vt:lpstr>Office Theme</vt:lpstr>
      <vt:lpstr>Custom Design</vt:lpstr>
      <vt:lpstr>Equation.3</vt:lpstr>
      <vt:lpstr>Equation.DSMT4</vt:lpstr>
      <vt:lpstr>Equation.DSMT4</vt:lpstr>
      <vt:lpstr>Equation.DSMT4</vt:lpstr>
      <vt:lpstr>Equation.DSMT4</vt:lpstr>
      <vt:lpstr>Equation.DSMT4</vt:lpstr>
      <vt:lpstr>Equation.DSMT4</vt:lpstr>
      <vt:lpstr>Equation.DSMT4</vt:lpstr>
      <vt:lpstr>Equation.DSMT4</vt:lpstr>
      <vt:lpstr>Equation.KSEE3</vt:lpstr>
      <vt:lpstr>Equation.KSEE3</vt:lpstr>
      <vt:lpstr>Equation.3</vt:lpstr>
      <vt:lpstr>Equation.DSMT4</vt:lpstr>
      <vt:lpstr>Equation.DSMT4</vt:lpstr>
      <vt:lpstr>Equation.DSMT4</vt:lpstr>
      <vt:lpstr>Equation.DSMT4</vt:lpstr>
      <vt:lpstr>Equation.3</vt:lpstr>
      <vt:lpstr>Equation.3</vt:lpstr>
      <vt:lpstr>Equation.3</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 Viscosity</vt:lpstr>
      <vt:lpstr>Viscosity</vt:lpstr>
      <vt:lpstr>PowerPoint 演示文稿</vt:lpstr>
      <vt:lpstr>Viscometry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Harichandan</dc:creator>
  <cp:lastModifiedBy>KIIT576</cp:lastModifiedBy>
  <cp:revision>201</cp:revision>
  <dcterms:created xsi:type="dcterms:W3CDTF">2016-12-26T07:54:00Z</dcterms:created>
  <dcterms:modified xsi:type="dcterms:W3CDTF">2020-07-28T19:46:43Z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2057-11.2.0.9453</vt:lpwstr>
  </property>
</Properties>
</file>