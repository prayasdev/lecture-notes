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8" d="100"/>
          <a:sy n="58" d="100"/>
        </p:scale>
        <p:origin x="1932" y="-5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2900" y="365760"/>
            <a:ext cx="6172200" cy="146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03120"/>
            <a:ext cx="61722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71488" y="8933180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jpg"/><Relationship Id="rId9" Type="http://schemas.openxmlformats.org/officeDocument/2006/relationships/image" Target="../media/image45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g"/><Relationship Id="rId13" Type="http://schemas.openxmlformats.org/officeDocument/2006/relationships/image" Target="../media/image57.jpg"/><Relationship Id="rId18" Type="http://schemas.openxmlformats.org/officeDocument/2006/relationships/image" Target="../media/image62.jpg"/><Relationship Id="rId26" Type="http://schemas.openxmlformats.org/officeDocument/2006/relationships/image" Target="../media/image70.jpg"/><Relationship Id="rId3" Type="http://schemas.openxmlformats.org/officeDocument/2006/relationships/image" Target="../media/image47.jpg"/><Relationship Id="rId21" Type="http://schemas.openxmlformats.org/officeDocument/2006/relationships/image" Target="../media/image65.jpg"/><Relationship Id="rId7" Type="http://schemas.openxmlformats.org/officeDocument/2006/relationships/image" Target="../media/image51.jpg"/><Relationship Id="rId12" Type="http://schemas.openxmlformats.org/officeDocument/2006/relationships/image" Target="../media/image56.jpg"/><Relationship Id="rId17" Type="http://schemas.openxmlformats.org/officeDocument/2006/relationships/image" Target="../media/image61.jpg"/><Relationship Id="rId25" Type="http://schemas.openxmlformats.org/officeDocument/2006/relationships/image" Target="../media/image69.jpg"/><Relationship Id="rId2" Type="http://schemas.openxmlformats.org/officeDocument/2006/relationships/image" Target="../media/image46.jpg"/><Relationship Id="rId16" Type="http://schemas.openxmlformats.org/officeDocument/2006/relationships/image" Target="../media/image60.jp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jpg"/><Relationship Id="rId11" Type="http://schemas.openxmlformats.org/officeDocument/2006/relationships/image" Target="../media/image55.jpg"/><Relationship Id="rId24" Type="http://schemas.openxmlformats.org/officeDocument/2006/relationships/image" Target="../media/image68.jpg"/><Relationship Id="rId5" Type="http://schemas.openxmlformats.org/officeDocument/2006/relationships/image" Target="../media/image49.jpg"/><Relationship Id="rId15" Type="http://schemas.openxmlformats.org/officeDocument/2006/relationships/image" Target="../media/image59.jpg"/><Relationship Id="rId23" Type="http://schemas.openxmlformats.org/officeDocument/2006/relationships/image" Target="../media/image67.jpg"/><Relationship Id="rId10" Type="http://schemas.openxmlformats.org/officeDocument/2006/relationships/image" Target="../media/image54.jpg"/><Relationship Id="rId19" Type="http://schemas.openxmlformats.org/officeDocument/2006/relationships/image" Target="../media/image63.jpg"/><Relationship Id="rId4" Type="http://schemas.openxmlformats.org/officeDocument/2006/relationships/image" Target="../media/image48.jpg"/><Relationship Id="rId9" Type="http://schemas.openxmlformats.org/officeDocument/2006/relationships/image" Target="../media/image53.jpg"/><Relationship Id="rId14" Type="http://schemas.openxmlformats.org/officeDocument/2006/relationships/image" Target="../media/image58.jpg"/><Relationship Id="rId22" Type="http://schemas.openxmlformats.org/officeDocument/2006/relationships/image" Target="../media/image66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3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144270" y="381000"/>
            <a:ext cx="4570730" cy="2021066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endParaRPr sz="19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endParaRPr sz="2650" dirty="0">
              <a:latin typeface="Times New Roman"/>
              <a:cs typeface="Times New Roman"/>
            </a:endParaRPr>
          </a:p>
          <a:p>
            <a:pPr marL="1247140" marR="604520" indent="-634365" algn="ctr">
              <a:lnSpc>
                <a:spcPts val="1730"/>
              </a:lnSpc>
            </a:pP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Eng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ee</a:t>
            </a: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sz="16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Th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na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mic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16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(</a:t>
            </a: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ET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)</a:t>
            </a:r>
            <a:endParaRPr lang="en-US" sz="1600" spc="-5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47140" marR="604520" indent="-634365" algn="ctr">
              <a:lnSpc>
                <a:spcPts val="1730"/>
              </a:lnSpc>
            </a:pPr>
            <a:r>
              <a:rPr lang="en-US" sz="1600" spc="-5" dirty="0">
                <a:solidFill>
                  <a:srgbClr val="FFFFFF"/>
                </a:solidFill>
                <a:latin typeface="Verdana"/>
                <a:cs typeface="Verdana"/>
              </a:rPr>
              <a:t>CUPGS Rourkela</a:t>
            </a:r>
          </a:p>
          <a:p>
            <a:pPr marL="1247140" marR="604520" indent="-634365" algn="ctr">
              <a:lnSpc>
                <a:spcPts val="1730"/>
              </a:lnSpc>
            </a:pPr>
            <a:endParaRPr lang="en-US" sz="1600" spc="-5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47140" marR="604520" indent="-634365" algn="ctr">
              <a:lnSpc>
                <a:spcPts val="1730"/>
              </a:lnSpc>
            </a:pPr>
            <a:endParaRPr lang="en-US" sz="1600" spc="-5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47140" marR="604520" indent="-634365" algn="ctr">
              <a:lnSpc>
                <a:spcPts val="1730"/>
              </a:lnSpc>
            </a:pPr>
            <a:endParaRPr lang="en-US" sz="1600" spc="-5" dirty="0">
              <a:solidFill>
                <a:srgbClr val="FFFFFF"/>
              </a:solidFill>
              <a:latin typeface="Verdana"/>
              <a:cs typeface="Verdana"/>
            </a:endParaRPr>
          </a:p>
          <a:p>
            <a:pPr marL="1247140" marR="604520" indent="-634365" algn="ctr">
              <a:lnSpc>
                <a:spcPts val="1730"/>
              </a:lnSpc>
            </a:pPr>
            <a:endParaRPr sz="16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000" y="380949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 marL="45720" marR="76835">
              <a:lnSpc>
                <a:spcPct val="90100"/>
              </a:lnSpc>
              <a:spcBef>
                <a:spcPts val="1255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Introduction</a:t>
            </a:r>
            <a:r>
              <a:rPr sz="18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rbel"/>
                <a:cs typeface="Corbel"/>
              </a:rPr>
              <a:t>to </a:t>
            </a:r>
            <a:r>
              <a:rPr sz="18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Engineering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he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rmo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ic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endParaRPr sz="1800" dirty="0">
              <a:latin typeface="Corbel"/>
              <a:cs typeface="Corbe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6571488" y="7518400"/>
            <a:ext cx="2317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2349245" y="3931314"/>
            <a:ext cx="214655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15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Corbel"/>
                <a:cs typeface="Corbel"/>
              </a:rPr>
              <a:t>The</a:t>
            </a:r>
            <a:r>
              <a:rPr sz="1600" dirty="0">
                <a:latin typeface="Corbel"/>
                <a:cs typeface="Corbel"/>
              </a:rPr>
              <a:t>rmo</a:t>
            </a:r>
            <a:r>
              <a:rPr sz="1600" spc="-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+</a:t>
            </a:r>
            <a:r>
              <a:rPr sz="1600" spc="-1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Dy</a:t>
            </a:r>
            <a:r>
              <a:rPr sz="1600" spc="5" dirty="0">
                <a:latin typeface="Corbel"/>
                <a:cs typeface="Corbel"/>
              </a:rPr>
              <a:t>n</a:t>
            </a:r>
            <a:r>
              <a:rPr sz="1600" dirty="0">
                <a:latin typeface="Corbel"/>
                <a:cs typeface="Corbel"/>
              </a:rPr>
              <a:t>a</a:t>
            </a:r>
            <a:r>
              <a:rPr sz="1600" spc="-5" dirty="0">
                <a:latin typeface="Corbel"/>
                <a:cs typeface="Corbel"/>
              </a:rPr>
              <a:t>mic</a:t>
            </a:r>
            <a:r>
              <a:rPr sz="1600" dirty="0">
                <a:latin typeface="Corbel"/>
                <a:cs typeface="Corbel"/>
              </a:rPr>
              <a:t>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49244" y="4312955"/>
            <a:ext cx="275615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15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Corbel"/>
                <a:cs typeface="Corbel"/>
              </a:rPr>
              <a:t>The</a:t>
            </a:r>
            <a:r>
              <a:rPr sz="1600" dirty="0">
                <a:latin typeface="Corbel"/>
                <a:cs typeface="Corbel"/>
              </a:rPr>
              <a:t>rmo</a:t>
            </a:r>
            <a:r>
              <a:rPr sz="1600" spc="-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:</a:t>
            </a:r>
            <a:r>
              <a:rPr sz="1600" spc="-1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mean</a:t>
            </a:r>
            <a:r>
              <a:rPr sz="1600" spc="-5" dirty="0">
                <a:latin typeface="Corbel"/>
                <a:cs typeface="Corbel"/>
              </a:rPr>
              <a:t>i</a:t>
            </a:r>
            <a:r>
              <a:rPr sz="1600" spc="5" dirty="0">
                <a:latin typeface="Corbel"/>
                <a:cs typeface="Corbel"/>
              </a:rPr>
              <a:t>n</a:t>
            </a:r>
            <a:r>
              <a:rPr sz="1600" dirty="0">
                <a:latin typeface="Corbel"/>
                <a:cs typeface="Corbel"/>
              </a:rPr>
              <a:t>g</a:t>
            </a:r>
            <a:r>
              <a:rPr sz="1600" spc="-15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i</a:t>
            </a:r>
            <a:r>
              <a:rPr sz="1600" dirty="0">
                <a:latin typeface="Corbel"/>
                <a:cs typeface="Corbel"/>
              </a:rPr>
              <a:t>s</a:t>
            </a:r>
            <a:r>
              <a:rPr sz="1600" spc="-1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ho</a:t>
            </a:r>
            <a:r>
              <a:rPr sz="1600" dirty="0">
                <a:latin typeface="Corbel"/>
                <a:cs typeface="Corbel"/>
              </a:rPr>
              <a:t>t</a:t>
            </a:r>
            <a:r>
              <a:rPr sz="1600" spc="-5" dirty="0">
                <a:latin typeface="Corbel"/>
                <a:cs typeface="Corbel"/>
              </a:rPr>
              <a:t> o</a:t>
            </a:r>
            <a:r>
              <a:rPr sz="1600" dirty="0">
                <a:latin typeface="Corbel"/>
                <a:cs typeface="Corbel"/>
              </a:rPr>
              <a:t>r</a:t>
            </a:r>
            <a:r>
              <a:rPr sz="1600" spc="-5" dirty="0">
                <a:latin typeface="Corbel"/>
                <a:cs typeface="Corbel"/>
              </a:rPr>
              <a:t> h</a:t>
            </a:r>
            <a:r>
              <a:rPr sz="1600" spc="5" dirty="0">
                <a:latin typeface="Corbel"/>
                <a:cs typeface="Corbel"/>
              </a:rPr>
              <a:t>e</a:t>
            </a:r>
            <a:r>
              <a:rPr sz="1600" dirty="0">
                <a:latin typeface="Corbel"/>
                <a:cs typeface="Corbel"/>
              </a:rPr>
              <a:t>at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349245" y="4740757"/>
            <a:ext cx="3592829" cy="7132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 marR="5080" indent="-86995">
              <a:lnSpc>
                <a:spcPct val="150000"/>
              </a:lnSpc>
              <a:spcBef>
                <a:spcPts val="100"/>
              </a:spcBef>
            </a:pPr>
            <a:r>
              <a:rPr sz="16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600" spc="-204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Corbel"/>
                <a:cs typeface="Corbel"/>
              </a:rPr>
              <a:t>Dynamics</a:t>
            </a:r>
            <a:r>
              <a:rPr sz="1600" dirty="0">
                <a:latin typeface="Corbel"/>
                <a:cs typeface="Corbel"/>
              </a:rPr>
              <a:t> :</a:t>
            </a:r>
            <a:r>
              <a:rPr sz="1600" spc="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meaning</a:t>
            </a:r>
            <a:r>
              <a:rPr sz="1600" spc="5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is</a:t>
            </a:r>
            <a:r>
              <a:rPr sz="1600" dirty="0">
                <a:latin typeface="Corbel"/>
                <a:cs typeface="Corbel"/>
              </a:rPr>
              <a:t> power</a:t>
            </a:r>
            <a:r>
              <a:rPr sz="1600" spc="5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or</a:t>
            </a:r>
            <a:r>
              <a:rPr sz="160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powerful,</a:t>
            </a:r>
            <a:r>
              <a:rPr sz="1600" dirty="0">
                <a:latin typeface="Corbel"/>
                <a:cs typeface="Corbel"/>
              </a:rPr>
              <a:t> the</a:t>
            </a:r>
            <a:r>
              <a:rPr sz="1600" spc="22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study</a:t>
            </a:r>
            <a:r>
              <a:rPr sz="1600" spc="215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of </a:t>
            </a:r>
            <a:r>
              <a:rPr sz="1600" spc="-21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matter</a:t>
            </a:r>
            <a:r>
              <a:rPr sz="1600" spc="-2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in</a:t>
            </a:r>
            <a:r>
              <a:rPr sz="160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motion.</a:t>
            </a:r>
            <a:endParaRPr sz="1600" dirty="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49245" y="5638800"/>
            <a:ext cx="3591560" cy="7132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 marR="5080" indent="-86995">
              <a:lnSpc>
                <a:spcPct val="150000"/>
              </a:lnSpc>
              <a:spcBef>
                <a:spcPts val="100"/>
              </a:spcBef>
            </a:pPr>
            <a:r>
              <a:rPr sz="16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600" spc="-18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Corbel"/>
                <a:cs typeface="Corbel"/>
              </a:rPr>
              <a:t>Thermodynamics</a:t>
            </a:r>
            <a:r>
              <a:rPr sz="1600" spc="10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means</a:t>
            </a:r>
            <a:r>
              <a:rPr sz="1600" spc="105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study</a:t>
            </a:r>
            <a:r>
              <a:rPr sz="1600" spc="105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of</a:t>
            </a:r>
            <a:r>
              <a:rPr sz="1600" spc="105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heat</a:t>
            </a:r>
            <a:r>
              <a:rPr sz="1600" spc="10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related</a:t>
            </a:r>
            <a:r>
              <a:rPr sz="1600" spc="10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to</a:t>
            </a:r>
            <a:r>
              <a:rPr sz="1600" spc="105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matter</a:t>
            </a:r>
            <a:r>
              <a:rPr sz="1600" spc="11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in </a:t>
            </a:r>
            <a:r>
              <a:rPr sz="160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motion.</a:t>
            </a:r>
            <a:endParaRPr sz="1600" dirty="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81000" y="915670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 marR="76835">
              <a:lnSpc>
                <a:spcPts val="1939"/>
              </a:lnSpc>
              <a:spcBef>
                <a:spcPts val="1285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Applications</a:t>
            </a:r>
            <a:r>
              <a:rPr sz="1800" spc="-20" dirty="0">
                <a:solidFill>
                  <a:srgbClr val="FFFFFF"/>
                </a:solidFill>
                <a:latin typeface="Corbel"/>
                <a:cs typeface="Corbel"/>
              </a:rPr>
              <a:t> of </a:t>
            </a:r>
            <a:r>
              <a:rPr sz="18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Engineering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he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rmo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ic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49245" y="496605"/>
            <a:ext cx="3541395" cy="3541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600" spc="-13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Corbel"/>
                <a:cs typeface="Corbel"/>
              </a:rPr>
              <a:t>A</a:t>
            </a:r>
            <a:r>
              <a:rPr sz="1600" dirty="0">
                <a:latin typeface="Corbel"/>
                <a:cs typeface="Corbel"/>
              </a:rPr>
              <a:t>u</a:t>
            </a:r>
            <a:r>
              <a:rPr sz="1600" spc="-5" dirty="0">
                <a:latin typeface="Corbel"/>
                <a:cs typeface="Corbel"/>
              </a:rPr>
              <a:t>tomo</a:t>
            </a:r>
            <a:r>
              <a:rPr sz="1600" spc="-10" dirty="0">
                <a:latin typeface="Corbel"/>
                <a:cs typeface="Corbel"/>
              </a:rPr>
              <a:t>b</a:t>
            </a:r>
            <a:r>
              <a:rPr sz="1600" spc="-5" dirty="0">
                <a:latin typeface="Corbel"/>
                <a:cs typeface="Corbel"/>
              </a:rPr>
              <a:t>il</a:t>
            </a:r>
            <a:r>
              <a:rPr sz="1600" dirty="0">
                <a:latin typeface="Corbel"/>
                <a:cs typeface="Corbel"/>
              </a:rPr>
              <a:t>e e</a:t>
            </a:r>
            <a:r>
              <a:rPr sz="1600" spc="5" dirty="0">
                <a:latin typeface="Corbel"/>
                <a:cs typeface="Corbel"/>
              </a:rPr>
              <a:t>n</a:t>
            </a:r>
            <a:r>
              <a:rPr sz="1600" dirty="0">
                <a:latin typeface="Corbel"/>
                <a:cs typeface="Corbel"/>
              </a:rPr>
              <a:t>gines</a:t>
            </a: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6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600" spc="-15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-75" dirty="0">
                <a:latin typeface="Corbel"/>
                <a:cs typeface="Corbel"/>
              </a:rPr>
              <a:t>T</a:t>
            </a:r>
            <a:r>
              <a:rPr sz="1600" dirty="0">
                <a:latin typeface="Corbel"/>
                <a:cs typeface="Corbel"/>
              </a:rPr>
              <a:t>urb</a:t>
            </a:r>
            <a:r>
              <a:rPr sz="1600" spc="-10" dirty="0">
                <a:latin typeface="Corbel"/>
                <a:cs typeface="Corbel"/>
              </a:rPr>
              <a:t>i</a:t>
            </a:r>
            <a:r>
              <a:rPr sz="1600" spc="5" dirty="0">
                <a:latin typeface="Corbel"/>
                <a:cs typeface="Corbel"/>
              </a:rPr>
              <a:t>n</a:t>
            </a:r>
            <a:r>
              <a:rPr sz="1600" dirty="0">
                <a:latin typeface="Corbel"/>
                <a:cs typeface="Corbel"/>
              </a:rPr>
              <a:t>es,</a:t>
            </a:r>
            <a:r>
              <a:rPr sz="1600" spc="-2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com</a:t>
            </a:r>
            <a:r>
              <a:rPr sz="1600" dirty="0">
                <a:latin typeface="Corbel"/>
                <a:cs typeface="Corbel"/>
              </a:rPr>
              <a:t>pressors</a:t>
            </a:r>
            <a:r>
              <a:rPr sz="1600" spc="-2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and</a:t>
            </a:r>
            <a:r>
              <a:rPr sz="1600" spc="-2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p</a:t>
            </a:r>
            <a:r>
              <a:rPr sz="1600" spc="5" dirty="0">
                <a:latin typeface="Corbel"/>
                <a:cs typeface="Corbel"/>
              </a:rPr>
              <a:t>u</a:t>
            </a:r>
            <a:r>
              <a:rPr sz="1600" dirty="0">
                <a:latin typeface="Corbel"/>
                <a:cs typeface="Corbel"/>
              </a:rPr>
              <a:t>mps</a:t>
            </a: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6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600" spc="-15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Corbel"/>
                <a:cs typeface="Corbel"/>
              </a:rPr>
              <a:t>The propulsion</a:t>
            </a:r>
            <a:r>
              <a:rPr sz="1600" spc="-2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system</a:t>
            </a:r>
            <a:r>
              <a:rPr sz="160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for </a:t>
            </a:r>
            <a:r>
              <a:rPr sz="1600" dirty="0">
                <a:latin typeface="Corbel"/>
                <a:cs typeface="Corbel"/>
              </a:rPr>
              <a:t>aircrafts</a:t>
            </a:r>
            <a:r>
              <a:rPr sz="1600" spc="-1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and</a:t>
            </a:r>
            <a:r>
              <a:rPr sz="1600" spc="-2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rockets</a:t>
            </a:r>
            <a:endParaRPr sz="1600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6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600" spc="-12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Corbel"/>
                <a:cs typeface="Corbel"/>
              </a:rPr>
              <a:t>Co</a:t>
            </a:r>
            <a:r>
              <a:rPr sz="1600" spc="-10" dirty="0">
                <a:latin typeface="Corbel"/>
                <a:cs typeface="Corbel"/>
              </a:rPr>
              <a:t>m</a:t>
            </a:r>
            <a:r>
              <a:rPr sz="1600" spc="-5" dirty="0">
                <a:latin typeface="Corbel"/>
                <a:cs typeface="Corbel"/>
              </a:rPr>
              <a:t>b</a:t>
            </a:r>
            <a:r>
              <a:rPr sz="1600" dirty="0">
                <a:latin typeface="Corbel"/>
                <a:cs typeface="Corbel"/>
              </a:rPr>
              <a:t>u</a:t>
            </a:r>
            <a:r>
              <a:rPr sz="1600" spc="-5" dirty="0">
                <a:latin typeface="Corbel"/>
                <a:cs typeface="Corbel"/>
              </a:rPr>
              <a:t>st</a:t>
            </a:r>
            <a:r>
              <a:rPr sz="1600" spc="-10" dirty="0">
                <a:latin typeface="Corbel"/>
                <a:cs typeface="Corbel"/>
              </a:rPr>
              <a:t>i</a:t>
            </a:r>
            <a:r>
              <a:rPr sz="1600" spc="-5" dirty="0">
                <a:latin typeface="Corbel"/>
                <a:cs typeface="Corbel"/>
              </a:rPr>
              <a:t>o</a:t>
            </a:r>
            <a:r>
              <a:rPr sz="1600" dirty="0">
                <a:latin typeface="Corbel"/>
                <a:cs typeface="Corbel"/>
              </a:rPr>
              <a:t>n</a:t>
            </a:r>
            <a:r>
              <a:rPr sz="1600" spc="-1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system</a:t>
            </a:r>
            <a:endParaRPr sz="1600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6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600" spc="-8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Corbel"/>
                <a:cs typeface="Corbel"/>
              </a:rPr>
              <a:t>H</a:t>
            </a:r>
            <a:r>
              <a:rPr sz="1600" spc="-60" dirty="0">
                <a:latin typeface="Corbel"/>
                <a:cs typeface="Corbel"/>
              </a:rPr>
              <a:t>V</a:t>
            </a:r>
            <a:r>
              <a:rPr sz="1600" spc="-20" dirty="0">
                <a:latin typeface="Corbel"/>
                <a:cs typeface="Corbel"/>
              </a:rPr>
              <a:t>A</a:t>
            </a:r>
            <a:r>
              <a:rPr sz="1600" dirty="0">
                <a:latin typeface="Corbel"/>
                <a:cs typeface="Corbel"/>
              </a:rPr>
              <a:t>C</a:t>
            </a:r>
            <a:r>
              <a:rPr sz="1600" spc="5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sys</a:t>
            </a:r>
            <a:r>
              <a:rPr sz="1600" dirty="0">
                <a:latin typeface="Corbel"/>
                <a:cs typeface="Corbel"/>
              </a:rPr>
              <a:t>tem</a:t>
            </a: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6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600" spc="-12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Corbel"/>
                <a:cs typeface="Corbel"/>
              </a:rPr>
              <a:t>Coo</a:t>
            </a:r>
            <a:r>
              <a:rPr sz="1600" spc="-10" dirty="0">
                <a:latin typeface="Corbel"/>
                <a:cs typeface="Corbel"/>
              </a:rPr>
              <a:t>l</a:t>
            </a:r>
            <a:r>
              <a:rPr sz="1600" spc="-5" dirty="0">
                <a:latin typeface="Corbel"/>
                <a:cs typeface="Corbel"/>
              </a:rPr>
              <a:t>i</a:t>
            </a:r>
            <a:r>
              <a:rPr sz="1600" spc="5" dirty="0">
                <a:latin typeface="Corbel"/>
                <a:cs typeface="Corbel"/>
              </a:rPr>
              <a:t>n</a:t>
            </a:r>
            <a:r>
              <a:rPr sz="1600" dirty="0">
                <a:latin typeface="Corbel"/>
                <a:cs typeface="Corbel"/>
              </a:rPr>
              <a:t>g </a:t>
            </a:r>
            <a:r>
              <a:rPr sz="1600" spc="-5" dirty="0">
                <a:latin typeface="Corbel"/>
                <a:cs typeface="Corbel"/>
              </a:rPr>
              <a:t>o</a:t>
            </a:r>
            <a:r>
              <a:rPr sz="1600" dirty="0">
                <a:latin typeface="Corbel"/>
                <a:cs typeface="Corbel"/>
              </a:rPr>
              <a:t>f</a:t>
            </a:r>
            <a:r>
              <a:rPr sz="1600" spc="-1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electron</a:t>
            </a:r>
            <a:r>
              <a:rPr sz="1600" spc="-5" dirty="0">
                <a:latin typeface="Corbel"/>
                <a:cs typeface="Corbel"/>
              </a:rPr>
              <a:t>i</a:t>
            </a:r>
            <a:r>
              <a:rPr sz="1600" dirty="0">
                <a:latin typeface="Corbel"/>
                <a:cs typeface="Corbel"/>
              </a:rPr>
              <a:t>c</a:t>
            </a:r>
            <a:r>
              <a:rPr sz="1600" spc="-15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equ</a:t>
            </a:r>
            <a:r>
              <a:rPr sz="1600" spc="-5" dirty="0">
                <a:latin typeface="Corbel"/>
                <a:cs typeface="Corbel"/>
              </a:rPr>
              <a:t>i</a:t>
            </a:r>
            <a:r>
              <a:rPr sz="1600" dirty="0">
                <a:latin typeface="Corbel"/>
                <a:cs typeface="Corbel"/>
              </a:rPr>
              <a:t>pme</a:t>
            </a:r>
            <a:r>
              <a:rPr sz="1600" spc="5" dirty="0">
                <a:latin typeface="Corbel"/>
                <a:cs typeface="Corbel"/>
              </a:rPr>
              <a:t>n</a:t>
            </a:r>
            <a:r>
              <a:rPr sz="1600" spc="-5" dirty="0">
                <a:latin typeface="Corbel"/>
                <a:cs typeface="Corbel"/>
              </a:rPr>
              <a:t>ts</a:t>
            </a:r>
            <a:endParaRPr sz="1600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6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600" spc="-8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-55" dirty="0">
                <a:latin typeface="Corbel"/>
                <a:cs typeface="Corbel"/>
              </a:rPr>
              <a:t>P</a:t>
            </a:r>
            <a:r>
              <a:rPr sz="1600" spc="-5" dirty="0">
                <a:latin typeface="Corbel"/>
                <a:cs typeface="Corbel"/>
              </a:rPr>
              <a:t>o</a:t>
            </a:r>
            <a:r>
              <a:rPr sz="1600" dirty="0">
                <a:latin typeface="Corbel"/>
                <a:cs typeface="Corbel"/>
              </a:rPr>
              <a:t>wer</a:t>
            </a:r>
            <a:r>
              <a:rPr sz="1600" spc="-1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stat</a:t>
            </a:r>
            <a:r>
              <a:rPr sz="1600" spc="-10" dirty="0">
                <a:latin typeface="Corbel"/>
                <a:cs typeface="Corbel"/>
              </a:rPr>
              <a:t>i</a:t>
            </a:r>
            <a:r>
              <a:rPr sz="1600" spc="-5" dirty="0">
                <a:latin typeface="Corbel"/>
                <a:cs typeface="Corbel"/>
              </a:rPr>
              <a:t>o</a:t>
            </a:r>
            <a:r>
              <a:rPr sz="1600" dirty="0">
                <a:latin typeface="Corbel"/>
                <a:cs typeface="Corbel"/>
              </a:rPr>
              <a:t>ns</a:t>
            </a: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6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600" spc="-20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Corbel"/>
                <a:cs typeface="Corbel"/>
              </a:rPr>
              <a:t>Alternative </a:t>
            </a:r>
            <a:r>
              <a:rPr sz="1600" dirty="0">
                <a:latin typeface="Corbel"/>
                <a:cs typeface="Corbel"/>
              </a:rPr>
              <a:t>energy</a:t>
            </a:r>
            <a:r>
              <a:rPr sz="1600" spc="-25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system</a:t>
            </a:r>
            <a:r>
              <a:rPr sz="1600" spc="5" dirty="0">
                <a:latin typeface="Corbel"/>
                <a:cs typeface="Corbel"/>
              </a:rPr>
              <a:t> </a:t>
            </a:r>
            <a:r>
              <a:rPr sz="1600" spc="-10" dirty="0">
                <a:latin typeface="Corbel"/>
                <a:cs typeface="Corbel"/>
              </a:rPr>
              <a:t>like,</a:t>
            </a:r>
            <a:r>
              <a:rPr sz="160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geothermal,</a:t>
            </a:r>
            <a:r>
              <a:rPr sz="1600" spc="-1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wind,</a:t>
            </a:r>
            <a:r>
              <a:rPr sz="1600" spc="-15" dirty="0">
                <a:latin typeface="Corbel"/>
                <a:cs typeface="Corbel"/>
              </a:rPr>
              <a:t> </a:t>
            </a:r>
            <a:r>
              <a:rPr sz="1600" spc="-10" dirty="0">
                <a:latin typeface="Corbel"/>
                <a:cs typeface="Corbel"/>
              </a:rPr>
              <a:t>solar, </a:t>
            </a:r>
            <a:r>
              <a:rPr sz="1600" dirty="0">
                <a:latin typeface="Corbel"/>
                <a:cs typeface="Corbel"/>
              </a:rPr>
              <a:t>etc.</a:t>
            </a: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6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600" spc="-12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Corbel"/>
                <a:cs typeface="Corbel"/>
              </a:rPr>
              <a:t>Cryoge</a:t>
            </a:r>
            <a:r>
              <a:rPr sz="1600" spc="5" dirty="0">
                <a:latin typeface="Corbel"/>
                <a:cs typeface="Corbel"/>
              </a:rPr>
              <a:t>n</a:t>
            </a:r>
            <a:r>
              <a:rPr sz="1600" spc="-5" dirty="0">
                <a:latin typeface="Corbel"/>
                <a:cs typeface="Corbel"/>
              </a:rPr>
              <a:t>i</a:t>
            </a:r>
            <a:r>
              <a:rPr sz="1600" dirty="0">
                <a:latin typeface="Corbel"/>
                <a:cs typeface="Corbel"/>
              </a:rPr>
              <a:t>c</a:t>
            </a:r>
            <a:r>
              <a:rPr sz="1600" spc="-15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system</a:t>
            </a:r>
            <a:endParaRPr sz="1600" dirty="0">
              <a:latin typeface="Corbel"/>
              <a:cs typeface="Corbe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704588" y="5029200"/>
            <a:ext cx="1772921" cy="2860801"/>
            <a:chOff x="4704588" y="5029200"/>
            <a:chExt cx="1772920" cy="2860801"/>
          </a:xfrm>
        </p:grpSpPr>
        <p:sp>
          <p:nvSpPr>
            <p:cNvPr id="7" name="object 7"/>
            <p:cNvSpPr/>
            <p:nvPr/>
          </p:nvSpPr>
          <p:spPr>
            <a:xfrm>
              <a:off x="6289548" y="5224271"/>
              <a:ext cx="187960" cy="2665730"/>
            </a:xfrm>
            <a:custGeom>
              <a:avLst/>
              <a:gdLst/>
              <a:ahLst/>
              <a:cxnLst/>
              <a:rect l="l" t="t" r="r" b="b"/>
              <a:pathLst>
                <a:path w="187960" h="2665729">
                  <a:moveTo>
                    <a:pt x="0" y="2665476"/>
                  </a:moveTo>
                  <a:lnTo>
                    <a:pt x="187451" y="2665476"/>
                  </a:lnTo>
                  <a:lnTo>
                    <a:pt x="187451" y="0"/>
                  </a:lnTo>
                  <a:lnTo>
                    <a:pt x="0" y="0"/>
                  </a:lnTo>
                  <a:lnTo>
                    <a:pt x="0" y="2665476"/>
                  </a:lnTo>
                  <a:close/>
                </a:path>
              </a:pathLst>
            </a:custGeom>
            <a:solidFill>
              <a:srgbClr val="C7C7C7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4588" y="5029200"/>
              <a:ext cx="1650491" cy="1040892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5123" y="5236464"/>
            <a:ext cx="1537684" cy="64007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274244" y="4984110"/>
            <a:ext cx="123095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33CC"/>
                </a:solidFill>
                <a:latin typeface="Verdana"/>
                <a:cs typeface="Verdana"/>
              </a:rPr>
              <a:t>T</a:t>
            </a:r>
            <a:r>
              <a:rPr sz="1200" b="1" spc="-10" dirty="0">
                <a:solidFill>
                  <a:srgbClr val="0033CC"/>
                </a:solidFill>
                <a:latin typeface="Verdana"/>
                <a:cs typeface="Verdana"/>
              </a:rPr>
              <a:t>u</a:t>
            </a:r>
            <a:r>
              <a:rPr sz="1200" b="1" spc="-5" dirty="0">
                <a:solidFill>
                  <a:srgbClr val="0033CC"/>
                </a:solidFill>
                <a:latin typeface="Verdana"/>
                <a:cs typeface="Verdana"/>
              </a:rPr>
              <a:t>r</a:t>
            </a:r>
            <a:r>
              <a:rPr sz="1200" b="1" spc="-10" dirty="0">
                <a:solidFill>
                  <a:srgbClr val="0033CC"/>
                </a:solidFill>
                <a:latin typeface="Verdana"/>
                <a:cs typeface="Verdana"/>
              </a:rPr>
              <a:t>b</a:t>
            </a:r>
            <a:r>
              <a:rPr sz="1200" b="1" dirty="0">
                <a:solidFill>
                  <a:srgbClr val="0033CC"/>
                </a:solidFill>
                <a:latin typeface="Verdana"/>
                <a:cs typeface="Verdana"/>
              </a:rPr>
              <a:t>o</a:t>
            </a:r>
            <a:r>
              <a:rPr sz="1200" b="1" spc="20" dirty="0">
                <a:solidFill>
                  <a:srgbClr val="0033CC"/>
                </a:solidFill>
                <a:latin typeface="Verdana"/>
                <a:cs typeface="Verdana"/>
              </a:rPr>
              <a:t> </a:t>
            </a:r>
            <a:r>
              <a:rPr sz="1200" b="1" spc="-5" dirty="0">
                <a:solidFill>
                  <a:srgbClr val="0033CC"/>
                </a:solidFill>
                <a:latin typeface="Verdana"/>
                <a:cs typeface="Verdana"/>
              </a:rPr>
              <a:t>En</a:t>
            </a:r>
            <a:r>
              <a:rPr sz="1200" b="1" spc="-10" dirty="0">
                <a:solidFill>
                  <a:srgbClr val="0033CC"/>
                </a:solidFill>
                <a:latin typeface="Verdana"/>
                <a:cs typeface="Verdana"/>
              </a:rPr>
              <a:t>g</a:t>
            </a:r>
            <a:r>
              <a:rPr sz="1200" b="1" dirty="0">
                <a:solidFill>
                  <a:srgbClr val="0033CC"/>
                </a:solidFill>
                <a:latin typeface="Verdana"/>
                <a:cs typeface="Verdana"/>
              </a:rPr>
              <a:t>i</a:t>
            </a:r>
            <a:r>
              <a:rPr sz="1200" b="1" spc="-5" dirty="0">
                <a:solidFill>
                  <a:srgbClr val="0033CC"/>
                </a:solidFill>
                <a:latin typeface="Verdana"/>
                <a:cs typeface="Verdana"/>
              </a:rPr>
              <a:t>n</a:t>
            </a:r>
            <a:r>
              <a:rPr sz="1200" b="1" dirty="0">
                <a:solidFill>
                  <a:srgbClr val="0033CC"/>
                </a:solidFill>
                <a:latin typeface="Verdana"/>
                <a:cs typeface="Verdana"/>
              </a:rPr>
              <a:t>e</a:t>
            </a:r>
            <a:endParaRPr sz="1200" dirty="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2472" y="6982968"/>
            <a:ext cx="975360" cy="11978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168778" y="6736710"/>
            <a:ext cx="173660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033CC"/>
                </a:solidFill>
                <a:latin typeface="Verdana"/>
                <a:cs typeface="Verdana"/>
              </a:rPr>
              <a:t>Space</a:t>
            </a:r>
            <a:r>
              <a:rPr sz="1200" b="1" spc="-45" dirty="0">
                <a:solidFill>
                  <a:srgbClr val="0033CC"/>
                </a:solidFill>
                <a:latin typeface="Verdana"/>
                <a:cs typeface="Verdana"/>
              </a:rPr>
              <a:t> </a:t>
            </a:r>
            <a:r>
              <a:rPr sz="1200" b="1" spc="-5" dirty="0">
                <a:solidFill>
                  <a:srgbClr val="0033CC"/>
                </a:solidFill>
                <a:latin typeface="Verdana"/>
                <a:cs typeface="Verdana"/>
              </a:rPr>
              <a:t>applications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73724" y="5045708"/>
            <a:ext cx="1303276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033CC"/>
                </a:solidFill>
                <a:latin typeface="Verdana"/>
                <a:cs typeface="Verdana"/>
              </a:rPr>
              <a:t>Power</a:t>
            </a:r>
            <a:r>
              <a:rPr sz="1200" b="1" spc="-55" dirty="0">
                <a:solidFill>
                  <a:srgbClr val="0033CC"/>
                </a:solidFill>
                <a:latin typeface="Verdana"/>
                <a:cs typeface="Verdana"/>
              </a:rPr>
              <a:t> </a:t>
            </a:r>
            <a:r>
              <a:rPr sz="1200" b="1" spc="-5" dirty="0">
                <a:solidFill>
                  <a:srgbClr val="0033CC"/>
                </a:solidFill>
                <a:latin typeface="Verdana"/>
                <a:cs typeface="Verdana"/>
              </a:rPr>
              <a:t>Plant</a:t>
            </a:r>
            <a:endParaRPr sz="1200" dirty="0">
              <a:latin typeface="Verdana"/>
              <a:cs typeface="Verdan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69424" y="5396538"/>
            <a:ext cx="471128" cy="116547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703447" y="5136510"/>
            <a:ext cx="1173353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033CC"/>
                </a:solidFill>
                <a:latin typeface="Verdana"/>
                <a:cs typeface="Verdana"/>
              </a:rPr>
              <a:t>Refrigerator</a:t>
            </a:r>
            <a:endParaRPr sz="1200" dirty="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11981" y="7217833"/>
            <a:ext cx="610693" cy="89555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772661" y="6965310"/>
            <a:ext cx="908558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33CC"/>
                </a:solidFill>
                <a:latin typeface="Verdana"/>
                <a:cs typeface="Verdana"/>
              </a:rPr>
              <a:t>I</a:t>
            </a:r>
            <a:r>
              <a:rPr sz="1200" b="1" spc="-50" dirty="0">
                <a:solidFill>
                  <a:srgbClr val="0033CC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0033CC"/>
                </a:solidFill>
                <a:latin typeface="Verdana"/>
                <a:cs typeface="Verdana"/>
              </a:rPr>
              <a:t>C</a:t>
            </a:r>
            <a:r>
              <a:rPr sz="1200" b="1" spc="-40" dirty="0">
                <a:solidFill>
                  <a:srgbClr val="0033CC"/>
                </a:solidFill>
                <a:latin typeface="Verdana"/>
                <a:cs typeface="Verdana"/>
              </a:rPr>
              <a:t> </a:t>
            </a:r>
            <a:r>
              <a:rPr sz="1200" b="1" spc="-5" dirty="0">
                <a:solidFill>
                  <a:srgbClr val="0033CC"/>
                </a:solidFill>
                <a:latin typeface="Verdana"/>
                <a:cs typeface="Verdana"/>
              </a:rPr>
              <a:t>Engine</a:t>
            </a:r>
            <a:endParaRPr sz="1200" dirty="0">
              <a:latin typeface="Verdana"/>
              <a:cs typeface="Verdan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81728" y="7013447"/>
            <a:ext cx="1795272" cy="108051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059426" y="6748398"/>
            <a:ext cx="10344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0033CC"/>
                </a:solidFill>
                <a:latin typeface="Verdana"/>
                <a:cs typeface="Verdana"/>
              </a:rPr>
              <a:t>H</a:t>
            </a:r>
            <a:r>
              <a:rPr sz="1200" b="1" dirty="0">
                <a:solidFill>
                  <a:srgbClr val="0033CC"/>
                </a:solidFill>
                <a:latin typeface="Verdana"/>
                <a:cs typeface="Verdana"/>
              </a:rPr>
              <a:t>eat</a:t>
            </a:r>
            <a:r>
              <a:rPr sz="1200" b="1" spc="-15" dirty="0">
                <a:solidFill>
                  <a:srgbClr val="0033CC"/>
                </a:solidFill>
                <a:latin typeface="Verdana"/>
                <a:cs typeface="Verdana"/>
              </a:rPr>
              <a:t> </a:t>
            </a:r>
            <a:r>
              <a:rPr sz="1200" b="1" spc="-5" dirty="0">
                <a:solidFill>
                  <a:srgbClr val="0033CC"/>
                </a:solidFill>
                <a:latin typeface="Verdana"/>
                <a:cs typeface="Verdana"/>
              </a:rPr>
              <a:t>E</a:t>
            </a:r>
            <a:r>
              <a:rPr sz="1200" b="1" dirty="0">
                <a:solidFill>
                  <a:srgbClr val="0033CC"/>
                </a:solidFill>
                <a:latin typeface="Verdana"/>
                <a:cs typeface="Verdana"/>
              </a:rPr>
              <a:t>x</a:t>
            </a:r>
            <a:r>
              <a:rPr sz="1200" b="1" spc="-5" dirty="0">
                <a:solidFill>
                  <a:srgbClr val="0033CC"/>
                </a:solidFill>
                <a:latin typeface="Verdana"/>
                <a:cs typeface="Verdana"/>
              </a:rPr>
              <a:t>ch</a:t>
            </a:r>
            <a:r>
              <a:rPr sz="1200" b="1" dirty="0">
                <a:solidFill>
                  <a:srgbClr val="0033CC"/>
                </a:solidFill>
                <a:latin typeface="Verdana"/>
                <a:cs typeface="Verdana"/>
              </a:rPr>
              <a:t>a</a:t>
            </a:r>
            <a:r>
              <a:rPr sz="1200" b="1" spc="-10" dirty="0">
                <a:solidFill>
                  <a:srgbClr val="0033CC"/>
                </a:solidFill>
                <a:latin typeface="Verdana"/>
                <a:cs typeface="Verdana"/>
              </a:rPr>
              <a:t>ng</a:t>
            </a:r>
            <a:r>
              <a:rPr sz="1200" b="1" spc="-5" dirty="0">
                <a:solidFill>
                  <a:srgbClr val="0033CC"/>
                </a:solidFill>
                <a:latin typeface="Verdana"/>
                <a:cs typeface="Verdana"/>
              </a:rPr>
              <a:t>er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R="122555">
              <a:lnSpc>
                <a:spcPct val="90100"/>
              </a:lnSpc>
              <a:spcBef>
                <a:spcPts val="1255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Applications</a:t>
            </a:r>
            <a:r>
              <a:rPr sz="1800" spc="-20" dirty="0">
                <a:solidFill>
                  <a:srgbClr val="FFFFFF"/>
                </a:solidFill>
                <a:latin typeface="Corbel"/>
                <a:cs typeface="Corbel"/>
              </a:rPr>
              <a:t> of </a:t>
            </a:r>
            <a:r>
              <a:rPr sz="18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Engineering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he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rmo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ic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 marL="45720" marR="76835">
              <a:lnSpc>
                <a:spcPts val="1939"/>
              </a:lnSpc>
              <a:spcBef>
                <a:spcPts val="5"/>
              </a:spcBef>
            </a:pP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Laws </a:t>
            </a:r>
            <a:r>
              <a:rPr sz="1800" spc="-20" dirty="0">
                <a:solidFill>
                  <a:srgbClr val="FFFFFF"/>
                </a:solidFill>
                <a:latin typeface="Corbel"/>
                <a:cs typeface="Corbel"/>
              </a:rPr>
              <a:t>of </a:t>
            </a:r>
            <a:r>
              <a:rPr sz="18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he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rmo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ic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00705" y="1810893"/>
            <a:ext cx="3435350" cy="14209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894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600" spc="-16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5" dirty="0">
                <a:latin typeface="Corbel"/>
                <a:cs typeface="Corbel"/>
              </a:rPr>
              <a:t>Z</a:t>
            </a:r>
            <a:r>
              <a:rPr sz="1600" dirty="0">
                <a:latin typeface="Corbel"/>
                <a:cs typeface="Corbel"/>
              </a:rPr>
              <a:t>e</a:t>
            </a:r>
            <a:r>
              <a:rPr sz="1600" spc="-5" dirty="0">
                <a:latin typeface="Corbel"/>
                <a:cs typeface="Corbel"/>
              </a:rPr>
              <a:t>ro</a:t>
            </a:r>
            <a:r>
              <a:rPr sz="1600" dirty="0">
                <a:latin typeface="Corbel"/>
                <a:cs typeface="Corbel"/>
              </a:rPr>
              <a:t>th</a:t>
            </a:r>
            <a:r>
              <a:rPr sz="1600" spc="-2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l</a:t>
            </a:r>
            <a:r>
              <a:rPr sz="1600" spc="-10" dirty="0">
                <a:latin typeface="Corbel"/>
                <a:cs typeface="Corbel"/>
              </a:rPr>
              <a:t>a</a:t>
            </a:r>
            <a:r>
              <a:rPr sz="1600" dirty="0">
                <a:latin typeface="Corbel"/>
                <a:cs typeface="Corbel"/>
              </a:rPr>
              <a:t>w </a:t>
            </a:r>
            <a:r>
              <a:rPr sz="1600" spc="-5" dirty="0">
                <a:latin typeface="Corbel"/>
                <a:cs typeface="Corbel"/>
              </a:rPr>
              <a:t>o</a:t>
            </a:r>
            <a:r>
              <a:rPr sz="1600" dirty="0">
                <a:latin typeface="Corbel"/>
                <a:cs typeface="Corbel"/>
              </a:rPr>
              <a:t>f</a:t>
            </a:r>
            <a:r>
              <a:rPr sz="1600" spc="-1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t</a:t>
            </a:r>
            <a:r>
              <a:rPr sz="1600" spc="-5" dirty="0">
                <a:latin typeface="Corbel"/>
                <a:cs typeface="Corbel"/>
              </a:rPr>
              <a:t>h</a:t>
            </a:r>
            <a:r>
              <a:rPr sz="1600" spc="-10" dirty="0">
                <a:latin typeface="Corbel"/>
                <a:cs typeface="Corbel"/>
              </a:rPr>
              <a:t>e</a:t>
            </a:r>
            <a:r>
              <a:rPr sz="1600" dirty="0">
                <a:latin typeface="Corbel"/>
                <a:cs typeface="Corbel"/>
              </a:rPr>
              <a:t>rm</a:t>
            </a:r>
            <a:r>
              <a:rPr sz="1600" spc="-10" dirty="0">
                <a:latin typeface="Corbel"/>
                <a:cs typeface="Corbel"/>
              </a:rPr>
              <a:t>o</a:t>
            </a:r>
            <a:r>
              <a:rPr sz="1600" dirty="0">
                <a:latin typeface="Corbel"/>
                <a:cs typeface="Corbel"/>
              </a:rPr>
              <a:t>dynam</a:t>
            </a:r>
            <a:r>
              <a:rPr sz="1600" spc="-10" dirty="0">
                <a:latin typeface="Corbel"/>
                <a:cs typeface="Corbel"/>
              </a:rPr>
              <a:t>i</a:t>
            </a:r>
            <a:r>
              <a:rPr sz="1600" spc="-5" dirty="0">
                <a:latin typeface="Corbel"/>
                <a:cs typeface="Corbel"/>
              </a:rPr>
              <a:t>cs</a:t>
            </a:r>
            <a:endParaRPr sz="1600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spc="-894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600" spc="-16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Corbel"/>
                <a:cs typeface="Corbel"/>
              </a:rPr>
              <a:t>Fir</a:t>
            </a:r>
            <a:r>
              <a:rPr sz="1600" spc="-10" dirty="0">
                <a:latin typeface="Corbel"/>
                <a:cs typeface="Corbel"/>
              </a:rPr>
              <a:t>s</a:t>
            </a:r>
            <a:r>
              <a:rPr sz="1600" dirty="0">
                <a:latin typeface="Corbel"/>
                <a:cs typeface="Corbel"/>
              </a:rPr>
              <a:t>t l</a:t>
            </a:r>
            <a:r>
              <a:rPr sz="1600" spc="-10" dirty="0">
                <a:latin typeface="Corbel"/>
                <a:cs typeface="Corbel"/>
              </a:rPr>
              <a:t>a</a:t>
            </a:r>
            <a:r>
              <a:rPr sz="1600" dirty="0">
                <a:latin typeface="Corbel"/>
                <a:cs typeface="Corbel"/>
              </a:rPr>
              <a:t>w </a:t>
            </a:r>
            <a:r>
              <a:rPr sz="1600" spc="-5" dirty="0">
                <a:latin typeface="Corbel"/>
                <a:cs typeface="Corbel"/>
              </a:rPr>
              <a:t>o</a:t>
            </a:r>
            <a:r>
              <a:rPr sz="1600" dirty="0">
                <a:latin typeface="Corbel"/>
                <a:cs typeface="Corbel"/>
              </a:rPr>
              <a:t>f</a:t>
            </a:r>
            <a:r>
              <a:rPr sz="1600" spc="-10" dirty="0">
                <a:latin typeface="Corbel"/>
                <a:cs typeface="Corbel"/>
              </a:rPr>
              <a:t> </a:t>
            </a:r>
            <a:r>
              <a:rPr sz="1600" dirty="0">
                <a:latin typeface="Corbel"/>
                <a:cs typeface="Corbel"/>
              </a:rPr>
              <a:t>t</a:t>
            </a:r>
            <a:r>
              <a:rPr sz="1600" spc="-5" dirty="0">
                <a:latin typeface="Corbel"/>
                <a:cs typeface="Corbel"/>
              </a:rPr>
              <a:t>h</a:t>
            </a:r>
            <a:r>
              <a:rPr sz="1600" spc="-10" dirty="0">
                <a:latin typeface="Corbel"/>
                <a:cs typeface="Corbel"/>
              </a:rPr>
              <a:t>e</a:t>
            </a:r>
            <a:r>
              <a:rPr sz="1600" dirty="0">
                <a:latin typeface="Corbel"/>
                <a:cs typeface="Corbel"/>
              </a:rPr>
              <a:t>rm</a:t>
            </a:r>
            <a:r>
              <a:rPr sz="1600" spc="-10" dirty="0">
                <a:latin typeface="Corbel"/>
                <a:cs typeface="Corbel"/>
              </a:rPr>
              <a:t>o</a:t>
            </a:r>
            <a:r>
              <a:rPr sz="1600" dirty="0">
                <a:latin typeface="Corbel"/>
                <a:cs typeface="Corbel"/>
              </a:rPr>
              <a:t>dynam</a:t>
            </a:r>
            <a:r>
              <a:rPr sz="1600" spc="-10" dirty="0">
                <a:latin typeface="Corbel"/>
                <a:cs typeface="Corbel"/>
              </a:rPr>
              <a:t>i</a:t>
            </a:r>
            <a:r>
              <a:rPr sz="1600" spc="-5" dirty="0">
                <a:latin typeface="Corbel"/>
                <a:cs typeface="Corbel"/>
              </a:rPr>
              <a:t>cs</a:t>
            </a:r>
            <a:endParaRPr sz="1600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600" spc="-26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600" spc="-16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Corbel"/>
                <a:cs typeface="Corbel"/>
              </a:rPr>
              <a:t>Second</a:t>
            </a:r>
            <a:r>
              <a:rPr sz="1600" spc="-1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law</a:t>
            </a:r>
            <a:r>
              <a:rPr sz="1600" spc="-1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of</a:t>
            </a:r>
            <a:r>
              <a:rPr sz="1600" spc="5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thermodynamics</a:t>
            </a:r>
            <a:endParaRPr sz="1600" dirty="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600" spc="-26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600" spc="-16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Corbel"/>
                <a:cs typeface="Corbel"/>
              </a:rPr>
              <a:t>Third law</a:t>
            </a:r>
            <a:r>
              <a:rPr sz="1600" spc="-1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of</a:t>
            </a:r>
            <a:r>
              <a:rPr sz="1600" dirty="0">
                <a:latin typeface="Corbel"/>
                <a:cs typeface="Corbel"/>
              </a:rPr>
              <a:t> </a:t>
            </a:r>
            <a:r>
              <a:rPr sz="1600" spc="-5" dirty="0">
                <a:latin typeface="Corbel"/>
                <a:cs typeface="Corbel"/>
              </a:rPr>
              <a:t>thermodynamics</a:t>
            </a:r>
            <a:endParaRPr sz="1600" dirty="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 marL="45720" marR="76835">
              <a:lnSpc>
                <a:spcPts val="1950"/>
              </a:lnSpc>
            </a:pP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Laws </a:t>
            </a:r>
            <a:r>
              <a:rPr sz="1800" spc="-20" dirty="0">
                <a:solidFill>
                  <a:srgbClr val="FFFFFF"/>
                </a:solidFill>
                <a:latin typeface="Corbel"/>
                <a:cs typeface="Corbel"/>
              </a:rPr>
              <a:t>of </a:t>
            </a:r>
            <a:r>
              <a:rPr sz="18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he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rmo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ic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8432" y="5161279"/>
            <a:ext cx="2392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orbel"/>
                <a:cs typeface="Corbel"/>
              </a:rPr>
              <a:t>Zeroth</a:t>
            </a:r>
            <a:r>
              <a:rPr sz="1400" b="1" spc="-25" dirty="0">
                <a:latin typeface="Corbel"/>
                <a:cs typeface="Corbel"/>
              </a:rPr>
              <a:t> </a:t>
            </a:r>
            <a:r>
              <a:rPr sz="1400" b="1" dirty="0">
                <a:latin typeface="Corbel"/>
                <a:cs typeface="Corbel"/>
              </a:rPr>
              <a:t>law</a:t>
            </a:r>
            <a:r>
              <a:rPr sz="1400" b="1" spc="-30" dirty="0">
                <a:latin typeface="Corbel"/>
                <a:cs typeface="Corbel"/>
              </a:rPr>
              <a:t> </a:t>
            </a:r>
            <a:r>
              <a:rPr sz="1400" b="1" dirty="0">
                <a:latin typeface="Corbel"/>
                <a:cs typeface="Corbel"/>
              </a:rPr>
              <a:t>of</a:t>
            </a:r>
            <a:r>
              <a:rPr sz="1400" b="1" spc="-20" dirty="0">
                <a:latin typeface="Corbel"/>
                <a:cs typeface="Corbel"/>
              </a:rPr>
              <a:t> </a:t>
            </a:r>
            <a:r>
              <a:rPr sz="1400" b="1" dirty="0">
                <a:latin typeface="Corbel"/>
                <a:cs typeface="Corbel"/>
              </a:rPr>
              <a:t>thermodynamics</a:t>
            </a:r>
            <a:endParaRPr sz="1400" dirty="0">
              <a:latin typeface="Corbel"/>
              <a:cs typeface="Corbe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2344" y="5562350"/>
            <a:ext cx="2784348" cy="232555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893564" y="1248155"/>
            <a:ext cx="1583690" cy="2931160"/>
            <a:chOff x="4893564" y="1248155"/>
            <a:chExt cx="1583690" cy="2931160"/>
          </a:xfrm>
        </p:grpSpPr>
        <p:sp>
          <p:nvSpPr>
            <p:cNvPr id="4" name="object 4"/>
            <p:cNvSpPr/>
            <p:nvPr/>
          </p:nvSpPr>
          <p:spPr>
            <a:xfrm>
              <a:off x="6289548" y="1248155"/>
              <a:ext cx="187960" cy="2665730"/>
            </a:xfrm>
            <a:custGeom>
              <a:avLst/>
              <a:gdLst/>
              <a:ahLst/>
              <a:cxnLst/>
              <a:rect l="l" t="t" r="r" b="b"/>
              <a:pathLst>
                <a:path w="187960" h="2665729">
                  <a:moveTo>
                    <a:pt x="0" y="2665476"/>
                  </a:moveTo>
                  <a:lnTo>
                    <a:pt x="187451" y="2665476"/>
                  </a:lnTo>
                  <a:lnTo>
                    <a:pt x="187451" y="0"/>
                  </a:lnTo>
                  <a:lnTo>
                    <a:pt x="0" y="0"/>
                  </a:lnTo>
                  <a:lnTo>
                    <a:pt x="0" y="2665476"/>
                  </a:lnTo>
                  <a:close/>
                </a:path>
              </a:pathLst>
            </a:custGeom>
            <a:solidFill>
              <a:srgbClr val="C7C7C7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93564" y="2581655"/>
              <a:ext cx="1583436" cy="159715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193040" marR="165100" indent="-147955">
              <a:lnSpc>
                <a:spcPts val="1730"/>
              </a:lnSpc>
              <a:spcBef>
                <a:spcPts val="5"/>
              </a:spcBef>
              <a:buClr>
                <a:srgbClr val="FFFFFF"/>
              </a:buClr>
              <a:buFont typeface="Corbel"/>
              <a:buAutoNum type="arabicPeriod"/>
              <a:tabLst>
                <a:tab pos="205740" algn="l"/>
              </a:tabLst>
            </a:pPr>
            <a:r>
              <a:rPr sz="1600" spc="-30" dirty="0">
                <a:solidFill>
                  <a:srgbClr val="FFFFFF"/>
                </a:solidFill>
                <a:latin typeface="Corbel"/>
                <a:cs typeface="Corbel"/>
              </a:rPr>
              <a:t>Th</a:t>
            </a:r>
            <a:r>
              <a:rPr sz="1600" spc="-35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600" spc="-25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600" spc="-35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600" spc="-3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600" spc="-35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600" spc="-3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600" spc="-35" dirty="0">
                <a:solidFill>
                  <a:srgbClr val="FFFFFF"/>
                </a:solidFill>
                <a:latin typeface="Corbel"/>
                <a:cs typeface="Corbel"/>
              </a:rPr>
              <a:t>nam</a:t>
            </a:r>
            <a:r>
              <a:rPr sz="1600" spc="-40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600" spc="-5" dirty="0">
                <a:solidFill>
                  <a:srgbClr val="FFFFFF"/>
                </a:solidFill>
                <a:latin typeface="Corbel"/>
                <a:cs typeface="Corbel"/>
              </a:rPr>
              <a:t>c  </a:t>
            </a:r>
            <a:r>
              <a:rPr sz="1600" spc="-25" dirty="0">
                <a:solidFill>
                  <a:srgbClr val="FFFFFF"/>
                </a:solidFill>
                <a:latin typeface="Corbel"/>
                <a:cs typeface="Corbel"/>
              </a:rPr>
              <a:t>system</a:t>
            </a:r>
            <a:endParaRPr sz="1600">
              <a:latin typeface="Corbel"/>
              <a:cs typeface="Corbel"/>
            </a:endParaRPr>
          </a:p>
          <a:p>
            <a:pPr marL="200025" indent="-154940">
              <a:lnSpc>
                <a:spcPts val="1605"/>
              </a:lnSpc>
              <a:buAutoNum type="arabicPeriod"/>
              <a:tabLst>
                <a:tab pos="200660" algn="l"/>
              </a:tabLst>
            </a:pPr>
            <a:r>
              <a:rPr sz="1600" spc="-30" dirty="0">
                <a:solidFill>
                  <a:srgbClr val="FFFFFF"/>
                </a:solidFill>
                <a:latin typeface="Corbel"/>
                <a:cs typeface="Corbel"/>
              </a:rPr>
              <a:t>Surrounding</a:t>
            </a:r>
            <a:endParaRPr sz="1600">
              <a:latin typeface="Corbel"/>
              <a:cs typeface="Corbel"/>
            </a:endParaRPr>
          </a:p>
          <a:p>
            <a:pPr marL="220345" indent="-175260">
              <a:lnSpc>
                <a:spcPts val="1825"/>
              </a:lnSpc>
              <a:buAutoNum type="arabicPeriod"/>
              <a:tabLst>
                <a:tab pos="220979" algn="l"/>
              </a:tabLst>
            </a:pPr>
            <a:r>
              <a:rPr sz="1600" spc="-30" dirty="0">
                <a:solidFill>
                  <a:srgbClr val="FFFFFF"/>
                </a:solidFill>
                <a:latin typeface="Corbel"/>
                <a:cs typeface="Corbel"/>
              </a:rPr>
              <a:t>Boundary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49245" y="1286023"/>
            <a:ext cx="3590290" cy="255587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200" spc="-77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200" spc="-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200" b="1" spc="-5" dirty="0">
                <a:latin typeface="Corbel"/>
                <a:cs typeface="Corbel"/>
              </a:rPr>
              <a:t>Sy</a:t>
            </a:r>
            <a:r>
              <a:rPr sz="1200" b="1" spc="-10" dirty="0">
                <a:latin typeface="Corbel"/>
                <a:cs typeface="Corbel"/>
              </a:rPr>
              <a:t>s</a:t>
            </a:r>
            <a:r>
              <a:rPr sz="1200" b="1" spc="-5" dirty="0">
                <a:latin typeface="Corbel"/>
                <a:cs typeface="Corbel"/>
              </a:rPr>
              <a:t>tem</a:t>
            </a:r>
            <a:r>
              <a:rPr sz="1200" b="1" dirty="0">
                <a:latin typeface="Corbel"/>
                <a:cs typeface="Corbel"/>
              </a:rPr>
              <a:t>:</a:t>
            </a:r>
            <a:endParaRPr sz="1200">
              <a:latin typeface="Corbel"/>
              <a:cs typeface="Corbel"/>
            </a:endParaRPr>
          </a:p>
          <a:p>
            <a:pPr marL="12700" marR="5080" indent="457200">
              <a:lnSpc>
                <a:spcPts val="1500"/>
              </a:lnSpc>
              <a:spcBef>
                <a:spcPts val="65"/>
              </a:spcBef>
            </a:pPr>
            <a:r>
              <a:rPr sz="1100" dirty="0">
                <a:latin typeface="Corbel"/>
                <a:cs typeface="Corbel"/>
              </a:rPr>
              <a:t>It</a:t>
            </a:r>
            <a:r>
              <a:rPr sz="1100" spc="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defined</a:t>
            </a:r>
            <a:r>
              <a:rPr sz="1100" spc="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as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10" dirty="0">
                <a:latin typeface="Corbel"/>
                <a:cs typeface="Corbel"/>
              </a:rPr>
              <a:t> </a:t>
            </a:r>
            <a:r>
              <a:rPr sz="1100" spc="-5" dirty="0">
                <a:solidFill>
                  <a:srgbClr val="DD00FF"/>
                </a:solidFill>
                <a:latin typeface="Corbel"/>
                <a:cs typeface="Corbel"/>
              </a:rPr>
              <a:t>quantity</a:t>
            </a:r>
            <a:r>
              <a:rPr sz="1100" spc="20" dirty="0">
                <a:solidFill>
                  <a:srgbClr val="DD00FF"/>
                </a:solidFill>
                <a:latin typeface="Corbel"/>
                <a:cs typeface="Corbel"/>
              </a:rPr>
              <a:t> </a:t>
            </a:r>
            <a:r>
              <a:rPr sz="1100" spc="-5" dirty="0">
                <a:solidFill>
                  <a:srgbClr val="DD00FF"/>
                </a:solidFill>
                <a:latin typeface="Corbel"/>
                <a:cs typeface="Corbel"/>
              </a:rPr>
              <a:t>of</a:t>
            </a:r>
            <a:r>
              <a:rPr sz="1100" spc="15" dirty="0">
                <a:solidFill>
                  <a:srgbClr val="DD00FF"/>
                </a:solidFill>
                <a:latin typeface="Corbel"/>
                <a:cs typeface="Corbel"/>
              </a:rPr>
              <a:t> </a:t>
            </a:r>
            <a:r>
              <a:rPr sz="1100" spc="-5" dirty="0">
                <a:solidFill>
                  <a:srgbClr val="DD00FF"/>
                </a:solidFill>
                <a:latin typeface="Corbel"/>
                <a:cs typeface="Corbel"/>
              </a:rPr>
              <a:t>matter</a:t>
            </a:r>
            <a:r>
              <a:rPr sz="1100" spc="20" dirty="0">
                <a:solidFill>
                  <a:srgbClr val="DD00FF"/>
                </a:solidFill>
                <a:latin typeface="Corbel"/>
                <a:cs typeface="Corbel"/>
              </a:rPr>
              <a:t> </a:t>
            </a:r>
            <a:r>
              <a:rPr sz="1100" spc="-10" dirty="0">
                <a:latin typeface="Corbel"/>
                <a:cs typeface="Corbel"/>
              </a:rPr>
              <a:t>or</a:t>
            </a:r>
            <a:r>
              <a:rPr sz="1100" spc="25" dirty="0">
                <a:latin typeface="Corbel"/>
                <a:cs typeface="Corbel"/>
              </a:rPr>
              <a:t> </a:t>
            </a:r>
            <a:r>
              <a:rPr sz="1100" dirty="0">
                <a:solidFill>
                  <a:srgbClr val="DD00FF"/>
                </a:solidFill>
                <a:latin typeface="Corbel"/>
                <a:cs typeface="Corbel"/>
              </a:rPr>
              <a:t>a</a:t>
            </a:r>
            <a:r>
              <a:rPr sz="1100" spc="15" dirty="0">
                <a:solidFill>
                  <a:srgbClr val="DD00FF"/>
                </a:solidFill>
                <a:latin typeface="Corbel"/>
                <a:cs typeface="Corbel"/>
              </a:rPr>
              <a:t> </a:t>
            </a:r>
            <a:r>
              <a:rPr sz="1100" dirty="0">
                <a:solidFill>
                  <a:srgbClr val="DD00FF"/>
                </a:solidFill>
                <a:latin typeface="Corbel"/>
                <a:cs typeface="Corbel"/>
              </a:rPr>
              <a:t>region</a:t>
            </a:r>
            <a:r>
              <a:rPr sz="1100" spc="229" dirty="0">
                <a:solidFill>
                  <a:srgbClr val="DD00FF"/>
                </a:solidFill>
                <a:latin typeface="Corbel"/>
                <a:cs typeface="Corbel"/>
              </a:rPr>
              <a:t> </a:t>
            </a:r>
            <a:r>
              <a:rPr sz="1100" spc="-20" dirty="0">
                <a:solidFill>
                  <a:srgbClr val="DD00FF"/>
                </a:solidFill>
                <a:latin typeface="Corbel"/>
                <a:cs typeface="Corbel"/>
              </a:rPr>
              <a:t>in </a:t>
            </a:r>
            <a:r>
              <a:rPr sz="1100" spc="-210" dirty="0">
                <a:solidFill>
                  <a:srgbClr val="DD00FF"/>
                </a:solidFill>
                <a:latin typeface="Corbel"/>
                <a:cs typeface="Corbel"/>
              </a:rPr>
              <a:t> </a:t>
            </a:r>
            <a:r>
              <a:rPr sz="1100" spc="-5" dirty="0">
                <a:solidFill>
                  <a:srgbClr val="DD00FF"/>
                </a:solidFill>
                <a:latin typeface="Corbel"/>
                <a:cs typeface="Corbel"/>
              </a:rPr>
              <a:t>space</a:t>
            </a:r>
            <a:r>
              <a:rPr sz="1100" spc="-15" dirty="0">
                <a:solidFill>
                  <a:srgbClr val="DD00FF"/>
                </a:solidFill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on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which</a:t>
            </a:r>
            <a:r>
              <a:rPr sz="1100" dirty="0">
                <a:latin typeface="Corbel"/>
                <a:cs typeface="Corbel"/>
              </a:rPr>
              <a:t> attention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focused/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selected for </a:t>
            </a:r>
            <a:r>
              <a:rPr sz="1100" spc="-10" dirty="0">
                <a:latin typeface="Corbel"/>
                <a:cs typeface="Corbel"/>
              </a:rPr>
              <a:t>study.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200" spc="-77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200" spc="-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200" b="1" spc="-5" dirty="0">
                <a:latin typeface="Corbel"/>
                <a:cs typeface="Corbel"/>
              </a:rPr>
              <a:t>S</a:t>
            </a:r>
            <a:r>
              <a:rPr sz="1200" b="1" spc="5" dirty="0">
                <a:latin typeface="Corbel"/>
                <a:cs typeface="Corbel"/>
              </a:rPr>
              <a:t>u</a:t>
            </a:r>
            <a:r>
              <a:rPr sz="1200" b="1" dirty="0">
                <a:latin typeface="Corbel"/>
                <a:cs typeface="Corbel"/>
              </a:rPr>
              <a:t>rr</a:t>
            </a:r>
            <a:r>
              <a:rPr sz="1200" b="1" spc="-5" dirty="0">
                <a:latin typeface="Corbel"/>
                <a:cs typeface="Corbel"/>
              </a:rPr>
              <a:t>o</a:t>
            </a:r>
            <a:r>
              <a:rPr sz="1200" b="1" dirty="0">
                <a:latin typeface="Corbel"/>
                <a:cs typeface="Corbel"/>
              </a:rPr>
              <a:t>u</a:t>
            </a:r>
            <a:r>
              <a:rPr sz="1200" b="1" spc="-10" dirty="0">
                <a:latin typeface="Corbel"/>
                <a:cs typeface="Corbel"/>
              </a:rPr>
              <a:t>n</a:t>
            </a:r>
            <a:r>
              <a:rPr sz="1200" b="1" dirty="0">
                <a:latin typeface="Corbel"/>
                <a:cs typeface="Corbel"/>
              </a:rPr>
              <a:t>ding</a:t>
            </a:r>
            <a:r>
              <a:rPr sz="1200" b="1" spc="5" dirty="0">
                <a:latin typeface="Corbel"/>
                <a:cs typeface="Corbel"/>
              </a:rPr>
              <a:t> </a:t>
            </a:r>
            <a:r>
              <a:rPr sz="1200" b="1" spc="-5" dirty="0">
                <a:latin typeface="Corbel"/>
                <a:cs typeface="Corbel"/>
              </a:rPr>
              <a:t>o</a:t>
            </a:r>
            <a:r>
              <a:rPr sz="1200" b="1" dirty="0">
                <a:latin typeface="Corbel"/>
                <a:cs typeface="Corbel"/>
              </a:rPr>
              <a:t>r</a:t>
            </a:r>
            <a:r>
              <a:rPr sz="1200" b="1" spc="5" dirty="0">
                <a:latin typeface="Corbel"/>
                <a:cs typeface="Corbel"/>
              </a:rPr>
              <a:t> </a:t>
            </a:r>
            <a:r>
              <a:rPr sz="1200" b="1" spc="-5" dirty="0">
                <a:latin typeface="Corbel"/>
                <a:cs typeface="Corbel"/>
              </a:rPr>
              <a:t>e</a:t>
            </a:r>
            <a:r>
              <a:rPr sz="1200" b="1" spc="-10" dirty="0">
                <a:latin typeface="Corbel"/>
                <a:cs typeface="Corbel"/>
              </a:rPr>
              <a:t>n</a:t>
            </a:r>
            <a:r>
              <a:rPr sz="1200" b="1" spc="-5" dirty="0">
                <a:latin typeface="Corbel"/>
                <a:cs typeface="Corbel"/>
              </a:rPr>
              <a:t>vir</a:t>
            </a:r>
            <a:r>
              <a:rPr sz="1200" b="1" spc="-10" dirty="0">
                <a:latin typeface="Corbel"/>
                <a:cs typeface="Corbel"/>
              </a:rPr>
              <a:t>on</a:t>
            </a:r>
            <a:r>
              <a:rPr sz="1200" b="1" spc="-5" dirty="0">
                <a:latin typeface="Corbel"/>
                <a:cs typeface="Corbel"/>
              </a:rPr>
              <a:t>m</a:t>
            </a:r>
            <a:r>
              <a:rPr sz="1200" b="1" spc="-10" dirty="0">
                <a:latin typeface="Corbel"/>
                <a:cs typeface="Corbel"/>
              </a:rPr>
              <a:t>en</a:t>
            </a:r>
            <a:r>
              <a:rPr sz="1200" b="1" spc="5" dirty="0">
                <a:latin typeface="Corbel"/>
                <a:cs typeface="Corbel"/>
              </a:rPr>
              <a:t>t</a:t>
            </a:r>
            <a:r>
              <a:rPr sz="1200" b="1" dirty="0">
                <a:latin typeface="Corbel"/>
                <a:cs typeface="Corbel"/>
              </a:rPr>
              <a:t>:</a:t>
            </a:r>
            <a:endParaRPr sz="1200">
              <a:latin typeface="Corbel"/>
              <a:cs typeface="Corbel"/>
            </a:endParaRPr>
          </a:p>
          <a:p>
            <a:pPr marL="469900">
              <a:lnSpc>
                <a:spcPct val="100000"/>
              </a:lnSpc>
              <a:spcBef>
                <a:spcPts val="760"/>
              </a:spcBef>
            </a:pPr>
            <a:r>
              <a:rPr sz="1100" dirty="0">
                <a:latin typeface="Corbel"/>
                <a:cs typeface="Corbel"/>
              </a:rPr>
              <a:t>It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-5" dirty="0">
                <a:latin typeface="Corbel"/>
                <a:cs typeface="Corbel"/>
              </a:rPr>
              <a:t> matter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or </a:t>
            </a:r>
            <a:r>
              <a:rPr sz="1100" dirty="0">
                <a:latin typeface="Corbel"/>
                <a:cs typeface="Corbel"/>
              </a:rPr>
              <a:t>region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outside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 </a:t>
            </a:r>
            <a:r>
              <a:rPr sz="1100" spc="-5" dirty="0">
                <a:latin typeface="Corbel"/>
                <a:cs typeface="Corbel"/>
              </a:rPr>
              <a:t>system.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200" spc="-77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200" spc="-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200" b="1" spc="-5" dirty="0">
                <a:latin typeface="Corbel"/>
                <a:cs typeface="Corbel"/>
              </a:rPr>
              <a:t>Bo</a:t>
            </a:r>
            <a:r>
              <a:rPr sz="1200" b="1" dirty="0">
                <a:latin typeface="Corbel"/>
                <a:cs typeface="Corbel"/>
              </a:rPr>
              <a:t>u</a:t>
            </a:r>
            <a:r>
              <a:rPr sz="1200" b="1" spc="-10" dirty="0">
                <a:latin typeface="Corbel"/>
                <a:cs typeface="Corbel"/>
              </a:rPr>
              <a:t>n</a:t>
            </a:r>
            <a:r>
              <a:rPr sz="1200" b="1" dirty="0">
                <a:latin typeface="Corbel"/>
                <a:cs typeface="Corbel"/>
              </a:rPr>
              <a:t>d</a:t>
            </a:r>
            <a:r>
              <a:rPr sz="1200" b="1" spc="-5" dirty="0">
                <a:latin typeface="Corbel"/>
                <a:cs typeface="Corbel"/>
              </a:rPr>
              <a:t>a</a:t>
            </a:r>
            <a:r>
              <a:rPr sz="1200" b="1" dirty="0">
                <a:latin typeface="Corbel"/>
                <a:cs typeface="Corbel"/>
              </a:rPr>
              <a:t>r</a:t>
            </a:r>
            <a:r>
              <a:rPr sz="1200" b="1" spc="-5" dirty="0">
                <a:latin typeface="Corbel"/>
                <a:cs typeface="Corbel"/>
              </a:rPr>
              <a:t>y</a:t>
            </a:r>
            <a:r>
              <a:rPr sz="1200" b="1" dirty="0">
                <a:latin typeface="Corbel"/>
                <a:cs typeface="Corbel"/>
              </a:rPr>
              <a:t>:</a:t>
            </a:r>
            <a:endParaRPr sz="1200">
              <a:latin typeface="Corbel"/>
              <a:cs typeface="Corbel"/>
            </a:endParaRPr>
          </a:p>
          <a:p>
            <a:pPr marL="108585">
              <a:lnSpc>
                <a:spcPct val="100000"/>
              </a:lnSpc>
              <a:spcBef>
                <a:spcPts val="60"/>
              </a:spcBef>
            </a:pPr>
            <a:r>
              <a:rPr sz="1200" dirty="0">
                <a:latin typeface="Corbel"/>
                <a:cs typeface="Corbel"/>
              </a:rPr>
              <a:t>A</a:t>
            </a:r>
            <a:r>
              <a:rPr sz="1200" spc="-15" dirty="0">
                <a:latin typeface="Corbel"/>
                <a:cs typeface="Corbel"/>
              </a:rPr>
              <a:t> </a:t>
            </a:r>
            <a:r>
              <a:rPr sz="1200" spc="-5" dirty="0">
                <a:latin typeface="Corbel"/>
                <a:cs typeface="Corbel"/>
              </a:rPr>
              <a:t>line</a:t>
            </a:r>
            <a:r>
              <a:rPr sz="1200" dirty="0">
                <a:latin typeface="Corbel"/>
                <a:cs typeface="Corbel"/>
              </a:rPr>
              <a:t> </a:t>
            </a:r>
            <a:r>
              <a:rPr sz="1200" spc="-5" dirty="0">
                <a:latin typeface="Corbel"/>
                <a:cs typeface="Corbel"/>
              </a:rPr>
              <a:t>or</a:t>
            </a:r>
            <a:r>
              <a:rPr sz="1200" spc="-15" dirty="0">
                <a:latin typeface="Corbel"/>
                <a:cs typeface="Corbel"/>
              </a:rPr>
              <a:t> </a:t>
            </a:r>
            <a:r>
              <a:rPr sz="1200" spc="-5" dirty="0">
                <a:latin typeface="Corbel"/>
                <a:cs typeface="Corbel"/>
              </a:rPr>
              <a:t>surface,</a:t>
            </a:r>
            <a:r>
              <a:rPr sz="1200" spc="22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actual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or </a:t>
            </a:r>
            <a:r>
              <a:rPr sz="1100" dirty="0">
                <a:latin typeface="Corbel"/>
                <a:cs typeface="Corbel"/>
              </a:rPr>
              <a:t>imaginary</a:t>
            </a:r>
            <a:endParaRPr sz="1100">
              <a:latin typeface="Corbel"/>
              <a:cs typeface="Corbel"/>
            </a:endParaRPr>
          </a:p>
          <a:p>
            <a:pPr marL="67310">
              <a:lnSpc>
                <a:spcPct val="100000"/>
              </a:lnSpc>
              <a:spcBef>
                <a:spcPts val="5"/>
              </a:spcBef>
            </a:pPr>
            <a:r>
              <a:rPr sz="1100" spc="-5" dirty="0">
                <a:latin typeface="Corbel"/>
                <a:cs typeface="Corbel"/>
              </a:rPr>
              <a:t>which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separates</a:t>
            </a:r>
            <a:r>
              <a:rPr sz="1100" spc="-3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 </a:t>
            </a:r>
            <a:r>
              <a:rPr sz="1100" dirty="0">
                <a:latin typeface="Corbel"/>
                <a:cs typeface="Corbel"/>
              </a:rPr>
              <a:t>from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its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surrounding.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200" spc="-77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200" spc="-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200" b="1" spc="-5" dirty="0">
                <a:latin typeface="Corbel"/>
                <a:cs typeface="Corbel"/>
              </a:rPr>
              <a:t>U</a:t>
            </a:r>
            <a:r>
              <a:rPr sz="1200" b="1" spc="-10" dirty="0">
                <a:latin typeface="Corbel"/>
                <a:cs typeface="Corbel"/>
              </a:rPr>
              <a:t>n</a:t>
            </a:r>
            <a:r>
              <a:rPr sz="1200" b="1" dirty="0">
                <a:latin typeface="Corbel"/>
                <a:cs typeface="Corbel"/>
              </a:rPr>
              <a:t>iv</a:t>
            </a:r>
            <a:r>
              <a:rPr sz="1200" b="1" spc="-10" dirty="0">
                <a:latin typeface="Corbel"/>
                <a:cs typeface="Corbel"/>
              </a:rPr>
              <a:t>e</a:t>
            </a:r>
            <a:r>
              <a:rPr sz="1200" b="1" dirty="0">
                <a:latin typeface="Corbel"/>
                <a:cs typeface="Corbel"/>
              </a:rPr>
              <a:t>r</a:t>
            </a:r>
            <a:r>
              <a:rPr sz="1200" b="1" spc="-10" dirty="0">
                <a:latin typeface="Corbel"/>
                <a:cs typeface="Corbel"/>
              </a:rPr>
              <a:t>s</a:t>
            </a:r>
            <a:r>
              <a:rPr sz="1200" b="1" spc="-5" dirty="0">
                <a:latin typeface="Corbel"/>
                <a:cs typeface="Corbel"/>
              </a:rPr>
              <a:t>e</a:t>
            </a:r>
            <a:r>
              <a:rPr sz="1200" b="1" dirty="0">
                <a:latin typeface="Corbel"/>
                <a:cs typeface="Corbel"/>
              </a:rPr>
              <a:t>:</a:t>
            </a:r>
            <a:endParaRPr sz="1200">
              <a:latin typeface="Corbel"/>
              <a:cs typeface="Corbel"/>
            </a:endParaRPr>
          </a:p>
          <a:p>
            <a:pPr marL="12700" marR="1297305" indent="457200">
              <a:lnSpc>
                <a:spcPct val="101800"/>
              </a:lnSpc>
              <a:spcBef>
                <a:spcPts val="140"/>
              </a:spcBef>
            </a:pPr>
            <a:r>
              <a:rPr sz="1100" spc="-5" dirty="0">
                <a:latin typeface="Corbel"/>
                <a:cs typeface="Corbel"/>
              </a:rPr>
              <a:t>The combination of system </a:t>
            </a:r>
            <a:r>
              <a:rPr sz="1100" dirty="0">
                <a:latin typeface="Corbel"/>
                <a:cs typeface="Corbel"/>
              </a:rPr>
              <a:t>and </a:t>
            </a:r>
            <a:r>
              <a:rPr sz="1100" spc="-2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The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surroundings</a:t>
            </a:r>
            <a:r>
              <a:rPr sz="1100" spc="-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together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sz="1100" spc="-5" dirty="0">
                <a:latin typeface="Corbel"/>
                <a:cs typeface="Corbel"/>
              </a:rPr>
              <a:t>usually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referred</a:t>
            </a:r>
            <a:r>
              <a:rPr sz="1100" spc="-3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to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as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universe.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 marL="45720" marR="784860">
              <a:lnSpc>
                <a:spcPts val="1950"/>
              </a:lnSpc>
            </a:pPr>
            <a:r>
              <a:rPr sz="1800" spc="-16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pe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f 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Bo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u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da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49245" y="5164582"/>
            <a:ext cx="1946910" cy="55880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200" spc="-77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200" spc="-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200" b="1" dirty="0">
                <a:latin typeface="Corbel"/>
                <a:cs typeface="Corbel"/>
              </a:rPr>
              <a:t>Fi</a:t>
            </a:r>
            <a:r>
              <a:rPr sz="1200" b="1" spc="-15" dirty="0">
                <a:latin typeface="Corbel"/>
                <a:cs typeface="Corbel"/>
              </a:rPr>
              <a:t>x</a:t>
            </a:r>
            <a:r>
              <a:rPr sz="1200" b="1" spc="-5" dirty="0">
                <a:latin typeface="Corbel"/>
                <a:cs typeface="Corbel"/>
              </a:rPr>
              <a:t>e</a:t>
            </a:r>
            <a:r>
              <a:rPr sz="1200" b="1" dirty="0">
                <a:latin typeface="Corbel"/>
                <a:cs typeface="Corbel"/>
              </a:rPr>
              <a:t>d</a:t>
            </a:r>
            <a:r>
              <a:rPr sz="1200" b="1" spc="-5" dirty="0">
                <a:latin typeface="Corbel"/>
                <a:cs typeface="Corbel"/>
              </a:rPr>
              <a:t> o</a:t>
            </a:r>
            <a:r>
              <a:rPr sz="1200" b="1" dirty="0">
                <a:latin typeface="Corbel"/>
                <a:cs typeface="Corbel"/>
              </a:rPr>
              <a:t>r</a:t>
            </a:r>
            <a:r>
              <a:rPr sz="1200" b="1" spc="5" dirty="0">
                <a:latin typeface="Corbel"/>
                <a:cs typeface="Corbel"/>
              </a:rPr>
              <a:t> </a:t>
            </a:r>
            <a:r>
              <a:rPr sz="1200" b="1" dirty="0">
                <a:latin typeface="Corbel"/>
                <a:cs typeface="Corbel"/>
              </a:rPr>
              <a:t>M</a:t>
            </a:r>
            <a:r>
              <a:rPr sz="1200" b="1" spc="-5" dirty="0">
                <a:latin typeface="Corbel"/>
                <a:cs typeface="Corbel"/>
              </a:rPr>
              <a:t>ovi</a:t>
            </a:r>
            <a:r>
              <a:rPr sz="1200" b="1" spc="-10" dirty="0">
                <a:latin typeface="Corbel"/>
                <a:cs typeface="Corbel"/>
              </a:rPr>
              <a:t>n</a:t>
            </a:r>
            <a:r>
              <a:rPr sz="1200" b="1" dirty="0">
                <a:latin typeface="Corbel"/>
                <a:cs typeface="Corbel"/>
              </a:rPr>
              <a:t>g</a:t>
            </a:r>
            <a:r>
              <a:rPr sz="1200" b="1" spc="15" dirty="0">
                <a:latin typeface="Corbel"/>
                <a:cs typeface="Corbel"/>
              </a:rPr>
              <a:t> </a:t>
            </a:r>
            <a:r>
              <a:rPr sz="1200" b="1" spc="-5" dirty="0">
                <a:latin typeface="Corbel"/>
                <a:cs typeface="Corbel"/>
              </a:rPr>
              <a:t>Bo</a:t>
            </a:r>
            <a:r>
              <a:rPr sz="1200" b="1" dirty="0">
                <a:latin typeface="Corbel"/>
                <a:cs typeface="Corbel"/>
              </a:rPr>
              <a:t>u</a:t>
            </a:r>
            <a:r>
              <a:rPr sz="1200" b="1" spc="-10" dirty="0">
                <a:latin typeface="Corbel"/>
                <a:cs typeface="Corbel"/>
              </a:rPr>
              <a:t>n</a:t>
            </a:r>
            <a:r>
              <a:rPr sz="1200" b="1" dirty="0">
                <a:latin typeface="Corbel"/>
                <a:cs typeface="Corbel"/>
              </a:rPr>
              <a:t>d</a:t>
            </a:r>
            <a:r>
              <a:rPr sz="1200" b="1" spc="-5" dirty="0">
                <a:latin typeface="Corbel"/>
                <a:cs typeface="Corbel"/>
              </a:rPr>
              <a:t>a</a:t>
            </a:r>
            <a:r>
              <a:rPr sz="1200" b="1" dirty="0">
                <a:latin typeface="Corbel"/>
                <a:cs typeface="Corbel"/>
              </a:rPr>
              <a:t>ry</a:t>
            </a:r>
            <a:endParaRPr sz="12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200" spc="-77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200" spc="-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200" b="1" spc="-25" dirty="0">
                <a:latin typeface="Corbel"/>
                <a:cs typeface="Corbel"/>
              </a:rPr>
              <a:t>R</a:t>
            </a:r>
            <a:r>
              <a:rPr sz="1200" b="1" spc="-5" dirty="0">
                <a:latin typeface="Corbel"/>
                <a:cs typeface="Corbel"/>
              </a:rPr>
              <a:t>e</a:t>
            </a:r>
            <a:r>
              <a:rPr sz="1200" b="1" spc="-10" dirty="0">
                <a:latin typeface="Corbel"/>
                <a:cs typeface="Corbel"/>
              </a:rPr>
              <a:t>a</a:t>
            </a:r>
            <a:r>
              <a:rPr sz="1200" b="1" dirty="0">
                <a:latin typeface="Corbel"/>
                <a:cs typeface="Corbel"/>
              </a:rPr>
              <a:t>l</a:t>
            </a:r>
            <a:r>
              <a:rPr sz="1200" b="1" spc="10" dirty="0">
                <a:latin typeface="Corbel"/>
                <a:cs typeface="Corbel"/>
              </a:rPr>
              <a:t> </a:t>
            </a:r>
            <a:r>
              <a:rPr sz="1200" b="1" spc="-5" dirty="0">
                <a:latin typeface="Corbel"/>
                <a:cs typeface="Corbel"/>
              </a:rPr>
              <a:t>o</a:t>
            </a:r>
            <a:r>
              <a:rPr sz="1200" b="1" dirty="0">
                <a:latin typeface="Corbel"/>
                <a:cs typeface="Corbel"/>
              </a:rPr>
              <a:t>r</a:t>
            </a:r>
            <a:r>
              <a:rPr sz="1200" b="1" spc="-10" dirty="0">
                <a:latin typeface="Corbel"/>
                <a:cs typeface="Corbel"/>
              </a:rPr>
              <a:t> </a:t>
            </a:r>
            <a:r>
              <a:rPr sz="1200" b="1" dirty="0">
                <a:latin typeface="Corbel"/>
                <a:cs typeface="Corbel"/>
              </a:rPr>
              <a:t>I</a:t>
            </a:r>
            <a:r>
              <a:rPr sz="1200" b="1" spc="-5" dirty="0">
                <a:latin typeface="Corbel"/>
                <a:cs typeface="Corbel"/>
              </a:rPr>
              <a:t>m</a:t>
            </a:r>
            <a:r>
              <a:rPr sz="1200" b="1" spc="-10" dirty="0">
                <a:latin typeface="Corbel"/>
                <a:cs typeface="Corbel"/>
              </a:rPr>
              <a:t>a</a:t>
            </a:r>
            <a:r>
              <a:rPr sz="1200" b="1" dirty="0">
                <a:latin typeface="Corbel"/>
                <a:cs typeface="Corbel"/>
              </a:rPr>
              <a:t>gi</a:t>
            </a:r>
            <a:r>
              <a:rPr sz="1200" b="1" spc="-5" dirty="0">
                <a:latin typeface="Corbel"/>
                <a:cs typeface="Corbel"/>
              </a:rPr>
              <a:t>n</a:t>
            </a:r>
            <a:r>
              <a:rPr sz="1200" b="1" spc="-10" dirty="0">
                <a:latin typeface="Corbel"/>
                <a:cs typeface="Corbel"/>
              </a:rPr>
              <a:t>a</a:t>
            </a:r>
            <a:r>
              <a:rPr sz="1200" b="1" dirty="0">
                <a:latin typeface="Corbel"/>
                <a:cs typeface="Corbel"/>
              </a:rPr>
              <a:t>ry</a:t>
            </a:r>
            <a:r>
              <a:rPr sz="1200" b="1" spc="35" dirty="0">
                <a:latin typeface="Corbel"/>
                <a:cs typeface="Corbel"/>
              </a:rPr>
              <a:t> </a:t>
            </a:r>
            <a:r>
              <a:rPr sz="1200" b="1" spc="-5" dirty="0">
                <a:latin typeface="Corbel"/>
                <a:cs typeface="Corbel"/>
              </a:rPr>
              <a:t>Bo</a:t>
            </a:r>
            <a:r>
              <a:rPr sz="1200" b="1" dirty="0">
                <a:latin typeface="Corbel"/>
                <a:cs typeface="Corbel"/>
              </a:rPr>
              <a:t>u</a:t>
            </a:r>
            <a:r>
              <a:rPr sz="1200" b="1" spc="-10" dirty="0">
                <a:latin typeface="Corbel"/>
                <a:cs typeface="Corbel"/>
              </a:rPr>
              <a:t>n</a:t>
            </a:r>
            <a:r>
              <a:rPr sz="1200" b="1" dirty="0">
                <a:latin typeface="Corbel"/>
                <a:cs typeface="Corbel"/>
              </a:rPr>
              <a:t>d</a:t>
            </a:r>
            <a:r>
              <a:rPr sz="1200" b="1" spc="-5" dirty="0">
                <a:latin typeface="Corbel"/>
                <a:cs typeface="Corbel"/>
              </a:rPr>
              <a:t>a</a:t>
            </a:r>
            <a:r>
              <a:rPr sz="1200" b="1" dirty="0">
                <a:latin typeface="Corbel"/>
                <a:cs typeface="Corbel"/>
              </a:rPr>
              <a:t>ry</a:t>
            </a:r>
            <a:endParaRPr sz="1200">
              <a:latin typeface="Corbel"/>
              <a:cs typeface="Corbe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4572" y="5812108"/>
            <a:ext cx="1485855" cy="240377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6115" y="6094476"/>
            <a:ext cx="2124045" cy="159585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 marR="165100">
              <a:lnSpc>
                <a:spcPts val="1939"/>
              </a:lnSpc>
              <a:spcBef>
                <a:spcPts val="1285"/>
              </a:spcBef>
            </a:pPr>
            <a:r>
              <a:rPr sz="1800" spc="-16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pe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f 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he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rmo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c 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systems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49245" y="976121"/>
            <a:ext cx="3592829" cy="76835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200" spc="-77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200" spc="-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200" b="1" spc="-10" dirty="0">
                <a:latin typeface="Corbel"/>
                <a:cs typeface="Corbel"/>
              </a:rPr>
              <a:t>O</a:t>
            </a:r>
            <a:r>
              <a:rPr sz="1200" b="1" dirty="0">
                <a:latin typeface="Corbel"/>
                <a:cs typeface="Corbel"/>
              </a:rPr>
              <a:t>p</a:t>
            </a:r>
            <a:r>
              <a:rPr sz="1200" b="1" spc="-5" dirty="0">
                <a:latin typeface="Corbel"/>
                <a:cs typeface="Corbel"/>
              </a:rPr>
              <a:t>e</a:t>
            </a:r>
            <a:r>
              <a:rPr sz="1200" b="1" dirty="0">
                <a:latin typeface="Corbel"/>
                <a:cs typeface="Corbel"/>
              </a:rPr>
              <a:t>n</a:t>
            </a:r>
            <a:r>
              <a:rPr sz="1200" b="1" spc="10" dirty="0">
                <a:latin typeface="Corbel"/>
                <a:cs typeface="Corbel"/>
              </a:rPr>
              <a:t> </a:t>
            </a:r>
            <a:r>
              <a:rPr sz="1200" b="1" spc="-5" dirty="0">
                <a:latin typeface="Corbel"/>
                <a:cs typeface="Corbel"/>
              </a:rPr>
              <a:t>system</a:t>
            </a:r>
            <a:r>
              <a:rPr sz="1200" b="1" dirty="0">
                <a:latin typeface="Corbel"/>
                <a:cs typeface="Corbel"/>
              </a:rPr>
              <a:t>:</a:t>
            </a:r>
            <a:endParaRPr sz="1200">
              <a:latin typeface="Corbel"/>
              <a:cs typeface="Corbel"/>
            </a:endParaRPr>
          </a:p>
          <a:p>
            <a:pPr marL="12700" marR="5080" indent="457200">
              <a:lnSpc>
                <a:spcPct val="113599"/>
              </a:lnSpc>
              <a:spcBef>
                <a:spcPts val="580"/>
              </a:spcBef>
            </a:pPr>
            <a:r>
              <a:rPr sz="1100" dirty="0">
                <a:latin typeface="Corbel"/>
                <a:cs typeface="Corbel"/>
              </a:rPr>
              <a:t>In</a:t>
            </a:r>
            <a:r>
              <a:rPr sz="1100" spc="100" dirty="0">
                <a:latin typeface="Corbel"/>
                <a:cs typeface="Corbel"/>
              </a:rPr>
              <a:t> </a:t>
            </a:r>
            <a:r>
              <a:rPr sz="1100" spc="-10" dirty="0">
                <a:latin typeface="Corbel"/>
                <a:cs typeface="Corbel"/>
              </a:rPr>
              <a:t>an</a:t>
            </a:r>
            <a:r>
              <a:rPr sz="1100" spc="10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open</a:t>
            </a:r>
            <a:r>
              <a:rPr sz="1100" spc="1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system,</a:t>
            </a:r>
            <a:r>
              <a:rPr sz="1100" spc="9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mass</a:t>
            </a:r>
            <a:r>
              <a:rPr sz="1100" b="1" spc="10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and</a:t>
            </a:r>
            <a:r>
              <a:rPr sz="1100" b="1" spc="9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energy</a:t>
            </a:r>
            <a:r>
              <a:rPr sz="1100" b="1" spc="9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(in</a:t>
            </a:r>
            <a:r>
              <a:rPr sz="1100" spc="1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9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form</a:t>
            </a:r>
            <a:r>
              <a:rPr sz="1100" spc="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 </a:t>
            </a:r>
            <a:r>
              <a:rPr sz="1100" spc="-20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heat </a:t>
            </a:r>
            <a:r>
              <a:rPr sz="1100" dirty="0">
                <a:latin typeface="Corbel"/>
                <a:cs typeface="Corbel"/>
              </a:rPr>
              <a:t>and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work)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both</a:t>
            </a:r>
            <a:r>
              <a:rPr sz="1100" b="1" spc="-1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can</a:t>
            </a:r>
            <a:r>
              <a:rPr sz="1100" b="1" spc="-1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transfer</a:t>
            </a:r>
            <a:r>
              <a:rPr sz="1100" b="1" spc="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across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boundary.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06700" y="1817370"/>
            <a:ext cx="292989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latin typeface="Corbel"/>
                <a:cs typeface="Corbel"/>
              </a:rPr>
              <a:t>Most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dirty="0">
                <a:latin typeface="Corbel"/>
                <a:cs typeface="Corbel"/>
              </a:rPr>
              <a:t> the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engineering</a:t>
            </a:r>
            <a:r>
              <a:rPr sz="1100" spc="-3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devices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are </a:t>
            </a:r>
            <a:r>
              <a:rPr sz="1100" spc="-5" dirty="0">
                <a:latin typeface="Corbel"/>
                <a:cs typeface="Corbel"/>
              </a:rPr>
              <a:t>open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systems.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49245" y="2061819"/>
            <a:ext cx="35941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sz="1100" b="1" spc="-5" dirty="0">
                <a:latin typeface="Corbel"/>
                <a:cs typeface="Corbel"/>
              </a:rPr>
              <a:t>Examples:</a:t>
            </a:r>
            <a:r>
              <a:rPr sz="1100" b="1" spc="25" dirty="0">
                <a:latin typeface="Corbel"/>
                <a:cs typeface="Corbel"/>
              </a:rPr>
              <a:t> </a:t>
            </a:r>
            <a:r>
              <a:rPr sz="1100" spc="-10" dirty="0">
                <a:latin typeface="Corbel"/>
                <a:cs typeface="Corbel"/>
              </a:rPr>
              <a:t>Boiler,</a:t>
            </a:r>
            <a:r>
              <a:rPr sz="1100" spc="40" dirty="0">
                <a:latin typeface="Corbel"/>
                <a:cs typeface="Corbel"/>
              </a:rPr>
              <a:t> </a:t>
            </a:r>
            <a:r>
              <a:rPr sz="1100" spc="-15" dirty="0">
                <a:latin typeface="Corbel"/>
                <a:cs typeface="Corbel"/>
              </a:rPr>
              <a:t>Turbine,</a:t>
            </a:r>
            <a:r>
              <a:rPr sz="1100" spc="4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Compressor,</a:t>
            </a:r>
            <a:r>
              <a:rPr sz="1100" spc="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Pump,</a:t>
            </a:r>
            <a:r>
              <a:rPr sz="1100" spc="3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I.C.</a:t>
            </a:r>
            <a:r>
              <a:rPr sz="1100" spc="2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Engine, </a:t>
            </a:r>
            <a:r>
              <a:rPr sz="1100" spc="-2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etc.</a:t>
            </a:r>
            <a:endParaRPr sz="1100">
              <a:latin typeface="Corbel"/>
              <a:cs typeface="Corbe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6351" y="2377439"/>
            <a:ext cx="3067859" cy="186232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 marR="163830">
              <a:lnSpc>
                <a:spcPct val="90100"/>
              </a:lnSpc>
              <a:spcBef>
                <a:spcPts val="1255"/>
              </a:spcBef>
            </a:pPr>
            <a:r>
              <a:rPr sz="1800" spc="-16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pe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f 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he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c 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systems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2349245" y="4896264"/>
            <a:ext cx="3592829" cy="95885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19"/>
              </a:spcBef>
            </a:pPr>
            <a:r>
              <a:rPr sz="1200" spc="-77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200" spc="-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200" b="1" spc="-10" dirty="0">
                <a:latin typeface="Corbel"/>
                <a:cs typeface="Corbel"/>
              </a:rPr>
              <a:t>C</a:t>
            </a:r>
            <a:r>
              <a:rPr sz="1200" b="1" spc="-5" dirty="0">
                <a:latin typeface="Corbel"/>
                <a:cs typeface="Corbel"/>
              </a:rPr>
              <a:t>l</a:t>
            </a:r>
            <a:r>
              <a:rPr sz="1200" b="1" spc="-10" dirty="0">
                <a:latin typeface="Corbel"/>
                <a:cs typeface="Corbel"/>
              </a:rPr>
              <a:t>o</a:t>
            </a:r>
            <a:r>
              <a:rPr sz="1200" b="1" spc="-5" dirty="0">
                <a:latin typeface="Corbel"/>
                <a:cs typeface="Corbel"/>
              </a:rPr>
              <a:t>se</a:t>
            </a:r>
            <a:r>
              <a:rPr sz="1200" b="1" dirty="0">
                <a:latin typeface="Corbel"/>
                <a:cs typeface="Corbel"/>
              </a:rPr>
              <a:t>d</a:t>
            </a:r>
            <a:r>
              <a:rPr sz="1200" b="1" spc="10" dirty="0">
                <a:latin typeface="Corbel"/>
                <a:cs typeface="Corbel"/>
              </a:rPr>
              <a:t> </a:t>
            </a:r>
            <a:r>
              <a:rPr sz="1200" b="1" spc="-5" dirty="0">
                <a:latin typeface="Corbel"/>
                <a:cs typeface="Corbel"/>
              </a:rPr>
              <a:t>system</a:t>
            </a:r>
            <a:r>
              <a:rPr sz="1200" b="1" dirty="0">
                <a:latin typeface="Corbel"/>
                <a:cs typeface="Corbel"/>
              </a:rPr>
              <a:t>:</a:t>
            </a:r>
            <a:endParaRPr sz="1200">
              <a:latin typeface="Corbel"/>
              <a:cs typeface="Corbel"/>
            </a:endParaRPr>
          </a:p>
          <a:p>
            <a:pPr marL="12700" marR="5080" indent="457200" algn="just">
              <a:lnSpc>
                <a:spcPct val="113700"/>
              </a:lnSpc>
              <a:spcBef>
                <a:spcPts val="580"/>
              </a:spcBef>
            </a:pPr>
            <a:r>
              <a:rPr sz="1100" dirty="0">
                <a:latin typeface="Corbel"/>
                <a:cs typeface="Corbel"/>
              </a:rPr>
              <a:t>A </a:t>
            </a:r>
            <a:r>
              <a:rPr sz="1100" spc="-5" dirty="0">
                <a:latin typeface="Corbel"/>
                <a:cs typeface="Corbel"/>
              </a:rPr>
              <a:t>closed system </a:t>
            </a:r>
            <a:r>
              <a:rPr sz="1100" b="1" dirty="0">
                <a:latin typeface="Corbel"/>
                <a:cs typeface="Corbel"/>
              </a:rPr>
              <a:t>can exchange energy in the </a:t>
            </a:r>
            <a:r>
              <a:rPr sz="1100" b="1" spc="-5" dirty="0">
                <a:latin typeface="Corbel"/>
                <a:cs typeface="Corbel"/>
              </a:rPr>
              <a:t>form 0f 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heat</a:t>
            </a:r>
            <a:r>
              <a:rPr sz="1100" b="1" dirty="0">
                <a:latin typeface="Corbel"/>
                <a:cs typeface="Corbel"/>
              </a:rPr>
              <a:t> and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work </a:t>
            </a:r>
            <a:r>
              <a:rPr sz="1100" dirty="0">
                <a:latin typeface="Corbel"/>
                <a:cs typeface="Corbel"/>
              </a:rPr>
              <a:t>with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its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surroundings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but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there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no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mass 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transfer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across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 boundary.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49245" y="5905347"/>
            <a:ext cx="359282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13599"/>
              </a:lnSpc>
              <a:spcBef>
                <a:spcPts val="100"/>
              </a:spcBef>
            </a:pPr>
            <a:r>
              <a:rPr sz="1100" spc="-5" dirty="0">
                <a:latin typeface="Corbel"/>
                <a:cs typeface="Corbel"/>
              </a:rPr>
              <a:t>The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mass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within</a:t>
            </a:r>
            <a:r>
              <a:rPr sz="1100" dirty="0">
                <a:latin typeface="Corbel"/>
                <a:cs typeface="Corbel"/>
              </a:rPr>
              <a:t> the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r>
              <a:rPr sz="1100" dirty="0">
                <a:latin typeface="Corbel"/>
                <a:cs typeface="Corbel"/>
              </a:rPr>
              <a:t> remains</a:t>
            </a:r>
            <a:r>
              <a:rPr sz="1100" spc="2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constant </a:t>
            </a:r>
            <a:r>
              <a:rPr sz="1100" spc="-2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however</a:t>
            </a:r>
            <a:r>
              <a:rPr sz="1100" spc="-4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its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volume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can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change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against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-5" dirty="0">
                <a:latin typeface="Corbel"/>
                <a:cs typeface="Corbel"/>
              </a:rPr>
              <a:t> flexible</a:t>
            </a:r>
            <a:r>
              <a:rPr sz="1100" spc="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boundary.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49245" y="6362547"/>
            <a:ext cx="359282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sz="1100" b="1" spc="-5" dirty="0">
                <a:latin typeface="Corbel"/>
                <a:cs typeface="Corbel"/>
              </a:rPr>
              <a:t>Examples:</a:t>
            </a:r>
            <a:r>
              <a:rPr sz="1100" b="1" spc="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Cylinder</a:t>
            </a:r>
            <a:r>
              <a:rPr sz="1100" spc="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bounded</a:t>
            </a:r>
            <a:r>
              <a:rPr sz="1100" spc="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by</a:t>
            </a:r>
            <a:r>
              <a:rPr sz="1100" spc="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piston</a:t>
            </a:r>
            <a:r>
              <a:rPr sz="1100" spc="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with</a:t>
            </a:r>
            <a:r>
              <a:rPr sz="1100" spc="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certain</a:t>
            </a:r>
            <a:r>
              <a:rPr sz="1100" spc="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quantity </a:t>
            </a:r>
            <a:r>
              <a:rPr sz="1100" spc="-20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fluid,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pressure</a:t>
            </a:r>
            <a:r>
              <a:rPr sz="1100" spc="-3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cooker</a:t>
            </a:r>
            <a:r>
              <a:rPr sz="1100" dirty="0">
                <a:latin typeface="Corbel"/>
                <a:cs typeface="Corbel"/>
              </a:rPr>
              <a:t> and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Bomb</a:t>
            </a:r>
            <a:r>
              <a:rPr sz="1100" spc="-10" dirty="0">
                <a:latin typeface="Corbel"/>
                <a:cs typeface="Corbel"/>
              </a:rPr>
              <a:t> calorimeter,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etc.</a:t>
            </a:r>
            <a:endParaRPr sz="11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 marR="165100">
              <a:lnSpc>
                <a:spcPts val="1939"/>
              </a:lnSpc>
              <a:spcBef>
                <a:spcPts val="1285"/>
              </a:spcBef>
            </a:pPr>
            <a:r>
              <a:rPr sz="1800" spc="-16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pe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f 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he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rmo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c 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systems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49245" y="976121"/>
            <a:ext cx="3592829" cy="95885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25"/>
              </a:spcBef>
            </a:pPr>
            <a:r>
              <a:rPr sz="1200" spc="-77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200" spc="-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200" b="1" spc="-10" dirty="0">
                <a:latin typeface="Corbel"/>
                <a:cs typeface="Corbel"/>
              </a:rPr>
              <a:t>C</a:t>
            </a:r>
            <a:r>
              <a:rPr sz="1200" b="1" spc="-5" dirty="0">
                <a:latin typeface="Corbel"/>
                <a:cs typeface="Corbel"/>
              </a:rPr>
              <a:t>l</a:t>
            </a:r>
            <a:r>
              <a:rPr sz="1200" b="1" spc="-10" dirty="0">
                <a:latin typeface="Corbel"/>
                <a:cs typeface="Corbel"/>
              </a:rPr>
              <a:t>o</a:t>
            </a:r>
            <a:r>
              <a:rPr sz="1200" b="1" spc="-5" dirty="0">
                <a:latin typeface="Corbel"/>
                <a:cs typeface="Corbel"/>
              </a:rPr>
              <a:t>se</a:t>
            </a:r>
            <a:r>
              <a:rPr sz="1200" b="1" dirty="0">
                <a:latin typeface="Corbel"/>
                <a:cs typeface="Corbel"/>
              </a:rPr>
              <a:t>d</a:t>
            </a:r>
            <a:r>
              <a:rPr sz="1200" b="1" spc="10" dirty="0">
                <a:latin typeface="Corbel"/>
                <a:cs typeface="Corbel"/>
              </a:rPr>
              <a:t> </a:t>
            </a:r>
            <a:r>
              <a:rPr sz="1200" b="1" spc="-5" dirty="0">
                <a:latin typeface="Corbel"/>
                <a:cs typeface="Corbel"/>
              </a:rPr>
              <a:t>system</a:t>
            </a:r>
            <a:r>
              <a:rPr sz="1200" b="1" dirty="0">
                <a:latin typeface="Corbel"/>
                <a:cs typeface="Corbel"/>
              </a:rPr>
              <a:t>:</a:t>
            </a:r>
            <a:endParaRPr sz="1200">
              <a:latin typeface="Corbel"/>
              <a:cs typeface="Corbel"/>
            </a:endParaRPr>
          </a:p>
          <a:p>
            <a:pPr marL="12700" marR="5080" indent="457200" algn="just">
              <a:lnSpc>
                <a:spcPct val="113599"/>
              </a:lnSpc>
              <a:spcBef>
                <a:spcPts val="580"/>
              </a:spcBef>
            </a:pPr>
            <a:r>
              <a:rPr sz="1100" dirty="0">
                <a:latin typeface="Corbel"/>
                <a:cs typeface="Corbel"/>
              </a:rPr>
              <a:t>A </a:t>
            </a:r>
            <a:r>
              <a:rPr sz="1100" spc="-5" dirty="0">
                <a:latin typeface="Corbel"/>
                <a:cs typeface="Corbel"/>
              </a:rPr>
              <a:t>closed system </a:t>
            </a:r>
            <a:r>
              <a:rPr sz="1100" b="1" dirty="0">
                <a:latin typeface="Corbel"/>
                <a:cs typeface="Corbel"/>
              </a:rPr>
              <a:t>can exchange energy in the </a:t>
            </a:r>
            <a:r>
              <a:rPr sz="1100" b="1" spc="-5" dirty="0">
                <a:latin typeface="Corbel"/>
                <a:cs typeface="Corbel"/>
              </a:rPr>
              <a:t>form 0f 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heat</a:t>
            </a:r>
            <a:r>
              <a:rPr sz="1100" b="1" dirty="0">
                <a:latin typeface="Corbel"/>
                <a:cs typeface="Corbel"/>
              </a:rPr>
              <a:t> and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work </a:t>
            </a:r>
            <a:r>
              <a:rPr sz="1100" spc="-5" dirty="0">
                <a:latin typeface="Corbel"/>
                <a:cs typeface="Corbel"/>
              </a:rPr>
              <a:t>with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its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surroundings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but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there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no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mass 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transfer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across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 boundary.</a:t>
            </a:r>
            <a:endParaRPr sz="1100">
              <a:latin typeface="Corbel"/>
              <a:cs typeface="Corbe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8682" y="2157663"/>
            <a:ext cx="1956358" cy="208210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 marR="163830">
              <a:lnSpc>
                <a:spcPct val="90100"/>
              </a:lnSpc>
              <a:spcBef>
                <a:spcPts val="1255"/>
              </a:spcBef>
            </a:pPr>
            <a:r>
              <a:rPr sz="1800" spc="-16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pe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f 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he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c 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systems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49245" y="4991641"/>
            <a:ext cx="3593465" cy="76771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200" spc="-77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200" spc="-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200" b="1" dirty="0">
                <a:latin typeface="Corbel"/>
                <a:cs typeface="Corbel"/>
              </a:rPr>
              <a:t>I</a:t>
            </a:r>
            <a:r>
              <a:rPr sz="1200" b="1" spc="-5" dirty="0">
                <a:latin typeface="Corbel"/>
                <a:cs typeface="Corbel"/>
              </a:rPr>
              <a:t>sol</a:t>
            </a:r>
            <a:r>
              <a:rPr sz="1200" b="1" spc="-10" dirty="0">
                <a:latin typeface="Corbel"/>
                <a:cs typeface="Corbel"/>
              </a:rPr>
              <a:t>a</a:t>
            </a:r>
            <a:r>
              <a:rPr sz="1200" b="1" spc="-5" dirty="0">
                <a:latin typeface="Corbel"/>
                <a:cs typeface="Corbel"/>
              </a:rPr>
              <a:t>te</a:t>
            </a:r>
            <a:r>
              <a:rPr sz="1200" b="1" dirty="0">
                <a:latin typeface="Corbel"/>
                <a:cs typeface="Corbel"/>
              </a:rPr>
              <a:t>d</a:t>
            </a:r>
            <a:r>
              <a:rPr sz="1200" b="1" spc="10" dirty="0">
                <a:latin typeface="Corbel"/>
                <a:cs typeface="Corbel"/>
              </a:rPr>
              <a:t> </a:t>
            </a:r>
            <a:r>
              <a:rPr sz="1200" b="1" spc="-5" dirty="0">
                <a:latin typeface="Corbel"/>
                <a:cs typeface="Corbel"/>
              </a:rPr>
              <a:t>system</a:t>
            </a:r>
            <a:r>
              <a:rPr sz="1200" b="1" dirty="0">
                <a:latin typeface="Corbel"/>
                <a:cs typeface="Corbel"/>
              </a:rPr>
              <a:t>:</a:t>
            </a:r>
            <a:endParaRPr sz="1200">
              <a:latin typeface="Corbel"/>
              <a:cs typeface="Corbel"/>
            </a:endParaRPr>
          </a:p>
          <a:p>
            <a:pPr marL="12700" marR="5080" indent="457200">
              <a:lnSpc>
                <a:spcPct val="113599"/>
              </a:lnSpc>
              <a:spcBef>
                <a:spcPts val="580"/>
              </a:spcBef>
            </a:pPr>
            <a:r>
              <a:rPr sz="1100" spc="-5" dirty="0">
                <a:latin typeface="Corbel"/>
                <a:cs typeface="Corbel"/>
              </a:rPr>
              <a:t>There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dirty="0">
                <a:latin typeface="Corbel"/>
                <a:cs typeface="Corbel"/>
              </a:rPr>
              <a:t> no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interaction</a:t>
            </a:r>
            <a:r>
              <a:rPr sz="1100" dirty="0">
                <a:latin typeface="Corbel"/>
                <a:cs typeface="Corbel"/>
              </a:rPr>
              <a:t> between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and </a:t>
            </a:r>
            <a:r>
              <a:rPr sz="1100" spc="-2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surroundings.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49245" y="5809843"/>
            <a:ext cx="35941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13599"/>
              </a:lnSpc>
              <a:spcBef>
                <a:spcPts val="100"/>
              </a:spcBef>
            </a:pPr>
            <a:r>
              <a:rPr sz="1100" dirty="0">
                <a:latin typeface="Corbel"/>
                <a:cs typeface="Corbel"/>
              </a:rPr>
              <a:t>It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fixed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mass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and</a:t>
            </a:r>
            <a:r>
              <a:rPr sz="1100" spc="120" dirty="0">
                <a:latin typeface="Corbel"/>
                <a:cs typeface="Corbel"/>
              </a:rPr>
              <a:t> </a:t>
            </a:r>
            <a:r>
              <a:rPr sz="1100" spc="-10" dirty="0">
                <a:latin typeface="Corbel"/>
                <a:cs typeface="Corbel"/>
              </a:rPr>
              <a:t>energy,</a:t>
            </a:r>
            <a:r>
              <a:rPr sz="1100" spc="10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and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hence</a:t>
            </a:r>
            <a:r>
              <a:rPr sz="1100" spc="1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there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no </a:t>
            </a:r>
            <a:r>
              <a:rPr sz="1100" b="1" spc="-21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mass </a:t>
            </a:r>
            <a:r>
              <a:rPr sz="1100" b="1" dirty="0">
                <a:latin typeface="Corbel"/>
                <a:cs typeface="Corbel"/>
              </a:rPr>
              <a:t>and</a:t>
            </a:r>
            <a:r>
              <a:rPr sz="1100" b="1" spc="1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energy</a:t>
            </a:r>
            <a:r>
              <a:rPr sz="1100" b="1" spc="-1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transfer</a:t>
            </a:r>
            <a:r>
              <a:rPr sz="1100" b="1" spc="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across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 boundary.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49245" y="6266662"/>
            <a:ext cx="3592829" cy="407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0">
              <a:lnSpc>
                <a:spcPct val="113900"/>
              </a:lnSpc>
              <a:spcBef>
                <a:spcPts val="95"/>
              </a:spcBef>
            </a:pPr>
            <a:r>
              <a:rPr sz="1100" b="1" spc="-5" dirty="0">
                <a:latin typeface="Corbel"/>
                <a:cs typeface="Corbel"/>
              </a:rPr>
              <a:t>Examples:</a:t>
            </a:r>
            <a:r>
              <a:rPr sz="1100" b="1" spc="15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The</a:t>
            </a:r>
            <a:r>
              <a:rPr sz="1100" spc="16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universe</a:t>
            </a:r>
            <a:r>
              <a:rPr sz="1100" spc="15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and</a:t>
            </a:r>
            <a:r>
              <a:rPr sz="1100" spc="14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perfectly</a:t>
            </a:r>
            <a:r>
              <a:rPr sz="1100" spc="15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insulated </a:t>
            </a:r>
            <a:r>
              <a:rPr sz="1100" spc="-2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closed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vessel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(Thermo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flask).</a:t>
            </a:r>
            <a:endParaRPr sz="1100">
              <a:latin typeface="Corbel"/>
              <a:cs typeface="Corbe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75566" y="6556247"/>
            <a:ext cx="1911255" cy="1647443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54682" y="1076484"/>
            <a:ext cx="4089400" cy="76835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200" spc="-77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200" spc="-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200" b="1" dirty="0">
                <a:latin typeface="Corbel"/>
                <a:cs typeface="Corbel"/>
              </a:rPr>
              <a:t>Ph</a:t>
            </a:r>
            <a:r>
              <a:rPr sz="1200" b="1" spc="-10" dirty="0">
                <a:latin typeface="Corbel"/>
                <a:cs typeface="Corbel"/>
              </a:rPr>
              <a:t>a</a:t>
            </a:r>
            <a:r>
              <a:rPr sz="1200" b="1" spc="-5" dirty="0">
                <a:latin typeface="Corbel"/>
                <a:cs typeface="Corbel"/>
              </a:rPr>
              <a:t>se</a:t>
            </a:r>
            <a:r>
              <a:rPr sz="1200" b="1" dirty="0">
                <a:latin typeface="Corbel"/>
                <a:cs typeface="Corbel"/>
              </a:rPr>
              <a:t>:</a:t>
            </a:r>
            <a:endParaRPr sz="1200">
              <a:latin typeface="Corbel"/>
              <a:cs typeface="Corbel"/>
            </a:endParaRPr>
          </a:p>
          <a:p>
            <a:pPr marL="12700" marR="5080" indent="457200">
              <a:lnSpc>
                <a:spcPct val="113900"/>
              </a:lnSpc>
              <a:spcBef>
                <a:spcPts val="575"/>
              </a:spcBef>
            </a:pPr>
            <a:r>
              <a:rPr sz="1100" dirty="0">
                <a:latin typeface="Corbel"/>
                <a:cs typeface="Corbel"/>
              </a:rPr>
              <a:t>It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dirty="0">
                <a:latin typeface="Corbel"/>
                <a:cs typeface="Corbel"/>
              </a:rPr>
              <a:t> the </a:t>
            </a:r>
            <a:r>
              <a:rPr sz="1100" spc="-5" dirty="0">
                <a:latin typeface="Corbel"/>
                <a:cs typeface="Corbel"/>
              </a:rPr>
              <a:t>quantity of matter which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 homogeneous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throughout </a:t>
            </a:r>
            <a:r>
              <a:rPr sz="1100" spc="-2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in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chemical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composition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and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physical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structure.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11882" y="1917319"/>
            <a:ext cx="16560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" dirty="0">
                <a:latin typeface="Corbel"/>
                <a:cs typeface="Corbel"/>
              </a:rPr>
              <a:t>Examples:</a:t>
            </a:r>
            <a:r>
              <a:rPr sz="1100" b="1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Solid, liquid,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gas.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248285">
              <a:lnSpc>
                <a:spcPct val="100000"/>
              </a:lnSpc>
              <a:spcBef>
                <a:spcPts val="1490"/>
              </a:spcBef>
            </a:pP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Phase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 marR="163830">
              <a:lnSpc>
                <a:spcPct val="90100"/>
              </a:lnSpc>
              <a:spcBef>
                <a:spcPts val="1255"/>
              </a:spcBef>
            </a:pPr>
            <a:r>
              <a:rPr sz="1800" spc="-16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pe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f 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he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c 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systems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2349245" y="5258341"/>
            <a:ext cx="3592829" cy="76771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200" spc="-77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200" spc="-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200" b="1" spc="-5" dirty="0">
                <a:latin typeface="Corbel"/>
                <a:cs typeface="Corbel"/>
              </a:rPr>
              <a:t>Ho</a:t>
            </a:r>
            <a:r>
              <a:rPr sz="1200" b="1" spc="-10" dirty="0">
                <a:latin typeface="Corbel"/>
                <a:cs typeface="Corbel"/>
              </a:rPr>
              <a:t>m</a:t>
            </a:r>
            <a:r>
              <a:rPr sz="1200" b="1" spc="-5" dirty="0">
                <a:latin typeface="Corbel"/>
                <a:cs typeface="Corbel"/>
              </a:rPr>
              <a:t>o</a:t>
            </a:r>
            <a:r>
              <a:rPr sz="1200" b="1" dirty="0">
                <a:latin typeface="Corbel"/>
                <a:cs typeface="Corbel"/>
              </a:rPr>
              <a:t>g</a:t>
            </a:r>
            <a:r>
              <a:rPr sz="1200" b="1" spc="-5" dirty="0">
                <a:latin typeface="Corbel"/>
                <a:cs typeface="Corbel"/>
              </a:rPr>
              <a:t>e</a:t>
            </a:r>
            <a:r>
              <a:rPr sz="1200" b="1" spc="-10" dirty="0">
                <a:latin typeface="Corbel"/>
                <a:cs typeface="Corbel"/>
              </a:rPr>
              <a:t>n</a:t>
            </a:r>
            <a:r>
              <a:rPr sz="1200" b="1" spc="-5" dirty="0">
                <a:latin typeface="Corbel"/>
                <a:cs typeface="Corbel"/>
              </a:rPr>
              <a:t>eo</a:t>
            </a:r>
            <a:r>
              <a:rPr sz="1200" b="1" dirty="0">
                <a:latin typeface="Corbel"/>
                <a:cs typeface="Corbel"/>
              </a:rPr>
              <a:t>us</a:t>
            </a:r>
            <a:r>
              <a:rPr sz="1200" b="1" spc="25" dirty="0">
                <a:latin typeface="Corbel"/>
                <a:cs typeface="Corbel"/>
              </a:rPr>
              <a:t> </a:t>
            </a:r>
            <a:r>
              <a:rPr sz="1200" b="1" spc="-5" dirty="0">
                <a:latin typeface="Corbel"/>
                <a:cs typeface="Corbel"/>
              </a:rPr>
              <a:t>system</a:t>
            </a:r>
            <a:r>
              <a:rPr sz="1200" b="1" dirty="0">
                <a:latin typeface="Corbel"/>
                <a:cs typeface="Corbel"/>
              </a:rPr>
              <a:t>:</a:t>
            </a:r>
            <a:endParaRPr sz="1200">
              <a:latin typeface="Corbel"/>
              <a:cs typeface="Corbel"/>
            </a:endParaRPr>
          </a:p>
          <a:p>
            <a:pPr marL="12700" marR="5080" indent="457200">
              <a:lnSpc>
                <a:spcPct val="113599"/>
              </a:lnSpc>
              <a:spcBef>
                <a:spcPts val="580"/>
              </a:spcBef>
            </a:pPr>
            <a:r>
              <a:rPr sz="1100" dirty="0">
                <a:latin typeface="Corbel"/>
                <a:cs typeface="Corbel"/>
              </a:rPr>
              <a:t>A</a:t>
            </a:r>
            <a:r>
              <a:rPr sz="1100" spc="1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which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consists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spc="1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11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single</a:t>
            </a:r>
            <a:r>
              <a:rPr sz="1100" b="1" spc="120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phase</a:t>
            </a:r>
            <a:r>
              <a:rPr sz="1100" b="1" spc="1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1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termed </a:t>
            </a:r>
            <a:r>
              <a:rPr sz="1100" spc="-20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as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homogeneous</a:t>
            </a:r>
            <a:r>
              <a:rPr sz="1100" spc="-3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49245" y="6076543"/>
            <a:ext cx="35921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13599"/>
              </a:lnSpc>
              <a:spcBef>
                <a:spcPts val="100"/>
              </a:spcBef>
            </a:pPr>
            <a:r>
              <a:rPr sz="1100" b="1" spc="-5" dirty="0">
                <a:latin typeface="Corbel"/>
                <a:cs typeface="Corbel"/>
              </a:rPr>
              <a:t>Examples:</a:t>
            </a:r>
            <a:r>
              <a:rPr sz="1100" b="1" spc="7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Mixture</a:t>
            </a:r>
            <a:r>
              <a:rPr sz="1100" spc="7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of</a:t>
            </a:r>
            <a:r>
              <a:rPr sz="1100" spc="6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air</a:t>
            </a:r>
            <a:r>
              <a:rPr sz="1100" spc="8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and</a:t>
            </a:r>
            <a:r>
              <a:rPr sz="1100" spc="6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water</a:t>
            </a:r>
            <a:r>
              <a:rPr sz="1100" spc="60" dirty="0">
                <a:latin typeface="Corbel"/>
                <a:cs typeface="Corbel"/>
              </a:rPr>
              <a:t> </a:t>
            </a:r>
            <a:r>
              <a:rPr sz="1100" spc="-10" dirty="0">
                <a:latin typeface="Corbel"/>
                <a:cs typeface="Corbel"/>
              </a:rPr>
              <a:t>vapour,</a:t>
            </a:r>
            <a:r>
              <a:rPr sz="1100" spc="7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water </a:t>
            </a:r>
            <a:r>
              <a:rPr sz="1100" spc="-2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plus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nitric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acid,</a:t>
            </a:r>
            <a:r>
              <a:rPr sz="1100" spc="-4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Octane </a:t>
            </a:r>
            <a:r>
              <a:rPr sz="1100" dirty="0">
                <a:latin typeface="Corbel"/>
                <a:cs typeface="Corbel"/>
              </a:rPr>
              <a:t>plus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hectane.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49245" y="6706522"/>
            <a:ext cx="3592829" cy="76771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200" spc="-77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200" spc="-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200" b="1" spc="-5" dirty="0">
                <a:latin typeface="Corbel"/>
                <a:cs typeface="Corbel"/>
              </a:rPr>
              <a:t>Hete</a:t>
            </a:r>
            <a:r>
              <a:rPr sz="1200" b="1" dirty="0">
                <a:latin typeface="Corbel"/>
                <a:cs typeface="Corbel"/>
              </a:rPr>
              <a:t>r</a:t>
            </a:r>
            <a:r>
              <a:rPr sz="1200" b="1" spc="-5" dirty="0">
                <a:latin typeface="Corbel"/>
                <a:cs typeface="Corbel"/>
              </a:rPr>
              <a:t>o</a:t>
            </a:r>
            <a:r>
              <a:rPr sz="1200" b="1" dirty="0">
                <a:latin typeface="Corbel"/>
                <a:cs typeface="Corbel"/>
              </a:rPr>
              <a:t>g</a:t>
            </a:r>
            <a:r>
              <a:rPr sz="1200" b="1" spc="-5" dirty="0">
                <a:latin typeface="Corbel"/>
                <a:cs typeface="Corbel"/>
              </a:rPr>
              <a:t>e</a:t>
            </a:r>
            <a:r>
              <a:rPr sz="1200" b="1" spc="-10" dirty="0">
                <a:latin typeface="Corbel"/>
                <a:cs typeface="Corbel"/>
              </a:rPr>
              <a:t>n</a:t>
            </a:r>
            <a:r>
              <a:rPr sz="1200" b="1" spc="-5" dirty="0">
                <a:latin typeface="Corbel"/>
                <a:cs typeface="Corbel"/>
              </a:rPr>
              <a:t>eo</a:t>
            </a:r>
            <a:r>
              <a:rPr sz="1200" b="1" dirty="0">
                <a:latin typeface="Corbel"/>
                <a:cs typeface="Corbel"/>
              </a:rPr>
              <a:t>us</a:t>
            </a:r>
            <a:r>
              <a:rPr sz="1200" b="1" spc="15" dirty="0">
                <a:latin typeface="Corbel"/>
                <a:cs typeface="Corbel"/>
              </a:rPr>
              <a:t> </a:t>
            </a:r>
            <a:r>
              <a:rPr sz="1200" b="1" spc="-5" dirty="0">
                <a:latin typeface="Corbel"/>
                <a:cs typeface="Corbel"/>
              </a:rPr>
              <a:t>system</a:t>
            </a:r>
            <a:r>
              <a:rPr sz="1200" b="1" dirty="0">
                <a:latin typeface="Corbel"/>
                <a:cs typeface="Corbel"/>
              </a:rPr>
              <a:t>:</a:t>
            </a:r>
            <a:endParaRPr sz="1200">
              <a:latin typeface="Corbel"/>
              <a:cs typeface="Corbel"/>
            </a:endParaRPr>
          </a:p>
          <a:p>
            <a:pPr marL="12700" marR="5080" indent="457200">
              <a:lnSpc>
                <a:spcPct val="113599"/>
              </a:lnSpc>
              <a:spcBef>
                <a:spcPts val="580"/>
              </a:spcBef>
            </a:pPr>
            <a:r>
              <a:rPr sz="1100" dirty="0">
                <a:latin typeface="Corbel"/>
                <a:cs typeface="Corbel"/>
              </a:rPr>
              <a:t>A</a:t>
            </a:r>
            <a:r>
              <a:rPr sz="1100" spc="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r>
              <a:rPr sz="1100" spc="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which</a:t>
            </a:r>
            <a:r>
              <a:rPr sz="1100" spc="5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consists</a:t>
            </a:r>
            <a:r>
              <a:rPr sz="1100" spc="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spc="4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two</a:t>
            </a:r>
            <a:r>
              <a:rPr sz="1100" spc="45" dirty="0">
                <a:latin typeface="Corbel"/>
                <a:cs typeface="Corbel"/>
              </a:rPr>
              <a:t> </a:t>
            </a:r>
            <a:r>
              <a:rPr sz="1100" spc="-10" dirty="0">
                <a:latin typeface="Corbel"/>
                <a:cs typeface="Corbel"/>
              </a:rPr>
              <a:t>or</a:t>
            </a:r>
            <a:r>
              <a:rPr sz="1100" spc="5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more</a:t>
            </a:r>
            <a:r>
              <a:rPr sz="1100" spc="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phases</a:t>
            </a:r>
            <a:r>
              <a:rPr sz="1100" spc="4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 </a:t>
            </a:r>
            <a:r>
              <a:rPr sz="1100" spc="-2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called</a:t>
            </a:r>
            <a:r>
              <a:rPr sz="1100" dirty="0">
                <a:latin typeface="Corbel"/>
                <a:cs typeface="Corbel"/>
              </a:rPr>
              <a:t> heterogeneous</a:t>
            </a:r>
            <a:r>
              <a:rPr sz="1100" spc="-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06700" y="7546975"/>
            <a:ext cx="29222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" dirty="0">
                <a:latin typeface="Corbel"/>
                <a:cs typeface="Corbel"/>
              </a:rPr>
              <a:t>Examples:</a:t>
            </a:r>
            <a:r>
              <a:rPr sz="1100" b="1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Water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+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steam, Ice</a:t>
            </a:r>
            <a:r>
              <a:rPr sz="1100" dirty="0">
                <a:latin typeface="Corbel"/>
                <a:cs typeface="Corbel"/>
              </a:rPr>
              <a:t> +</a:t>
            </a:r>
            <a:r>
              <a:rPr sz="1100" spc="-10" dirty="0">
                <a:latin typeface="Corbel"/>
                <a:cs typeface="Corbel"/>
              </a:rPr>
              <a:t> water,</a:t>
            </a:r>
            <a:r>
              <a:rPr sz="1100" spc="-8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Water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+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oil.</a:t>
            </a:r>
            <a:endParaRPr sz="11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49245" y="1376019"/>
            <a:ext cx="3593465" cy="132080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8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solidFill>
                  <a:srgbClr val="00AF50"/>
                </a:solidFill>
                <a:latin typeface="Corbel"/>
                <a:cs typeface="Corbel"/>
              </a:rPr>
              <a:t>C</a:t>
            </a:r>
            <a:r>
              <a:rPr sz="1100" b="1" dirty="0">
                <a:solidFill>
                  <a:srgbClr val="00AF50"/>
                </a:solidFill>
                <a:latin typeface="Corbel"/>
                <a:cs typeface="Corbel"/>
              </a:rPr>
              <a:t>ontrol</a:t>
            </a:r>
            <a:r>
              <a:rPr sz="1100" b="1" spc="-95" dirty="0">
                <a:solidFill>
                  <a:srgbClr val="00AF50"/>
                </a:solidFill>
                <a:latin typeface="Corbel"/>
                <a:cs typeface="Corbel"/>
              </a:rPr>
              <a:t> </a:t>
            </a:r>
            <a:r>
              <a:rPr sz="1100" b="1" spc="-60" dirty="0">
                <a:solidFill>
                  <a:srgbClr val="00AF50"/>
                </a:solidFill>
                <a:latin typeface="Corbel"/>
                <a:cs typeface="Corbel"/>
              </a:rPr>
              <a:t>V</a:t>
            </a:r>
            <a:r>
              <a:rPr sz="1100" b="1" dirty="0">
                <a:solidFill>
                  <a:srgbClr val="00AF50"/>
                </a:solidFill>
                <a:latin typeface="Corbel"/>
                <a:cs typeface="Corbel"/>
              </a:rPr>
              <a:t>ol</a:t>
            </a:r>
            <a:r>
              <a:rPr sz="1100" b="1" spc="-5" dirty="0">
                <a:solidFill>
                  <a:srgbClr val="00AF50"/>
                </a:solidFill>
                <a:latin typeface="Corbel"/>
                <a:cs typeface="Corbel"/>
              </a:rPr>
              <a:t>ume</a:t>
            </a:r>
            <a:r>
              <a:rPr sz="1100" dirty="0">
                <a:solidFill>
                  <a:srgbClr val="00AF50"/>
                </a:solidFill>
                <a:latin typeface="Corbel"/>
                <a:cs typeface="Corbel"/>
              </a:rPr>
              <a:t>:</a:t>
            </a:r>
            <a:endParaRPr sz="1100">
              <a:latin typeface="Corbel"/>
              <a:cs typeface="Corbel"/>
            </a:endParaRPr>
          </a:p>
          <a:p>
            <a:pPr marL="12700" marR="5080" indent="914400" algn="just">
              <a:lnSpc>
                <a:spcPct val="113599"/>
              </a:lnSpc>
              <a:spcBef>
                <a:spcPts val="600"/>
              </a:spcBef>
            </a:pPr>
            <a:r>
              <a:rPr sz="1100" spc="-5" dirty="0">
                <a:latin typeface="Corbel"/>
                <a:cs typeface="Corbel"/>
              </a:rPr>
              <a:t>For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thermodynamic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analysis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an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open 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system,</a:t>
            </a:r>
            <a:r>
              <a:rPr sz="1100" spc="1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such</a:t>
            </a:r>
            <a:r>
              <a:rPr sz="1100" spc="13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as</a:t>
            </a:r>
            <a:r>
              <a:rPr sz="1100" spc="1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an</a:t>
            </a:r>
            <a:r>
              <a:rPr sz="1100" spc="1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air</a:t>
            </a:r>
            <a:r>
              <a:rPr sz="1100" spc="1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compressor,</a:t>
            </a:r>
            <a:r>
              <a:rPr sz="1100" spc="1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turbine,</a:t>
            </a:r>
            <a:r>
              <a:rPr sz="1100" spc="13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etc.</a:t>
            </a:r>
            <a:r>
              <a:rPr sz="1100" spc="1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1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mass</a:t>
            </a:r>
            <a:r>
              <a:rPr sz="1100" spc="1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 </a:t>
            </a:r>
            <a:r>
              <a:rPr sz="1100" spc="-2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 </a:t>
            </a:r>
            <a:r>
              <a:rPr sz="1100" spc="-5" dirty="0">
                <a:latin typeface="Corbel"/>
                <a:cs typeface="Corbel"/>
              </a:rPr>
              <a:t>system is </a:t>
            </a:r>
            <a:r>
              <a:rPr sz="1100" dirty="0">
                <a:latin typeface="Corbel"/>
                <a:cs typeface="Corbel"/>
              </a:rPr>
              <a:t>not </a:t>
            </a:r>
            <a:r>
              <a:rPr sz="1100" spc="-5" dirty="0">
                <a:latin typeface="Corbel"/>
                <a:cs typeface="Corbel"/>
              </a:rPr>
              <a:t>fixed. So, attention is focused </a:t>
            </a:r>
            <a:r>
              <a:rPr sz="1100" spc="-10" dirty="0">
                <a:latin typeface="Corbel"/>
                <a:cs typeface="Corbel"/>
              </a:rPr>
              <a:t>on </a:t>
            </a:r>
            <a:r>
              <a:rPr sz="1100" dirty="0">
                <a:latin typeface="Corbel"/>
                <a:cs typeface="Corbel"/>
              </a:rPr>
              <a:t>a </a:t>
            </a:r>
            <a:r>
              <a:rPr sz="1100" spc="-5" dirty="0">
                <a:latin typeface="Corbel"/>
                <a:cs typeface="Corbel"/>
              </a:rPr>
              <a:t>certain </a:t>
            </a:r>
            <a:r>
              <a:rPr sz="1100" dirty="0">
                <a:latin typeface="Corbel"/>
                <a:cs typeface="Corbel"/>
              </a:rPr>
              <a:t> volume </a:t>
            </a:r>
            <a:r>
              <a:rPr sz="1100" spc="-5" dirty="0">
                <a:latin typeface="Corbel"/>
                <a:cs typeface="Corbel"/>
              </a:rPr>
              <a:t>in space surrounding </a:t>
            </a:r>
            <a:r>
              <a:rPr sz="1100" dirty="0">
                <a:latin typeface="Corbel"/>
                <a:cs typeface="Corbel"/>
              </a:rPr>
              <a:t>the </a:t>
            </a:r>
            <a:r>
              <a:rPr sz="1100" spc="-5" dirty="0">
                <a:latin typeface="Corbel"/>
                <a:cs typeface="Corbel"/>
              </a:rPr>
              <a:t>system, known </a:t>
            </a:r>
            <a:r>
              <a:rPr sz="1100" dirty="0">
                <a:latin typeface="Corbel"/>
                <a:cs typeface="Corbel"/>
              </a:rPr>
              <a:t>as </a:t>
            </a:r>
            <a:r>
              <a:rPr sz="1100" b="1" dirty="0">
                <a:latin typeface="Corbel"/>
                <a:cs typeface="Corbel"/>
              </a:rPr>
              <a:t>Control 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10" dirty="0">
                <a:latin typeface="Corbel"/>
                <a:cs typeface="Corbel"/>
              </a:rPr>
              <a:t>Volume</a:t>
            </a:r>
            <a:r>
              <a:rPr sz="1100" b="1" spc="-3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(Fixed </a:t>
            </a:r>
            <a:r>
              <a:rPr sz="1100" dirty="0">
                <a:latin typeface="Corbel"/>
                <a:cs typeface="Corbel"/>
              </a:rPr>
              <a:t>volume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given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mass)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49245" y="2938373"/>
            <a:ext cx="3590925" cy="74930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solidFill>
                  <a:srgbClr val="00AF50"/>
                </a:solidFill>
                <a:latin typeface="Corbel"/>
                <a:cs typeface="Corbel"/>
              </a:rPr>
              <a:t>C</a:t>
            </a:r>
            <a:r>
              <a:rPr sz="1100" b="1" dirty="0">
                <a:solidFill>
                  <a:srgbClr val="00AF50"/>
                </a:solidFill>
                <a:latin typeface="Corbel"/>
                <a:cs typeface="Corbel"/>
              </a:rPr>
              <a:t>ontrol</a:t>
            </a:r>
            <a:r>
              <a:rPr sz="1100" b="1" spc="-15" dirty="0">
                <a:solidFill>
                  <a:srgbClr val="00AF50"/>
                </a:solidFill>
                <a:latin typeface="Corbel"/>
                <a:cs typeface="Corbel"/>
              </a:rPr>
              <a:t> </a:t>
            </a:r>
            <a:r>
              <a:rPr sz="1100" b="1" dirty="0">
                <a:solidFill>
                  <a:srgbClr val="00AF50"/>
                </a:solidFill>
                <a:latin typeface="Corbel"/>
                <a:cs typeface="Corbel"/>
              </a:rPr>
              <a:t>su</a:t>
            </a:r>
            <a:r>
              <a:rPr sz="1100" b="1" spc="-5" dirty="0">
                <a:solidFill>
                  <a:srgbClr val="00AF50"/>
                </a:solidFill>
                <a:latin typeface="Corbel"/>
                <a:cs typeface="Corbel"/>
              </a:rPr>
              <a:t>rf</a:t>
            </a:r>
            <a:r>
              <a:rPr sz="1100" b="1" spc="-10" dirty="0">
                <a:solidFill>
                  <a:srgbClr val="00AF50"/>
                </a:solidFill>
                <a:latin typeface="Corbel"/>
                <a:cs typeface="Corbel"/>
              </a:rPr>
              <a:t>a</a:t>
            </a:r>
            <a:r>
              <a:rPr sz="1100" b="1" dirty="0">
                <a:solidFill>
                  <a:srgbClr val="00AF50"/>
                </a:solidFill>
                <a:latin typeface="Corbel"/>
                <a:cs typeface="Corbel"/>
              </a:rPr>
              <a:t>c</a:t>
            </a:r>
            <a:r>
              <a:rPr sz="1100" b="1" spc="-5" dirty="0">
                <a:solidFill>
                  <a:srgbClr val="00AF50"/>
                </a:solidFill>
                <a:latin typeface="Corbel"/>
                <a:cs typeface="Corbel"/>
              </a:rPr>
              <a:t>e</a:t>
            </a:r>
            <a:r>
              <a:rPr sz="1100" dirty="0">
                <a:solidFill>
                  <a:srgbClr val="00AF50"/>
                </a:solidFill>
                <a:latin typeface="Corbel"/>
                <a:cs typeface="Corbel"/>
              </a:rPr>
              <a:t>:</a:t>
            </a:r>
            <a:endParaRPr sz="1100">
              <a:latin typeface="Corbel"/>
              <a:cs typeface="Corbel"/>
            </a:endParaRPr>
          </a:p>
          <a:p>
            <a:pPr marL="12700" marR="5080" indent="914400">
              <a:lnSpc>
                <a:spcPct val="113599"/>
              </a:lnSpc>
              <a:spcBef>
                <a:spcPts val="600"/>
              </a:spcBef>
            </a:pPr>
            <a:r>
              <a:rPr sz="1100" spc="-5" dirty="0">
                <a:latin typeface="Corbel"/>
                <a:cs typeface="Corbel"/>
              </a:rPr>
              <a:t>The</a:t>
            </a:r>
            <a:r>
              <a:rPr sz="1100" spc="3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control</a:t>
            </a:r>
            <a:r>
              <a:rPr sz="1100" spc="3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volume</a:t>
            </a:r>
            <a:r>
              <a:rPr sz="1100" spc="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bounded</a:t>
            </a:r>
            <a:r>
              <a:rPr sz="1100" spc="3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by</a:t>
            </a:r>
            <a:r>
              <a:rPr sz="1100" spc="3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surface</a:t>
            </a:r>
            <a:r>
              <a:rPr sz="1100" spc="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 </a:t>
            </a:r>
            <a:r>
              <a:rPr sz="1100" spc="-204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known</a:t>
            </a:r>
            <a:r>
              <a:rPr sz="1100" spc="-3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Control</a:t>
            </a:r>
            <a:r>
              <a:rPr sz="1100" b="1" spc="-50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Surface</a:t>
            </a:r>
            <a:r>
              <a:rPr sz="1100" spc="-5" dirty="0">
                <a:latin typeface="Corbel"/>
                <a:cs typeface="Corbel"/>
              </a:rPr>
              <a:t>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Times New Roman"/>
              <a:cs typeface="Times New Roman"/>
            </a:endParaRPr>
          </a:p>
          <a:p>
            <a:pPr marL="248285" marR="118110">
              <a:lnSpc>
                <a:spcPts val="1939"/>
              </a:lnSpc>
              <a:spcBef>
                <a:spcPts val="5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Control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Volume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and </a:t>
            </a:r>
            <a:r>
              <a:rPr sz="18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ontro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l</a:t>
            </a:r>
            <a:r>
              <a:rPr sz="18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su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f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>
              <a:latin typeface="Times New Roman"/>
              <a:cs typeface="Times New Roman"/>
            </a:endParaRPr>
          </a:p>
          <a:p>
            <a:pPr marL="248285" marR="118110">
              <a:lnSpc>
                <a:spcPct val="90100"/>
              </a:lnSpc>
              <a:spcBef>
                <a:spcPts val="5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Control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Volume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and </a:t>
            </a:r>
            <a:r>
              <a:rPr sz="18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ontro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l</a:t>
            </a:r>
            <a:r>
              <a:rPr sz="18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su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f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1888" y="5486400"/>
            <a:ext cx="4082983" cy="205130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50">
              <a:latin typeface="Times New Roman"/>
              <a:cs typeface="Times New Roman"/>
            </a:endParaRPr>
          </a:p>
          <a:p>
            <a:pPr marL="248285" marR="97790">
              <a:lnSpc>
                <a:spcPts val="1939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Difference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between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d 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ontro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l</a:t>
            </a:r>
            <a:r>
              <a:rPr sz="18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vo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lu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92451" y="1226819"/>
            <a:ext cx="4182110" cy="1835150"/>
            <a:chOff x="2092451" y="1226819"/>
            <a:chExt cx="4182110" cy="18351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2451" y="1226819"/>
              <a:ext cx="4181855" cy="8656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15311" y="2104644"/>
              <a:ext cx="4154125" cy="957071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72085" marR="361950">
              <a:lnSpc>
                <a:spcPct val="90100"/>
              </a:lnSpc>
              <a:spcBef>
                <a:spcPts val="945"/>
              </a:spcBef>
            </a:pPr>
            <a:r>
              <a:rPr sz="1400" spc="-35" dirty="0">
                <a:solidFill>
                  <a:srgbClr val="FFFFFF"/>
                </a:solidFill>
                <a:latin typeface="Corbel"/>
                <a:cs typeface="Corbel"/>
              </a:rPr>
              <a:t>Differentiate </a:t>
            </a:r>
            <a:r>
              <a:rPr sz="14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Corbel"/>
                <a:cs typeface="Corbel"/>
              </a:rPr>
              <a:t>Macr</a:t>
            </a:r>
            <a:r>
              <a:rPr sz="1400" spc="-45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400" spc="-40" dirty="0">
                <a:solidFill>
                  <a:srgbClr val="FFFFFF"/>
                </a:solidFill>
                <a:latin typeface="Corbel"/>
                <a:cs typeface="Corbel"/>
              </a:rPr>
              <a:t>sc</a:t>
            </a:r>
            <a:r>
              <a:rPr sz="1400" spc="-45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400" spc="-25" dirty="0">
                <a:solidFill>
                  <a:srgbClr val="FFFFFF"/>
                </a:solidFill>
                <a:latin typeface="Corbel"/>
                <a:cs typeface="Corbel"/>
              </a:rPr>
              <a:t>p</a:t>
            </a:r>
            <a:r>
              <a:rPr sz="1400" spc="-40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400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400" spc="-1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400" spc="-35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400" dirty="0">
                <a:solidFill>
                  <a:srgbClr val="FFFFFF"/>
                </a:solidFill>
                <a:latin typeface="Corbel"/>
                <a:cs typeface="Corbel"/>
              </a:rPr>
              <a:t>d  </a:t>
            </a:r>
            <a:r>
              <a:rPr sz="1400" spc="-35" dirty="0">
                <a:solidFill>
                  <a:srgbClr val="FFFFFF"/>
                </a:solidFill>
                <a:latin typeface="Corbel"/>
                <a:cs typeface="Corbel"/>
              </a:rPr>
              <a:t>Microscopic </a:t>
            </a:r>
            <a:r>
              <a:rPr sz="14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orbel"/>
                <a:cs typeface="Corbel"/>
              </a:rPr>
              <a:t>Approach.</a:t>
            </a:r>
            <a:endParaRPr sz="1400">
              <a:latin typeface="Corbel"/>
              <a:cs typeface="Corbe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83307" y="4971288"/>
            <a:ext cx="4361815" cy="3104515"/>
            <a:chOff x="2083307" y="4971288"/>
            <a:chExt cx="4361815" cy="310451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83307" y="4971288"/>
              <a:ext cx="4361688" cy="273862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25979" y="7712964"/>
              <a:ext cx="4309872" cy="362712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81000" y="868680"/>
          <a:ext cx="6094729" cy="30560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5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0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9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582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Macroscopic</a:t>
                      </a:r>
                      <a:r>
                        <a:rPr sz="900" b="1" spc="23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Approach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Microscopic</a:t>
                      </a:r>
                      <a:r>
                        <a:rPr sz="900" b="1" spc="-3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Approach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968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40B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3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L="46355" marR="35560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292735" algn="l"/>
                          <a:tab pos="539750" algn="l"/>
                          <a:tab pos="1010919" algn="l"/>
                          <a:tab pos="1276350" algn="l"/>
                          <a:tab pos="1875155" algn="l"/>
                        </a:tabLst>
                      </a:pPr>
                      <a:r>
                        <a:rPr sz="900" spc="-1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t	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s	st</a:t>
                      </a:r>
                      <a:r>
                        <a:rPr sz="900" spc="-10" dirty="0">
                          <a:latin typeface="Verdana"/>
                          <a:cs typeface="Verdana"/>
                        </a:rPr>
                        <a:t>u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dy	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f	</a:t>
                      </a:r>
                      <a:r>
                        <a:rPr sz="900" spc="-10" dirty="0">
                          <a:latin typeface="Verdana"/>
                          <a:cs typeface="Verdana"/>
                        </a:rPr>
                        <a:t>nu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m</a:t>
                      </a:r>
                      <a:r>
                        <a:rPr sz="900" spc="10" dirty="0">
                          <a:latin typeface="Verdana"/>
                          <a:cs typeface="Verdana"/>
                        </a:rPr>
                        <a:t>b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er	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of 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molecules</a:t>
                      </a:r>
                      <a:r>
                        <a:rPr sz="9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20" dirty="0">
                          <a:latin typeface="Verdana"/>
                          <a:cs typeface="Verdana"/>
                        </a:rPr>
                        <a:t>together.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46355" marR="349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900" spc="-5" dirty="0">
                          <a:latin typeface="Verdana"/>
                          <a:cs typeface="Verdana"/>
                        </a:rPr>
                        <a:t>It</a:t>
                      </a:r>
                      <a:r>
                        <a:rPr sz="900" spc="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900" spc="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study</a:t>
                      </a:r>
                      <a:r>
                        <a:rPr sz="900" spc="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900" spc="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individual</a:t>
                      </a:r>
                      <a:r>
                        <a:rPr sz="900" spc="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(</a:t>
                      </a:r>
                      <a:r>
                        <a:rPr sz="900" spc="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single</a:t>
                      </a:r>
                      <a:r>
                        <a:rPr sz="900" spc="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) </a:t>
                      </a:r>
                      <a:r>
                        <a:rPr sz="900" spc="-3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molecule only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471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72085" marR="375285">
                        <a:lnSpc>
                          <a:spcPts val="1510"/>
                        </a:lnSpc>
                        <a:spcBef>
                          <a:spcPts val="965"/>
                        </a:spcBef>
                      </a:pPr>
                      <a:r>
                        <a:rPr sz="1400" spc="-3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Differentiate 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Macr</a:t>
                      </a:r>
                      <a:r>
                        <a:rPr sz="1400" spc="-4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o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sc</a:t>
                      </a:r>
                      <a:r>
                        <a:rPr sz="1400" spc="-4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o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p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i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c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a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n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  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Microscopic 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 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Approach.</a:t>
                      </a:r>
                      <a:endParaRPr sz="1400">
                        <a:latin typeface="Corbel"/>
                        <a:cs typeface="Corbel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solidFill>
                      <a:srgbClr val="40B9D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77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46355" marR="36830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334010" algn="l"/>
                          <a:tab pos="620395" algn="l"/>
                          <a:tab pos="1190625" algn="l"/>
                          <a:tab pos="1513840" algn="l"/>
                        </a:tabLst>
                      </a:pPr>
                      <a:r>
                        <a:rPr sz="900" spc="-1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t	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s	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k</a:t>
                      </a:r>
                      <a:r>
                        <a:rPr sz="900" spc="-1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w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n	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s	c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as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ical 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thermodynamics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46355" marR="34925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389255" algn="l"/>
                          <a:tab pos="734060" algn="l"/>
                          <a:tab pos="1358900" algn="l"/>
                          <a:tab pos="1737995" algn="l"/>
                        </a:tabLst>
                      </a:pPr>
                      <a:r>
                        <a:rPr sz="900" spc="-1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t	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s	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k</a:t>
                      </a:r>
                      <a:r>
                        <a:rPr sz="900" spc="-10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o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w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n	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s	statistical 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thermodynamics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900" dirty="0">
                          <a:latin typeface="Verdana"/>
                          <a:cs typeface="Verdana"/>
                        </a:rPr>
                        <a:t>Description</a:t>
                      </a:r>
                      <a:r>
                        <a:rPr sz="9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9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system</a:t>
                      </a:r>
                      <a:r>
                        <a:rPr sz="9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9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easy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900" dirty="0">
                          <a:latin typeface="Verdana"/>
                          <a:cs typeface="Verdana"/>
                        </a:rPr>
                        <a:t>Description</a:t>
                      </a:r>
                      <a:r>
                        <a:rPr sz="9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9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system</a:t>
                      </a:r>
                      <a:r>
                        <a:rPr sz="9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complex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77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46355" marR="3619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900" spc="-5" dirty="0">
                          <a:latin typeface="Verdana"/>
                          <a:cs typeface="Verdana"/>
                        </a:rPr>
                        <a:t>Measurement</a:t>
                      </a:r>
                      <a:r>
                        <a:rPr sz="90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900" spc="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properties</a:t>
                      </a:r>
                      <a:r>
                        <a:rPr sz="900" spc="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900" spc="-3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easy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46355" marR="32384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900" spc="-5" dirty="0">
                          <a:latin typeface="Verdana"/>
                          <a:cs typeface="Verdana"/>
                        </a:rPr>
                        <a:t>Measurement</a:t>
                      </a:r>
                      <a:r>
                        <a:rPr sz="900" spc="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900" spc="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properties</a:t>
                      </a:r>
                      <a:r>
                        <a:rPr sz="900" spc="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900" spc="-3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difficult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1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900" spc="-5" dirty="0">
                          <a:latin typeface="Verdana"/>
                          <a:cs typeface="Verdana"/>
                        </a:rPr>
                        <a:t>Simple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mathematics</a:t>
                      </a:r>
                      <a:r>
                        <a:rPr sz="9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required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900" dirty="0">
                          <a:latin typeface="Verdana"/>
                          <a:cs typeface="Verdana"/>
                        </a:rPr>
                        <a:t>Special</a:t>
                      </a:r>
                      <a:r>
                        <a:rPr sz="9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mathematical</a:t>
                      </a:r>
                      <a:r>
                        <a:rPr sz="9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tools</a:t>
                      </a:r>
                      <a:r>
                        <a:rPr sz="9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required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77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46355" marR="35560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48309" algn="l"/>
                          <a:tab pos="1212215" algn="l"/>
                          <a:tab pos="1870710" algn="l"/>
                        </a:tabLst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ew	properties	req</a:t>
                      </a:r>
                      <a:r>
                        <a:rPr sz="900" spc="-10" dirty="0">
                          <a:latin typeface="Verdana"/>
                          <a:cs typeface="Verdana"/>
                        </a:rPr>
                        <a:t>u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900" spc="-1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ed	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to 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describe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 the system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46355" marR="336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900" dirty="0">
                          <a:latin typeface="Verdana"/>
                          <a:cs typeface="Verdana"/>
                        </a:rPr>
                        <a:t>Large</a:t>
                      </a:r>
                      <a:r>
                        <a:rPr sz="900" spc="1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number</a:t>
                      </a:r>
                      <a:r>
                        <a:rPr sz="900" spc="1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900" spc="1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variable</a:t>
                      </a:r>
                      <a:r>
                        <a:rPr sz="900" spc="1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required</a:t>
                      </a:r>
                      <a:r>
                        <a:rPr sz="900" spc="1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to </a:t>
                      </a:r>
                      <a:r>
                        <a:rPr sz="900" spc="-3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describe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 the system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77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900" spc="-5" dirty="0">
                          <a:latin typeface="Verdana"/>
                          <a:cs typeface="Verdana"/>
                        </a:rPr>
                        <a:t>It</a:t>
                      </a:r>
                      <a:r>
                        <a:rPr sz="900" spc="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can</a:t>
                      </a:r>
                      <a:r>
                        <a:rPr sz="900" spc="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900" spc="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be</a:t>
                      </a:r>
                      <a:r>
                        <a:rPr sz="900" spc="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converted</a:t>
                      </a:r>
                      <a:r>
                        <a:rPr sz="900" spc="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900" spc="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micro</a:t>
                      </a:r>
                      <a:endParaRPr sz="900">
                        <a:latin typeface="Verdana"/>
                        <a:cs typeface="Verdana"/>
                      </a:endParaRPr>
                    </a:p>
                    <a:p>
                      <a:pPr marL="46355">
                        <a:lnSpc>
                          <a:spcPct val="100000"/>
                        </a:lnSpc>
                      </a:pPr>
                      <a:r>
                        <a:rPr sz="900" dirty="0">
                          <a:latin typeface="Verdana"/>
                          <a:cs typeface="Verdana"/>
                        </a:rPr>
                        <a:t>properties.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900" spc="-5" dirty="0">
                          <a:latin typeface="Verdana"/>
                          <a:cs typeface="Verdana"/>
                        </a:rPr>
                        <a:t>Easily</a:t>
                      </a:r>
                      <a:r>
                        <a:rPr sz="900" spc="4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can</a:t>
                      </a:r>
                      <a:r>
                        <a:rPr sz="900" spc="509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be</a:t>
                      </a:r>
                      <a:r>
                        <a:rPr sz="900" spc="5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converted</a:t>
                      </a:r>
                      <a:r>
                        <a:rPr sz="900" spc="5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900" spc="5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macro</a:t>
                      </a:r>
                      <a:endParaRPr sz="900">
                        <a:latin typeface="Verdana"/>
                        <a:cs typeface="Verdana"/>
                      </a:endParaRPr>
                    </a:p>
                    <a:p>
                      <a:pPr marL="46355">
                        <a:lnSpc>
                          <a:spcPct val="100000"/>
                        </a:lnSpc>
                      </a:pPr>
                      <a:r>
                        <a:rPr sz="900" dirty="0">
                          <a:latin typeface="Verdana"/>
                          <a:cs typeface="Verdana"/>
                        </a:rPr>
                        <a:t>properties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77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solidFill>
                      <a:srgbClr val="40B9D2"/>
                    </a:solidFill>
                  </a:tcPr>
                </a:tc>
                <a:tc>
                  <a:txBody>
                    <a:bodyPr/>
                    <a:lstStyle/>
                    <a:p>
                      <a:pPr marL="46355" marR="36830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1375410" algn="l"/>
                        </a:tabLst>
                      </a:pPr>
                      <a:r>
                        <a:rPr sz="900" spc="-5" dirty="0">
                          <a:latin typeface="Verdana"/>
                          <a:cs typeface="Verdana"/>
                        </a:rPr>
                        <a:t>Gen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900" spc="-1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ly	re</a:t>
                      </a:r>
                      <a:r>
                        <a:rPr sz="900" spc="-10" dirty="0">
                          <a:latin typeface="Verdana"/>
                          <a:cs typeface="Verdana"/>
                        </a:rPr>
                        <a:t>p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rese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ts  </a:t>
                      </a:r>
                      <a:r>
                        <a:rPr sz="900" spc="-10" dirty="0">
                          <a:latin typeface="Verdana"/>
                          <a:cs typeface="Verdana"/>
                        </a:rPr>
                        <a:t>average/overall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values.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46355" marR="34925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1555115" algn="l"/>
                          <a:tab pos="1950085" algn="l"/>
                        </a:tabLst>
                      </a:pPr>
                      <a:r>
                        <a:rPr sz="900" spc="-5" dirty="0">
                          <a:latin typeface="Verdana"/>
                          <a:cs typeface="Verdana"/>
                        </a:rPr>
                        <a:t>Gen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900" spc="-15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l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ly  </a:t>
                      </a:r>
                      <a:r>
                        <a:rPr sz="9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r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pr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s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e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t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s	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f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or	s</a:t>
                      </a:r>
                      <a:r>
                        <a:rPr sz="900" spc="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n</a:t>
                      </a:r>
                      <a:r>
                        <a:rPr sz="900" dirty="0">
                          <a:latin typeface="Verdana"/>
                          <a:cs typeface="Verdana"/>
                        </a:rPr>
                        <a:t>gle  </a:t>
                      </a:r>
                      <a:r>
                        <a:rPr sz="900" spc="-5" dirty="0">
                          <a:latin typeface="Verdana"/>
                          <a:cs typeface="Verdana"/>
                        </a:rPr>
                        <a:t>molecules.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159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49245" y="5219166"/>
            <a:ext cx="3592829" cy="16262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8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10" dirty="0">
                <a:latin typeface="Corbel"/>
                <a:cs typeface="Corbel"/>
              </a:rPr>
              <a:t>Th</a:t>
            </a:r>
            <a:r>
              <a:rPr sz="1100" b="1" dirty="0">
                <a:latin typeface="Corbel"/>
                <a:cs typeface="Corbel"/>
              </a:rPr>
              <a:t>e</a:t>
            </a:r>
            <a:r>
              <a:rPr sz="1100" b="1" spc="-5" dirty="0">
                <a:latin typeface="Corbel"/>
                <a:cs typeface="Corbel"/>
              </a:rPr>
              <a:t>rm</a:t>
            </a:r>
            <a:r>
              <a:rPr sz="1100" b="1" dirty="0">
                <a:latin typeface="Corbel"/>
                <a:cs typeface="Corbel"/>
              </a:rPr>
              <a:t>o</a:t>
            </a:r>
            <a:r>
              <a:rPr sz="1100" b="1" spc="-5" dirty="0">
                <a:latin typeface="Corbel"/>
                <a:cs typeface="Corbel"/>
              </a:rPr>
              <a:t>dy</a:t>
            </a:r>
            <a:r>
              <a:rPr sz="1100" b="1" dirty="0">
                <a:latin typeface="Corbel"/>
                <a:cs typeface="Corbel"/>
              </a:rPr>
              <a:t>n</a:t>
            </a:r>
            <a:r>
              <a:rPr sz="1100" b="1" spc="-10" dirty="0">
                <a:latin typeface="Corbel"/>
                <a:cs typeface="Corbel"/>
              </a:rPr>
              <a:t>a</a:t>
            </a:r>
            <a:r>
              <a:rPr sz="1100" b="1" spc="-5" dirty="0">
                <a:latin typeface="Corbel"/>
                <a:cs typeface="Corbel"/>
              </a:rPr>
              <a:t>m</a:t>
            </a:r>
            <a:r>
              <a:rPr sz="1100" b="1" dirty="0">
                <a:latin typeface="Corbel"/>
                <a:cs typeface="Corbel"/>
              </a:rPr>
              <a:t>ic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P</a:t>
            </a:r>
            <a:r>
              <a:rPr sz="1100" b="1" dirty="0">
                <a:latin typeface="Corbel"/>
                <a:cs typeface="Corbel"/>
              </a:rPr>
              <a:t>ropertie</a:t>
            </a:r>
            <a:r>
              <a:rPr sz="1100" b="1" spc="-5" dirty="0">
                <a:latin typeface="Corbel"/>
                <a:cs typeface="Corbel"/>
              </a:rPr>
              <a:t>s</a:t>
            </a:r>
            <a:r>
              <a:rPr sz="1100" b="1" dirty="0">
                <a:latin typeface="Corbel"/>
                <a:cs typeface="Corbel"/>
              </a:rPr>
              <a:t>:</a:t>
            </a:r>
            <a:endParaRPr sz="1100">
              <a:latin typeface="Corbel"/>
              <a:cs typeface="Corbel"/>
            </a:endParaRPr>
          </a:p>
          <a:p>
            <a:pPr marL="12700" marR="5080" indent="914400" algn="just">
              <a:lnSpc>
                <a:spcPct val="113700"/>
              </a:lnSpc>
            </a:pPr>
            <a:r>
              <a:rPr sz="1100" dirty="0">
                <a:latin typeface="Corbel"/>
                <a:cs typeface="Corbel"/>
              </a:rPr>
              <a:t>A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measurable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quantities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which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describe</a:t>
            </a:r>
            <a:r>
              <a:rPr sz="1100" dirty="0">
                <a:latin typeface="Corbel"/>
                <a:cs typeface="Corbel"/>
              </a:rPr>
              <a:t> the </a:t>
            </a:r>
            <a:r>
              <a:rPr sz="1100" spc="-2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state</a:t>
            </a:r>
            <a:r>
              <a:rPr sz="1100" spc="8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spc="8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r>
              <a:rPr sz="1100" spc="8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or</a:t>
            </a:r>
            <a:r>
              <a:rPr sz="1100" spc="8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7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physical</a:t>
            </a:r>
            <a:r>
              <a:rPr sz="1100" spc="8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condition</a:t>
            </a:r>
            <a:r>
              <a:rPr sz="1100" spc="9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9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known</a:t>
            </a:r>
            <a:r>
              <a:rPr sz="1100" spc="9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as</a:t>
            </a:r>
            <a:r>
              <a:rPr sz="1100" spc="17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Property </a:t>
            </a:r>
            <a:r>
              <a:rPr sz="1100" spc="-2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-5" dirty="0">
                <a:latin typeface="Corbel"/>
                <a:cs typeface="Corbel"/>
              </a:rPr>
              <a:t> system.</a:t>
            </a:r>
            <a:endParaRPr sz="1100">
              <a:latin typeface="Corbel"/>
              <a:cs typeface="Corbel"/>
            </a:endParaRPr>
          </a:p>
          <a:p>
            <a:pPr marL="12700" algn="just">
              <a:lnSpc>
                <a:spcPct val="100000"/>
              </a:lnSpc>
              <a:spcBef>
                <a:spcPts val="775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latin typeface="Corbel"/>
                <a:cs typeface="Corbel"/>
              </a:rPr>
              <a:t>I</a:t>
            </a:r>
            <a:r>
              <a:rPr sz="1100" b="1" dirty="0">
                <a:latin typeface="Corbel"/>
                <a:cs typeface="Corbel"/>
              </a:rPr>
              <a:t>ntensive</a:t>
            </a:r>
            <a:r>
              <a:rPr sz="1100" b="1" spc="-5" dirty="0">
                <a:latin typeface="Corbel"/>
                <a:cs typeface="Corbel"/>
              </a:rPr>
              <a:t> P</a:t>
            </a:r>
            <a:r>
              <a:rPr sz="1100" b="1" dirty="0">
                <a:latin typeface="Corbel"/>
                <a:cs typeface="Corbel"/>
              </a:rPr>
              <a:t>ropertie</a:t>
            </a:r>
            <a:r>
              <a:rPr sz="1100" b="1" spc="-5" dirty="0">
                <a:latin typeface="Corbel"/>
                <a:cs typeface="Corbel"/>
              </a:rPr>
              <a:t>s</a:t>
            </a:r>
            <a:r>
              <a:rPr sz="1100" b="1" dirty="0">
                <a:latin typeface="Corbel"/>
                <a:cs typeface="Corbel"/>
              </a:rPr>
              <a:t>:</a:t>
            </a:r>
            <a:endParaRPr sz="1100">
              <a:latin typeface="Corbel"/>
              <a:cs typeface="Corbel"/>
            </a:endParaRPr>
          </a:p>
          <a:p>
            <a:pPr marL="12700" marR="5080" indent="914400" algn="just">
              <a:lnSpc>
                <a:spcPct val="113599"/>
              </a:lnSpc>
            </a:pPr>
            <a:r>
              <a:rPr sz="1100" spc="-5" dirty="0">
                <a:latin typeface="Corbel"/>
                <a:cs typeface="Corbel"/>
              </a:rPr>
              <a:t>These </a:t>
            </a:r>
            <a:r>
              <a:rPr sz="1100" dirty="0">
                <a:latin typeface="Corbel"/>
                <a:cs typeface="Corbel"/>
              </a:rPr>
              <a:t>properties </a:t>
            </a:r>
            <a:r>
              <a:rPr sz="1100" spc="-5" dirty="0">
                <a:latin typeface="Corbel"/>
                <a:cs typeface="Corbel"/>
              </a:rPr>
              <a:t>do </a:t>
            </a:r>
            <a:r>
              <a:rPr sz="1100" b="1" spc="-5" dirty="0">
                <a:solidFill>
                  <a:srgbClr val="FF0000"/>
                </a:solidFill>
                <a:latin typeface="Corbel"/>
                <a:cs typeface="Corbel"/>
              </a:rPr>
              <a:t>not depends </a:t>
            </a:r>
            <a:r>
              <a:rPr sz="1100" b="1" dirty="0">
                <a:solidFill>
                  <a:srgbClr val="FF0000"/>
                </a:solidFill>
                <a:latin typeface="Corbel"/>
                <a:cs typeface="Corbel"/>
              </a:rPr>
              <a:t>on </a:t>
            </a:r>
            <a:r>
              <a:rPr sz="1100" b="1" spc="-5" dirty="0">
                <a:solidFill>
                  <a:srgbClr val="FF0000"/>
                </a:solidFill>
                <a:latin typeface="Corbel"/>
                <a:cs typeface="Corbel"/>
              </a:rPr>
              <a:t>mass </a:t>
            </a:r>
            <a:r>
              <a:rPr sz="1100" spc="-5" dirty="0">
                <a:latin typeface="Corbel"/>
                <a:cs typeface="Corbel"/>
              </a:rPr>
              <a:t>of </a:t>
            </a:r>
            <a:r>
              <a:rPr sz="1100" dirty="0">
                <a:latin typeface="Corbel"/>
                <a:cs typeface="Corbel"/>
              </a:rPr>
              <a:t> the </a:t>
            </a:r>
            <a:r>
              <a:rPr sz="1100" spc="-5" dirty="0">
                <a:latin typeface="Corbel"/>
                <a:cs typeface="Corbel"/>
              </a:rPr>
              <a:t>system. </a:t>
            </a:r>
            <a:r>
              <a:rPr sz="1100" b="1" spc="-5" dirty="0">
                <a:latin typeface="Corbel"/>
                <a:cs typeface="Corbel"/>
              </a:rPr>
              <a:t>Examples: </a:t>
            </a:r>
            <a:r>
              <a:rPr sz="1100" spc="-5" dirty="0">
                <a:latin typeface="Corbel"/>
                <a:cs typeface="Corbel"/>
              </a:rPr>
              <a:t>temperature, pressure, specific heat, 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specific</a:t>
            </a:r>
            <a:r>
              <a:rPr sz="1100" dirty="0">
                <a:latin typeface="Corbel"/>
                <a:cs typeface="Corbel"/>
              </a:rPr>
              <a:t> volume,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specific</a:t>
            </a:r>
            <a:r>
              <a:rPr sz="1100" spc="-10" dirty="0">
                <a:latin typeface="Corbel"/>
                <a:cs typeface="Corbel"/>
              </a:rPr>
              <a:t> enthalpy.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2349245" y="7086193"/>
            <a:ext cx="3592829" cy="7880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8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dirty="0">
                <a:latin typeface="Corbel"/>
                <a:cs typeface="Corbel"/>
              </a:rPr>
              <a:t>Exte</a:t>
            </a:r>
            <a:r>
              <a:rPr sz="1100" b="1" spc="-5" dirty="0">
                <a:latin typeface="Corbel"/>
                <a:cs typeface="Corbel"/>
              </a:rPr>
              <a:t>n</a:t>
            </a:r>
            <a:r>
              <a:rPr sz="1100" b="1" dirty="0">
                <a:latin typeface="Corbel"/>
                <a:cs typeface="Corbel"/>
              </a:rPr>
              <a:t>sive</a:t>
            </a:r>
            <a:r>
              <a:rPr sz="1100" b="1" spc="-1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P</a:t>
            </a:r>
            <a:r>
              <a:rPr sz="1100" b="1" dirty="0">
                <a:latin typeface="Corbel"/>
                <a:cs typeface="Corbel"/>
              </a:rPr>
              <a:t>ropertie</a:t>
            </a:r>
            <a:r>
              <a:rPr sz="1100" b="1" spc="-5" dirty="0">
                <a:latin typeface="Corbel"/>
                <a:cs typeface="Corbel"/>
              </a:rPr>
              <a:t>s</a:t>
            </a:r>
            <a:r>
              <a:rPr sz="1100" b="1" dirty="0">
                <a:latin typeface="Corbel"/>
                <a:cs typeface="Corbel"/>
              </a:rPr>
              <a:t>:</a:t>
            </a:r>
            <a:endParaRPr sz="1100">
              <a:latin typeface="Corbel"/>
              <a:cs typeface="Corbel"/>
            </a:endParaRPr>
          </a:p>
          <a:p>
            <a:pPr marL="12700" marR="5080" indent="914400" algn="just">
              <a:lnSpc>
                <a:spcPct val="113599"/>
              </a:lnSpc>
            </a:pPr>
            <a:r>
              <a:rPr sz="1100" spc="-5" dirty="0">
                <a:latin typeface="Corbel"/>
                <a:cs typeface="Corbel"/>
              </a:rPr>
              <a:t>These properties </a:t>
            </a:r>
            <a:r>
              <a:rPr sz="1100" b="1" dirty="0">
                <a:solidFill>
                  <a:srgbClr val="FF0000"/>
                </a:solidFill>
                <a:latin typeface="Corbel"/>
                <a:cs typeface="Corbel"/>
              </a:rPr>
              <a:t>depends on </a:t>
            </a:r>
            <a:r>
              <a:rPr sz="1100" b="1" spc="-5" dirty="0">
                <a:solidFill>
                  <a:srgbClr val="FF0000"/>
                </a:solidFill>
                <a:latin typeface="Corbel"/>
                <a:cs typeface="Corbel"/>
              </a:rPr>
              <a:t>the mass </a:t>
            </a:r>
            <a:r>
              <a:rPr sz="1100" spc="-5" dirty="0">
                <a:latin typeface="Corbel"/>
                <a:cs typeface="Corbel"/>
              </a:rPr>
              <a:t>of </a:t>
            </a:r>
            <a:r>
              <a:rPr sz="1100" dirty="0">
                <a:latin typeface="Corbel"/>
                <a:cs typeface="Corbel"/>
              </a:rPr>
              <a:t>the 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system.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Examples: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volume,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mass,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total</a:t>
            </a:r>
            <a:r>
              <a:rPr sz="1100" spc="215" dirty="0">
                <a:latin typeface="Corbel"/>
                <a:cs typeface="Corbel"/>
              </a:rPr>
              <a:t> </a:t>
            </a:r>
            <a:r>
              <a:rPr sz="1100" spc="-10" dirty="0">
                <a:latin typeface="Corbel"/>
                <a:cs typeface="Corbel"/>
              </a:rPr>
              <a:t>energy,</a:t>
            </a:r>
            <a:r>
              <a:rPr sz="1100" spc="20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total 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enthalpy,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/>
              <a:cs typeface="Times New Roman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Thermodynamic</a:t>
            </a:r>
            <a:endParaRPr sz="1800">
              <a:latin typeface="Corbel"/>
              <a:cs typeface="Corbel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Properties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21179" y="1035913"/>
            <a:ext cx="3592829" cy="7880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8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latin typeface="Corbel"/>
                <a:cs typeface="Corbel"/>
              </a:rPr>
              <a:t>Stat</a:t>
            </a:r>
            <a:r>
              <a:rPr sz="1100" b="1" dirty="0">
                <a:latin typeface="Corbel"/>
                <a:cs typeface="Corbel"/>
              </a:rPr>
              <a:t>e:</a:t>
            </a:r>
            <a:endParaRPr sz="1100">
              <a:latin typeface="Corbel"/>
              <a:cs typeface="Corbel"/>
            </a:endParaRPr>
          </a:p>
          <a:p>
            <a:pPr marL="12700" marR="5080" indent="457200" algn="just">
              <a:lnSpc>
                <a:spcPct val="113599"/>
              </a:lnSpc>
            </a:pPr>
            <a:r>
              <a:rPr sz="1100" spc="-5" dirty="0">
                <a:latin typeface="Corbel"/>
                <a:cs typeface="Corbel"/>
              </a:rPr>
              <a:t>The physical condition of </a:t>
            </a:r>
            <a:r>
              <a:rPr sz="1100" dirty="0">
                <a:latin typeface="Corbel"/>
                <a:cs typeface="Corbel"/>
              </a:rPr>
              <a:t>the </a:t>
            </a:r>
            <a:r>
              <a:rPr sz="1100" spc="-5" dirty="0">
                <a:latin typeface="Corbel"/>
                <a:cs typeface="Corbel"/>
              </a:rPr>
              <a:t>system </a:t>
            </a:r>
            <a:r>
              <a:rPr sz="1100" spc="-10" dirty="0">
                <a:latin typeface="Corbel"/>
                <a:cs typeface="Corbel"/>
              </a:rPr>
              <a:t>at an </a:t>
            </a:r>
            <a:r>
              <a:rPr sz="1100" spc="-5" dirty="0">
                <a:latin typeface="Corbel"/>
                <a:cs typeface="Corbel"/>
              </a:rPr>
              <a:t>instant </a:t>
            </a:r>
            <a:r>
              <a:rPr sz="1100" spc="-15" dirty="0">
                <a:latin typeface="Corbel"/>
                <a:cs typeface="Corbel"/>
              </a:rPr>
              <a:t>of 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time as described by its </a:t>
            </a:r>
            <a:r>
              <a:rPr sz="1100" dirty="0">
                <a:latin typeface="Corbel"/>
                <a:cs typeface="Corbel"/>
              </a:rPr>
              <a:t>properties </a:t>
            </a:r>
            <a:r>
              <a:rPr sz="1100" spc="-5" dirty="0">
                <a:latin typeface="Corbel"/>
                <a:cs typeface="Corbel"/>
              </a:rPr>
              <a:t>(Measurable quantities) is </a:t>
            </a:r>
            <a:r>
              <a:rPr sz="1100" dirty="0">
                <a:latin typeface="Corbel"/>
                <a:cs typeface="Corbel"/>
              </a:rPr>
              <a:t> known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state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dirty="0">
                <a:latin typeface="Corbel"/>
                <a:cs typeface="Corbel"/>
              </a:rPr>
              <a:t> the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marL="45720" marR="385445">
              <a:lnSpc>
                <a:spcPts val="1939"/>
              </a:lnSpc>
              <a:spcBef>
                <a:spcPts val="5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,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 p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ro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ces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s 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sz="18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cycle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1488" y="1914144"/>
            <a:ext cx="2998764" cy="216865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49245" y="5009743"/>
            <a:ext cx="3591560" cy="5969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latin typeface="Corbel"/>
                <a:cs typeface="Corbel"/>
              </a:rPr>
              <a:t>P</a:t>
            </a:r>
            <a:r>
              <a:rPr sz="1100" b="1" dirty="0">
                <a:latin typeface="Corbel"/>
                <a:cs typeface="Corbel"/>
              </a:rPr>
              <a:t>rocess:</a:t>
            </a:r>
            <a:endParaRPr sz="1100">
              <a:latin typeface="Corbel"/>
              <a:cs typeface="Corbel"/>
            </a:endParaRPr>
          </a:p>
          <a:p>
            <a:pPr marL="12700" marR="5080" indent="457200">
              <a:lnSpc>
                <a:spcPct val="113599"/>
              </a:lnSpc>
            </a:pPr>
            <a:r>
              <a:rPr sz="1100" spc="-5" dirty="0">
                <a:latin typeface="Corbel"/>
                <a:cs typeface="Corbel"/>
              </a:rPr>
              <a:t>The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transition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10" dirty="0">
                <a:latin typeface="Corbel"/>
                <a:cs typeface="Corbel"/>
              </a:rPr>
              <a:t>(change)</a:t>
            </a:r>
            <a:r>
              <a:rPr sz="1100" spc="-5" dirty="0">
                <a:latin typeface="Corbel"/>
                <a:cs typeface="Corbel"/>
              </a:rPr>
              <a:t> of</a:t>
            </a:r>
            <a:r>
              <a:rPr sz="1100" dirty="0">
                <a:latin typeface="Corbel"/>
                <a:cs typeface="Corbel"/>
              </a:rPr>
              <a:t> the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state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dirty="0">
                <a:latin typeface="Corbel"/>
                <a:cs typeface="Corbel"/>
              </a:rPr>
              <a:t> known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15" dirty="0">
                <a:latin typeface="Corbel"/>
                <a:cs typeface="Corbel"/>
              </a:rPr>
              <a:t>as </a:t>
            </a:r>
            <a:r>
              <a:rPr sz="1100" spc="-2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process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or state </a:t>
            </a:r>
            <a:r>
              <a:rPr sz="1100" dirty="0">
                <a:latin typeface="Corbel"/>
                <a:cs typeface="Corbel"/>
              </a:rPr>
              <a:t>change.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49245" y="5793994"/>
            <a:ext cx="44450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latin typeface="Corbel"/>
                <a:cs typeface="Corbel"/>
              </a:rPr>
              <a:t>Path</a:t>
            </a:r>
            <a:r>
              <a:rPr sz="1100" b="1" dirty="0">
                <a:latin typeface="Corbel"/>
                <a:cs typeface="Corbel"/>
              </a:rPr>
              <a:t>: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49245" y="5962243"/>
            <a:ext cx="359282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13599"/>
              </a:lnSpc>
              <a:spcBef>
                <a:spcPts val="100"/>
              </a:spcBef>
            </a:pPr>
            <a:r>
              <a:rPr sz="1100" dirty="0">
                <a:latin typeface="Corbel"/>
                <a:cs typeface="Corbel"/>
              </a:rPr>
              <a:t>It</a:t>
            </a:r>
            <a:r>
              <a:rPr sz="1100" spc="18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19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series</a:t>
            </a:r>
            <a:r>
              <a:rPr sz="1100" spc="19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spc="18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states</a:t>
            </a:r>
            <a:r>
              <a:rPr sz="1100" spc="19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through</a:t>
            </a:r>
            <a:r>
              <a:rPr sz="1100" spc="18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which</a:t>
            </a:r>
            <a:r>
              <a:rPr sz="1100" spc="18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19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r>
              <a:rPr sz="1100" spc="19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passes </a:t>
            </a:r>
            <a:r>
              <a:rPr sz="1100" spc="-204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during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-5" dirty="0">
                <a:latin typeface="Corbel"/>
                <a:cs typeface="Corbel"/>
              </a:rPr>
              <a:t> process.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/>
              <a:cs typeface="Times New Roman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State,</a:t>
            </a:r>
            <a:r>
              <a:rPr sz="18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process</a:t>
            </a:r>
            <a:endParaRPr sz="1800">
              <a:latin typeface="Corbel"/>
              <a:cs typeface="Corbel"/>
            </a:endParaRPr>
          </a:p>
          <a:p>
            <a:pPr marL="45720">
              <a:lnSpc>
                <a:spcPts val="2055"/>
              </a:lnSpc>
            </a:pP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cl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7670" y="6281928"/>
            <a:ext cx="2249289" cy="195224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49245" y="1245183"/>
            <a:ext cx="476884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35" dirty="0">
                <a:latin typeface="Corbel"/>
                <a:cs typeface="Corbel"/>
              </a:rPr>
              <a:t>C</a:t>
            </a:r>
            <a:r>
              <a:rPr sz="1100" b="1" spc="-5" dirty="0">
                <a:latin typeface="Corbel"/>
                <a:cs typeface="Corbel"/>
              </a:rPr>
              <a:t>y</a:t>
            </a:r>
            <a:r>
              <a:rPr sz="1100" b="1" dirty="0">
                <a:latin typeface="Corbel"/>
                <a:cs typeface="Corbel"/>
              </a:rPr>
              <a:t>c</a:t>
            </a:r>
            <a:r>
              <a:rPr sz="1100" b="1" spc="-5" dirty="0">
                <a:latin typeface="Corbel"/>
                <a:cs typeface="Corbel"/>
              </a:rPr>
              <a:t>l</a:t>
            </a:r>
            <a:r>
              <a:rPr sz="1100" b="1" spc="-10" dirty="0">
                <a:latin typeface="Corbel"/>
                <a:cs typeface="Corbel"/>
              </a:rPr>
              <a:t>e</a:t>
            </a:r>
            <a:r>
              <a:rPr sz="1100" b="1" dirty="0">
                <a:latin typeface="Corbel"/>
                <a:cs typeface="Corbel"/>
              </a:rPr>
              <a:t>: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49245" y="1414119"/>
            <a:ext cx="359282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13599"/>
              </a:lnSpc>
              <a:spcBef>
                <a:spcPts val="100"/>
              </a:spcBef>
            </a:pPr>
            <a:r>
              <a:rPr sz="1100" dirty="0">
                <a:latin typeface="Corbel"/>
                <a:cs typeface="Corbel"/>
              </a:rPr>
              <a:t>A</a:t>
            </a:r>
            <a:r>
              <a:rPr sz="1100" spc="5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series</a:t>
            </a:r>
            <a:r>
              <a:rPr sz="1100" spc="5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spc="5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processes</a:t>
            </a:r>
            <a:r>
              <a:rPr sz="1100" spc="5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in</a:t>
            </a:r>
            <a:r>
              <a:rPr sz="1100" spc="6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which</a:t>
            </a:r>
            <a:r>
              <a:rPr sz="1100" spc="6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initial</a:t>
            </a:r>
            <a:r>
              <a:rPr sz="1100" spc="5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and</a:t>
            </a:r>
            <a:r>
              <a:rPr sz="1100" spc="5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final</a:t>
            </a:r>
            <a:r>
              <a:rPr sz="1100" spc="6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state</a:t>
            </a:r>
            <a:r>
              <a:rPr sz="1100" spc="5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 </a:t>
            </a:r>
            <a:r>
              <a:rPr sz="1100" spc="-204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are</a:t>
            </a:r>
            <a:r>
              <a:rPr sz="1100" spc="-5" dirty="0">
                <a:latin typeface="Corbel"/>
                <a:cs typeface="Corbel"/>
              </a:rPr>
              <a:t> same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known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cycle.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marL="45720" marR="385445">
              <a:lnSpc>
                <a:spcPts val="1939"/>
              </a:lnSpc>
              <a:spcBef>
                <a:spcPts val="5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,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 p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ro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ces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s 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and</a:t>
            </a:r>
            <a:r>
              <a:rPr sz="18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cycle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0" y="1879092"/>
            <a:ext cx="2444439" cy="2330136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49245" y="5457545"/>
            <a:ext cx="3592195" cy="7874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8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10" dirty="0">
                <a:latin typeface="Corbel"/>
                <a:cs typeface="Corbel"/>
              </a:rPr>
              <a:t>Th</a:t>
            </a:r>
            <a:r>
              <a:rPr sz="1100" b="1" dirty="0">
                <a:latin typeface="Corbel"/>
                <a:cs typeface="Corbel"/>
              </a:rPr>
              <a:t>e</a:t>
            </a:r>
            <a:r>
              <a:rPr sz="1100" b="1" spc="-5" dirty="0">
                <a:latin typeface="Corbel"/>
                <a:cs typeface="Corbel"/>
              </a:rPr>
              <a:t>rm</a:t>
            </a:r>
            <a:r>
              <a:rPr sz="1100" b="1" dirty="0">
                <a:latin typeface="Corbel"/>
                <a:cs typeface="Corbel"/>
              </a:rPr>
              <a:t>o</a:t>
            </a:r>
            <a:r>
              <a:rPr sz="1100" b="1" spc="-5" dirty="0">
                <a:latin typeface="Corbel"/>
                <a:cs typeface="Corbel"/>
              </a:rPr>
              <a:t>dy</a:t>
            </a:r>
            <a:r>
              <a:rPr sz="1100" b="1" dirty="0">
                <a:latin typeface="Corbel"/>
                <a:cs typeface="Corbel"/>
              </a:rPr>
              <a:t>n</a:t>
            </a:r>
            <a:r>
              <a:rPr sz="1100" b="1" spc="-10" dirty="0">
                <a:latin typeface="Corbel"/>
                <a:cs typeface="Corbel"/>
              </a:rPr>
              <a:t>a</a:t>
            </a:r>
            <a:r>
              <a:rPr sz="1100" b="1" spc="-5" dirty="0">
                <a:latin typeface="Corbel"/>
                <a:cs typeface="Corbel"/>
              </a:rPr>
              <a:t>m</a:t>
            </a:r>
            <a:r>
              <a:rPr sz="1100" b="1" dirty="0">
                <a:latin typeface="Corbel"/>
                <a:cs typeface="Corbel"/>
              </a:rPr>
              <a:t>ic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Equilib</a:t>
            </a:r>
            <a:r>
              <a:rPr sz="1100" b="1" spc="-10" dirty="0">
                <a:latin typeface="Corbel"/>
                <a:cs typeface="Corbel"/>
              </a:rPr>
              <a:t>r</a:t>
            </a:r>
            <a:r>
              <a:rPr sz="1100" b="1" dirty="0">
                <a:latin typeface="Corbel"/>
                <a:cs typeface="Corbel"/>
              </a:rPr>
              <a:t>iu</a:t>
            </a:r>
            <a:r>
              <a:rPr sz="1100" b="1" spc="-5" dirty="0">
                <a:latin typeface="Corbel"/>
                <a:cs typeface="Corbel"/>
              </a:rPr>
              <a:t>m</a:t>
            </a:r>
            <a:r>
              <a:rPr sz="1100" b="1" dirty="0">
                <a:latin typeface="Corbel"/>
                <a:cs typeface="Corbel"/>
              </a:rPr>
              <a:t>:</a:t>
            </a:r>
            <a:endParaRPr sz="1100">
              <a:latin typeface="Corbel"/>
              <a:cs typeface="Corbel"/>
            </a:endParaRPr>
          </a:p>
          <a:p>
            <a:pPr marL="12700" marR="5080" indent="457200" algn="just">
              <a:lnSpc>
                <a:spcPct val="113599"/>
              </a:lnSpc>
            </a:pPr>
            <a:r>
              <a:rPr sz="1100" dirty="0">
                <a:latin typeface="Corbel"/>
                <a:cs typeface="Corbel"/>
              </a:rPr>
              <a:t>A </a:t>
            </a:r>
            <a:r>
              <a:rPr sz="1100" spc="-5" dirty="0">
                <a:latin typeface="Corbel"/>
                <a:cs typeface="Corbel"/>
              </a:rPr>
              <a:t>system is said </a:t>
            </a:r>
            <a:r>
              <a:rPr sz="1100" dirty="0">
                <a:latin typeface="Corbel"/>
                <a:cs typeface="Corbel"/>
              </a:rPr>
              <a:t>to </a:t>
            </a:r>
            <a:r>
              <a:rPr sz="1100" spc="-5" dirty="0">
                <a:latin typeface="Corbel"/>
                <a:cs typeface="Corbel"/>
              </a:rPr>
              <a:t>be in </a:t>
            </a:r>
            <a:r>
              <a:rPr sz="1100" dirty="0">
                <a:latin typeface="Corbel"/>
                <a:cs typeface="Corbel"/>
              </a:rPr>
              <a:t>a </a:t>
            </a:r>
            <a:r>
              <a:rPr sz="1100" spc="-5" dirty="0">
                <a:latin typeface="Corbel"/>
                <a:cs typeface="Corbel"/>
              </a:rPr>
              <a:t>state of thermodynamic 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equilibrium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if</a:t>
            </a:r>
            <a:r>
              <a:rPr sz="1100" dirty="0">
                <a:latin typeface="Corbel"/>
                <a:cs typeface="Corbel"/>
              </a:rPr>
              <a:t> the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values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properties</a:t>
            </a:r>
            <a:r>
              <a:rPr sz="1100" dirty="0">
                <a:latin typeface="Corbel"/>
                <a:cs typeface="Corbel"/>
              </a:rPr>
              <a:t> are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10" dirty="0">
                <a:latin typeface="Corbel"/>
                <a:cs typeface="Corbel"/>
              </a:rPr>
              <a:t>same</a:t>
            </a:r>
            <a:r>
              <a:rPr sz="1100" spc="-5" dirty="0">
                <a:latin typeface="Corbel"/>
                <a:cs typeface="Corbel"/>
              </a:rPr>
              <a:t> at</a:t>
            </a:r>
            <a:r>
              <a:rPr sz="1100" spc="2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all </a:t>
            </a:r>
            <a:r>
              <a:rPr sz="1100" dirty="0">
                <a:latin typeface="Corbel"/>
                <a:cs typeface="Corbel"/>
              </a:rPr>
              <a:t> points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in</a:t>
            </a:r>
            <a:r>
              <a:rPr sz="1100" dirty="0">
                <a:latin typeface="Corbel"/>
                <a:cs typeface="Corbel"/>
              </a:rPr>
              <a:t> the</a:t>
            </a:r>
            <a:r>
              <a:rPr sz="1100" spc="-5" dirty="0">
                <a:latin typeface="Corbel"/>
                <a:cs typeface="Corbel"/>
              </a:rPr>
              <a:t> system.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2349245" y="6410045"/>
            <a:ext cx="1905000" cy="8261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80" dirty="0">
                <a:latin typeface="Corbel"/>
                <a:cs typeface="Corbel"/>
              </a:rPr>
              <a:t>T</a:t>
            </a:r>
            <a:r>
              <a:rPr sz="1100" b="1" spc="-5" dirty="0">
                <a:latin typeface="Corbel"/>
                <a:cs typeface="Corbel"/>
              </a:rPr>
              <a:t>y</a:t>
            </a:r>
            <a:r>
              <a:rPr sz="1100" b="1" dirty="0">
                <a:latin typeface="Corbel"/>
                <a:cs typeface="Corbel"/>
              </a:rPr>
              <a:t>pes</a:t>
            </a:r>
            <a:r>
              <a:rPr sz="1100" b="1" spc="-1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of</a:t>
            </a:r>
            <a:r>
              <a:rPr sz="1100" b="1" spc="-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Equilib</a:t>
            </a:r>
            <a:r>
              <a:rPr sz="1100" b="1" spc="-10" dirty="0">
                <a:latin typeface="Corbel"/>
                <a:cs typeface="Corbel"/>
              </a:rPr>
              <a:t>r</a:t>
            </a:r>
            <a:r>
              <a:rPr sz="1100" b="1" dirty="0">
                <a:latin typeface="Corbel"/>
                <a:cs typeface="Corbel"/>
              </a:rPr>
              <a:t>ium</a:t>
            </a:r>
            <a:r>
              <a:rPr sz="1100" b="1" spc="-2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s</a:t>
            </a:r>
            <a:r>
              <a:rPr sz="1100" b="1" spc="-5" dirty="0">
                <a:latin typeface="Corbel"/>
                <a:cs typeface="Corbel"/>
              </a:rPr>
              <a:t>y</a:t>
            </a:r>
            <a:r>
              <a:rPr sz="1100" b="1" dirty="0">
                <a:latin typeface="Corbel"/>
                <a:cs typeface="Corbel"/>
              </a:rPr>
              <a:t>ste</a:t>
            </a:r>
            <a:r>
              <a:rPr sz="1100" b="1" spc="-10" dirty="0">
                <a:latin typeface="Corbel"/>
                <a:cs typeface="Corbel"/>
              </a:rPr>
              <a:t>m</a:t>
            </a:r>
            <a:r>
              <a:rPr sz="1100" b="1" dirty="0">
                <a:latin typeface="Corbel"/>
                <a:cs typeface="Corbel"/>
              </a:rPr>
              <a:t>s:</a:t>
            </a:r>
            <a:endParaRPr sz="1100">
              <a:latin typeface="Corbel"/>
              <a:cs typeface="Corbel"/>
            </a:endParaRPr>
          </a:p>
          <a:p>
            <a:pPr marL="264160">
              <a:lnSpc>
                <a:spcPct val="100000"/>
              </a:lnSpc>
              <a:spcBef>
                <a:spcPts val="18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Corbel"/>
                <a:cs typeface="Corbel"/>
              </a:rPr>
              <a:t>The</a:t>
            </a:r>
            <a:r>
              <a:rPr sz="1100" dirty="0">
                <a:latin typeface="Corbel"/>
                <a:cs typeface="Corbel"/>
              </a:rPr>
              <a:t>rm</a:t>
            </a:r>
            <a:r>
              <a:rPr sz="1100" spc="-5" dirty="0">
                <a:latin typeface="Corbel"/>
                <a:cs typeface="Corbel"/>
              </a:rPr>
              <a:t>a</a:t>
            </a:r>
            <a:r>
              <a:rPr sz="1100" dirty="0">
                <a:latin typeface="Corbel"/>
                <a:cs typeface="Corbel"/>
              </a:rPr>
              <a:t>l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E</a:t>
            </a:r>
            <a:r>
              <a:rPr sz="1100" spc="-5" dirty="0">
                <a:latin typeface="Corbel"/>
                <a:cs typeface="Corbel"/>
              </a:rPr>
              <a:t>qui</a:t>
            </a:r>
            <a:r>
              <a:rPr sz="1100" spc="-10" dirty="0">
                <a:latin typeface="Corbel"/>
                <a:cs typeface="Corbel"/>
              </a:rPr>
              <a:t>l</a:t>
            </a:r>
            <a:r>
              <a:rPr sz="1100" spc="-5" dirty="0">
                <a:latin typeface="Corbel"/>
                <a:cs typeface="Corbel"/>
              </a:rPr>
              <a:t>ib</a:t>
            </a:r>
            <a:r>
              <a:rPr sz="1100" dirty="0">
                <a:latin typeface="Corbel"/>
                <a:cs typeface="Corbel"/>
              </a:rPr>
              <a:t>rium</a:t>
            </a:r>
            <a:endParaRPr sz="1100">
              <a:latin typeface="Corbel"/>
              <a:cs typeface="Corbel"/>
            </a:endParaRPr>
          </a:p>
          <a:p>
            <a:pPr marL="264160">
              <a:lnSpc>
                <a:spcPct val="100000"/>
              </a:lnSpc>
              <a:spcBef>
                <a:spcPts val="325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Corbel"/>
                <a:cs typeface="Corbel"/>
              </a:rPr>
              <a:t>Mechan</a:t>
            </a:r>
            <a:r>
              <a:rPr sz="1100" spc="-5" dirty="0">
                <a:latin typeface="Corbel"/>
                <a:cs typeface="Corbel"/>
              </a:rPr>
              <a:t>ic</a:t>
            </a:r>
            <a:r>
              <a:rPr sz="1100" dirty="0">
                <a:latin typeface="Corbel"/>
                <a:cs typeface="Corbel"/>
              </a:rPr>
              <a:t>al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E</a:t>
            </a:r>
            <a:r>
              <a:rPr sz="1100" spc="-5" dirty="0">
                <a:latin typeface="Corbel"/>
                <a:cs typeface="Corbel"/>
              </a:rPr>
              <a:t>qui</a:t>
            </a:r>
            <a:r>
              <a:rPr sz="1100" spc="-10" dirty="0">
                <a:latin typeface="Corbel"/>
                <a:cs typeface="Corbel"/>
              </a:rPr>
              <a:t>l</a:t>
            </a:r>
            <a:r>
              <a:rPr sz="1100" spc="-5" dirty="0">
                <a:latin typeface="Corbel"/>
                <a:cs typeface="Corbel"/>
              </a:rPr>
              <a:t>ib</a:t>
            </a:r>
            <a:r>
              <a:rPr sz="1100" dirty="0">
                <a:latin typeface="Corbel"/>
                <a:cs typeface="Corbel"/>
              </a:rPr>
              <a:t>rium</a:t>
            </a:r>
            <a:endParaRPr sz="1100">
              <a:latin typeface="Corbel"/>
              <a:cs typeface="Corbel"/>
            </a:endParaRPr>
          </a:p>
          <a:p>
            <a:pPr marL="264160">
              <a:lnSpc>
                <a:spcPct val="100000"/>
              </a:lnSpc>
              <a:spcBef>
                <a:spcPts val="335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Corbel"/>
                <a:cs typeface="Corbel"/>
              </a:rPr>
              <a:t>Chem</a:t>
            </a:r>
            <a:r>
              <a:rPr sz="1100" spc="-10" dirty="0">
                <a:latin typeface="Corbel"/>
                <a:cs typeface="Corbel"/>
              </a:rPr>
              <a:t>i</a:t>
            </a:r>
            <a:r>
              <a:rPr sz="1100" spc="-5" dirty="0">
                <a:latin typeface="Corbel"/>
                <a:cs typeface="Corbel"/>
              </a:rPr>
              <a:t>c</a:t>
            </a:r>
            <a:r>
              <a:rPr sz="1100" dirty="0">
                <a:latin typeface="Corbel"/>
                <a:cs typeface="Corbel"/>
              </a:rPr>
              <a:t>al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E</a:t>
            </a:r>
            <a:r>
              <a:rPr sz="1100" spc="-5" dirty="0">
                <a:latin typeface="Corbel"/>
                <a:cs typeface="Corbel"/>
              </a:rPr>
              <a:t>qui</a:t>
            </a:r>
            <a:r>
              <a:rPr sz="1100" spc="-10" dirty="0">
                <a:latin typeface="Corbel"/>
                <a:cs typeface="Corbel"/>
              </a:rPr>
              <a:t>l</a:t>
            </a:r>
            <a:r>
              <a:rPr sz="1100" spc="-5" dirty="0">
                <a:latin typeface="Corbel"/>
                <a:cs typeface="Corbel"/>
              </a:rPr>
              <a:t>ib</a:t>
            </a:r>
            <a:r>
              <a:rPr sz="1100" dirty="0">
                <a:latin typeface="Corbel"/>
                <a:cs typeface="Corbel"/>
              </a:rPr>
              <a:t>rium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/>
              <a:cs typeface="Times New Roman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Thermodynamic</a:t>
            </a:r>
            <a:endParaRPr sz="1800">
              <a:latin typeface="Corbel"/>
              <a:cs typeface="Corbel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Equilibrium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49245" y="1699615"/>
            <a:ext cx="3593465" cy="7880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10" dirty="0">
                <a:latin typeface="Corbel"/>
                <a:cs typeface="Corbel"/>
              </a:rPr>
              <a:t>Th</a:t>
            </a:r>
            <a:r>
              <a:rPr sz="1100" b="1" dirty="0">
                <a:latin typeface="Corbel"/>
                <a:cs typeface="Corbel"/>
              </a:rPr>
              <a:t>e</a:t>
            </a:r>
            <a:r>
              <a:rPr sz="1100" b="1" spc="-5" dirty="0">
                <a:latin typeface="Corbel"/>
                <a:cs typeface="Corbel"/>
              </a:rPr>
              <a:t>rma</a:t>
            </a:r>
            <a:r>
              <a:rPr sz="1100" b="1" dirty="0">
                <a:latin typeface="Corbel"/>
                <a:cs typeface="Corbel"/>
              </a:rPr>
              <a:t>l Equilib</a:t>
            </a:r>
            <a:r>
              <a:rPr sz="1100" b="1" spc="-10" dirty="0">
                <a:latin typeface="Corbel"/>
                <a:cs typeface="Corbel"/>
              </a:rPr>
              <a:t>r</a:t>
            </a:r>
            <a:r>
              <a:rPr sz="1100" b="1" dirty="0">
                <a:latin typeface="Corbel"/>
                <a:cs typeface="Corbel"/>
              </a:rPr>
              <a:t>iu</a:t>
            </a:r>
            <a:r>
              <a:rPr sz="1100" b="1" spc="-10" dirty="0">
                <a:latin typeface="Corbel"/>
                <a:cs typeface="Corbel"/>
              </a:rPr>
              <a:t>m</a:t>
            </a:r>
            <a:r>
              <a:rPr sz="1100" b="1" dirty="0">
                <a:latin typeface="Corbel"/>
                <a:cs typeface="Corbel"/>
              </a:rPr>
              <a:t>:</a:t>
            </a:r>
            <a:endParaRPr sz="1100">
              <a:latin typeface="Corbel"/>
              <a:cs typeface="Corbel"/>
            </a:endParaRPr>
          </a:p>
          <a:p>
            <a:pPr marR="5080" algn="r">
              <a:lnSpc>
                <a:spcPct val="100000"/>
              </a:lnSpc>
              <a:spcBef>
                <a:spcPts val="180"/>
              </a:spcBef>
            </a:pPr>
            <a:r>
              <a:rPr sz="1100" dirty="0">
                <a:latin typeface="Corbel"/>
                <a:cs typeface="Corbel"/>
              </a:rPr>
              <a:t>If</a:t>
            </a:r>
            <a:r>
              <a:rPr sz="1100" spc="254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26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temperature</a:t>
            </a:r>
            <a:r>
              <a:rPr sz="1100" spc="26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of</a:t>
            </a:r>
            <a:r>
              <a:rPr sz="1100" spc="254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25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r>
              <a:rPr sz="1100" spc="26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does</a:t>
            </a:r>
            <a:r>
              <a:rPr sz="1100" spc="24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not</a:t>
            </a:r>
            <a:r>
              <a:rPr sz="1100" spc="26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change</a:t>
            </a:r>
            <a:endParaRPr sz="1100">
              <a:latin typeface="Corbel"/>
              <a:cs typeface="Corbel"/>
            </a:endParaRPr>
          </a:p>
          <a:p>
            <a:pPr marR="5715" algn="r">
              <a:lnSpc>
                <a:spcPct val="100000"/>
              </a:lnSpc>
              <a:spcBef>
                <a:spcPts val="180"/>
              </a:spcBef>
            </a:pPr>
            <a:r>
              <a:rPr sz="1100" dirty="0">
                <a:latin typeface="Corbel"/>
                <a:cs typeface="Corbel"/>
              </a:rPr>
              <a:t>with</a:t>
            </a:r>
            <a:r>
              <a:rPr sz="1100" spc="6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time</a:t>
            </a:r>
            <a:r>
              <a:rPr sz="1100" spc="7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and</a:t>
            </a:r>
            <a:r>
              <a:rPr sz="1100" spc="6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has</a:t>
            </a:r>
            <a:r>
              <a:rPr sz="1100" spc="6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same</a:t>
            </a:r>
            <a:r>
              <a:rPr sz="1100" spc="7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value</a:t>
            </a:r>
            <a:r>
              <a:rPr sz="1100" spc="7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at</a:t>
            </a:r>
            <a:r>
              <a:rPr sz="1100" spc="6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all</a:t>
            </a:r>
            <a:r>
              <a:rPr sz="1100" spc="6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points</a:t>
            </a:r>
            <a:r>
              <a:rPr sz="1100" spc="6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of</a:t>
            </a:r>
            <a:r>
              <a:rPr sz="1100" spc="6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the</a:t>
            </a:r>
            <a:r>
              <a:rPr sz="1100" spc="6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system,</a:t>
            </a:r>
            <a:r>
              <a:rPr sz="1100" spc="5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the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100" spc="-5" dirty="0">
                <a:latin typeface="Corbel"/>
                <a:cs typeface="Corbel"/>
              </a:rPr>
              <a:t>system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said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to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be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in </a:t>
            </a:r>
            <a:r>
              <a:rPr sz="1100" dirty="0">
                <a:latin typeface="Corbel"/>
                <a:cs typeface="Corbel"/>
              </a:rPr>
              <a:t>thermal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equilibrium.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marL="45720" marR="165100">
              <a:lnSpc>
                <a:spcPts val="1939"/>
              </a:lnSpc>
              <a:spcBef>
                <a:spcPts val="5"/>
              </a:spcBef>
            </a:pP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he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rmo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c 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Equilibrium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49245" y="5222494"/>
            <a:ext cx="138493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10" dirty="0">
                <a:latin typeface="Corbel"/>
                <a:cs typeface="Corbel"/>
              </a:rPr>
              <a:t>Th</a:t>
            </a:r>
            <a:r>
              <a:rPr sz="1100" b="1" dirty="0">
                <a:latin typeface="Corbel"/>
                <a:cs typeface="Corbel"/>
              </a:rPr>
              <a:t>e</a:t>
            </a:r>
            <a:r>
              <a:rPr sz="1100" b="1" spc="-5" dirty="0">
                <a:latin typeface="Corbel"/>
                <a:cs typeface="Corbel"/>
              </a:rPr>
              <a:t>rma</a:t>
            </a:r>
            <a:r>
              <a:rPr sz="1100" b="1" dirty="0">
                <a:latin typeface="Corbel"/>
                <a:cs typeface="Corbel"/>
              </a:rPr>
              <a:t>l Equilib</a:t>
            </a:r>
            <a:r>
              <a:rPr sz="1100" b="1" spc="-10" dirty="0">
                <a:latin typeface="Corbel"/>
                <a:cs typeface="Corbel"/>
              </a:rPr>
              <a:t>r</a:t>
            </a:r>
            <a:r>
              <a:rPr sz="1100" b="1" dirty="0">
                <a:latin typeface="Corbel"/>
                <a:cs typeface="Corbel"/>
              </a:rPr>
              <a:t>iu</a:t>
            </a:r>
            <a:r>
              <a:rPr sz="1100" b="1" spc="-10" dirty="0">
                <a:latin typeface="Corbel"/>
                <a:cs typeface="Corbel"/>
              </a:rPr>
              <a:t>m</a:t>
            </a:r>
            <a:r>
              <a:rPr sz="1100" b="1" dirty="0">
                <a:latin typeface="Corbel"/>
                <a:cs typeface="Corbel"/>
              </a:rPr>
              <a:t>: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/>
              <a:cs typeface="Times New Roman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Thermodynamic</a:t>
            </a:r>
            <a:endParaRPr sz="1800">
              <a:latin typeface="Corbel"/>
              <a:cs typeface="Corbel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Equilibrium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682" y="5583824"/>
            <a:ext cx="2895116" cy="160094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09216" y="1248155"/>
            <a:ext cx="4368165" cy="2969260"/>
            <a:chOff x="2109216" y="1248155"/>
            <a:chExt cx="4368165" cy="2969260"/>
          </a:xfrm>
        </p:grpSpPr>
        <p:sp>
          <p:nvSpPr>
            <p:cNvPr id="4" name="object 4"/>
            <p:cNvSpPr/>
            <p:nvPr/>
          </p:nvSpPr>
          <p:spPr>
            <a:xfrm>
              <a:off x="6289548" y="1248155"/>
              <a:ext cx="187960" cy="2665730"/>
            </a:xfrm>
            <a:custGeom>
              <a:avLst/>
              <a:gdLst/>
              <a:ahLst/>
              <a:cxnLst/>
              <a:rect l="l" t="t" r="r" b="b"/>
              <a:pathLst>
                <a:path w="187960" h="2665729">
                  <a:moveTo>
                    <a:pt x="0" y="2665476"/>
                  </a:moveTo>
                  <a:lnTo>
                    <a:pt x="187451" y="2665476"/>
                  </a:lnTo>
                  <a:lnTo>
                    <a:pt x="187451" y="0"/>
                  </a:lnTo>
                  <a:lnTo>
                    <a:pt x="0" y="0"/>
                  </a:lnTo>
                  <a:lnTo>
                    <a:pt x="0" y="2665476"/>
                  </a:lnTo>
                  <a:close/>
                </a:path>
              </a:pathLst>
            </a:custGeom>
            <a:solidFill>
              <a:srgbClr val="C7C7C7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09216" y="1540725"/>
              <a:ext cx="2647187" cy="216107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164" y="2161031"/>
              <a:ext cx="1549908" cy="8442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4964" y="3227832"/>
              <a:ext cx="1566672" cy="98907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349245" y="1245183"/>
            <a:ext cx="13855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10" dirty="0">
                <a:latin typeface="Corbel"/>
                <a:cs typeface="Corbel"/>
              </a:rPr>
              <a:t>Th</a:t>
            </a:r>
            <a:r>
              <a:rPr sz="1100" b="1" spc="-5" dirty="0">
                <a:latin typeface="Corbel"/>
                <a:cs typeface="Corbel"/>
              </a:rPr>
              <a:t>e</a:t>
            </a:r>
            <a:r>
              <a:rPr sz="1100" b="1" dirty="0">
                <a:latin typeface="Corbel"/>
                <a:cs typeface="Corbel"/>
              </a:rPr>
              <a:t>r</a:t>
            </a:r>
            <a:r>
              <a:rPr sz="1100" b="1" spc="-10" dirty="0">
                <a:latin typeface="Corbel"/>
                <a:cs typeface="Corbel"/>
              </a:rPr>
              <a:t>ma</a:t>
            </a:r>
            <a:r>
              <a:rPr sz="1100" b="1" dirty="0">
                <a:latin typeface="Corbel"/>
                <a:cs typeface="Corbel"/>
              </a:rPr>
              <a:t>l</a:t>
            </a:r>
            <a:r>
              <a:rPr sz="1100" b="1" spc="-5" dirty="0">
                <a:latin typeface="Corbel"/>
                <a:cs typeface="Corbel"/>
              </a:rPr>
              <a:t> E</a:t>
            </a:r>
            <a:r>
              <a:rPr sz="1100" b="1" dirty="0">
                <a:latin typeface="Corbel"/>
                <a:cs typeface="Corbel"/>
              </a:rPr>
              <a:t>qui</a:t>
            </a:r>
            <a:r>
              <a:rPr sz="1100" b="1" spc="-10" dirty="0">
                <a:latin typeface="Corbel"/>
                <a:cs typeface="Corbel"/>
              </a:rPr>
              <a:t>l</a:t>
            </a:r>
            <a:r>
              <a:rPr sz="1100" b="1" dirty="0">
                <a:latin typeface="Corbel"/>
                <a:cs typeface="Corbel"/>
              </a:rPr>
              <a:t>i</a:t>
            </a:r>
            <a:r>
              <a:rPr sz="1100" b="1" spc="-5" dirty="0">
                <a:latin typeface="Corbel"/>
                <a:cs typeface="Corbel"/>
              </a:rPr>
              <a:t>b</a:t>
            </a:r>
            <a:r>
              <a:rPr sz="1100" b="1" dirty="0">
                <a:latin typeface="Corbel"/>
                <a:cs typeface="Corbel"/>
              </a:rPr>
              <a:t>ri</a:t>
            </a:r>
            <a:r>
              <a:rPr sz="1100" b="1" spc="-10" dirty="0">
                <a:latin typeface="Corbel"/>
                <a:cs typeface="Corbel"/>
              </a:rPr>
              <a:t>um</a:t>
            </a:r>
            <a:r>
              <a:rPr sz="1100" b="1" dirty="0">
                <a:latin typeface="Corbel"/>
                <a:cs typeface="Corbel"/>
              </a:rPr>
              <a:t>: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marL="45720" marR="165100">
              <a:lnSpc>
                <a:spcPts val="1939"/>
              </a:lnSpc>
              <a:spcBef>
                <a:spcPts val="5"/>
              </a:spcBef>
            </a:pP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he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rmo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c 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Equilibrium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49245" y="5581243"/>
            <a:ext cx="3593465" cy="9785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8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latin typeface="Corbel"/>
                <a:cs typeface="Corbel"/>
              </a:rPr>
              <a:t>Mecha</a:t>
            </a:r>
            <a:r>
              <a:rPr sz="1100" b="1" dirty="0">
                <a:latin typeface="Corbel"/>
                <a:cs typeface="Corbel"/>
              </a:rPr>
              <a:t>nic</a:t>
            </a:r>
            <a:r>
              <a:rPr sz="1100" b="1" spc="-5" dirty="0">
                <a:latin typeface="Corbel"/>
                <a:cs typeface="Corbel"/>
              </a:rPr>
              <a:t>a</a:t>
            </a:r>
            <a:r>
              <a:rPr sz="1100" b="1" dirty="0">
                <a:latin typeface="Corbel"/>
                <a:cs typeface="Corbel"/>
              </a:rPr>
              <a:t>l</a:t>
            </a:r>
            <a:r>
              <a:rPr sz="1100" b="1" spc="-1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Equilib</a:t>
            </a:r>
            <a:r>
              <a:rPr sz="1100" b="1" spc="-10" dirty="0">
                <a:latin typeface="Corbel"/>
                <a:cs typeface="Corbel"/>
              </a:rPr>
              <a:t>r</a:t>
            </a:r>
            <a:r>
              <a:rPr sz="1100" b="1" dirty="0">
                <a:latin typeface="Corbel"/>
                <a:cs typeface="Corbel"/>
              </a:rPr>
              <a:t>iu</a:t>
            </a:r>
            <a:r>
              <a:rPr sz="1100" b="1" spc="-10" dirty="0">
                <a:latin typeface="Corbel"/>
                <a:cs typeface="Corbel"/>
              </a:rPr>
              <a:t>m</a:t>
            </a:r>
            <a:r>
              <a:rPr sz="1100" b="1" dirty="0">
                <a:latin typeface="Corbel"/>
                <a:cs typeface="Corbel"/>
              </a:rPr>
              <a:t>:</a:t>
            </a:r>
            <a:endParaRPr sz="1100">
              <a:latin typeface="Corbel"/>
              <a:cs typeface="Corbel"/>
            </a:endParaRPr>
          </a:p>
          <a:p>
            <a:pPr marL="12700" marR="5080" indent="457200" algn="just">
              <a:lnSpc>
                <a:spcPct val="113599"/>
              </a:lnSpc>
            </a:pPr>
            <a:r>
              <a:rPr sz="1100" dirty="0">
                <a:latin typeface="Corbel"/>
                <a:cs typeface="Corbel"/>
              </a:rPr>
              <a:t>A </a:t>
            </a:r>
            <a:r>
              <a:rPr sz="1100" spc="-5" dirty="0">
                <a:latin typeface="Corbel"/>
                <a:cs typeface="Corbel"/>
              </a:rPr>
              <a:t>system is in mechanical equilibrium if there </a:t>
            </a:r>
            <a:r>
              <a:rPr sz="1100" dirty="0">
                <a:latin typeface="Corbel"/>
                <a:cs typeface="Corbel"/>
              </a:rPr>
              <a:t>are </a:t>
            </a:r>
            <a:r>
              <a:rPr sz="1100" spc="5" dirty="0">
                <a:latin typeface="Corbel"/>
                <a:cs typeface="Corbel"/>
              </a:rPr>
              <a:t>no </a:t>
            </a:r>
            <a:r>
              <a:rPr sz="1100" spc="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unbalanced</a:t>
            </a:r>
            <a:r>
              <a:rPr sz="1100" dirty="0">
                <a:latin typeface="Corbel"/>
                <a:cs typeface="Corbel"/>
              </a:rPr>
              <a:t> forces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within</a:t>
            </a:r>
            <a:r>
              <a:rPr sz="1100" dirty="0">
                <a:latin typeface="Corbel"/>
                <a:cs typeface="Corbel"/>
              </a:rPr>
              <a:t> the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or</a:t>
            </a:r>
            <a:r>
              <a:rPr sz="1100" spc="2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between 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surroundings. The pressure in </a:t>
            </a:r>
            <a:r>
              <a:rPr sz="1100" dirty="0">
                <a:latin typeface="Corbel"/>
                <a:cs typeface="Corbel"/>
              </a:rPr>
              <a:t>the </a:t>
            </a:r>
            <a:r>
              <a:rPr sz="1100" spc="-5" dirty="0">
                <a:latin typeface="Corbel"/>
                <a:cs typeface="Corbel"/>
              </a:rPr>
              <a:t>system is same </a:t>
            </a:r>
            <a:r>
              <a:rPr sz="1100" dirty="0">
                <a:latin typeface="Corbel"/>
                <a:cs typeface="Corbel"/>
              </a:rPr>
              <a:t>at </a:t>
            </a:r>
            <a:r>
              <a:rPr sz="1100" spc="-5" dirty="0">
                <a:latin typeface="Corbel"/>
                <a:cs typeface="Corbel"/>
              </a:rPr>
              <a:t>all </a:t>
            </a:r>
            <a:r>
              <a:rPr sz="1100" dirty="0">
                <a:latin typeface="Corbel"/>
                <a:cs typeface="Corbel"/>
              </a:rPr>
              <a:t>points 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and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does </a:t>
            </a:r>
            <a:r>
              <a:rPr sz="1100" dirty="0">
                <a:latin typeface="Corbel"/>
                <a:cs typeface="Corbel"/>
              </a:rPr>
              <a:t>not</a:t>
            </a:r>
            <a:r>
              <a:rPr sz="1100" spc="-5" dirty="0">
                <a:latin typeface="Corbel"/>
                <a:cs typeface="Corbel"/>
              </a:rPr>
              <a:t> change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with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respect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to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time.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/>
              <a:cs typeface="Times New Roman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Thermodynamic</a:t>
            </a:r>
            <a:endParaRPr sz="1800">
              <a:latin typeface="Corbel"/>
              <a:cs typeface="Corbel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Equilibrium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49245" y="1245183"/>
            <a:ext cx="156210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latin typeface="Corbel"/>
                <a:cs typeface="Corbel"/>
              </a:rPr>
              <a:t>Mechanical</a:t>
            </a:r>
            <a:r>
              <a:rPr sz="1100" b="1" spc="-10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Equilibrium: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marL="45720" marR="165100">
              <a:lnSpc>
                <a:spcPts val="1939"/>
              </a:lnSpc>
              <a:spcBef>
                <a:spcPts val="5"/>
              </a:spcBef>
            </a:pP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he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rmo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c 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Equilibrium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6939" y="1693164"/>
            <a:ext cx="2484119" cy="8351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36591" y="1999488"/>
            <a:ext cx="1431036" cy="2209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2848" y="2677667"/>
            <a:ext cx="2253996" cy="15438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39055" y="3233927"/>
            <a:ext cx="1528572" cy="326136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49245" y="4955794"/>
            <a:ext cx="156210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latin typeface="Corbel"/>
                <a:cs typeface="Corbel"/>
              </a:rPr>
              <a:t>Mecha</a:t>
            </a:r>
            <a:r>
              <a:rPr sz="1100" b="1" dirty="0">
                <a:latin typeface="Corbel"/>
                <a:cs typeface="Corbel"/>
              </a:rPr>
              <a:t>nic</a:t>
            </a:r>
            <a:r>
              <a:rPr sz="1100" b="1" spc="-5" dirty="0">
                <a:latin typeface="Corbel"/>
                <a:cs typeface="Corbel"/>
              </a:rPr>
              <a:t>a</a:t>
            </a:r>
            <a:r>
              <a:rPr sz="1100" b="1" dirty="0">
                <a:latin typeface="Corbel"/>
                <a:cs typeface="Corbel"/>
              </a:rPr>
              <a:t>l</a:t>
            </a:r>
            <a:r>
              <a:rPr sz="1100" b="1" spc="-1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Equilib</a:t>
            </a:r>
            <a:r>
              <a:rPr sz="1100" b="1" spc="-10" dirty="0">
                <a:latin typeface="Corbel"/>
                <a:cs typeface="Corbel"/>
              </a:rPr>
              <a:t>r</a:t>
            </a:r>
            <a:r>
              <a:rPr sz="1100" b="1" dirty="0">
                <a:latin typeface="Corbel"/>
                <a:cs typeface="Corbel"/>
              </a:rPr>
              <a:t>iu</a:t>
            </a:r>
            <a:r>
              <a:rPr sz="1100" b="1" spc="-10" dirty="0">
                <a:latin typeface="Corbel"/>
                <a:cs typeface="Corbel"/>
              </a:rPr>
              <a:t>m</a:t>
            </a:r>
            <a:r>
              <a:rPr sz="1100" b="1" dirty="0">
                <a:latin typeface="Corbel"/>
                <a:cs typeface="Corbel"/>
              </a:rPr>
              <a:t>: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/>
              <a:cs typeface="Times New Roman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Thermodynamic</a:t>
            </a:r>
            <a:endParaRPr sz="1800">
              <a:latin typeface="Corbel"/>
              <a:cs typeface="Corbel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Equilibrium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6300" y="5736335"/>
            <a:ext cx="1431036" cy="22098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39055" y="7210043"/>
            <a:ext cx="1528572" cy="32613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07335" y="5199888"/>
            <a:ext cx="2171700" cy="130302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22220" y="6559295"/>
            <a:ext cx="1813559" cy="1610868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marL="45720" marR="165100">
              <a:lnSpc>
                <a:spcPts val="1939"/>
              </a:lnSpc>
              <a:spcBef>
                <a:spcPts val="5"/>
              </a:spcBef>
            </a:pP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he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rmo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c 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Equilibrium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43555" y="2199132"/>
            <a:ext cx="1416050" cy="1565275"/>
          </a:xfrm>
          <a:custGeom>
            <a:avLst/>
            <a:gdLst/>
            <a:ahLst/>
            <a:cxnLst/>
            <a:rect l="l" t="t" r="r" b="b"/>
            <a:pathLst>
              <a:path w="1416050" h="1565275">
                <a:moveTo>
                  <a:pt x="0" y="1565148"/>
                </a:moveTo>
                <a:lnTo>
                  <a:pt x="1415795" y="1565148"/>
                </a:lnTo>
                <a:lnTo>
                  <a:pt x="1415795" y="0"/>
                </a:lnTo>
                <a:lnTo>
                  <a:pt x="0" y="0"/>
                </a:lnTo>
                <a:lnTo>
                  <a:pt x="0" y="1565148"/>
                </a:lnTo>
                <a:close/>
              </a:path>
            </a:pathLst>
          </a:custGeom>
          <a:ln w="5397">
            <a:solidFill>
              <a:srgbClr val="D439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07157" y="2824353"/>
            <a:ext cx="155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orbel"/>
                <a:cs typeface="Corbel"/>
              </a:rPr>
              <a:t>O2</a:t>
            </a:r>
            <a:endParaRPr sz="9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7721" y="2824353"/>
            <a:ext cx="80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orbel"/>
                <a:cs typeface="Corbel"/>
              </a:rPr>
              <a:t>C</a:t>
            </a:r>
            <a:endParaRPr sz="9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7157" y="3510534"/>
            <a:ext cx="806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orbel"/>
                <a:cs typeface="Corbel"/>
              </a:rPr>
              <a:t>C</a:t>
            </a:r>
            <a:endParaRPr sz="9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54270" y="3510534"/>
            <a:ext cx="155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orbel"/>
                <a:cs typeface="Corbel"/>
              </a:rPr>
              <a:t>O2</a:t>
            </a:r>
            <a:endParaRPr sz="9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58284" y="2199132"/>
            <a:ext cx="1414780" cy="1565275"/>
          </a:xfrm>
          <a:custGeom>
            <a:avLst/>
            <a:gdLst/>
            <a:ahLst/>
            <a:cxnLst/>
            <a:rect l="l" t="t" r="r" b="b"/>
            <a:pathLst>
              <a:path w="1414779" h="1565275">
                <a:moveTo>
                  <a:pt x="0" y="1565148"/>
                </a:moveTo>
                <a:lnTo>
                  <a:pt x="1414272" y="1565148"/>
                </a:lnTo>
                <a:lnTo>
                  <a:pt x="1414272" y="0"/>
                </a:lnTo>
                <a:lnTo>
                  <a:pt x="0" y="0"/>
                </a:lnTo>
                <a:lnTo>
                  <a:pt x="0" y="1565148"/>
                </a:lnTo>
                <a:close/>
              </a:path>
            </a:pathLst>
          </a:custGeom>
          <a:ln w="5397">
            <a:solidFill>
              <a:srgbClr val="D439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49245" y="1318615"/>
            <a:ext cx="3591560" cy="11201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8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latin typeface="Corbel"/>
                <a:cs typeface="Corbel"/>
              </a:rPr>
              <a:t>Ch</a:t>
            </a:r>
            <a:r>
              <a:rPr sz="1100" b="1" spc="-10" dirty="0">
                <a:latin typeface="Corbel"/>
                <a:cs typeface="Corbel"/>
              </a:rPr>
              <a:t>e</a:t>
            </a:r>
            <a:r>
              <a:rPr sz="1100" b="1" spc="-5" dirty="0">
                <a:latin typeface="Corbel"/>
                <a:cs typeface="Corbel"/>
              </a:rPr>
              <a:t>m</a:t>
            </a:r>
            <a:r>
              <a:rPr sz="1100" b="1" dirty="0">
                <a:latin typeface="Corbel"/>
                <a:cs typeface="Corbel"/>
              </a:rPr>
              <a:t>i</a:t>
            </a:r>
            <a:r>
              <a:rPr sz="1100" b="1" spc="5" dirty="0">
                <a:latin typeface="Corbel"/>
                <a:cs typeface="Corbel"/>
              </a:rPr>
              <a:t>c</a:t>
            </a:r>
            <a:r>
              <a:rPr sz="1100" b="1" spc="-5" dirty="0">
                <a:latin typeface="Corbel"/>
                <a:cs typeface="Corbel"/>
              </a:rPr>
              <a:t>a</a:t>
            </a:r>
            <a:r>
              <a:rPr sz="1100" b="1" dirty="0">
                <a:latin typeface="Corbel"/>
                <a:cs typeface="Corbel"/>
              </a:rPr>
              <a:t>l</a:t>
            </a:r>
            <a:r>
              <a:rPr sz="1100" b="1" spc="-1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Equilib</a:t>
            </a:r>
            <a:r>
              <a:rPr sz="1100" b="1" spc="-10" dirty="0">
                <a:latin typeface="Corbel"/>
                <a:cs typeface="Corbel"/>
              </a:rPr>
              <a:t>r</a:t>
            </a:r>
            <a:r>
              <a:rPr sz="1100" b="1" dirty="0">
                <a:latin typeface="Corbel"/>
                <a:cs typeface="Corbel"/>
              </a:rPr>
              <a:t>iu</a:t>
            </a:r>
            <a:r>
              <a:rPr sz="1100" b="1" spc="-10" dirty="0">
                <a:latin typeface="Corbel"/>
                <a:cs typeface="Corbel"/>
              </a:rPr>
              <a:t>m</a:t>
            </a:r>
            <a:r>
              <a:rPr sz="1100" b="1" dirty="0">
                <a:latin typeface="Corbel"/>
                <a:cs typeface="Corbel"/>
              </a:rPr>
              <a:t>:</a:t>
            </a:r>
            <a:endParaRPr sz="1100">
              <a:latin typeface="Corbel"/>
              <a:cs typeface="Corbel"/>
            </a:endParaRPr>
          </a:p>
          <a:p>
            <a:pPr marL="12700" marR="5080" algn="just">
              <a:lnSpc>
                <a:spcPct val="113599"/>
              </a:lnSpc>
            </a:pPr>
            <a:r>
              <a:rPr sz="1100" dirty="0">
                <a:latin typeface="Corbel"/>
                <a:cs typeface="Corbel"/>
              </a:rPr>
              <a:t>A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in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chemical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equilibrium</a:t>
            </a:r>
            <a:r>
              <a:rPr sz="1100" spc="2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if</a:t>
            </a:r>
            <a:r>
              <a:rPr sz="1100" spc="2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its</a:t>
            </a:r>
            <a:r>
              <a:rPr sz="1100" spc="2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chemical 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composition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does</a:t>
            </a:r>
            <a:r>
              <a:rPr sz="1100" dirty="0">
                <a:latin typeface="Corbel"/>
                <a:cs typeface="Corbel"/>
              </a:rPr>
              <a:t> not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change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with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time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and</a:t>
            </a:r>
            <a:r>
              <a:rPr sz="1100" dirty="0">
                <a:latin typeface="Corbel"/>
                <a:cs typeface="Corbel"/>
              </a:rPr>
              <a:t> no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chemical 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reaction</a:t>
            </a:r>
            <a:r>
              <a:rPr sz="1100" spc="-10" dirty="0">
                <a:latin typeface="Corbel"/>
                <a:cs typeface="Corbel"/>
              </a:rPr>
              <a:t> takes</a:t>
            </a:r>
            <a:r>
              <a:rPr sz="1100" spc="-5" dirty="0">
                <a:latin typeface="Corbel"/>
                <a:cs typeface="Corbel"/>
              </a:rPr>
              <a:t> place in</a:t>
            </a:r>
            <a:r>
              <a:rPr sz="1100" dirty="0">
                <a:latin typeface="Corbel"/>
                <a:cs typeface="Corbel"/>
              </a:rPr>
              <a:t> the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system.</a:t>
            </a:r>
            <a:endParaRPr sz="11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Corbel"/>
              <a:cs typeface="Corbel"/>
            </a:endParaRPr>
          </a:p>
          <a:p>
            <a:pPr marL="557530">
              <a:lnSpc>
                <a:spcPct val="100000"/>
              </a:lnSpc>
              <a:tabLst>
                <a:tab pos="1104900" algn="l"/>
                <a:tab pos="2456815" algn="l"/>
                <a:tab pos="3168650" algn="l"/>
              </a:tabLst>
            </a:pPr>
            <a:r>
              <a:rPr sz="900" dirty="0">
                <a:latin typeface="Corbel"/>
                <a:cs typeface="Corbel"/>
              </a:rPr>
              <a:t>C	O2	</a:t>
            </a:r>
            <a:r>
              <a:rPr sz="900" spc="-5" dirty="0">
                <a:latin typeface="Corbel"/>
                <a:cs typeface="Corbel"/>
              </a:rPr>
              <a:t>CO2	CO2</a:t>
            </a:r>
            <a:endParaRPr sz="9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17109" y="2824353"/>
            <a:ext cx="2222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orbel"/>
                <a:cs typeface="Corbel"/>
              </a:rPr>
              <a:t>CO2</a:t>
            </a:r>
            <a:endParaRPr sz="90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06211" y="2824353"/>
            <a:ext cx="2222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orbel"/>
                <a:cs typeface="Corbel"/>
              </a:rPr>
              <a:t>CO2</a:t>
            </a:r>
            <a:endParaRPr sz="900">
              <a:latin typeface="Corbel"/>
              <a:cs typeface="Corbe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17109" y="3510534"/>
            <a:ext cx="2222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orbel"/>
                <a:cs typeface="Corbel"/>
              </a:rPr>
              <a:t>CO2</a:t>
            </a:r>
            <a:endParaRPr sz="9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06211" y="3510534"/>
            <a:ext cx="2222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Corbel"/>
                <a:cs typeface="Corbel"/>
              </a:rPr>
              <a:t>CO2</a:t>
            </a:r>
            <a:endParaRPr sz="900">
              <a:latin typeface="Corbel"/>
              <a:cs typeface="Corbe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3555" y="3919728"/>
            <a:ext cx="1431036" cy="22250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5632" y="3890771"/>
            <a:ext cx="1179576" cy="251460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349245" y="5362168"/>
            <a:ext cx="3592829" cy="978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080" indent="-91440" algn="just">
              <a:lnSpc>
                <a:spcPct val="113599"/>
              </a:lnSpc>
              <a:spcBef>
                <a:spcPts val="100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204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latin typeface="Corbel"/>
                <a:cs typeface="Corbel"/>
              </a:rPr>
              <a:t>Quasi </a:t>
            </a:r>
            <a:r>
              <a:rPr sz="1100" dirty="0">
                <a:latin typeface="Corbel"/>
                <a:cs typeface="Corbel"/>
              </a:rPr>
              <a:t>means </a:t>
            </a:r>
            <a:r>
              <a:rPr sz="1100" b="1" spc="-5" dirty="0">
                <a:latin typeface="Corbel"/>
                <a:cs typeface="Corbel"/>
              </a:rPr>
              <a:t>almost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and </a:t>
            </a:r>
            <a:r>
              <a:rPr sz="1100" b="1" dirty="0">
                <a:latin typeface="Corbel"/>
                <a:cs typeface="Corbel"/>
              </a:rPr>
              <a:t>static </a:t>
            </a:r>
            <a:r>
              <a:rPr sz="1100" spc="-5" dirty="0">
                <a:latin typeface="Corbel"/>
                <a:cs typeface="Corbel"/>
              </a:rPr>
              <a:t>mean </a:t>
            </a:r>
            <a:r>
              <a:rPr sz="1100" b="1" spc="-5" dirty="0">
                <a:latin typeface="Corbel"/>
                <a:cs typeface="Corbel"/>
              </a:rPr>
              <a:t>too slow </a:t>
            </a:r>
            <a:r>
              <a:rPr sz="1100" b="1" dirty="0">
                <a:latin typeface="Corbel"/>
                <a:cs typeface="Corbel"/>
              </a:rPr>
              <a:t>or </a:t>
            </a:r>
            <a:r>
              <a:rPr sz="1100" b="1" spc="-5" dirty="0">
                <a:latin typeface="Corbel"/>
                <a:cs typeface="Corbel"/>
              </a:rPr>
              <a:t>infinitely 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10" dirty="0">
                <a:latin typeface="Corbel"/>
                <a:cs typeface="Corbel"/>
              </a:rPr>
              <a:t>slow.</a:t>
            </a:r>
            <a:endParaRPr sz="1100">
              <a:latin typeface="Corbel"/>
              <a:cs typeface="Corbel"/>
            </a:endParaRPr>
          </a:p>
          <a:p>
            <a:pPr marL="104139" marR="5080" indent="-91440" algn="just">
              <a:lnSpc>
                <a:spcPct val="113700"/>
              </a:lnSpc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Corbel"/>
                <a:cs typeface="Corbel"/>
              </a:rPr>
              <a:t>When  </a:t>
            </a:r>
            <a:r>
              <a:rPr sz="1100" spc="-90" dirty="0">
                <a:latin typeface="Corbel"/>
                <a:cs typeface="Corbel"/>
              </a:rPr>
              <a:t> </a:t>
            </a:r>
            <a:r>
              <a:rPr sz="1100" spc="-10" dirty="0">
                <a:latin typeface="Corbel"/>
                <a:cs typeface="Corbel"/>
              </a:rPr>
              <a:t>P</a:t>
            </a:r>
            <a:r>
              <a:rPr sz="1100" dirty="0">
                <a:latin typeface="Corbel"/>
                <a:cs typeface="Corbel"/>
              </a:rPr>
              <a:t>ro</a:t>
            </a:r>
            <a:r>
              <a:rPr sz="1100" spc="-15" dirty="0">
                <a:latin typeface="Corbel"/>
                <a:cs typeface="Corbel"/>
              </a:rPr>
              <a:t>c</a:t>
            </a:r>
            <a:r>
              <a:rPr sz="1100" dirty="0">
                <a:latin typeface="Corbel"/>
                <a:cs typeface="Corbel"/>
              </a:rPr>
              <a:t>ess  </a:t>
            </a:r>
            <a:r>
              <a:rPr sz="1100" spc="-100" dirty="0">
                <a:latin typeface="Corbel"/>
                <a:cs typeface="Corbel"/>
              </a:rPr>
              <a:t> </a:t>
            </a:r>
            <a:r>
              <a:rPr sz="1100" spc="-10" dirty="0">
                <a:latin typeface="Corbel"/>
                <a:cs typeface="Corbel"/>
              </a:rPr>
              <a:t>p</a:t>
            </a:r>
            <a:r>
              <a:rPr sz="1100" dirty="0">
                <a:latin typeface="Corbel"/>
                <a:cs typeface="Corbel"/>
              </a:rPr>
              <a:t>roceeds  </a:t>
            </a:r>
            <a:r>
              <a:rPr sz="1100" spc="-100" dirty="0">
                <a:latin typeface="Corbel"/>
                <a:cs typeface="Corbel"/>
              </a:rPr>
              <a:t> </a:t>
            </a:r>
            <a:r>
              <a:rPr sz="1100" spc="-20" dirty="0">
                <a:latin typeface="Corbel"/>
                <a:cs typeface="Corbel"/>
              </a:rPr>
              <a:t>i</a:t>
            </a:r>
            <a:r>
              <a:rPr sz="1100" dirty="0">
                <a:latin typeface="Corbel"/>
                <a:cs typeface="Corbel"/>
              </a:rPr>
              <a:t>n  </a:t>
            </a:r>
            <a:r>
              <a:rPr sz="1100" spc="-9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suc</a:t>
            </a:r>
            <a:r>
              <a:rPr sz="1100" dirty="0">
                <a:latin typeface="Corbel"/>
                <a:cs typeface="Corbel"/>
              </a:rPr>
              <a:t>h  </a:t>
            </a:r>
            <a:r>
              <a:rPr sz="1100" spc="-1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  </a:t>
            </a:r>
            <a:r>
              <a:rPr sz="1100" spc="-1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way  </a:t>
            </a:r>
            <a:r>
              <a:rPr sz="1100" spc="-1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tha</a:t>
            </a:r>
            <a:r>
              <a:rPr sz="1100" dirty="0">
                <a:latin typeface="Corbel"/>
                <a:cs typeface="Corbel"/>
              </a:rPr>
              <a:t>t  </a:t>
            </a:r>
            <a:r>
              <a:rPr sz="1100" spc="-1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  </a:t>
            </a:r>
            <a:r>
              <a:rPr sz="1100" spc="-100" dirty="0">
                <a:latin typeface="Corbel"/>
                <a:cs typeface="Corbel"/>
              </a:rPr>
              <a:t> </a:t>
            </a:r>
            <a:r>
              <a:rPr sz="1100" spc="-15" dirty="0">
                <a:latin typeface="Corbel"/>
                <a:cs typeface="Corbel"/>
              </a:rPr>
              <a:t>s</a:t>
            </a:r>
            <a:r>
              <a:rPr sz="1100" dirty="0">
                <a:latin typeface="Corbel"/>
                <a:cs typeface="Corbel"/>
              </a:rPr>
              <a:t>y</a:t>
            </a:r>
            <a:r>
              <a:rPr sz="1100" spc="-5" dirty="0">
                <a:latin typeface="Corbel"/>
                <a:cs typeface="Corbel"/>
              </a:rPr>
              <a:t>stem  </a:t>
            </a:r>
            <a:r>
              <a:rPr sz="1100" dirty="0">
                <a:latin typeface="Corbel"/>
                <a:cs typeface="Corbel"/>
              </a:rPr>
              <a:t>remains </a:t>
            </a:r>
            <a:r>
              <a:rPr sz="1100" spc="-5" dirty="0">
                <a:latin typeface="Corbel"/>
                <a:cs typeface="Corbel"/>
              </a:rPr>
              <a:t>close </a:t>
            </a:r>
            <a:r>
              <a:rPr sz="1100" dirty="0">
                <a:latin typeface="Corbel"/>
                <a:cs typeface="Corbel"/>
              </a:rPr>
              <a:t>to a </a:t>
            </a:r>
            <a:r>
              <a:rPr sz="1100" spc="-5" dirty="0">
                <a:latin typeface="Corbel"/>
                <a:cs typeface="Corbel"/>
              </a:rPr>
              <a:t>thermodynamic </a:t>
            </a:r>
            <a:r>
              <a:rPr sz="1100" dirty="0">
                <a:latin typeface="Corbel"/>
                <a:cs typeface="Corbel"/>
              </a:rPr>
              <a:t>equilibrium </a:t>
            </a:r>
            <a:r>
              <a:rPr sz="1100" spc="-5" dirty="0">
                <a:latin typeface="Corbel"/>
                <a:cs typeface="Corbel"/>
              </a:rPr>
              <a:t>state </a:t>
            </a:r>
            <a:r>
              <a:rPr sz="1100" dirty="0">
                <a:latin typeface="Corbel"/>
                <a:cs typeface="Corbel"/>
              </a:rPr>
              <a:t>at </a:t>
            </a:r>
            <a:r>
              <a:rPr sz="1100" spc="-5" dirty="0">
                <a:latin typeface="Corbel"/>
                <a:cs typeface="Corbel"/>
              </a:rPr>
              <a:t>all 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times, it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known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Quasi</a:t>
            </a:r>
            <a:r>
              <a:rPr sz="1100" b="1" dirty="0">
                <a:latin typeface="Corbel"/>
                <a:cs typeface="Corbel"/>
              </a:rPr>
              <a:t> –</a:t>
            </a:r>
            <a:r>
              <a:rPr sz="1100" b="1" spc="-3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Static</a:t>
            </a:r>
            <a:r>
              <a:rPr sz="1100" b="1" spc="1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process</a:t>
            </a:r>
            <a:r>
              <a:rPr sz="1100" dirty="0">
                <a:latin typeface="Corbel"/>
                <a:cs typeface="Corbel"/>
              </a:rPr>
              <a:t>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2349245" y="6487806"/>
            <a:ext cx="2483485" cy="8407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Corbel"/>
                <a:cs typeface="Corbel"/>
              </a:rPr>
              <a:t>E</a:t>
            </a:r>
            <a:r>
              <a:rPr sz="1100" spc="-5" dirty="0">
                <a:latin typeface="Corbel"/>
                <a:cs typeface="Corbel"/>
              </a:rPr>
              <a:t>xampl</a:t>
            </a:r>
            <a:r>
              <a:rPr sz="1100" dirty="0">
                <a:latin typeface="Corbel"/>
                <a:cs typeface="Corbel"/>
              </a:rPr>
              <a:t>es:</a:t>
            </a:r>
            <a:endParaRPr sz="1100">
              <a:latin typeface="Corbel"/>
              <a:cs typeface="Corbel"/>
            </a:endParaRPr>
          </a:p>
          <a:p>
            <a:pPr marL="264160">
              <a:lnSpc>
                <a:spcPct val="100000"/>
              </a:lnSpc>
              <a:spcBef>
                <a:spcPts val="280"/>
              </a:spcBef>
            </a:pPr>
            <a:r>
              <a:rPr sz="1000" spc="-64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000" spc="9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latin typeface="Corbel"/>
                <a:cs typeface="Corbel"/>
              </a:rPr>
              <a:t>I</a:t>
            </a:r>
            <a:r>
              <a:rPr sz="1000" spc="-5" dirty="0">
                <a:latin typeface="Corbel"/>
                <a:cs typeface="Corbel"/>
              </a:rPr>
              <a:t>s</a:t>
            </a:r>
            <a:r>
              <a:rPr sz="1000" spc="-10" dirty="0">
                <a:latin typeface="Corbel"/>
                <a:cs typeface="Corbel"/>
              </a:rPr>
              <a:t>o</a:t>
            </a:r>
            <a:r>
              <a:rPr sz="1000" spc="-5" dirty="0">
                <a:latin typeface="Corbel"/>
                <a:cs typeface="Corbel"/>
              </a:rPr>
              <a:t>-</a:t>
            </a:r>
            <a:r>
              <a:rPr sz="1000" spc="-10" dirty="0">
                <a:latin typeface="Corbel"/>
                <a:cs typeface="Corbel"/>
              </a:rPr>
              <a:t>the</a:t>
            </a:r>
            <a:r>
              <a:rPr sz="1000" spc="-5" dirty="0">
                <a:latin typeface="Corbel"/>
                <a:cs typeface="Corbel"/>
              </a:rPr>
              <a:t>rmal</a:t>
            </a:r>
            <a:r>
              <a:rPr sz="1000" spc="15" dirty="0">
                <a:latin typeface="Corbel"/>
                <a:cs typeface="Corbel"/>
              </a:rPr>
              <a:t> </a:t>
            </a:r>
            <a:r>
              <a:rPr sz="1000" spc="-5" dirty="0">
                <a:latin typeface="Corbel"/>
                <a:cs typeface="Corbel"/>
              </a:rPr>
              <a:t>pro</a:t>
            </a:r>
            <a:r>
              <a:rPr sz="1000" spc="-15" dirty="0">
                <a:latin typeface="Corbel"/>
                <a:cs typeface="Corbel"/>
              </a:rPr>
              <a:t>c</a:t>
            </a:r>
            <a:r>
              <a:rPr sz="1000" spc="-10" dirty="0">
                <a:latin typeface="Corbel"/>
                <a:cs typeface="Corbel"/>
              </a:rPr>
              <a:t>e</a:t>
            </a:r>
            <a:r>
              <a:rPr sz="1000" spc="-5" dirty="0">
                <a:latin typeface="Corbel"/>
                <a:cs typeface="Corbel"/>
              </a:rPr>
              <a:t>ss</a:t>
            </a:r>
            <a:r>
              <a:rPr sz="1000" spc="20" dirty="0">
                <a:latin typeface="Corbel"/>
                <a:cs typeface="Corbel"/>
              </a:rPr>
              <a:t> </a:t>
            </a:r>
            <a:r>
              <a:rPr sz="1000" spc="-5" dirty="0">
                <a:latin typeface="Corbel"/>
                <a:cs typeface="Corbel"/>
              </a:rPr>
              <a:t>:</a:t>
            </a:r>
            <a:r>
              <a:rPr sz="1000" dirty="0">
                <a:latin typeface="Corbel"/>
                <a:cs typeface="Corbel"/>
              </a:rPr>
              <a:t> </a:t>
            </a:r>
            <a:r>
              <a:rPr sz="1000" spc="-5" dirty="0">
                <a:latin typeface="Corbel"/>
                <a:cs typeface="Corbel"/>
              </a:rPr>
              <a:t>(</a:t>
            </a:r>
            <a:r>
              <a:rPr sz="1000" spc="-65" dirty="0">
                <a:latin typeface="Corbel"/>
                <a:cs typeface="Corbel"/>
              </a:rPr>
              <a:t>T</a:t>
            </a:r>
            <a:r>
              <a:rPr sz="1000" spc="-10" dirty="0">
                <a:latin typeface="Corbel"/>
                <a:cs typeface="Corbel"/>
              </a:rPr>
              <a:t>e</a:t>
            </a:r>
            <a:r>
              <a:rPr sz="1000" spc="-5" dirty="0">
                <a:latin typeface="Corbel"/>
                <a:cs typeface="Corbel"/>
              </a:rPr>
              <a:t>mp.</a:t>
            </a:r>
            <a:r>
              <a:rPr sz="1000" spc="15" dirty="0">
                <a:latin typeface="Corbel"/>
                <a:cs typeface="Corbel"/>
              </a:rPr>
              <a:t> </a:t>
            </a:r>
            <a:r>
              <a:rPr sz="1000" spc="-10" dirty="0">
                <a:latin typeface="Corbel"/>
                <a:cs typeface="Corbel"/>
              </a:rPr>
              <a:t>i</a:t>
            </a:r>
            <a:r>
              <a:rPr sz="1000" spc="-5" dirty="0">
                <a:latin typeface="Corbel"/>
                <a:cs typeface="Corbel"/>
              </a:rPr>
              <a:t>s </a:t>
            </a:r>
            <a:r>
              <a:rPr sz="1000" spc="-10" dirty="0">
                <a:latin typeface="Corbel"/>
                <a:cs typeface="Corbel"/>
              </a:rPr>
              <a:t>con</a:t>
            </a:r>
            <a:r>
              <a:rPr sz="1000" spc="-5" dirty="0">
                <a:latin typeface="Corbel"/>
                <a:cs typeface="Corbel"/>
              </a:rPr>
              <a:t>s</a:t>
            </a:r>
            <a:r>
              <a:rPr sz="1000" spc="-10" dirty="0">
                <a:latin typeface="Corbel"/>
                <a:cs typeface="Corbel"/>
              </a:rPr>
              <a:t>t</a:t>
            </a:r>
            <a:r>
              <a:rPr sz="1000" spc="-5" dirty="0">
                <a:latin typeface="Corbel"/>
                <a:cs typeface="Corbel"/>
              </a:rPr>
              <a:t>an</a:t>
            </a:r>
            <a:r>
              <a:rPr sz="1000" spc="-10" dirty="0">
                <a:latin typeface="Corbel"/>
                <a:cs typeface="Corbel"/>
              </a:rPr>
              <a:t>t)</a:t>
            </a:r>
            <a:endParaRPr sz="1000">
              <a:latin typeface="Corbel"/>
              <a:cs typeface="Corbel"/>
            </a:endParaRPr>
          </a:p>
          <a:p>
            <a:pPr marL="264160">
              <a:lnSpc>
                <a:spcPct val="100000"/>
              </a:lnSpc>
              <a:spcBef>
                <a:spcPts val="445"/>
              </a:spcBef>
            </a:pPr>
            <a:r>
              <a:rPr sz="1000" spc="-64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000" spc="9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latin typeface="Corbel"/>
                <a:cs typeface="Corbel"/>
              </a:rPr>
              <a:t>I</a:t>
            </a:r>
            <a:r>
              <a:rPr sz="1000" spc="-5" dirty="0">
                <a:latin typeface="Corbel"/>
                <a:cs typeface="Corbel"/>
              </a:rPr>
              <a:t>s</a:t>
            </a:r>
            <a:r>
              <a:rPr sz="1000" spc="-10" dirty="0">
                <a:latin typeface="Corbel"/>
                <a:cs typeface="Corbel"/>
              </a:rPr>
              <a:t>o</a:t>
            </a:r>
            <a:r>
              <a:rPr sz="1000" spc="-5" dirty="0">
                <a:latin typeface="Corbel"/>
                <a:cs typeface="Corbel"/>
              </a:rPr>
              <a:t>-</a:t>
            </a:r>
            <a:r>
              <a:rPr sz="1000" spc="-15" dirty="0">
                <a:latin typeface="Corbel"/>
                <a:cs typeface="Corbel"/>
              </a:rPr>
              <a:t>b</a:t>
            </a:r>
            <a:r>
              <a:rPr sz="1000" spc="-5" dirty="0">
                <a:latin typeface="Corbel"/>
                <a:cs typeface="Corbel"/>
              </a:rPr>
              <a:t>aric</a:t>
            </a:r>
            <a:r>
              <a:rPr sz="1000" spc="10" dirty="0">
                <a:latin typeface="Corbel"/>
                <a:cs typeface="Corbel"/>
              </a:rPr>
              <a:t> </a:t>
            </a:r>
            <a:r>
              <a:rPr sz="1000" spc="-5" dirty="0">
                <a:latin typeface="Corbel"/>
                <a:cs typeface="Corbel"/>
              </a:rPr>
              <a:t>pro</a:t>
            </a:r>
            <a:r>
              <a:rPr sz="1000" spc="-15" dirty="0">
                <a:latin typeface="Corbel"/>
                <a:cs typeface="Corbel"/>
              </a:rPr>
              <a:t>c</a:t>
            </a:r>
            <a:r>
              <a:rPr sz="1000" spc="-10" dirty="0">
                <a:latin typeface="Corbel"/>
                <a:cs typeface="Corbel"/>
              </a:rPr>
              <a:t>e</a:t>
            </a:r>
            <a:r>
              <a:rPr sz="1000" spc="-5" dirty="0">
                <a:latin typeface="Corbel"/>
                <a:cs typeface="Corbel"/>
              </a:rPr>
              <a:t>ss</a:t>
            </a:r>
            <a:r>
              <a:rPr sz="1000" spc="20" dirty="0">
                <a:latin typeface="Corbel"/>
                <a:cs typeface="Corbel"/>
              </a:rPr>
              <a:t> </a:t>
            </a:r>
            <a:r>
              <a:rPr sz="1000" spc="-5" dirty="0">
                <a:latin typeface="Corbel"/>
                <a:cs typeface="Corbel"/>
              </a:rPr>
              <a:t>:</a:t>
            </a:r>
            <a:r>
              <a:rPr sz="1000" dirty="0">
                <a:latin typeface="Corbel"/>
                <a:cs typeface="Corbel"/>
              </a:rPr>
              <a:t> </a:t>
            </a:r>
            <a:r>
              <a:rPr sz="1000" spc="-5" dirty="0">
                <a:latin typeface="Corbel"/>
                <a:cs typeface="Corbel"/>
              </a:rPr>
              <a:t>(Pr</a:t>
            </a:r>
            <a:r>
              <a:rPr sz="1000" spc="-10" dirty="0">
                <a:latin typeface="Corbel"/>
                <a:cs typeface="Corbel"/>
              </a:rPr>
              <a:t>e</a:t>
            </a:r>
            <a:r>
              <a:rPr sz="1000" spc="-5" dirty="0">
                <a:latin typeface="Corbel"/>
                <a:cs typeface="Corbel"/>
              </a:rPr>
              <a:t>ssure</a:t>
            </a:r>
            <a:r>
              <a:rPr sz="1000" spc="15" dirty="0">
                <a:latin typeface="Corbel"/>
                <a:cs typeface="Corbel"/>
              </a:rPr>
              <a:t> </a:t>
            </a:r>
            <a:r>
              <a:rPr sz="1000" spc="-10" dirty="0">
                <a:latin typeface="Corbel"/>
                <a:cs typeface="Corbel"/>
              </a:rPr>
              <a:t>i</a:t>
            </a:r>
            <a:r>
              <a:rPr sz="1000" spc="-5" dirty="0">
                <a:latin typeface="Corbel"/>
                <a:cs typeface="Corbel"/>
              </a:rPr>
              <a:t>s</a:t>
            </a:r>
            <a:r>
              <a:rPr sz="1000" spc="5" dirty="0">
                <a:latin typeface="Corbel"/>
                <a:cs typeface="Corbel"/>
              </a:rPr>
              <a:t> </a:t>
            </a:r>
            <a:r>
              <a:rPr sz="1000" spc="-10" dirty="0">
                <a:latin typeface="Corbel"/>
                <a:cs typeface="Corbel"/>
              </a:rPr>
              <a:t>con</a:t>
            </a:r>
            <a:r>
              <a:rPr sz="1000" spc="-5" dirty="0">
                <a:latin typeface="Corbel"/>
                <a:cs typeface="Corbel"/>
              </a:rPr>
              <a:t>s</a:t>
            </a:r>
            <a:r>
              <a:rPr sz="1000" spc="-10" dirty="0">
                <a:latin typeface="Corbel"/>
                <a:cs typeface="Corbel"/>
              </a:rPr>
              <a:t>t</a:t>
            </a:r>
            <a:r>
              <a:rPr sz="1000" spc="-5" dirty="0">
                <a:latin typeface="Corbel"/>
                <a:cs typeface="Corbel"/>
              </a:rPr>
              <a:t>an</a:t>
            </a:r>
            <a:r>
              <a:rPr sz="1000" spc="-10" dirty="0">
                <a:latin typeface="Corbel"/>
                <a:cs typeface="Corbel"/>
              </a:rPr>
              <a:t>t)</a:t>
            </a:r>
            <a:endParaRPr sz="1000">
              <a:latin typeface="Corbel"/>
              <a:cs typeface="Corbel"/>
            </a:endParaRPr>
          </a:p>
          <a:p>
            <a:pPr marL="264160">
              <a:lnSpc>
                <a:spcPct val="100000"/>
              </a:lnSpc>
              <a:spcBef>
                <a:spcPts val="455"/>
              </a:spcBef>
            </a:pPr>
            <a:r>
              <a:rPr sz="1000" spc="-64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000" spc="9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latin typeface="Corbel"/>
                <a:cs typeface="Corbel"/>
              </a:rPr>
              <a:t>I</a:t>
            </a:r>
            <a:r>
              <a:rPr sz="1000" spc="-5" dirty="0">
                <a:latin typeface="Corbel"/>
                <a:cs typeface="Corbel"/>
              </a:rPr>
              <a:t>s</a:t>
            </a:r>
            <a:r>
              <a:rPr sz="1000" spc="-10" dirty="0">
                <a:latin typeface="Corbel"/>
                <a:cs typeface="Corbel"/>
              </a:rPr>
              <a:t>o</a:t>
            </a:r>
            <a:r>
              <a:rPr sz="1000" spc="-5" dirty="0">
                <a:latin typeface="Corbel"/>
                <a:cs typeface="Corbel"/>
              </a:rPr>
              <a:t>-</a:t>
            </a:r>
            <a:r>
              <a:rPr sz="1000" spc="-10" dirty="0">
                <a:latin typeface="Corbel"/>
                <a:cs typeface="Corbel"/>
              </a:rPr>
              <a:t>ch</a:t>
            </a:r>
            <a:r>
              <a:rPr sz="1000" spc="-15" dirty="0">
                <a:latin typeface="Corbel"/>
                <a:cs typeface="Corbel"/>
              </a:rPr>
              <a:t>o</a:t>
            </a:r>
            <a:r>
              <a:rPr sz="1000" spc="-5" dirty="0">
                <a:latin typeface="Corbel"/>
                <a:cs typeface="Corbel"/>
              </a:rPr>
              <a:t>ric</a:t>
            </a:r>
            <a:r>
              <a:rPr sz="1000" spc="20" dirty="0">
                <a:latin typeface="Corbel"/>
                <a:cs typeface="Corbel"/>
              </a:rPr>
              <a:t> </a:t>
            </a:r>
            <a:r>
              <a:rPr sz="1000" spc="-5" dirty="0">
                <a:latin typeface="Corbel"/>
                <a:cs typeface="Corbel"/>
              </a:rPr>
              <a:t>pro</a:t>
            </a:r>
            <a:r>
              <a:rPr sz="1000" spc="-15" dirty="0">
                <a:latin typeface="Corbel"/>
                <a:cs typeface="Corbel"/>
              </a:rPr>
              <a:t>c</a:t>
            </a:r>
            <a:r>
              <a:rPr sz="1000" spc="-10" dirty="0">
                <a:latin typeface="Corbel"/>
                <a:cs typeface="Corbel"/>
              </a:rPr>
              <a:t>e</a:t>
            </a:r>
            <a:r>
              <a:rPr sz="1000" spc="-5" dirty="0">
                <a:latin typeface="Corbel"/>
                <a:cs typeface="Corbel"/>
              </a:rPr>
              <a:t>ss:</a:t>
            </a:r>
            <a:r>
              <a:rPr sz="1000" spc="15" dirty="0">
                <a:latin typeface="Corbel"/>
                <a:cs typeface="Corbel"/>
              </a:rPr>
              <a:t> </a:t>
            </a:r>
            <a:r>
              <a:rPr sz="1000" spc="-5" dirty="0">
                <a:latin typeface="Corbel"/>
                <a:cs typeface="Corbel"/>
              </a:rPr>
              <a:t>(</a:t>
            </a:r>
            <a:r>
              <a:rPr sz="1000" spc="-45" dirty="0">
                <a:latin typeface="Corbel"/>
                <a:cs typeface="Corbel"/>
              </a:rPr>
              <a:t>V</a:t>
            </a:r>
            <a:r>
              <a:rPr sz="1000" spc="-10" dirty="0">
                <a:latin typeface="Corbel"/>
                <a:cs typeface="Corbel"/>
              </a:rPr>
              <a:t>o</a:t>
            </a:r>
            <a:r>
              <a:rPr sz="1000" spc="-15" dirty="0">
                <a:latin typeface="Corbel"/>
                <a:cs typeface="Corbel"/>
              </a:rPr>
              <a:t>l</a:t>
            </a:r>
            <a:r>
              <a:rPr sz="1000" spc="-5" dirty="0">
                <a:latin typeface="Corbel"/>
                <a:cs typeface="Corbel"/>
              </a:rPr>
              <a:t>ume</a:t>
            </a:r>
            <a:r>
              <a:rPr sz="1000" spc="15" dirty="0">
                <a:latin typeface="Corbel"/>
                <a:cs typeface="Corbel"/>
              </a:rPr>
              <a:t> </a:t>
            </a:r>
            <a:r>
              <a:rPr sz="1000" spc="-10" dirty="0">
                <a:latin typeface="Corbel"/>
                <a:cs typeface="Corbel"/>
              </a:rPr>
              <a:t>i</a:t>
            </a:r>
            <a:r>
              <a:rPr sz="1000" spc="-5" dirty="0">
                <a:latin typeface="Corbel"/>
                <a:cs typeface="Corbel"/>
              </a:rPr>
              <a:t>s</a:t>
            </a:r>
            <a:r>
              <a:rPr sz="1000" spc="5" dirty="0">
                <a:latin typeface="Corbel"/>
                <a:cs typeface="Corbel"/>
              </a:rPr>
              <a:t> </a:t>
            </a:r>
            <a:r>
              <a:rPr sz="1000" spc="-10" dirty="0">
                <a:latin typeface="Corbel"/>
                <a:cs typeface="Corbel"/>
              </a:rPr>
              <a:t>con</a:t>
            </a:r>
            <a:r>
              <a:rPr sz="1000" spc="-5" dirty="0">
                <a:latin typeface="Corbel"/>
                <a:cs typeface="Corbel"/>
              </a:rPr>
              <a:t>s</a:t>
            </a:r>
            <a:r>
              <a:rPr sz="1000" spc="-10" dirty="0">
                <a:latin typeface="Corbel"/>
                <a:cs typeface="Corbel"/>
              </a:rPr>
              <a:t>t</a:t>
            </a:r>
            <a:r>
              <a:rPr sz="1000" spc="-5" dirty="0">
                <a:latin typeface="Corbel"/>
                <a:cs typeface="Corbel"/>
              </a:rPr>
              <a:t>an</a:t>
            </a:r>
            <a:r>
              <a:rPr sz="1000" spc="-10" dirty="0">
                <a:latin typeface="Corbel"/>
                <a:cs typeface="Corbel"/>
              </a:rPr>
              <a:t>t)</a:t>
            </a:r>
            <a:endParaRPr sz="1000">
              <a:latin typeface="Corbel"/>
              <a:cs typeface="Corbe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/>
              <a:cs typeface="Times New Roman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Quasi–static</a:t>
            </a:r>
            <a:endParaRPr sz="1800">
              <a:latin typeface="Corbel"/>
              <a:cs typeface="Corbel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process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marL="45720" marR="456565">
              <a:lnSpc>
                <a:spcPts val="1939"/>
              </a:lnSpc>
              <a:spcBef>
                <a:spcPts val="5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Qu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–</a:t>
            </a:r>
            <a:r>
              <a:rPr sz="1800" spc="-6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c 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process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8548" y="1255775"/>
            <a:ext cx="4314444" cy="266547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/>
              <a:cs typeface="Times New Roman"/>
            </a:endParaRPr>
          </a:p>
          <a:p>
            <a:pPr marL="45720">
              <a:lnSpc>
                <a:spcPts val="2055"/>
              </a:lnSpc>
            </a:pP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Q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u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–</a:t>
            </a:r>
            <a:r>
              <a:rPr sz="1800" spc="-6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endParaRPr sz="1800">
              <a:latin typeface="Corbel"/>
              <a:cs typeface="Corbel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process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4562" y="5506211"/>
            <a:ext cx="3904137" cy="235305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49245" y="1509115"/>
            <a:ext cx="359537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080" indent="-91440">
              <a:lnSpc>
                <a:spcPct val="113599"/>
              </a:lnSpc>
              <a:spcBef>
                <a:spcPts val="100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1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Corbel"/>
                <a:cs typeface="Corbel"/>
              </a:rPr>
              <a:t>Heat</a:t>
            </a:r>
            <a:r>
              <a:rPr sz="1100" spc="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defined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as</a:t>
            </a:r>
            <a:r>
              <a:rPr sz="1100" spc="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form</a:t>
            </a:r>
            <a:r>
              <a:rPr sz="1100" spc="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spc="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energy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that</a:t>
            </a:r>
            <a:r>
              <a:rPr sz="1100" spc="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transferred 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between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two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by </a:t>
            </a:r>
            <a:r>
              <a:rPr sz="1100" dirty="0">
                <a:latin typeface="Corbel"/>
                <a:cs typeface="Corbel"/>
              </a:rPr>
              <a:t>virtue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 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temperature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difference.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49245" y="2079941"/>
            <a:ext cx="3593465" cy="78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080" indent="-91440" algn="just">
              <a:lnSpc>
                <a:spcPct val="113700"/>
              </a:lnSpc>
              <a:spcBef>
                <a:spcPts val="100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204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Corbel"/>
                <a:cs typeface="Corbel"/>
              </a:rPr>
              <a:t>Work </a:t>
            </a:r>
            <a:r>
              <a:rPr sz="1100" spc="-5" dirty="0">
                <a:latin typeface="Corbel"/>
                <a:cs typeface="Corbel"/>
              </a:rPr>
              <a:t>is </a:t>
            </a:r>
            <a:r>
              <a:rPr sz="1100" dirty="0">
                <a:latin typeface="Corbel"/>
                <a:cs typeface="Corbel"/>
              </a:rPr>
              <a:t>defined as an energy </a:t>
            </a:r>
            <a:r>
              <a:rPr sz="1100" spc="-5" dirty="0">
                <a:latin typeface="Corbel"/>
                <a:cs typeface="Corbel"/>
              </a:rPr>
              <a:t>interaction between </a:t>
            </a:r>
            <a:r>
              <a:rPr sz="1100" dirty="0">
                <a:latin typeface="Corbel"/>
                <a:cs typeface="Corbel"/>
              </a:rPr>
              <a:t>a </a:t>
            </a:r>
            <a:r>
              <a:rPr sz="1100" spc="-5" dirty="0">
                <a:latin typeface="Corbel"/>
                <a:cs typeface="Corbel"/>
              </a:rPr>
              <a:t>system </a:t>
            </a:r>
            <a:r>
              <a:rPr sz="1100" dirty="0">
                <a:latin typeface="Corbel"/>
                <a:cs typeface="Corbel"/>
              </a:rPr>
              <a:t> and </a:t>
            </a:r>
            <a:r>
              <a:rPr sz="1100" spc="-5" dirty="0">
                <a:latin typeface="Corbel"/>
                <a:cs typeface="Corbel"/>
              </a:rPr>
              <a:t>its surroundings during </a:t>
            </a:r>
            <a:r>
              <a:rPr sz="1100" dirty="0">
                <a:latin typeface="Corbel"/>
                <a:cs typeface="Corbel"/>
              </a:rPr>
              <a:t>a process can </a:t>
            </a:r>
            <a:r>
              <a:rPr sz="1100" spc="-5" dirty="0">
                <a:latin typeface="Corbel"/>
                <a:cs typeface="Corbel"/>
              </a:rPr>
              <a:t>be considered as 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work transfer if its </a:t>
            </a:r>
            <a:r>
              <a:rPr sz="1100" dirty="0">
                <a:latin typeface="Corbel"/>
                <a:cs typeface="Corbel"/>
              </a:rPr>
              <a:t>sole effect </a:t>
            </a:r>
            <a:r>
              <a:rPr sz="1100" spc="-5" dirty="0">
                <a:latin typeface="Corbel"/>
                <a:cs typeface="Corbel"/>
              </a:rPr>
              <a:t>on everything external </a:t>
            </a:r>
            <a:r>
              <a:rPr sz="1100" dirty="0">
                <a:latin typeface="Corbel"/>
                <a:cs typeface="Corbel"/>
              </a:rPr>
              <a:t>to the 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could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have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been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to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raise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weight.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510"/>
              </a:spcBef>
            </a:pP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H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d</a:t>
            </a:r>
            <a:r>
              <a:rPr sz="1800" spc="-1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Corbel"/>
                <a:cs typeface="Corbel"/>
              </a:rPr>
              <a:t>W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or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k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>
              <a:latin typeface="Times New Roman"/>
              <a:cs typeface="Times New Roman"/>
            </a:endParaRPr>
          </a:p>
          <a:p>
            <a:pPr marL="45720" marR="234315">
              <a:lnSpc>
                <a:spcPct val="90100"/>
              </a:lnSpc>
              <a:spcBef>
                <a:spcPts val="5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Sig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onv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si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n  </a:t>
            </a:r>
            <a:r>
              <a:rPr sz="1800" spc="-25" dirty="0">
                <a:solidFill>
                  <a:srgbClr val="FFFFFF"/>
                </a:solidFill>
                <a:latin typeface="Corbel"/>
                <a:cs typeface="Corbel"/>
              </a:rPr>
              <a:t>for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Heat and </a:t>
            </a:r>
            <a:r>
              <a:rPr sz="18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orbel"/>
                <a:cs typeface="Corbel"/>
              </a:rPr>
              <a:t>Work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9861" y="4974335"/>
            <a:ext cx="3110962" cy="314118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49245" y="1627479"/>
            <a:ext cx="1387475" cy="10312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Corbel"/>
                <a:cs typeface="Corbel"/>
              </a:rPr>
              <a:t>Mechan</a:t>
            </a:r>
            <a:r>
              <a:rPr sz="1100" spc="-5" dirty="0">
                <a:latin typeface="Corbel"/>
                <a:cs typeface="Corbel"/>
              </a:rPr>
              <a:t>ic</a:t>
            </a:r>
            <a:r>
              <a:rPr sz="1100" dirty="0">
                <a:latin typeface="Corbel"/>
                <a:cs typeface="Corbel"/>
              </a:rPr>
              <a:t>al</a:t>
            </a:r>
            <a:r>
              <a:rPr sz="1100" spc="-70" dirty="0">
                <a:latin typeface="Corbel"/>
                <a:cs typeface="Corbel"/>
              </a:rPr>
              <a:t> </a:t>
            </a:r>
            <a:r>
              <a:rPr sz="1100" spc="-40" dirty="0">
                <a:latin typeface="Corbel"/>
                <a:cs typeface="Corbel"/>
              </a:rPr>
              <a:t>W</a:t>
            </a:r>
            <a:r>
              <a:rPr sz="1100" spc="-5" dirty="0">
                <a:latin typeface="Corbel"/>
                <a:cs typeface="Corbel"/>
              </a:rPr>
              <a:t>ork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Corbel"/>
                <a:cs typeface="Corbel"/>
              </a:rPr>
              <a:t>The</a:t>
            </a:r>
            <a:r>
              <a:rPr sz="1100" dirty="0">
                <a:latin typeface="Corbel"/>
                <a:cs typeface="Corbel"/>
              </a:rPr>
              <a:t>rm</a:t>
            </a:r>
            <a:r>
              <a:rPr sz="1100" spc="-5" dirty="0">
                <a:latin typeface="Corbel"/>
                <a:cs typeface="Corbel"/>
              </a:rPr>
              <a:t>od</a:t>
            </a:r>
            <a:r>
              <a:rPr sz="1100" dirty="0">
                <a:latin typeface="Corbel"/>
                <a:cs typeface="Corbel"/>
              </a:rPr>
              <a:t>yna</a:t>
            </a:r>
            <a:r>
              <a:rPr sz="1100" spc="-5" dirty="0">
                <a:latin typeface="Corbel"/>
                <a:cs typeface="Corbel"/>
              </a:rPr>
              <a:t>mi</a:t>
            </a:r>
            <a:r>
              <a:rPr sz="1100" dirty="0">
                <a:latin typeface="Corbel"/>
                <a:cs typeface="Corbel"/>
              </a:rPr>
              <a:t>c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w</a:t>
            </a:r>
            <a:r>
              <a:rPr sz="1100" spc="-5" dirty="0">
                <a:latin typeface="Corbel"/>
                <a:cs typeface="Corbel"/>
              </a:rPr>
              <a:t>ork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Corbel"/>
                <a:cs typeface="Corbel"/>
              </a:rPr>
              <a:t>E</a:t>
            </a:r>
            <a:r>
              <a:rPr sz="1100" spc="-5" dirty="0">
                <a:latin typeface="Corbel"/>
                <a:cs typeface="Corbel"/>
              </a:rPr>
              <a:t>l</a:t>
            </a:r>
            <a:r>
              <a:rPr sz="1100" dirty="0">
                <a:latin typeface="Corbel"/>
                <a:cs typeface="Corbel"/>
              </a:rPr>
              <a:t>ectri</a:t>
            </a:r>
            <a:r>
              <a:rPr sz="1100" spc="-5" dirty="0">
                <a:latin typeface="Corbel"/>
                <a:cs typeface="Corbel"/>
              </a:rPr>
              <a:t>c</a:t>
            </a:r>
            <a:r>
              <a:rPr sz="1100" dirty="0">
                <a:latin typeface="Corbel"/>
                <a:cs typeface="Corbel"/>
              </a:rPr>
              <a:t>al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w</a:t>
            </a:r>
            <a:r>
              <a:rPr sz="1100" spc="-5" dirty="0">
                <a:latin typeface="Corbel"/>
                <a:cs typeface="Corbel"/>
              </a:rPr>
              <a:t>ork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Corbel"/>
                <a:cs typeface="Corbel"/>
              </a:rPr>
              <a:t>Disp</a:t>
            </a:r>
            <a:r>
              <a:rPr sz="1100" spc="-10" dirty="0">
                <a:latin typeface="Corbel"/>
                <a:cs typeface="Corbel"/>
              </a:rPr>
              <a:t>l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-5" dirty="0">
                <a:latin typeface="Corbel"/>
                <a:cs typeface="Corbel"/>
              </a:rPr>
              <a:t>c</a:t>
            </a:r>
            <a:r>
              <a:rPr sz="1100" dirty="0">
                <a:latin typeface="Corbel"/>
                <a:cs typeface="Corbel"/>
              </a:rPr>
              <a:t>eme</a:t>
            </a:r>
            <a:r>
              <a:rPr sz="1100" spc="5" dirty="0">
                <a:latin typeface="Corbel"/>
                <a:cs typeface="Corbel"/>
              </a:rPr>
              <a:t>n</a:t>
            </a:r>
            <a:r>
              <a:rPr sz="1100" dirty="0">
                <a:latin typeface="Corbel"/>
                <a:cs typeface="Corbel"/>
              </a:rPr>
              <a:t>t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w</a:t>
            </a:r>
            <a:r>
              <a:rPr sz="1100" spc="-5" dirty="0">
                <a:latin typeface="Corbel"/>
                <a:cs typeface="Corbel"/>
              </a:rPr>
              <a:t>ork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marL="45720" marR="209550">
              <a:lnSpc>
                <a:spcPts val="1939"/>
              </a:lnSpc>
              <a:spcBef>
                <a:spcPts val="5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Different forms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f</a:t>
            </a:r>
            <a:r>
              <a:rPr sz="1800" spc="-1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Corbel"/>
                <a:cs typeface="Corbel"/>
              </a:rPr>
              <a:t>W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or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k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 tr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sfe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49245" y="5200243"/>
            <a:ext cx="3590925" cy="81788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0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latin typeface="Corbel"/>
                <a:cs typeface="Corbel"/>
              </a:rPr>
              <a:t>Mecha</a:t>
            </a:r>
            <a:r>
              <a:rPr sz="1100" b="1" dirty="0">
                <a:latin typeface="Corbel"/>
                <a:cs typeface="Corbel"/>
              </a:rPr>
              <a:t>nic</a:t>
            </a:r>
            <a:r>
              <a:rPr sz="1100" b="1" spc="-5" dirty="0">
                <a:latin typeface="Corbel"/>
                <a:cs typeface="Corbel"/>
              </a:rPr>
              <a:t>a</a:t>
            </a:r>
            <a:r>
              <a:rPr sz="1100" b="1" dirty="0">
                <a:latin typeface="Corbel"/>
                <a:cs typeface="Corbel"/>
              </a:rPr>
              <a:t>l</a:t>
            </a:r>
            <a:r>
              <a:rPr sz="1100" b="1" spc="-70" dirty="0">
                <a:latin typeface="Corbel"/>
                <a:cs typeface="Corbel"/>
              </a:rPr>
              <a:t> </a:t>
            </a:r>
            <a:r>
              <a:rPr sz="1100" b="1" spc="-35" dirty="0">
                <a:latin typeface="Corbel"/>
                <a:cs typeface="Corbel"/>
              </a:rPr>
              <a:t>W</a:t>
            </a:r>
            <a:r>
              <a:rPr sz="1100" b="1" dirty="0">
                <a:latin typeface="Corbel"/>
                <a:cs typeface="Corbel"/>
              </a:rPr>
              <a:t>or</a:t>
            </a:r>
            <a:r>
              <a:rPr sz="1100" b="1" spc="-10" dirty="0">
                <a:latin typeface="Corbel"/>
                <a:cs typeface="Corbel"/>
              </a:rPr>
              <a:t>k</a:t>
            </a:r>
            <a:r>
              <a:rPr sz="1100" b="1" dirty="0">
                <a:latin typeface="Corbel"/>
                <a:cs typeface="Corbel"/>
              </a:rPr>
              <a:t>:</a:t>
            </a:r>
            <a:endParaRPr sz="1100">
              <a:latin typeface="Corbel"/>
              <a:cs typeface="Corbel"/>
            </a:endParaRPr>
          </a:p>
          <a:p>
            <a:pPr marL="12700" marR="5080" indent="457200" algn="just">
              <a:lnSpc>
                <a:spcPct val="113599"/>
              </a:lnSpc>
              <a:spcBef>
                <a:spcPts val="120"/>
              </a:spcBef>
            </a:pPr>
            <a:r>
              <a:rPr sz="1100" dirty="0">
                <a:latin typeface="Corbel"/>
                <a:cs typeface="Corbel"/>
              </a:rPr>
              <a:t>It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dirty="0">
                <a:latin typeface="Corbel"/>
                <a:cs typeface="Corbel"/>
              </a:rPr>
              <a:t> the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product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dirty="0">
                <a:latin typeface="Corbel"/>
                <a:cs typeface="Corbel"/>
              </a:rPr>
              <a:t> an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external</a:t>
            </a:r>
            <a:r>
              <a:rPr sz="1100" dirty="0">
                <a:latin typeface="Corbel"/>
                <a:cs typeface="Corbel"/>
              </a:rPr>
              <a:t> force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acting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at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the 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boundaries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dirty="0">
                <a:latin typeface="Corbel"/>
                <a:cs typeface="Corbel"/>
              </a:rPr>
              <a:t> the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r>
              <a:rPr sz="1100" dirty="0">
                <a:latin typeface="Corbel"/>
                <a:cs typeface="Corbel"/>
              </a:rPr>
              <a:t> and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distance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through</a:t>
            </a:r>
            <a:r>
              <a:rPr sz="1100" spc="2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which </a:t>
            </a:r>
            <a:r>
              <a:rPr sz="1100" dirty="0">
                <a:latin typeface="Corbel"/>
                <a:cs typeface="Corbel"/>
              </a:rPr>
              <a:t> force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moves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along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its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line</a:t>
            </a:r>
            <a:r>
              <a:rPr sz="1100" spc="-5" dirty="0">
                <a:latin typeface="Corbel"/>
                <a:cs typeface="Corbel"/>
              </a:rPr>
              <a:t> of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action.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49245" y="6183576"/>
            <a:ext cx="3592829" cy="40640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275"/>
              </a:spcBef>
            </a:pPr>
            <a:r>
              <a:rPr sz="1100" dirty="0">
                <a:latin typeface="Corbel"/>
                <a:cs typeface="Corbel"/>
              </a:rPr>
              <a:t>In</a:t>
            </a:r>
            <a:r>
              <a:rPr sz="1100" spc="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mechanics</a:t>
            </a:r>
            <a:r>
              <a:rPr sz="1100" spc="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work</a:t>
            </a:r>
            <a:r>
              <a:rPr sz="1100" spc="4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done</a:t>
            </a:r>
            <a:r>
              <a:rPr sz="1100" spc="40" dirty="0">
                <a:latin typeface="Corbel"/>
                <a:cs typeface="Corbel"/>
              </a:rPr>
              <a:t> </a:t>
            </a:r>
            <a:r>
              <a:rPr sz="1100" spc="-10" dirty="0">
                <a:latin typeface="Corbel"/>
                <a:cs typeface="Corbel"/>
              </a:rPr>
              <a:t>by</a:t>
            </a:r>
            <a:r>
              <a:rPr sz="1100" spc="3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r>
              <a:rPr sz="1100" spc="3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3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expressed</a:t>
            </a:r>
            <a:r>
              <a:rPr sz="1100" spc="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as</a:t>
            </a:r>
            <a:r>
              <a:rPr sz="1100" spc="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100" dirty="0">
                <a:latin typeface="Corbel"/>
                <a:cs typeface="Corbel"/>
              </a:rPr>
              <a:t>product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of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force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(F)</a:t>
            </a:r>
            <a:r>
              <a:rPr sz="1100" dirty="0">
                <a:latin typeface="Corbel"/>
                <a:cs typeface="Corbel"/>
              </a:rPr>
              <a:t> and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displacement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(s)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49245" y="6945604"/>
            <a:ext cx="359282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13599"/>
              </a:lnSpc>
              <a:spcBef>
                <a:spcPts val="100"/>
              </a:spcBef>
            </a:pPr>
            <a:r>
              <a:rPr sz="1100" dirty="0">
                <a:latin typeface="Corbel"/>
                <a:cs typeface="Corbel"/>
              </a:rPr>
              <a:t>If</a:t>
            </a:r>
            <a:r>
              <a:rPr sz="1100" spc="3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4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force</a:t>
            </a:r>
            <a:r>
              <a:rPr sz="1100" spc="3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4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not</a:t>
            </a:r>
            <a:r>
              <a:rPr sz="1100" spc="3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constant,</a:t>
            </a:r>
            <a:r>
              <a:rPr sz="1100" spc="4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3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work</a:t>
            </a:r>
            <a:r>
              <a:rPr sz="1100" spc="4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done</a:t>
            </a:r>
            <a:r>
              <a:rPr sz="1100" spc="4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obtained </a:t>
            </a:r>
            <a:r>
              <a:rPr sz="1100" spc="-20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by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adding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-5" dirty="0">
                <a:latin typeface="Corbel"/>
                <a:cs typeface="Corbel"/>
              </a:rPr>
              <a:t> differential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amounts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work,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/>
              <a:cs typeface="Times New Roman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Different</a:t>
            </a:r>
            <a:r>
              <a:rPr sz="18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forms</a:t>
            </a:r>
            <a:endParaRPr sz="1800">
              <a:latin typeface="Corbel"/>
              <a:cs typeface="Corbel"/>
            </a:endParaRPr>
          </a:p>
          <a:p>
            <a:pPr marL="45720">
              <a:lnSpc>
                <a:spcPts val="2055"/>
              </a:lnSpc>
            </a:pP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f</a:t>
            </a:r>
            <a:r>
              <a:rPr sz="1800" spc="-1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Corbel"/>
                <a:cs typeface="Corbel"/>
              </a:rPr>
              <a:t>W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or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k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 tr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sfe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0593" y="6739307"/>
            <a:ext cx="1046058" cy="17257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7251" y="7468517"/>
            <a:ext cx="904825" cy="432652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49245" y="1108328"/>
            <a:ext cx="19951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latin typeface="Corbel"/>
                <a:cs typeface="Corbel"/>
              </a:rPr>
              <a:t>Displacement</a:t>
            </a:r>
            <a:r>
              <a:rPr sz="1100" b="1" spc="-70" dirty="0">
                <a:latin typeface="Corbel"/>
                <a:cs typeface="Corbel"/>
              </a:rPr>
              <a:t> </a:t>
            </a:r>
            <a:r>
              <a:rPr sz="1100" b="1" spc="-10" dirty="0">
                <a:latin typeface="Corbel"/>
                <a:cs typeface="Corbel"/>
              </a:rPr>
              <a:t>Work</a:t>
            </a:r>
            <a:r>
              <a:rPr sz="1100" b="1" spc="-2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/ </a:t>
            </a:r>
            <a:r>
              <a:rPr sz="1100" b="1" spc="-20" dirty="0">
                <a:latin typeface="Corbel"/>
                <a:cs typeface="Corbel"/>
              </a:rPr>
              <a:t>Pdv</a:t>
            </a:r>
            <a:r>
              <a:rPr sz="1100" b="1" spc="-65" dirty="0">
                <a:latin typeface="Corbel"/>
                <a:cs typeface="Corbel"/>
              </a:rPr>
              <a:t> </a:t>
            </a:r>
            <a:r>
              <a:rPr sz="1100" b="1" spc="-10" dirty="0">
                <a:latin typeface="Corbel"/>
                <a:cs typeface="Corbel"/>
              </a:rPr>
              <a:t>Work: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marL="45720" marR="209550">
              <a:lnSpc>
                <a:spcPts val="1939"/>
              </a:lnSpc>
              <a:spcBef>
                <a:spcPts val="5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Different forms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f</a:t>
            </a:r>
            <a:r>
              <a:rPr sz="1800" spc="-1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Corbel"/>
                <a:cs typeface="Corbel"/>
              </a:rPr>
              <a:t>W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or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k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 tr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sfe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8690" y="1415912"/>
            <a:ext cx="2510956" cy="2819786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49245" y="5435853"/>
            <a:ext cx="201485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latin typeface="Corbel"/>
                <a:cs typeface="Corbel"/>
              </a:rPr>
              <a:t>D</a:t>
            </a:r>
            <a:r>
              <a:rPr sz="1100" b="1" dirty="0">
                <a:latin typeface="Corbel"/>
                <a:cs typeface="Corbel"/>
              </a:rPr>
              <a:t>isp</a:t>
            </a:r>
            <a:r>
              <a:rPr sz="1100" b="1" spc="-5" dirty="0">
                <a:latin typeface="Corbel"/>
                <a:cs typeface="Corbel"/>
              </a:rPr>
              <a:t>l</a:t>
            </a:r>
            <a:r>
              <a:rPr sz="1100" b="1" spc="-10" dirty="0">
                <a:latin typeface="Corbel"/>
                <a:cs typeface="Corbel"/>
              </a:rPr>
              <a:t>a</a:t>
            </a:r>
            <a:r>
              <a:rPr sz="1100" b="1" dirty="0">
                <a:latin typeface="Corbel"/>
                <a:cs typeface="Corbel"/>
              </a:rPr>
              <a:t>ce</a:t>
            </a:r>
            <a:r>
              <a:rPr sz="1100" b="1" spc="-10" dirty="0">
                <a:latin typeface="Corbel"/>
                <a:cs typeface="Corbel"/>
              </a:rPr>
              <a:t>m</a:t>
            </a:r>
            <a:r>
              <a:rPr sz="1100" b="1" dirty="0">
                <a:latin typeface="Corbel"/>
                <a:cs typeface="Corbel"/>
              </a:rPr>
              <a:t>ent</a:t>
            </a:r>
            <a:r>
              <a:rPr sz="1100" b="1" spc="-70" dirty="0">
                <a:latin typeface="Corbel"/>
                <a:cs typeface="Corbel"/>
              </a:rPr>
              <a:t> </a:t>
            </a:r>
            <a:r>
              <a:rPr sz="1100" b="1" spc="-35" dirty="0">
                <a:latin typeface="Corbel"/>
                <a:cs typeface="Corbel"/>
              </a:rPr>
              <a:t>W</a:t>
            </a:r>
            <a:r>
              <a:rPr sz="1100" b="1" dirty="0">
                <a:latin typeface="Corbel"/>
                <a:cs typeface="Corbel"/>
              </a:rPr>
              <a:t>ork</a:t>
            </a:r>
            <a:r>
              <a:rPr sz="1100" b="1" spc="-2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/ p</a:t>
            </a:r>
            <a:r>
              <a:rPr sz="1100" b="1" spc="-5" dirty="0">
                <a:latin typeface="Corbel"/>
                <a:cs typeface="Corbel"/>
              </a:rPr>
              <a:t>d</a:t>
            </a:r>
            <a:r>
              <a:rPr sz="1100" b="1" dirty="0">
                <a:latin typeface="Corbel"/>
                <a:cs typeface="Corbel"/>
              </a:rPr>
              <a:t>V</a:t>
            </a:r>
            <a:r>
              <a:rPr sz="1100" b="1" spc="-65" dirty="0">
                <a:latin typeface="Corbel"/>
                <a:cs typeface="Corbel"/>
              </a:rPr>
              <a:t> </a:t>
            </a:r>
            <a:r>
              <a:rPr sz="1100" b="1" spc="-30" dirty="0">
                <a:latin typeface="Corbel"/>
                <a:cs typeface="Corbel"/>
              </a:rPr>
              <a:t>W</a:t>
            </a:r>
            <a:r>
              <a:rPr sz="1100" b="1" dirty="0">
                <a:latin typeface="Corbel"/>
                <a:cs typeface="Corbel"/>
              </a:rPr>
              <a:t>or</a:t>
            </a:r>
            <a:r>
              <a:rPr sz="1100" b="1" spc="-10" dirty="0">
                <a:latin typeface="Corbel"/>
                <a:cs typeface="Corbel"/>
              </a:rPr>
              <a:t>k</a:t>
            </a:r>
            <a:r>
              <a:rPr sz="1100" b="1" dirty="0">
                <a:latin typeface="Corbel"/>
                <a:cs typeface="Corbel"/>
              </a:rPr>
              <a:t>: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2806700" y="5855563"/>
            <a:ext cx="3272154" cy="103187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100" dirty="0">
                <a:latin typeface="Corbel"/>
                <a:cs typeface="Corbel"/>
              </a:rPr>
              <a:t>δW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force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x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distance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moved</a:t>
            </a:r>
            <a:endParaRPr sz="1100">
              <a:latin typeface="Corbel"/>
              <a:cs typeface="Corbel"/>
            </a:endParaRPr>
          </a:p>
          <a:p>
            <a:pPr marL="234950">
              <a:lnSpc>
                <a:spcPct val="100000"/>
              </a:lnSpc>
              <a:spcBef>
                <a:spcPts val="660"/>
              </a:spcBef>
            </a:pPr>
            <a:r>
              <a:rPr sz="1100" dirty="0">
                <a:latin typeface="Corbel"/>
                <a:cs typeface="Corbel"/>
              </a:rPr>
              <a:t>=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(pressure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x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cross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section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area)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x</a:t>
            </a:r>
            <a:r>
              <a:rPr sz="1100" spc="-5" dirty="0">
                <a:latin typeface="Corbel"/>
                <a:cs typeface="Corbel"/>
              </a:rPr>
              <a:t> distance </a:t>
            </a:r>
            <a:r>
              <a:rPr sz="1100" dirty="0">
                <a:latin typeface="Corbel"/>
                <a:cs typeface="Corbel"/>
              </a:rPr>
              <a:t>moved</a:t>
            </a:r>
            <a:endParaRPr sz="1100">
              <a:latin typeface="Corbel"/>
              <a:cs typeface="Corbel"/>
            </a:endParaRPr>
          </a:p>
          <a:p>
            <a:pPr marL="234950">
              <a:lnSpc>
                <a:spcPct val="100000"/>
              </a:lnSpc>
              <a:spcBef>
                <a:spcPts val="660"/>
              </a:spcBef>
            </a:pPr>
            <a:r>
              <a:rPr sz="1100" dirty="0">
                <a:latin typeface="Corbel"/>
                <a:cs typeface="Corbel"/>
              </a:rPr>
              <a:t>=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.</a:t>
            </a:r>
            <a:r>
              <a:rPr sz="1100" spc="-6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dx</a:t>
            </a:r>
            <a:endParaRPr sz="1100">
              <a:latin typeface="Corbel"/>
              <a:cs typeface="Corbel"/>
            </a:endParaRPr>
          </a:p>
          <a:p>
            <a:pPr marL="234950">
              <a:lnSpc>
                <a:spcPct val="100000"/>
              </a:lnSpc>
              <a:spcBef>
                <a:spcPts val="660"/>
              </a:spcBef>
            </a:pPr>
            <a:r>
              <a:rPr sz="1100" dirty="0">
                <a:latin typeface="Corbel"/>
                <a:cs typeface="Corbel"/>
              </a:rPr>
              <a:t>=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</a:t>
            </a:r>
            <a:r>
              <a:rPr sz="1100" spc="-5" dirty="0">
                <a:latin typeface="Corbel"/>
                <a:cs typeface="Corbel"/>
              </a:rPr>
              <a:t> d</a:t>
            </a:r>
            <a:r>
              <a:rPr sz="1100" dirty="0">
                <a:latin typeface="Corbel"/>
                <a:cs typeface="Corbel"/>
              </a:rPr>
              <a:t>V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w</a:t>
            </a:r>
            <a:r>
              <a:rPr sz="1100" spc="-5" dirty="0">
                <a:latin typeface="Corbel"/>
                <a:cs typeface="Corbel"/>
              </a:rPr>
              <a:t>he</a:t>
            </a:r>
            <a:r>
              <a:rPr sz="1100" dirty="0">
                <a:latin typeface="Corbel"/>
                <a:cs typeface="Corbel"/>
              </a:rPr>
              <a:t>re,</a:t>
            </a:r>
            <a:r>
              <a:rPr sz="1100" spc="-3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</a:t>
            </a:r>
            <a:r>
              <a:rPr sz="1100" dirty="0">
                <a:latin typeface="Corbel"/>
                <a:cs typeface="Corbel"/>
              </a:rPr>
              <a:t>V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5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 </a:t>
            </a:r>
            <a:r>
              <a:rPr sz="1100" spc="-5" dirty="0">
                <a:latin typeface="Corbel"/>
                <a:cs typeface="Corbel"/>
              </a:rPr>
              <a:t>d</a:t>
            </a:r>
            <a:r>
              <a:rPr sz="1100" dirty="0">
                <a:latin typeface="Corbel"/>
                <a:cs typeface="Corbel"/>
              </a:rPr>
              <a:t>x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</a:t>
            </a:r>
            <a:r>
              <a:rPr sz="1100" spc="5" dirty="0">
                <a:latin typeface="Corbel"/>
                <a:cs typeface="Corbel"/>
              </a:rPr>
              <a:t>n</a:t>
            </a:r>
            <a:r>
              <a:rPr sz="1100" dirty="0">
                <a:latin typeface="Corbel"/>
                <a:cs typeface="Corbel"/>
              </a:rPr>
              <a:t>f</a:t>
            </a:r>
            <a:r>
              <a:rPr sz="1100" spc="-10" dirty="0">
                <a:latin typeface="Corbel"/>
                <a:cs typeface="Corbel"/>
              </a:rPr>
              <a:t>i</a:t>
            </a:r>
            <a:r>
              <a:rPr sz="1100" spc="5" dirty="0">
                <a:latin typeface="Corbel"/>
                <a:cs typeface="Corbel"/>
              </a:rPr>
              <a:t>n</a:t>
            </a:r>
            <a:r>
              <a:rPr sz="1100" spc="-5" dirty="0">
                <a:latin typeface="Corbel"/>
                <a:cs typeface="Corbel"/>
              </a:rPr>
              <a:t>itesi</a:t>
            </a:r>
            <a:r>
              <a:rPr sz="1100" spc="-10" dirty="0">
                <a:latin typeface="Corbel"/>
                <a:cs typeface="Corbel"/>
              </a:rPr>
              <a:t>m</a:t>
            </a:r>
            <a:r>
              <a:rPr sz="1100" dirty="0">
                <a:latin typeface="Corbel"/>
                <a:cs typeface="Corbel"/>
              </a:rPr>
              <a:t>al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</a:t>
            </a:r>
            <a:r>
              <a:rPr sz="1100" spc="5" dirty="0">
                <a:latin typeface="Corbel"/>
                <a:cs typeface="Corbel"/>
              </a:rPr>
              <a:t>w</a:t>
            </a:r>
            <a:r>
              <a:rPr sz="1100" dirty="0">
                <a:latin typeface="Corbel"/>
                <a:cs typeface="Corbel"/>
              </a:rPr>
              <a:t>ept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v</a:t>
            </a:r>
            <a:r>
              <a:rPr sz="1100" spc="-5" dirty="0">
                <a:latin typeface="Corbel"/>
                <a:cs typeface="Corbel"/>
              </a:rPr>
              <a:t>ol</a:t>
            </a:r>
            <a:r>
              <a:rPr sz="1100" dirty="0">
                <a:latin typeface="Corbel"/>
                <a:cs typeface="Corbel"/>
              </a:rPr>
              <a:t>ume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/>
              <a:cs typeface="Times New Roman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Different</a:t>
            </a:r>
            <a:r>
              <a:rPr sz="18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forms</a:t>
            </a:r>
            <a:endParaRPr sz="1800">
              <a:latin typeface="Corbel"/>
              <a:cs typeface="Corbel"/>
            </a:endParaRPr>
          </a:p>
          <a:p>
            <a:pPr marL="45720">
              <a:lnSpc>
                <a:spcPts val="2055"/>
              </a:lnSpc>
            </a:pP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f</a:t>
            </a:r>
            <a:r>
              <a:rPr sz="1800" spc="-1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Corbel"/>
                <a:cs typeface="Corbel"/>
              </a:rPr>
              <a:t>W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or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k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 tr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sfe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49245" y="1299819"/>
            <a:ext cx="3865245" cy="779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080" indent="-91440" algn="just">
              <a:lnSpc>
                <a:spcPct val="150000"/>
              </a:lnSpc>
              <a:spcBef>
                <a:spcPts val="100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204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Corbel"/>
                <a:cs typeface="Corbel"/>
              </a:rPr>
              <a:t>A </a:t>
            </a:r>
            <a:r>
              <a:rPr sz="1100" spc="-5" dirty="0">
                <a:latin typeface="Corbel"/>
                <a:cs typeface="Corbel"/>
              </a:rPr>
              <a:t>substance that has </a:t>
            </a:r>
            <a:r>
              <a:rPr sz="1100" dirty="0">
                <a:latin typeface="Corbel"/>
                <a:cs typeface="Corbel"/>
              </a:rPr>
              <a:t>a </a:t>
            </a:r>
            <a:r>
              <a:rPr sz="1100" spc="-5" dirty="0">
                <a:latin typeface="Corbel"/>
                <a:cs typeface="Corbel"/>
              </a:rPr>
              <a:t>fixed chemical composition throughout is 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called </a:t>
            </a:r>
            <a:r>
              <a:rPr sz="1100" dirty="0">
                <a:latin typeface="Corbel"/>
                <a:cs typeface="Corbel"/>
              </a:rPr>
              <a:t>pure </a:t>
            </a:r>
            <a:r>
              <a:rPr sz="1100" spc="-5" dirty="0">
                <a:latin typeface="Corbel"/>
                <a:cs typeface="Corbel"/>
              </a:rPr>
              <a:t>substance. Example: </a:t>
            </a:r>
            <a:r>
              <a:rPr sz="1100" spc="-10" dirty="0">
                <a:latin typeface="Corbel"/>
                <a:cs typeface="Corbel"/>
              </a:rPr>
              <a:t>Water, </a:t>
            </a:r>
            <a:r>
              <a:rPr sz="1100" spc="-5" dirty="0">
                <a:latin typeface="Corbel"/>
                <a:cs typeface="Corbel"/>
              </a:rPr>
              <a:t>nitrogen, helium, </a:t>
            </a:r>
            <a:r>
              <a:rPr sz="1100" dirty="0">
                <a:latin typeface="Corbel"/>
                <a:cs typeface="Corbel"/>
              </a:rPr>
              <a:t>carbon 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dioxide </a:t>
            </a:r>
            <a:r>
              <a:rPr sz="1100" dirty="0">
                <a:latin typeface="Corbel"/>
                <a:cs typeface="Corbel"/>
              </a:rPr>
              <a:t>etc.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49245" y="2054200"/>
            <a:ext cx="2512060" cy="1256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080" indent="-91440">
              <a:lnSpc>
                <a:spcPct val="150000"/>
              </a:lnSpc>
              <a:spcBef>
                <a:spcPts val="10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Corbel"/>
                <a:cs typeface="Corbel"/>
              </a:rPr>
              <a:t>Th</a:t>
            </a:r>
            <a:r>
              <a:rPr sz="1100" dirty="0">
                <a:latin typeface="Corbel"/>
                <a:cs typeface="Corbel"/>
              </a:rPr>
              <a:t>e   </a:t>
            </a:r>
            <a:r>
              <a:rPr sz="1100" spc="-6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</a:t>
            </a:r>
            <a:r>
              <a:rPr sz="1100" spc="-10" dirty="0">
                <a:latin typeface="Corbel"/>
                <a:cs typeface="Corbel"/>
              </a:rPr>
              <a:t>u</a:t>
            </a:r>
            <a:r>
              <a:rPr sz="1100" dirty="0">
                <a:latin typeface="Corbel"/>
                <a:cs typeface="Corbel"/>
              </a:rPr>
              <a:t>re   </a:t>
            </a:r>
            <a:r>
              <a:rPr sz="1100" spc="-7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</a:t>
            </a:r>
            <a:r>
              <a:rPr sz="1100" spc="-15" dirty="0">
                <a:latin typeface="Corbel"/>
                <a:cs typeface="Corbel"/>
              </a:rPr>
              <a:t>u</a:t>
            </a:r>
            <a:r>
              <a:rPr sz="1100" spc="-5" dirty="0">
                <a:latin typeface="Corbel"/>
                <a:cs typeface="Corbel"/>
              </a:rPr>
              <a:t>bst</a:t>
            </a:r>
            <a:r>
              <a:rPr sz="1100" spc="-15" dirty="0">
                <a:latin typeface="Corbel"/>
                <a:cs typeface="Corbel"/>
              </a:rPr>
              <a:t>a</a:t>
            </a:r>
            <a:r>
              <a:rPr sz="1100" spc="5" dirty="0">
                <a:latin typeface="Corbel"/>
                <a:cs typeface="Corbel"/>
              </a:rPr>
              <a:t>n</a:t>
            </a:r>
            <a:r>
              <a:rPr sz="1100" spc="-5" dirty="0">
                <a:latin typeface="Corbel"/>
                <a:cs typeface="Corbel"/>
              </a:rPr>
              <a:t>c</a:t>
            </a:r>
            <a:r>
              <a:rPr sz="1100" dirty="0">
                <a:latin typeface="Corbel"/>
                <a:cs typeface="Corbel"/>
              </a:rPr>
              <a:t>e   </a:t>
            </a:r>
            <a:r>
              <a:rPr sz="1100" spc="-65" dirty="0">
                <a:latin typeface="Corbel"/>
                <a:cs typeface="Corbel"/>
              </a:rPr>
              <a:t> </a:t>
            </a:r>
            <a:r>
              <a:rPr sz="1100" spc="-15" dirty="0">
                <a:latin typeface="Corbel"/>
                <a:cs typeface="Corbel"/>
              </a:rPr>
              <a:t>m</a:t>
            </a:r>
            <a:r>
              <a:rPr sz="1100" dirty="0">
                <a:latin typeface="Corbel"/>
                <a:cs typeface="Corbel"/>
              </a:rPr>
              <a:t>u</a:t>
            </a:r>
            <a:r>
              <a:rPr sz="1100" spc="-5" dirty="0">
                <a:latin typeface="Corbel"/>
                <a:cs typeface="Corbel"/>
              </a:rPr>
              <a:t>s</a:t>
            </a:r>
            <a:r>
              <a:rPr sz="1100" dirty="0">
                <a:latin typeface="Corbel"/>
                <a:cs typeface="Corbel"/>
              </a:rPr>
              <a:t>t   </a:t>
            </a:r>
            <a:r>
              <a:rPr sz="1100" spc="-6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</a:t>
            </a:r>
            <a:r>
              <a:rPr sz="1100" dirty="0">
                <a:latin typeface="Corbel"/>
                <a:cs typeface="Corbel"/>
              </a:rPr>
              <a:t>e   </a:t>
            </a:r>
            <a:r>
              <a:rPr sz="1100" spc="-6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</a:t>
            </a:r>
            <a:r>
              <a:rPr sz="1100" spc="-20" dirty="0">
                <a:latin typeface="Corbel"/>
                <a:cs typeface="Corbel"/>
              </a:rPr>
              <a:t>a</a:t>
            </a:r>
            <a:r>
              <a:rPr sz="1100" spc="-5" dirty="0">
                <a:latin typeface="Corbel"/>
                <a:cs typeface="Corbel"/>
              </a:rPr>
              <a:t>ti</a:t>
            </a:r>
            <a:r>
              <a:rPr sz="1100" spc="-10" dirty="0">
                <a:latin typeface="Corbel"/>
                <a:cs typeface="Corbel"/>
              </a:rPr>
              <a:t>s</a:t>
            </a:r>
            <a:r>
              <a:rPr sz="1100" dirty="0">
                <a:latin typeface="Corbel"/>
                <a:cs typeface="Corbel"/>
              </a:rPr>
              <a:t>fy  </a:t>
            </a:r>
            <a:r>
              <a:rPr sz="1100" spc="-5" dirty="0">
                <a:latin typeface="Corbel"/>
                <a:cs typeface="Corbel"/>
              </a:rPr>
              <a:t>conditions:</a:t>
            </a:r>
            <a:endParaRPr sz="1100">
              <a:latin typeface="Corbel"/>
              <a:cs typeface="Corbel"/>
            </a:endParaRPr>
          </a:p>
          <a:p>
            <a:pPr marL="264160">
              <a:lnSpc>
                <a:spcPct val="100000"/>
              </a:lnSpc>
              <a:spcBef>
                <a:spcPts val="625"/>
              </a:spcBef>
            </a:pPr>
            <a:r>
              <a:rPr sz="1000" spc="-64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000" spc="9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latin typeface="Corbel"/>
                <a:cs typeface="Corbel"/>
              </a:rPr>
              <a:t>Homo</a:t>
            </a:r>
            <a:r>
              <a:rPr sz="1000" spc="-5" dirty="0">
                <a:latin typeface="Corbel"/>
                <a:cs typeface="Corbel"/>
              </a:rPr>
              <a:t>g</a:t>
            </a:r>
            <a:r>
              <a:rPr sz="1000" spc="-10" dirty="0">
                <a:latin typeface="Corbel"/>
                <a:cs typeface="Corbel"/>
              </a:rPr>
              <a:t>e</a:t>
            </a:r>
            <a:r>
              <a:rPr sz="1000" spc="-5" dirty="0">
                <a:latin typeface="Corbel"/>
                <a:cs typeface="Corbel"/>
              </a:rPr>
              <a:t>n</a:t>
            </a:r>
            <a:r>
              <a:rPr sz="1000" spc="-10" dirty="0">
                <a:latin typeface="Corbel"/>
                <a:cs typeface="Corbel"/>
              </a:rPr>
              <a:t>eou</a:t>
            </a:r>
            <a:r>
              <a:rPr sz="1000" spc="-5" dirty="0">
                <a:latin typeface="Corbel"/>
                <a:cs typeface="Corbel"/>
              </a:rPr>
              <a:t>s</a:t>
            </a:r>
            <a:r>
              <a:rPr sz="1000" spc="45" dirty="0">
                <a:latin typeface="Corbel"/>
                <a:cs typeface="Corbel"/>
              </a:rPr>
              <a:t> </a:t>
            </a:r>
            <a:r>
              <a:rPr sz="1000" spc="-10" dirty="0">
                <a:latin typeface="Corbel"/>
                <a:cs typeface="Corbel"/>
              </a:rPr>
              <a:t>i</a:t>
            </a:r>
            <a:r>
              <a:rPr sz="1000" spc="-5" dirty="0">
                <a:latin typeface="Corbel"/>
                <a:cs typeface="Corbel"/>
              </a:rPr>
              <a:t>n</a:t>
            </a:r>
            <a:r>
              <a:rPr sz="1000" spc="5" dirty="0">
                <a:latin typeface="Corbel"/>
                <a:cs typeface="Corbel"/>
              </a:rPr>
              <a:t> </a:t>
            </a:r>
            <a:r>
              <a:rPr sz="1000" spc="-10" dirty="0">
                <a:latin typeface="Corbel"/>
                <a:cs typeface="Corbel"/>
              </a:rPr>
              <a:t>compo</a:t>
            </a:r>
            <a:r>
              <a:rPr sz="1000" spc="-5" dirty="0">
                <a:latin typeface="Corbel"/>
                <a:cs typeface="Corbel"/>
              </a:rPr>
              <a:t>s</a:t>
            </a:r>
            <a:r>
              <a:rPr sz="1000" spc="-10" dirty="0">
                <a:latin typeface="Corbel"/>
                <a:cs typeface="Corbel"/>
              </a:rPr>
              <a:t>itio</a:t>
            </a:r>
            <a:r>
              <a:rPr sz="1000" spc="-5" dirty="0">
                <a:latin typeface="Corbel"/>
                <a:cs typeface="Corbel"/>
              </a:rPr>
              <a:t>n</a:t>
            </a:r>
            <a:endParaRPr sz="1000">
              <a:latin typeface="Corbel"/>
              <a:cs typeface="Corbel"/>
            </a:endParaRPr>
          </a:p>
          <a:p>
            <a:pPr marL="264160">
              <a:lnSpc>
                <a:spcPct val="100000"/>
              </a:lnSpc>
              <a:spcBef>
                <a:spcPts val="745"/>
              </a:spcBef>
            </a:pPr>
            <a:r>
              <a:rPr sz="1000" spc="-64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000" spc="9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latin typeface="Corbel"/>
                <a:cs typeface="Corbel"/>
              </a:rPr>
              <a:t>Homo</a:t>
            </a:r>
            <a:r>
              <a:rPr sz="1000" spc="-5" dirty="0">
                <a:latin typeface="Corbel"/>
                <a:cs typeface="Corbel"/>
              </a:rPr>
              <a:t>g</a:t>
            </a:r>
            <a:r>
              <a:rPr sz="1000" spc="-10" dirty="0">
                <a:latin typeface="Corbel"/>
                <a:cs typeface="Corbel"/>
              </a:rPr>
              <a:t>e</a:t>
            </a:r>
            <a:r>
              <a:rPr sz="1000" spc="-5" dirty="0">
                <a:latin typeface="Corbel"/>
                <a:cs typeface="Corbel"/>
              </a:rPr>
              <a:t>n</a:t>
            </a:r>
            <a:r>
              <a:rPr sz="1000" spc="-10" dirty="0">
                <a:latin typeface="Corbel"/>
                <a:cs typeface="Corbel"/>
              </a:rPr>
              <a:t>eou</a:t>
            </a:r>
            <a:r>
              <a:rPr sz="1000" spc="-5" dirty="0">
                <a:latin typeface="Corbel"/>
                <a:cs typeface="Corbel"/>
              </a:rPr>
              <a:t>s</a:t>
            </a:r>
            <a:r>
              <a:rPr sz="1000" spc="45" dirty="0">
                <a:latin typeface="Corbel"/>
                <a:cs typeface="Corbel"/>
              </a:rPr>
              <a:t> </a:t>
            </a:r>
            <a:r>
              <a:rPr sz="1000" spc="-10" dirty="0">
                <a:latin typeface="Corbel"/>
                <a:cs typeface="Corbel"/>
              </a:rPr>
              <a:t>i</a:t>
            </a:r>
            <a:r>
              <a:rPr sz="1000" spc="-5" dirty="0">
                <a:latin typeface="Corbel"/>
                <a:cs typeface="Corbel"/>
              </a:rPr>
              <a:t>n</a:t>
            </a:r>
            <a:r>
              <a:rPr sz="1000" spc="5" dirty="0">
                <a:latin typeface="Corbel"/>
                <a:cs typeface="Corbel"/>
              </a:rPr>
              <a:t> </a:t>
            </a:r>
            <a:r>
              <a:rPr sz="1000" spc="-10" dirty="0">
                <a:latin typeface="Corbel"/>
                <a:cs typeface="Corbel"/>
              </a:rPr>
              <a:t>ch</a:t>
            </a:r>
            <a:r>
              <a:rPr sz="1000" spc="-15" dirty="0">
                <a:latin typeface="Corbel"/>
                <a:cs typeface="Corbel"/>
              </a:rPr>
              <a:t>e</a:t>
            </a:r>
            <a:r>
              <a:rPr sz="1000" spc="-5" dirty="0">
                <a:latin typeface="Corbel"/>
                <a:cs typeface="Corbel"/>
              </a:rPr>
              <a:t>mi</a:t>
            </a:r>
            <a:r>
              <a:rPr sz="1000" spc="-10" dirty="0">
                <a:latin typeface="Corbel"/>
                <a:cs typeface="Corbel"/>
              </a:rPr>
              <a:t>c</a:t>
            </a:r>
            <a:r>
              <a:rPr sz="1000" spc="-5" dirty="0">
                <a:latin typeface="Corbel"/>
                <a:cs typeface="Corbel"/>
              </a:rPr>
              <a:t>al</a:t>
            </a:r>
            <a:r>
              <a:rPr sz="1000" spc="25" dirty="0">
                <a:latin typeface="Corbel"/>
                <a:cs typeface="Corbel"/>
              </a:rPr>
              <a:t> </a:t>
            </a:r>
            <a:r>
              <a:rPr sz="1000" spc="-5" dirty="0">
                <a:latin typeface="Corbel"/>
                <a:cs typeface="Corbel"/>
              </a:rPr>
              <a:t>aggr</a:t>
            </a:r>
            <a:r>
              <a:rPr sz="1000" spc="-10" dirty="0">
                <a:latin typeface="Corbel"/>
                <a:cs typeface="Corbel"/>
              </a:rPr>
              <a:t>e</a:t>
            </a:r>
            <a:r>
              <a:rPr sz="1000" spc="-5" dirty="0">
                <a:latin typeface="Corbel"/>
                <a:cs typeface="Corbel"/>
              </a:rPr>
              <a:t>ga</a:t>
            </a:r>
            <a:r>
              <a:rPr sz="1000" spc="-10" dirty="0">
                <a:latin typeface="Corbel"/>
                <a:cs typeface="Corbel"/>
              </a:rPr>
              <a:t>tio</a:t>
            </a:r>
            <a:r>
              <a:rPr sz="1000" spc="-5" dirty="0">
                <a:latin typeface="Corbel"/>
                <a:cs typeface="Corbel"/>
              </a:rPr>
              <a:t>n</a:t>
            </a:r>
            <a:endParaRPr sz="1000">
              <a:latin typeface="Corbel"/>
              <a:cs typeface="Corbel"/>
            </a:endParaRPr>
          </a:p>
          <a:p>
            <a:pPr marL="264160">
              <a:lnSpc>
                <a:spcPct val="100000"/>
              </a:lnSpc>
              <a:spcBef>
                <a:spcPts val="760"/>
              </a:spcBef>
            </a:pPr>
            <a:r>
              <a:rPr sz="1000" spc="-64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000" spc="9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latin typeface="Corbel"/>
                <a:cs typeface="Corbel"/>
              </a:rPr>
              <a:t>I</a:t>
            </a:r>
            <a:r>
              <a:rPr sz="1000" spc="-5" dirty="0">
                <a:latin typeface="Corbel"/>
                <a:cs typeface="Corbel"/>
              </a:rPr>
              <a:t>n</a:t>
            </a:r>
            <a:r>
              <a:rPr sz="1000" spc="-10" dirty="0">
                <a:latin typeface="Corbel"/>
                <a:cs typeface="Corbel"/>
              </a:rPr>
              <a:t>v</a:t>
            </a:r>
            <a:r>
              <a:rPr sz="1000" spc="-5" dirty="0">
                <a:latin typeface="Corbel"/>
                <a:cs typeface="Corbel"/>
              </a:rPr>
              <a:t>aria</a:t>
            </a:r>
            <a:r>
              <a:rPr sz="1000" spc="-15" dirty="0">
                <a:latin typeface="Corbel"/>
                <a:cs typeface="Corbel"/>
              </a:rPr>
              <a:t>b</a:t>
            </a:r>
            <a:r>
              <a:rPr sz="1000" spc="-10" dirty="0">
                <a:latin typeface="Corbel"/>
                <a:cs typeface="Corbel"/>
              </a:rPr>
              <a:t>l</a:t>
            </a:r>
            <a:r>
              <a:rPr sz="1000" spc="-5" dirty="0">
                <a:latin typeface="Corbel"/>
                <a:cs typeface="Corbel"/>
              </a:rPr>
              <a:t>e</a:t>
            </a:r>
            <a:r>
              <a:rPr sz="1000" spc="25" dirty="0">
                <a:latin typeface="Corbel"/>
                <a:cs typeface="Corbel"/>
              </a:rPr>
              <a:t> </a:t>
            </a:r>
            <a:r>
              <a:rPr sz="1000" spc="-10" dirty="0">
                <a:latin typeface="Corbel"/>
                <a:cs typeface="Corbel"/>
              </a:rPr>
              <a:t>i</a:t>
            </a:r>
            <a:r>
              <a:rPr sz="1000" spc="-5" dirty="0">
                <a:latin typeface="Corbel"/>
                <a:cs typeface="Corbel"/>
              </a:rPr>
              <a:t>n</a:t>
            </a:r>
            <a:r>
              <a:rPr sz="1000" spc="-10" dirty="0">
                <a:latin typeface="Corbel"/>
                <a:cs typeface="Corbel"/>
              </a:rPr>
              <a:t> ch</a:t>
            </a:r>
            <a:r>
              <a:rPr sz="1000" spc="-15" dirty="0">
                <a:latin typeface="Corbel"/>
                <a:cs typeface="Corbel"/>
              </a:rPr>
              <a:t>e</a:t>
            </a:r>
            <a:r>
              <a:rPr sz="1000" spc="-5" dirty="0">
                <a:latin typeface="Corbel"/>
                <a:cs typeface="Corbel"/>
              </a:rPr>
              <a:t>mi</a:t>
            </a:r>
            <a:r>
              <a:rPr sz="1000" spc="-10" dirty="0">
                <a:latin typeface="Corbel"/>
                <a:cs typeface="Corbel"/>
              </a:rPr>
              <a:t>c</a:t>
            </a:r>
            <a:r>
              <a:rPr sz="1000" spc="-5" dirty="0">
                <a:latin typeface="Corbel"/>
                <a:cs typeface="Corbel"/>
              </a:rPr>
              <a:t>al</a:t>
            </a:r>
            <a:r>
              <a:rPr sz="1000" spc="25" dirty="0">
                <a:latin typeface="Corbel"/>
                <a:cs typeface="Corbel"/>
              </a:rPr>
              <a:t> </a:t>
            </a:r>
            <a:r>
              <a:rPr sz="1000" spc="-5" dirty="0">
                <a:latin typeface="Corbel"/>
                <a:cs typeface="Corbel"/>
              </a:rPr>
              <a:t>aggr</a:t>
            </a:r>
            <a:r>
              <a:rPr sz="1000" spc="-10" dirty="0">
                <a:latin typeface="Corbel"/>
                <a:cs typeface="Corbel"/>
              </a:rPr>
              <a:t>e</a:t>
            </a:r>
            <a:r>
              <a:rPr sz="1000" spc="-5" dirty="0">
                <a:latin typeface="Corbel"/>
                <a:cs typeface="Corbel"/>
              </a:rPr>
              <a:t>ga</a:t>
            </a:r>
            <a:r>
              <a:rPr sz="1000" spc="-10" dirty="0">
                <a:latin typeface="Corbel"/>
                <a:cs typeface="Corbel"/>
              </a:rPr>
              <a:t>tio</a:t>
            </a:r>
            <a:r>
              <a:rPr sz="1000" spc="-5" dirty="0">
                <a:latin typeface="Corbel"/>
                <a:cs typeface="Corbel"/>
              </a:rPr>
              <a:t>n</a:t>
            </a:r>
            <a:endParaRPr sz="10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39029" y="2137410"/>
            <a:ext cx="12738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rbel"/>
                <a:cs typeface="Corbel"/>
              </a:rPr>
              <a:t>the  </a:t>
            </a:r>
            <a:r>
              <a:rPr sz="1100" spc="1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following</a:t>
            </a:r>
            <a:r>
              <a:rPr sz="1100" spc="56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three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510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Pu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spc="-9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Su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b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s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10739" y="5291683"/>
            <a:ext cx="413004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539" marR="30480" indent="-91440" algn="just">
              <a:lnSpc>
                <a:spcPct val="150000"/>
              </a:lnSpc>
              <a:spcBef>
                <a:spcPts val="100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204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latin typeface="Corbel"/>
                <a:cs typeface="Corbel"/>
              </a:rPr>
              <a:t>The </a:t>
            </a:r>
            <a:r>
              <a:rPr sz="1100" b="1" dirty="0">
                <a:latin typeface="Corbel"/>
                <a:cs typeface="Corbel"/>
              </a:rPr>
              <a:t>piston of </a:t>
            </a:r>
            <a:r>
              <a:rPr sz="1100" b="1" spc="-5" dirty="0">
                <a:latin typeface="Corbel"/>
                <a:cs typeface="Corbel"/>
              </a:rPr>
              <a:t>an </a:t>
            </a:r>
            <a:r>
              <a:rPr sz="1100" b="1" dirty="0">
                <a:latin typeface="Corbel"/>
                <a:cs typeface="Corbel"/>
              </a:rPr>
              <a:t>oil </a:t>
            </a:r>
            <a:r>
              <a:rPr sz="1100" b="1" spc="-5" dirty="0">
                <a:latin typeface="Corbel"/>
                <a:cs typeface="Corbel"/>
              </a:rPr>
              <a:t>engine </a:t>
            </a:r>
            <a:r>
              <a:rPr sz="1100" b="1" dirty="0">
                <a:latin typeface="Corbel"/>
                <a:cs typeface="Corbel"/>
              </a:rPr>
              <a:t>of </a:t>
            </a:r>
            <a:r>
              <a:rPr sz="1100" b="1" spc="-5" dirty="0">
                <a:latin typeface="Corbel"/>
                <a:cs typeface="Corbel"/>
              </a:rPr>
              <a:t>area 0.005 </a:t>
            </a:r>
            <a:r>
              <a:rPr sz="1100" b="1" spc="5" dirty="0">
                <a:latin typeface="Corbel"/>
                <a:cs typeface="Corbel"/>
              </a:rPr>
              <a:t>m</a:t>
            </a:r>
            <a:r>
              <a:rPr sz="1050" b="1" spc="7" baseline="27777" dirty="0">
                <a:latin typeface="Corbel"/>
                <a:cs typeface="Corbel"/>
              </a:rPr>
              <a:t>2 </a:t>
            </a:r>
            <a:r>
              <a:rPr sz="1100" b="1" dirty="0">
                <a:latin typeface="Corbel"/>
                <a:cs typeface="Corbel"/>
              </a:rPr>
              <a:t>moves down </a:t>
            </a:r>
            <a:r>
              <a:rPr sz="1100" b="1" spc="-10" dirty="0">
                <a:latin typeface="Corbel"/>
                <a:cs typeface="Corbel"/>
              </a:rPr>
              <a:t>to </a:t>
            </a:r>
            <a:r>
              <a:rPr sz="1100" b="1" dirty="0">
                <a:latin typeface="Corbel"/>
                <a:cs typeface="Corbel"/>
              </a:rPr>
              <a:t>8 </a:t>
            </a:r>
            <a:r>
              <a:rPr sz="1100" b="1" spc="-5" dirty="0">
                <a:latin typeface="Corbel"/>
                <a:cs typeface="Corbel"/>
              </a:rPr>
              <a:t>mm 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drawing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fresh </a:t>
            </a:r>
            <a:r>
              <a:rPr sz="1100" b="1" dirty="0">
                <a:latin typeface="Corbel"/>
                <a:cs typeface="Corbel"/>
              </a:rPr>
              <a:t>air </a:t>
            </a:r>
            <a:r>
              <a:rPr sz="1100" b="1" spc="-5" dirty="0">
                <a:latin typeface="Corbel"/>
                <a:cs typeface="Corbel"/>
              </a:rPr>
              <a:t>from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atmosphere. Calculate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10" dirty="0">
                <a:latin typeface="Corbel"/>
                <a:cs typeface="Corbel"/>
              </a:rPr>
              <a:t>the</a:t>
            </a:r>
            <a:r>
              <a:rPr sz="1100" b="1" spc="-5" dirty="0">
                <a:latin typeface="Corbel"/>
                <a:cs typeface="Corbel"/>
              </a:rPr>
              <a:t> displacement </a:t>
            </a:r>
            <a:r>
              <a:rPr sz="1100" b="1" dirty="0">
                <a:latin typeface="Corbel"/>
                <a:cs typeface="Corbel"/>
              </a:rPr>
              <a:t> work done </a:t>
            </a:r>
            <a:r>
              <a:rPr sz="1100" b="1" spc="-5" dirty="0">
                <a:latin typeface="Corbel"/>
                <a:cs typeface="Corbel"/>
              </a:rPr>
              <a:t>by </a:t>
            </a:r>
            <a:r>
              <a:rPr sz="1100" b="1" dirty="0">
                <a:latin typeface="Corbel"/>
                <a:cs typeface="Corbel"/>
              </a:rPr>
              <a:t>the piston. During </a:t>
            </a:r>
            <a:r>
              <a:rPr sz="1100" b="1" spc="-5" dirty="0">
                <a:latin typeface="Corbel"/>
                <a:cs typeface="Corbel"/>
              </a:rPr>
              <a:t>the process, </a:t>
            </a:r>
            <a:r>
              <a:rPr sz="1100" b="1" dirty="0">
                <a:latin typeface="Corbel"/>
                <a:cs typeface="Corbel"/>
              </a:rPr>
              <a:t>pressure is constant 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as </a:t>
            </a:r>
            <a:r>
              <a:rPr sz="1100" b="1" spc="-10" dirty="0">
                <a:latin typeface="Corbel"/>
                <a:cs typeface="Corbel"/>
              </a:rPr>
              <a:t>0.82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20" dirty="0">
                <a:latin typeface="Corbel"/>
                <a:cs typeface="Corbel"/>
              </a:rPr>
              <a:t>bar.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2110739" y="6549364"/>
            <a:ext cx="2657475" cy="10312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60"/>
              </a:spcBef>
              <a:tabLst>
                <a:tab pos="951865" algn="l"/>
              </a:tabLst>
            </a:pPr>
            <a:r>
              <a:rPr sz="1100" spc="-5" dirty="0">
                <a:latin typeface="Corbel"/>
                <a:cs typeface="Corbel"/>
              </a:rPr>
              <a:t>Given</a:t>
            </a:r>
            <a:r>
              <a:rPr sz="1100" spc="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data:	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0.0005</a:t>
            </a:r>
            <a:r>
              <a:rPr sz="1100" spc="-35" dirty="0">
                <a:latin typeface="Corbel"/>
                <a:cs typeface="Corbel"/>
              </a:rPr>
              <a:t> </a:t>
            </a:r>
            <a:r>
              <a:rPr sz="1100" spc="5" dirty="0">
                <a:latin typeface="Corbel"/>
                <a:cs typeface="Corbel"/>
              </a:rPr>
              <a:t>m</a:t>
            </a:r>
            <a:r>
              <a:rPr sz="1050" spc="7" baseline="27777" dirty="0">
                <a:latin typeface="Corbel"/>
                <a:cs typeface="Corbel"/>
              </a:rPr>
              <a:t>2</a:t>
            </a:r>
            <a:endParaRPr sz="1050" baseline="27777">
              <a:latin typeface="Corbel"/>
              <a:cs typeface="Corbel"/>
            </a:endParaRPr>
          </a:p>
          <a:p>
            <a:pPr marL="952500">
              <a:lnSpc>
                <a:spcPct val="100000"/>
              </a:lnSpc>
              <a:spcBef>
                <a:spcPts val="660"/>
              </a:spcBef>
            </a:pPr>
            <a:r>
              <a:rPr sz="1100" dirty="0">
                <a:latin typeface="Corbel"/>
                <a:cs typeface="Corbel"/>
              </a:rPr>
              <a:t>x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8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mm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0.008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m</a:t>
            </a:r>
            <a:endParaRPr sz="1100">
              <a:latin typeface="Corbel"/>
              <a:cs typeface="Corbel"/>
            </a:endParaRPr>
          </a:p>
          <a:p>
            <a:pPr marL="952500" marR="30480">
              <a:lnSpc>
                <a:spcPct val="150000"/>
              </a:lnSpc>
            </a:pPr>
            <a:r>
              <a:rPr sz="1100" dirty="0">
                <a:latin typeface="Corbel"/>
                <a:cs typeface="Corbel"/>
              </a:rPr>
              <a:t>p = </a:t>
            </a:r>
            <a:r>
              <a:rPr sz="1100" spc="-10" dirty="0">
                <a:latin typeface="Corbel"/>
                <a:cs typeface="Corbel"/>
              </a:rPr>
              <a:t>0.82 </a:t>
            </a:r>
            <a:r>
              <a:rPr sz="1100" dirty="0">
                <a:latin typeface="Corbel"/>
                <a:cs typeface="Corbel"/>
              </a:rPr>
              <a:t>bar = </a:t>
            </a:r>
            <a:r>
              <a:rPr sz="1100" spc="-10" dirty="0">
                <a:latin typeface="Corbel"/>
                <a:cs typeface="Corbel"/>
              </a:rPr>
              <a:t>0.82 </a:t>
            </a:r>
            <a:r>
              <a:rPr sz="1100" dirty="0">
                <a:latin typeface="Corbel"/>
                <a:cs typeface="Corbel"/>
              </a:rPr>
              <a:t>x 10</a:t>
            </a:r>
            <a:r>
              <a:rPr sz="1050" baseline="27777" dirty="0">
                <a:latin typeface="Corbel"/>
                <a:cs typeface="Corbel"/>
              </a:rPr>
              <a:t>5 </a:t>
            </a:r>
            <a:r>
              <a:rPr sz="1100" dirty="0">
                <a:latin typeface="Corbel"/>
                <a:cs typeface="Corbel"/>
              </a:rPr>
              <a:t>N/m</a:t>
            </a:r>
            <a:r>
              <a:rPr sz="1050" baseline="27777" dirty="0">
                <a:latin typeface="Corbel"/>
                <a:cs typeface="Corbel"/>
              </a:rPr>
              <a:t>2 </a:t>
            </a:r>
            <a:r>
              <a:rPr sz="1050" spc="-195" baseline="27777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W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?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515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Numerical</a:t>
            </a:r>
            <a:r>
              <a:rPr sz="18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1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510"/>
              </a:spcBef>
            </a:pP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u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ic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l</a:t>
            </a:r>
            <a:r>
              <a:rPr sz="18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1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3845" y="1669135"/>
            <a:ext cx="2219325" cy="153479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6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Corbel"/>
                <a:cs typeface="Corbel"/>
              </a:rPr>
              <a:t>Disp</a:t>
            </a:r>
            <a:r>
              <a:rPr sz="1100" spc="-10" dirty="0">
                <a:latin typeface="Corbel"/>
                <a:cs typeface="Corbel"/>
              </a:rPr>
              <a:t>l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-5" dirty="0">
                <a:latin typeface="Corbel"/>
                <a:cs typeface="Corbel"/>
              </a:rPr>
              <a:t>c</a:t>
            </a:r>
            <a:r>
              <a:rPr sz="1100" dirty="0">
                <a:latin typeface="Corbel"/>
                <a:cs typeface="Corbel"/>
              </a:rPr>
              <a:t>eme</a:t>
            </a:r>
            <a:r>
              <a:rPr sz="1100" spc="5" dirty="0">
                <a:latin typeface="Corbel"/>
                <a:cs typeface="Corbel"/>
              </a:rPr>
              <a:t>n</a:t>
            </a:r>
            <a:r>
              <a:rPr sz="1100" dirty="0">
                <a:latin typeface="Corbel"/>
                <a:cs typeface="Corbel"/>
              </a:rPr>
              <a:t>t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w</a:t>
            </a:r>
            <a:r>
              <a:rPr sz="1100" spc="-5" dirty="0">
                <a:latin typeface="Corbel"/>
                <a:cs typeface="Corbel"/>
              </a:rPr>
              <a:t>or</a:t>
            </a:r>
            <a:r>
              <a:rPr sz="1100" dirty="0">
                <a:latin typeface="Corbel"/>
                <a:cs typeface="Corbel"/>
              </a:rPr>
              <a:t>k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do</a:t>
            </a:r>
            <a:r>
              <a:rPr sz="1100" dirty="0">
                <a:latin typeface="Corbel"/>
                <a:cs typeface="Corbel"/>
              </a:rPr>
              <a:t>ne</a:t>
            </a:r>
            <a:r>
              <a:rPr sz="1100" spc="-5" dirty="0">
                <a:latin typeface="Corbel"/>
                <a:cs typeface="Corbel"/>
              </a:rPr>
              <a:t> o</a:t>
            </a:r>
            <a:r>
              <a:rPr sz="1100" dirty="0">
                <a:latin typeface="Corbel"/>
                <a:cs typeface="Corbel"/>
              </a:rPr>
              <a:t>n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endParaRPr sz="1100">
              <a:latin typeface="Corbel"/>
              <a:cs typeface="Corbel"/>
            </a:endParaRPr>
          </a:p>
          <a:p>
            <a:pPr marL="495300">
              <a:lnSpc>
                <a:spcPct val="100000"/>
              </a:lnSpc>
              <a:spcBef>
                <a:spcPts val="660"/>
              </a:spcBef>
            </a:pPr>
            <a:r>
              <a:rPr sz="1100" dirty="0">
                <a:latin typeface="Corbel"/>
                <a:cs typeface="Corbel"/>
              </a:rPr>
              <a:t>=</a:t>
            </a:r>
            <a:r>
              <a:rPr sz="1100" spc="-3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∫</a:t>
            </a:r>
            <a:r>
              <a:rPr sz="1100" spc="-3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dV</a:t>
            </a:r>
            <a:endParaRPr sz="1100">
              <a:latin typeface="Corbel"/>
              <a:cs typeface="Corbel"/>
            </a:endParaRPr>
          </a:p>
          <a:p>
            <a:pPr marL="495300">
              <a:lnSpc>
                <a:spcPct val="100000"/>
              </a:lnSpc>
              <a:spcBef>
                <a:spcPts val="660"/>
              </a:spcBef>
            </a:pPr>
            <a:r>
              <a:rPr sz="1100" dirty="0">
                <a:latin typeface="Corbel"/>
                <a:cs typeface="Corbel"/>
              </a:rPr>
              <a:t>=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x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spc="5" dirty="0">
                <a:latin typeface="Corbel"/>
                <a:cs typeface="Corbel"/>
              </a:rPr>
              <a:t>(</a:t>
            </a:r>
            <a:r>
              <a:rPr sz="1100" dirty="0">
                <a:latin typeface="Corbel"/>
                <a:cs typeface="Corbel"/>
              </a:rPr>
              <a:t>V</a:t>
            </a:r>
            <a:r>
              <a:rPr sz="1050" spc="22" baseline="-19841" dirty="0">
                <a:latin typeface="Corbel"/>
                <a:cs typeface="Corbel"/>
              </a:rPr>
              <a:t>2</a:t>
            </a:r>
            <a:r>
              <a:rPr sz="1050" spc="89" baseline="-19841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–</a:t>
            </a:r>
            <a:r>
              <a:rPr sz="1100" spc="-8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V</a:t>
            </a:r>
            <a:r>
              <a:rPr sz="1050" spc="7" baseline="-19841" dirty="0">
                <a:latin typeface="Corbel"/>
                <a:cs typeface="Corbel"/>
              </a:rPr>
              <a:t>1</a:t>
            </a:r>
            <a:r>
              <a:rPr sz="1100" dirty="0">
                <a:latin typeface="Corbel"/>
                <a:cs typeface="Corbel"/>
              </a:rPr>
              <a:t>)</a:t>
            </a:r>
            <a:endParaRPr sz="1100">
              <a:latin typeface="Corbel"/>
              <a:cs typeface="Corbel"/>
            </a:endParaRPr>
          </a:p>
          <a:p>
            <a:pPr marL="495300">
              <a:lnSpc>
                <a:spcPct val="100000"/>
              </a:lnSpc>
              <a:spcBef>
                <a:spcPts val="660"/>
              </a:spcBef>
            </a:pPr>
            <a:r>
              <a:rPr sz="1100" dirty="0">
                <a:latin typeface="Corbel"/>
                <a:cs typeface="Corbel"/>
              </a:rPr>
              <a:t>=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10" dirty="0">
                <a:latin typeface="Corbel"/>
                <a:cs typeface="Corbel"/>
              </a:rPr>
              <a:t>0.82 </a:t>
            </a:r>
            <a:r>
              <a:rPr sz="1100" dirty="0">
                <a:latin typeface="Corbel"/>
                <a:cs typeface="Corbel"/>
              </a:rPr>
              <a:t>x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10</a:t>
            </a:r>
            <a:r>
              <a:rPr sz="1050" baseline="27777" dirty="0">
                <a:latin typeface="Corbel"/>
                <a:cs typeface="Corbel"/>
              </a:rPr>
              <a:t>5</a:t>
            </a:r>
            <a:r>
              <a:rPr sz="1050" spc="112" baseline="27777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(A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x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L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–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0)</a:t>
            </a:r>
            <a:endParaRPr sz="1100">
              <a:latin typeface="Corbel"/>
              <a:cs typeface="Corbel"/>
            </a:endParaRPr>
          </a:p>
          <a:p>
            <a:pPr marL="495300">
              <a:lnSpc>
                <a:spcPct val="100000"/>
              </a:lnSpc>
              <a:spcBef>
                <a:spcPts val="660"/>
              </a:spcBef>
            </a:pPr>
            <a:r>
              <a:rPr sz="1100" dirty="0">
                <a:latin typeface="Corbel"/>
                <a:cs typeface="Corbel"/>
              </a:rPr>
              <a:t>=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10" dirty="0">
                <a:latin typeface="Corbel"/>
                <a:cs typeface="Corbel"/>
              </a:rPr>
              <a:t>0.82 </a:t>
            </a:r>
            <a:r>
              <a:rPr sz="1100" dirty="0">
                <a:latin typeface="Corbel"/>
                <a:cs typeface="Corbel"/>
              </a:rPr>
              <a:t>x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10</a:t>
            </a:r>
            <a:r>
              <a:rPr sz="1050" baseline="27777" dirty="0">
                <a:latin typeface="Corbel"/>
                <a:cs typeface="Corbel"/>
              </a:rPr>
              <a:t>5</a:t>
            </a:r>
            <a:r>
              <a:rPr sz="1050" spc="112" baseline="27777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x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0.005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x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0.008</a:t>
            </a:r>
            <a:endParaRPr sz="1100">
              <a:latin typeface="Corbel"/>
              <a:cs typeface="Corbel"/>
            </a:endParaRPr>
          </a:p>
          <a:p>
            <a:pPr marL="495300">
              <a:lnSpc>
                <a:spcPct val="100000"/>
              </a:lnSpc>
              <a:spcBef>
                <a:spcPts val="660"/>
              </a:spcBef>
            </a:pPr>
            <a:r>
              <a:rPr sz="1100" b="1" dirty="0">
                <a:latin typeface="Corbel"/>
                <a:cs typeface="Corbel"/>
              </a:rPr>
              <a:t>=</a:t>
            </a:r>
            <a:r>
              <a:rPr sz="1100" b="1" spc="-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3.28</a:t>
            </a:r>
            <a:r>
              <a:rPr sz="1100" b="1" spc="-4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J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23845" y="5291683"/>
            <a:ext cx="3916045" cy="10312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760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3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dirty="0">
                <a:latin typeface="Corbel"/>
                <a:cs typeface="Corbel"/>
              </a:rPr>
              <a:t>A</a:t>
            </a:r>
            <a:r>
              <a:rPr sz="1100" b="1" spc="-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gas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undergoes</a:t>
            </a:r>
            <a:r>
              <a:rPr sz="1100" b="1" spc="-1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a </a:t>
            </a:r>
            <a:r>
              <a:rPr sz="1100" b="1" spc="-5" dirty="0">
                <a:latin typeface="Corbel"/>
                <a:cs typeface="Corbel"/>
              </a:rPr>
              <a:t>quasi-static</a:t>
            </a:r>
            <a:r>
              <a:rPr sz="1100" b="1" spc="1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non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flow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process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according</a:t>
            </a:r>
            <a:r>
              <a:rPr sz="1100" b="1" spc="1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to</a:t>
            </a:r>
            <a:r>
              <a:rPr sz="1100" b="1" spc="-1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p</a:t>
            </a:r>
            <a:endParaRPr sz="1100">
              <a:latin typeface="Corbel"/>
              <a:cs typeface="Corbel"/>
            </a:endParaRPr>
          </a:p>
          <a:p>
            <a:pPr marL="129539" marR="30480" algn="just">
              <a:lnSpc>
                <a:spcPct val="150000"/>
              </a:lnSpc>
            </a:pPr>
            <a:r>
              <a:rPr sz="1100" b="1" dirty="0">
                <a:latin typeface="Corbel"/>
                <a:cs typeface="Corbel"/>
              </a:rPr>
              <a:t>= </a:t>
            </a:r>
            <a:r>
              <a:rPr sz="1100" b="1" spc="-10" dirty="0">
                <a:latin typeface="Corbel"/>
                <a:cs typeface="Corbel"/>
              </a:rPr>
              <a:t>5V </a:t>
            </a:r>
            <a:r>
              <a:rPr sz="1100" b="1" dirty="0">
                <a:latin typeface="Corbel"/>
                <a:cs typeface="Corbel"/>
              </a:rPr>
              <a:t>– 8 </a:t>
            </a:r>
            <a:r>
              <a:rPr sz="1100" b="1" spc="-20" dirty="0">
                <a:latin typeface="Corbel"/>
                <a:cs typeface="Corbel"/>
              </a:rPr>
              <a:t>bar, </a:t>
            </a:r>
            <a:r>
              <a:rPr sz="1100" b="1" spc="-5" dirty="0">
                <a:latin typeface="Corbel"/>
                <a:cs typeface="Corbel"/>
              </a:rPr>
              <a:t>where </a:t>
            </a:r>
            <a:r>
              <a:rPr sz="1100" b="1" dirty="0">
                <a:latin typeface="Corbel"/>
                <a:cs typeface="Corbel"/>
              </a:rPr>
              <a:t>V is </a:t>
            </a:r>
            <a:r>
              <a:rPr sz="1100" b="1" spc="-5" dirty="0">
                <a:latin typeface="Corbel"/>
                <a:cs typeface="Corbel"/>
              </a:rPr>
              <a:t>volume </a:t>
            </a:r>
            <a:r>
              <a:rPr sz="1100" b="1" dirty="0">
                <a:latin typeface="Corbel"/>
                <a:cs typeface="Corbel"/>
              </a:rPr>
              <a:t>in </a:t>
            </a:r>
            <a:r>
              <a:rPr sz="1100" b="1" spc="5" dirty="0">
                <a:latin typeface="Corbel"/>
                <a:cs typeface="Corbel"/>
              </a:rPr>
              <a:t>m</a:t>
            </a:r>
            <a:r>
              <a:rPr sz="1050" b="1" spc="7" baseline="27777" dirty="0">
                <a:latin typeface="Corbel"/>
                <a:cs typeface="Corbel"/>
              </a:rPr>
              <a:t>3</a:t>
            </a:r>
            <a:r>
              <a:rPr sz="1050" b="1" spc="15" baseline="27777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and p is pressure in </a:t>
            </a:r>
            <a:r>
              <a:rPr sz="1100" b="1" spc="-20" dirty="0">
                <a:latin typeface="Corbel"/>
                <a:cs typeface="Corbel"/>
              </a:rPr>
              <a:t>bar. </a:t>
            </a:r>
            <a:r>
              <a:rPr sz="1100" b="1" spc="-1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Calculate the </a:t>
            </a:r>
            <a:r>
              <a:rPr sz="1100" b="1" dirty="0">
                <a:latin typeface="Corbel"/>
                <a:cs typeface="Corbel"/>
              </a:rPr>
              <a:t>work done </a:t>
            </a:r>
            <a:r>
              <a:rPr sz="1100" b="1" spc="-5" dirty="0">
                <a:latin typeface="Corbel"/>
                <a:cs typeface="Corbel"/>
              </a:rPr>
              <a:t>when the volume changes from </a:t>
            </a:r>
            <a:r>
              <a:rPr sz="1100" b="1" dirty="0">
                <a:latin typeface="Corbel"/>
                <a:cs typeface="Corbel"/>
              </a:rPr>
              <a:t>2 to 3 </a:t>
            </a:r>
            <a:r>
              <a:rPr sz="1100" b="1" spc="5" dirty="0">
                <a:latin typeface="Corbel"/>
                <a:cs typeface="Corbel"/>
              </a:rPr>
              <a:t> m</a:t>
            </a:r>
            <a:r>
              <a:rPr sz="1050" b="1" spc="7" baseline="27777" dirty="0">
                <a:latin typeface="Corbel"/>
                <a:cs typeface="Corbel"/>
              </a:rPr>
              <a:t>3</a:t>
            </a:r>
            <a:r>
              <a:rPr sz="1100" b="1" spc="5" dirty="0">
                <a:latin typeface="Corbel"/>
                <a:cs typeface="Corbel"/>
              </a:rPr>
              <a:t>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2349245" y="6632575"/>
            <a:ext cx="6864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latin typeface="Corbel"/>
                <a:cs typeface="Corbel"/>
              </a:rPr>
              <a:t>Given</a:t>
            </a:r>
            <a:r>
              <a:rPr sz="1100" spc="-5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data: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8500" y="6549364"/>
            <a:ext cx="82169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50000"/>
              </a:lnSpc>
              <a:spcBef>
                <a:spcPts val="100"/>
              </a:spcBef>
            </a:pPr>
            <a:r>
              <a:rPr sz="1100" dirty="0">
                <a:latin typeface="Corbel"/>
                <a:cs typeface="Corbel"/>
              </a:rPr>
              <a:t>p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5V</a:t>
            </a:r>
            <a:r>
              <a:rPr sz="1100" spc="-3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-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8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bar </a:t>
            </a:r>
            <a:r>
              <a:rPr sz="1100" spc="-204" dirty="0">
                <a:latin typeface="Corbel"/>
                <a:cs typeface="Corbel"/>
              </a:rPr>
              <a:t> </a:t>
            </a:r>
            <a:r>
              <a:rPr sz="1100" spc="5" dirty="0">
                <a:latin typeface="Corbel"/>
                <a:cs typeface="Corbel"/>
              </a:rPr>
              <a:t>V</a:t>
            </a:r>
            <a:r>
              <a:rPr sz="1050" spc="7" baseline="-19841" dirty="0">
                <a:latin typeface="Corbel"/>
                <a:cs typeface="Corbel"/>
              </a:rPr>
              <a:t>1</a:t>
            </a:r>
            <a:r>
              <a:rPr sz="1050" spc="104" baseline="-19841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2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5" dirty="0">
                <a:latin typeface="Corbel"/>
                <a:cs typeface="Corbel"/>
              </a:rPr>
              <a:t>m</a:t>
            </a:r>
            <a:r>
              <a:rPr sz="1050" spc="7" baseline="27777" dirty="0">
                <a:latin typeface="Corbel"/>
                <a:cs typeface="Corbel"/>
              </a:rPr>
              <a:t>3</a:t>
            </a:r>
            <a:endParaRPr sz="1050" baseline="27777">
              <a:latin typeface="Corbel"/>
              <a:cs typeface="Corbel"/>
            </a:endParaRPr>
          </a:p>
          <a:p>
            <a:pPr marL="38100" marR="266700">
              <a:lnSpc>
                <a:spcPct val="150000"/>
              </a:lnSpc>
            </a:pPr>
            <a:r>
              <a:rPr sz="1100" spc="5" dirty="0">
                <a:latin typeface="Corbel"/>
                <a:cs typeface="Corbel"/>
              </a:rPr>
              <a:t>V</a:t>
            </a:r>
            <a:r>
              <a:rPr sz="1050" spc="7" baseline="-19841" dirty="0">
                <a:latin typeface="Corbel"/>
                <a:cs typeface="Corbel"/>
              </a:rPr>
              <a:t>2</a:t>
            </a:r>
            <a:r>
              <a:rPr sz="1050" spc="60" baseline="-19841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3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3</a:t>
            </a:r>
            <a:r>
              <a:rPr sz="1100" spc="-35" dirty="0">
                <a:latin typeface="Corbel"/>
                <a:cs typeface="Corbel"/>
              </a:rPr>
              <a:t> </a:t>
            </a:r>
            <a:r>
              <a:rPr sz="1100" spc="5" dirty="0">
                <a:latin typeface="Corbel"/>
                <a:cs typeface="Corbel"/>
              </a:rPr>
              <a:t>m</a:t>
            </a:r>
            <a:r>
              <a:rPr sz="1050" spc="7" baseline="27777" dirty="0">
                <a:latin typeface="Corbel"/>
                <a:cs typeface="Corbel"/>
              </a:rPr>
              <a:t>3 </a:t>
            </a:r>
            <a:r>
              <a:rPr sz="1050" spc="-187" baseline="27777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W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?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515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Numerical</a:t>
            </a:r>
            <a:r>
              <a:rPr sz="18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2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510"/>
              </a:spcBef>
            </a:pP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u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ic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l</a:t>
            </a:r>
            <a:r>
              <a:rPr sz="18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2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28720" y="1931797"/>
            <a:ext cx="414655" cy="106045"/>
          </a:xfrm>
          <a:custGeom>
            <a:avLst/>
            <a:gdLst/>
            <a:ahLst/>
            <a:cxnLst/>
            <a:rect l="l" t="t" r="r" b="b"/>
            <a:pathLst>
              <a:path w="414654" h="106044">
                <a:moveTo>
                  <a:pt x="380745" y="0"/>
                </a:moveTo>
                <a:lnTo>
                  <a:pt x="379221" y="4318"/>
                </a:lnTo>
                <a:lnTo>
                  <a:pt x="385345" y="6937"/>
                </a:lnTo>
                <a:lnTo>
                  <a:pt x="390588" y="10604"/>
                </a:lnTo>
                <a:lnTo>
                  <a:pt x="404749" y="52450"/>
                </a:lnTo>
                <a:lnTo>
                  <a:pt x="404366" y="61757"/>
                </a:lnTo>
                <a:lnTo>
                  <a:pt x="385399" y="98905"/>
                </a:lnTo>
                <a:lnTo>
                  <a:pt x="379349" y="101600"/>
                </a:lnTo>
                <a:lnTo>
                  <a:pt x="380745" y="105918"/>
                </a:lnTo>
                <a:lnTo>
                  <a:pt x="409578" y="79873"/>
                </a:lnTo>
                <a:lnTo>
                  <a:pt x="414401" y="52958"/>
                </a:lnTo>
                <a:lnTo>
                  <a:pt x="413873" y="43241"/>
                </a:lnTo>
                <a:lnTo>
                  <a:pt x="395112" y="6794"/>
                </a:lnTo>
                <a:lnTo>
                  <a:pt x="388387" y="2790"/>
                </a:lnTo>
                <a:lnTo>
                  <a:pt x="380745" y="0"/>
                </a:lnTo>
                <a:close/>
              </a:path>
              <a:path w="414654" h="106044">
                <a:moveTo>
                  <a:pt x="33781" y="0"/>
                </a:moveTo>
                <a:lnTo>
                  <a:pt x="4929" y="26044"/>
                </a:lnTo>
                <a:lnTo>
                  <a:pt x="0" y="52958"/>
                </a:lnTo>
                <a:lnTo>
                  <a:pt x="547" y="62676"/>
                </a:lnTo>
                <a:lnTo>
                  <a:pt x="19319" y="99123"/>
                </a:lnTo>
                <a:lnTo>
                  <a:pt x="33781" y="105918"/>
                </a:lnTo>
                <a:lnTo>
                  <a:pt x="35179" y="101600"/>
                </a:lnTo>
                <a:lnTo>
                  <a:pt x="29128" y="98905"/>
                </a:lnTo>
                <a:lnTo>
                  <a:pt x="23923" y="95186"/>
                </a:lnTo>
                <a:lnTo>
                  <a:pt x="9652" y="52450"/>
                </a:lnTo>
                <a:lnTo>
                  <a:pt x="10054" y="43406"/>
                </a:lnTo>
                <a:lnTo>
                  <a:pt x="29182" y="6937"/>
                </a:lnTo>
                <a:lnTo>
                  <a:pt x="35306" y="4318"/>
                </a:lnTo>
                <a:lnTo>
                  <a:pt x="337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3845" y="1166215"/>
            <a:ext cx="2219325" cy="104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marR="30480" indent="-457834">
              <a:lnSpc>
                <a:spcPct val="150000"/>
              </a:lnSpc>
              <a:spcBef>
                <a:spcPts val="10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Corbel"/>
                <a:cs typeface="Corbel"/>
              </a:rPr>
              <a:t>Disp</a:t>
            </a:r>
            <a:r>
              <a:rPr sz="1100" spc="-10" dirty="0">
                <a:latin typeface="Corbel"/>
                <a:cs typeface="Corbel"/>
              </a:rPr>
              <a:t>l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-5" dirty="0">
                <a:latin typeface="Corbel"/>
                <a:cs typeface="Corbel"/>
              </a:rPr>
              <a:t>c</a:t>
            </a:r>
            <a:r>
              <a:rPr sz="1100" dirty="0">
                <a:latin typeface="Corbel"/>
                <a:cs typeface="Corbel"/>
              </a:rPr>
              <a:t>eme</a:t>
            </a:r>
            <a:r>
              <a:rPr sz="1100" spc="5" dirty="0">
                <a:latin typeface="Corbel"/>
                <a:cs typeface="Corbel"/>
              </a:rPr>
              <a:t>n</a:t>
            </a:r>
            <a:r>
              <a:rPr sz="1100" dirty="0">
                <a:latin typeface="Corbel"/>
                <a:cs typeface="Corbel"/>
              </a:rPr>
              <a:t>t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w</a:t>
            </a:r>
            <a:r>
              <a:rPr sz="1100" spc="-5" dirty="0">
                <a:latin typeface="Corbel"/>
                <a:cs typeface="Corbel"/>
              </a:rPr>
              <a:t>or</a:t>
            </a:r>
            <a:r>
              <a:rPr sz="1100" dirty="0">
                <a:latin typeface="Corbel"/>
                <a:cs typeface="Corbel"/>
              </a:rPr>
              <a:t>k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do</a:t>
            </a:r>
            <a:r>
              <a:rPr sz="1100" dirty="0">
                <a:latin typeface="Corbel"/>
                <a:cs typeface="Corbel"/>
              </a:rPr>
              <a:t>ne</a:t>
            </a:r>
            <a:r>
              <a:rPr sz="1100" spc="-5" dirty="0">
                <a:latin typeface="Corbel"/>
                <a:cs typeface="Corbel"/>
              </a:rPr>
              <a:t> o</a:t>
            </a:r>
            <a:r>
              <a:rPr sz="1100" dirty="0">
                <a:latin typeface="Corbel"/>
                <a:cs typeface="Corbel"/>
              </a:rPr>
              <a:t>n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  </a:t>
            </a:r>
            <a:r>
              <a:rPr sz="1100" dirty="0">
                <a:latin typeface="Corbel"/>
                <a:cs typeface="Corbel"/>
              </a:rPr>
              <a:t>W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∫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</a:t>
            </a:r>
            <a:r>
              <a:rPr sz="1100" spc="-5" dirty="0">
                <a:latin typeface="Corbel"/>
                <a:cs typeface="Corbel"/>
              </a:rPr>
              <a:t> dV</a:t>
            </a:r>
            <a:endParaRPr sz="1100">
              <a:latin typeface="Corbel"/>
              <a:cs typeface="Corbel"/>
            </a:endParaRPr>
          </a:p>
          <a:p>
            <a:pPr marL="810260">
              <a:lnSpc>
                <a:spcPct val="100000"/>
              </a:lnSpc>
              <a:spcBef>
                <a:spcPts val="550"/>
              </a:spcBef>
            </a:pPr>
            <a:r>
              <a:rPr sz="650" spc="-35" dirty="0">
                <a:latin typeface="Cambria Math"/>
                <a:cs typeface="Cambria Math"/>
              </a:rPr>
              <a:t>𝑉</a:t>
            </a:r>
            <a:r>
              <a:rPr sz="825" spc="-52" baseline="-15151" dirty="0">
                <a:latin typeface="Cambria Math"/>
                <a:cs typeface="Cambria Math"/>
              </a:rPr>
              <a:t>2</a:t>
            </a:r>
            <a:endParaRPr sz="825" baseline="-15151">
              <a:latin typeface="Cambria Math"/>
              <a:cs typeface="Cambria Math"/>
            </a:endParaRPr>
          </a:p>
          <a:p>
            <a:pPr marL="649605">
              <a:lnSpc>
                <a:spcPct val="100000"/>
              </a:lnSpc>
              <a:spcBef>
                <a:spcPts val="425"/>
              </a:spcBef>
            </a:pPr>
            <a:r>
              <a:rPr sz="900" dirty="0">
                <a:latin typeface="Cambria Math"/>
                <a:cs typeface="Cambria Math"/>
              </a:rPr>
              <a:t>=</a:t>
            </a:r>
            <a:r>
              <a:rPr sz="900" spc="185" dirty="0">
                <a:latin typeface="Cambria Math"/>
                <a:cs typeface="Cambria Math"/>
              </a:rPr>
              <a:t> </a:t>
            </a:r>
            <a:r>
              <a:rPr sz="900" spc="-175" dirty="0">
                <a:latin typeface="Cambria Math"/>
                <a:cs typeface="Cambria Math"/>
              </a:rPr>
              <a:t>න</a:t>
            </a:r>
            <a:r>
              <a:rPr sz="900" spc="90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5𝑉</a:t>
            </a:r>
            <a:r>
              <a:rPr sz="900" spc="20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− 8</a:t>
            </a:r>
            <a:r>
              <a:rPr sz="900" spc="350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×</a:t>
            </a:r>
            <a:r>
              <a:rPr sz="900" spc="5" dirty="0">
                <a:latin typeface="Cambria Math"/>
                <a:cs typeface="Cambria Math"/>
              </a:rPr>
              <a:t> </a:t>
            </a:r>
            <a:r>
              <a:rPr sz="900" spc="10" dirty="0">
                <a:latin typeface="Cambria Math"/>
                <a:cs typeface="Cambria Math"/>
              </a:rPr>
              <a:t>10</a:t>
            </a:r>
            <a:r>
              <a:rPr sz="975" spc="15" baseline="25641" dirty="0">
                <a:latin typeface="Cambria Math"/>
                <a:cs typeface="Cambria Math"/>
              </a:rPr>
              <a:t>5</a:t>
            </a:r>
            <a:r>
              <a:rPr sz="975" spc="112" baseline="25641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×</a:t>
            </a:r>
            <a:r>
              <a:rPr sz="900" spc="-10" dirty="0">
                <a:latin typeface="Cambria Math"/>
                <a:cs typeface="Cambria Math"/>
              </a:rPr>
              <a:t> </a:t>
            </a:r>
            <a:r>
              <a:rPr sz="900" spc="-5" dirty="0">
                <a:latin typeface="Cambria Math"/>
                <a:cs typeface="Cambria Math"/>
              </a:rPr>
              <a:t>𝑑𝑉</a:t>
            </a:r>
            <a:endParaRPr sz="900">
              <a:latin typeface="Cambria Math"/>
              <a:cs typeface="Cambria Math"/>
            </a:endParaRPr>
          </a:p>
          <a:p>
            <a:pPr marL="768985">
              <a:lnSpc>
                <a:spcPct val="100000"/>
              </a:lnSpc>
              <a:spcBef>
                <a:spcPts val="415"/>
              </a:spcBef>
            </a:pPr>
            <a:r>
              <a:rPr sz="650" spc="-35" dirty="0">
                <a:latin typeface="Cambria Math"/>
                <a:cs typeface="Cambria Math"/>
              </a:rPr>
              <a:t>𝑉</a:t>
            </a:r>
            <a:r>
              <a:rPr sz="825" spc="-52" baseline="-15151" dirty="0">
                <a:latin typeface="Cambria Math"/>
                <a:cs typeface="Cambria Math"/>
              </a:rPr>
              <a:t>1</a:t>
            </a:r>
            <a:endParaRPr sz="825" baseline="-15151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7322" y="2362961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/>
                <a:cs typeface="Cambria Math"/>
              </a:rPr>
              <a:t>=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47617" y="2312669"/>
            <a:ext cx="29209" cy="288290"/>
          </a:xfrm>
          <a:custGeom>
            <a:avLst/>
            <a:gdLst/>
            <a:ahLst/>
            <a:cxnLst/>
            <a:rect l="l" t="t" r="r" b="b"/>
            <a:pathLst>
              <a:path w="29210" h="288289">
                <a:moveTo>
                  <a:pt x="28702" y="0"/>
                </a:moveTo>
                <a:lnTo>
                  <a:pt x="0" y="0"/>
                </a:lnTo>
                <a:lnTo>
                  <a:pt x="0" y="5080"/>
                </a:lnTo>
                <a:lnTo>
                  <a:pt x="17780" y="5080"/>
                </a:lnTo>
                <a:lnTo>
                  <a:pt x="17780" y="283210"/>
                </a:lnTo>
                <a:lnTo>
                  <a:pt x="0" y="283210"/>
                </a:lnTo>
                <a:lnTo>
                  <a:pt x="0" y="288290"/>
                </a:lnTo>
                <a:lnTo>
                  <a:pt x="28702" y="288290"/>
                </a:lnTo>
                <a:lnTo>
                  <a:pt x="28702" y="283210"/>
                </a:lnTo>
                <a:lnTo>
                  <a:pt x="28702" y="5080"/>
                </a:lnTo>
                <a:lnTo>
                  <a:pt x="28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9181" y="2310891"/>
            <a:ext cx="622935" cy="291465"/>
          </a:xfrm>
          <a:custGeom>
            <a:avLst/>
            <a:gdLst/>
            <a:ahLst/>
            <a:cxnLst/>
            <a:rect l="l" t="t" r="r" b="b"/>
            <a:pathLst>
              <a:path w="622935" h="291464">
                <a:moveTo>
                  <a:pt x="28575" y="1778"/>
                </a:moveTo>
                <a:lnTo>
                  <a:pt x="0" y="1778"/>
                </a:lnTo>
                <a:lnTo>
                  <a:pt x="0" y="6858"/>
                </a:lnTo>
                <a:lnTo>
                  <a:pt x="0" y="284988"/>
                </a:lnTo>
                <a:lnTo>
                  <a:pt x="0" y="290068"/>
                </a:lnTo>
                <a:lnTo>
                  <a:pt x="28575" y="290068"/>
                </a:lnTo>
                <a:lnTo>
                  <a:pt x="28575" y="284988"/>
                </a:lnTo>
                <a:lnTo>
                  <a:pt x="10795" y="284988"/>
                </a:lnTo>
                <a:lnTo>
                  <a:pt x="10795" y="6858"/>
                </a:lnTo>
                <a:lnTo>
                  <a:pt x="28575" y="6858"/>
                </a:lnTo>
                <a:lnTo>
                  <a:pt x="28575" y="1778"/>
                </a:lnTo>
                <a:close/>
              </a:path>
              <a:path w="622935" h="291464">
                <a:moveTo>
                  <a:pt x="93345" y="4191"/>
                </a:moveTo>
                <a:lnTo>
                  <a:pt x="61683" y="40309"/>
                </a:lnTo>
                <a:lnTo>
                  <a:pt x="48437" y="78625"/>
                </a:lnTo>
                <a:lnTo>
                  <a:pt x="41719" y="122110"/>
                </a:lnTo>
                <a:lnTo>
                  <a:pt x="40894" y="145542"/>
                </a:lnTo>
                <a:lnTo>
                  <a:pt x="41719" y="168694"/>
                </a:lnTo>
                <a:lnTo>
                  <a:pt x="48437" y="212128"/>
                </a:lnTo>
                <a:lnTo>
                  <a:pt x="61683" y="250901"/>
                </a:lnTo>
                <a:lnTo>
                  <a:pt x="90805" y="291465"/>
                </a:lnTo>
                <a:lnTo>
                  <a:pt x="93345" y="287286"/>
                </a:lnTo>
                <a:lnTo>
                  <a:pt x="84010" y="276059"/>
                </a:lnTo>
                <a:lnTo>
                  <a:pt x="75819" y="262610"/>
                </a:lnTo>
                <a:lnTo>
                  <a:pt x="58166" y="209486"/>
                </a:lnTo>
                <a:lnTo>
                  <a:pt x="52755" y="167767"/>
                </a:lnTo>
                <a:lnTo>
                  <a:pt x="52070" y="145542"/>
                </a:lnTo>
                <a:lnTo>
                  <a:pt x="52755" y="123024"/>
                </a:lnTo>
                <a:lnTo>
                  <a:pt x="58166" y="81165"/>
                </a:lnTo>
                <a:lnTo>
                  <a:pt x="68770" y="44183"/>
                </a:lnTo>
                <a:lnTo>
                  <a:pt x="84010" y="15367"/>
                </a:lnTo>
                <a:lnTo>
                  <a:pt x="93345" y="4191"/>
                </a:lnTo>
                <a:close/>
              </a:path>
              <a:path w="622935" h="291464">
                <a:moveTo>
                  <a:pt x="292100" y="141859"/>
                </a:moveTo>
                <a:lnTo>
                  <a:pt x="97028" y="141859"/>
                </a:lnTo>
                <a:lnTo>
                  <a:pt x="97028" y="149479"/>
                </a:lnTo>
                <a:lnTo>
                  <a:pt x="292100" y="149479"/>
                </a:lnTo>
                <a:lnTo>
                  <a:pt x="292100" y="141859"/>
                </a:lnTo>
                <a:close/>
              </a:path>
              <a:path w="622935" h="291464">
                <a:moveTo>
                  <a:pt x="622554" y="145542"/>
                </a:moveTo>
                <a:lnTo>
                  <a:pt x="619201" y="99809"/>
                </a:lnTo>
                <a:lnTo>
                  <a:pt x="609092" y="58547"/>
                </a:lnTo>
                <a:lnTo>
                  <a:pt x="583615" y="11023"/>
                </a:lnTo>
                <a:lnTo>
                  <a:pt x="572770" y="0"/>
                </a:lnTo>
                <a:lnTo>
                  <a:pt x="570103" y="4191"/>
                </a:lnTo>
                <a:lnTo>
                  <a:pt x="579361" y="15367"/>
                </a:lnTo>
                <a:lnTo>
                  <a:pt x="587527" y="28689"/>
                </a:lnTo>
                <a:lnTo>
                  <a:pt x="605269" y="81165"/>
                </a:lnTo>
                <a:lnTo>
                  <a:pt x="610679" y="123024"/>
                </a:lnTo>
                <a:lnTo>
                  <a:pt x="611378" y="145542"/>
                </a:lnTo>
                <a:lnTo>
                  <a:pt x="610679" y="167767"/>
                </a:lnTo>
                <a:lnTo>
                  <a:pt x="605269" y="209486"/>
                </a:lnTo>
                <a:lnTo>
                  <a:pt x="594664" y="246913"/>
                </a:lnTo>
                <a:lnTo>
                  <a:pt x="570103" y="287286"/>
                </a:lnTo>
                <a:lnTo>
                  <a:pt x="572770" y="291465"/>
                </a:lnTo>
                <a:lnTo>
                  <a:pt x="601802" y="250901"/>
                </a:lnTo>
                <a:lnTo>
                  <a:pt x="614997" y="212128"/>
                </a:lnTo>
                <a:lnTo>
                  <a:pt x="621715" y="168694"/>
                </a:lnTo>
                <a:lnTo>
                  <a:pt x="622554" y="1455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58998" y="2249110"/>
            <a:ext cx="266700" cy="353060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9"/>
              </a:spcBef>
            </a:pPr>
            <a:r>
              <a:rPr sz="900" spc="20" dirty="0">
                <a:latin typeface="Cambria Math"/>
                <a:cs typeface="Cambria Math"/>
              </a:rPr>
              <a:t>5𝑉</a:t>
            </a:r>
            <a:r>
              <a:rPr sz="975" spc="30" baseline="25641" dirty="0">
                <a:latin typeface="Cambria Math"/>
                <a:cs typeface="Cambria Math"/>
              </a:rPr>
              <a:t>2</a:t>
            </a:r>
            <a:endParaRPr sz="975" baseline="25641">
              <a:latin typeface="Cambria Math"/>
              <a:cs typeface="Cambria Math"/>
            </a:endParaRPr>
          </a:p>
          <a:p>
            <a:pPr marL="3810" algn="ctr">
              <a:lnSpc>
                <a:spcPct val="100000"/>
              </a:lnSpc>
              <a:spcBef>
                <a:spcPts val="204"/>
              </a:spcBef>
            </a:pPr>
            <a:r>
              <a:rPr sz="900" dirty="0">
                <a:latin typeface="Cambria Math"/>
                <a:cs typeface="Cambria Math"/>
              </a:rPr>
              <a:t>2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78453" y="2362961"/>
            <a:ext cx="7137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/>
                <a:cs typeface="Cambria Math"/>
              </a:rPr>
              <a:t>−</a:t>
            </a:r>
            <a:r>
              <a:rPr sz="900" spc="-10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8𝑉</a:t>
            </a:r>
            <a:r>
              <a:rPr sz="900" spc="305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×</a:t>
            </a:r>
            <a:r>
              <a:rPr sz="900" spc="-20" dirty="0">
                <a:latin typeface="Cambria Math"/>
                <a:cs typeface="Cambria Math"/>
              </a:rPr>
              <a:t> </a:t>
            </a:r>
            <a:r>
              <a:rPr sz="900" spc="10" dirty="0">
                <a:latin typeface="Cambria Math"/>
                <a:cs typeface="Cambria Math"/>
              </a:rPr>
              <a:t>10</a:t>
            </a:r>
            <a:r>
              <a:rPr sz="975" spc="15" baseline="29914" dirty="0">
                <a:latin typeface="Cambria Math"/>
                <a:cs typeface="Cambria Math"/>
              </a:rPr>
              <a:t>5</a:t>
            </a:r>
            <a:endParaRPr sz="975" baseline="29914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52061" y="2524505"/>
            <a:ext cx="363220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25" dirty="0">
                <a:latin typeface="Cambria Math"/>
                <a:cs typeface="Cambria Math"/>
              </a:rPr>
              <a:t>𝑉=2𝑚</a:t>
            </a:r>
            <a:r>
              <a:rPr sz="825" spc="37" baseline="25252" dirty="0">
                <a:latin typeface="Cambria Math"/>
                <a:cs typeface="Cambria Math"/>
              </a:rPr>
              <a:t>3</a:t>
            </a:r>
            <a:endParaRPr sz="825" baseline="25252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52061" y="2237612"/>
            <a:ext cx="363220" cy="126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25" dirty="0">
                <a:latin typeface="Cambria Math"/>
                <a:cs typeface="Cambria Math"/>
              </a:rPr>
              <a:t>𝑉=3𝑚</a:t>
            </a:r>
            <a:r>
              <a:rPr sz="825" spc="37" baseline="25252" dirty="0">
                <a:latin typeface="Cambria Math"/>
                <a:cs typeface="Cambria Math"/>
              </a:rPr>
              <a:t>3</a:t>
            </a:r>
            <a:endParaRPr sz="825" baseline="25252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50845" y="2748534"/>
            <a:ext cx="111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/>
                <a:cs typeface="Cambria Math"/>
              </a:rPr>
              <a:t>=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89551" y="2698749"/>
            <a:ext cx="376555" cy="288290"/>
          </a:xfrm>
          <a:custGeom>
            <a:avLst/>
            <a:gdLst/>
            <a:ahLst/>
            <a:cxnLst/>
            <a:rect l="l" t="t" r="r" b="b"/>
            <a:pathLst>
              <a:path w="376554" h="288289">
                <a:moveTo>
                  <a:pt x="35306" y="93853"/>
                </a:moveTo>
                <a:lnTo>
                  <a:pt x="33782" y="89535"/>
                </a:lnTo>
                <a:lnTo>
                  <a:pt x="26060" y="92329"/>
                </a:lnTo>
                <a:lnTo>
                  <a:pt x="19316" y="96329"/>
                </a:lnTo>
                <a:lnTo>
                  <a:pt x="546" y="132778"/>
                </a:lnTo>
                <a:lnTo>
                  <a:pt x="0" y="142494"/>
                </a:lnTo>
                <a:lnTo>
                  <a:pt x="533" y="152222"/>
                </a:lnTo>
                <a:lnTo>
                  <a:pt x="19304" y="188658"/>
                </a:lnTo>
                <a:lnTo>
                  <a:pt x="33782" y="195453"/>
                </a:lnTo>
                <a:lnTo>
                  <a:pt x="35052" y="191135"/>
                </a:lnTo>
                <a:lnTo>
                  <a:pt x="29044" y="188442"/>
                </a:lnTo>
                <a:lnTo>
                  <a:pt x="23837" y="184721"/>
                </a:lnTo>
                <a:lnTo>
                  <a:pt x="9652" y="141986"/>
                </a:lnTo>
                <a:lnTo>
                  <a:pt x="10033" y="132943"/>
                </a:lnTo>
                <a:lnTo>
                  <a:pt x="29159" y="96481"/>
                </a:lnTo>
                <a:lnTo>
                  <a:pt x="35306" y="93853"/>
                </a:lnTo>
                <a:close/>
              </a:path>
              <a:path w="376554" h="288289">
                <a:moveTo>
                  <a:pt x="335153" y="142494"/>
                </a:moveTo>
                <a:lnTo>
                  <a:pt x="321602" y="101574"/>
                </a:lnTo>
                <a:lnTo>
                  <a:pt x="301371" y="89535"/>
                </a:lnTo>
                <a:lnTo>
                  <a:pt x="299847" y="93853"/>
                </a:lnTo>
                <a:lnTo>
                  <a:pt x="305981" y="96481"/>
                </a:lnTo>
                <a:lnTo>
                  <a:pt x="311277" y="100152"/>
                </a:lnTo>
                <a:lnTo>
                  <a:pt x="325501" y="141986"/>
                </a:lnTo>
                <a:lnTo>
                  <a:pt x="325107" y="151295"/>
                </a:lnTo>
                <a:lnTo>
                  <a:pt x="306095" y="188442"/>
                </a:lnTo>
                <a:lnTo>
                  <a:pt x="300101" y="191135"/>
                </a:lnTo>
                <a:lnTo>
                  <a:pt x="301371" y="195453"/>
                </a:lnTo>
                <a:lnTo>
                  <a:pt x="330276" y="169418"/>
                </a:lnTo>
                <a:lnTo>
                  <a:pt x="334606" y="152222"/>
                </a:lnTo>
                <a:lnTo>
                  <a:pt x="335153" y="142494"/>
                </a:lnTo>
                <a:close/>
              </a:path>
              <a:path w="376554" h="288289">
                <a:moveTo>
                  <a:pt x="376174" y="0"/>
                </a:moveTo>
                <a:lnTo>
                  <a:pt x="347472" y="0"/>
                </a:lnTo>
                <a:lnTo>
                  <a:pt x="347472" y="5080"/>
                </a:lnTo>
                <a:lnTo>
                  <a:pt x="365379" y="5080"/>
                </a:lnTo>
                <a:lnTo>
                  <a:pt x="365379" y="281940"/>
                </a:lnTo>
                <a:lnTo>
                  <a:pt x="347472" y="281940"/>
                </a:lnTo>
                <a:lnTo>
                  <a:pt x="347472" y="288290"/>
                </a:lnTo>
                <a:lnTo>
                  <a:pt x="376174" y="288290"/>
                </a:lnTo>
                <a:lnTo>
                  <a:pt x="376174" y="281940"/>
                </a:lnTo>
                <a:lnTo>
                  <a:pt x="376174" y="5080"/>
                </a:lnTo>
                <a:lnTo>
                  <a:pt x="3761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92831" y="2696590"/>
            <a:ext cx="467359" cy="291465"/>
          </a:xfrm>
          <a:custGeom>
            <a:avLst/>
            <a:gdLst/>
            <a:ahLst/>
            <a:cxnLst/>
            <a:rect l="l" t="t" r="r" b="b"/>
            <a:pathLst>
              <a:path w="467360" h="291464">
                <a:moveTo>
                  <a:pt x="28702" y="2159"/>
                </a:moveTo>
                <a:lnTo>
                  <a:pt x="0" y="2159"/>
                </a:lnTo>
                <a:lnTo>
                  <a:pt x="0" y="7239"/>
                </a:lnTo>
                <a:lnTo>
                  <a:pt x="0" y="284099"/>
                </a:lnTo>
                <a:lnTo>
                  <a:pt x="0" y="290449"/>
                </a:lnTo>
                <a:lnTo>
                  <a:pt x="28702" y="290449"/>
                </a:lnTo>
                <a:lnTo>
                  <a:pt x="28702" y="284099"/>
                </a:lnTo>
                <a:lnTo>
                  <a:pt x="10922" y="284099"/>
                </a:lnTo>
                <a:lnTo>
                  <a:pt x="10922" y="7239"/>
                </a:lnTo>
                <a:lnTo>
                  <a:pt x="28702" y="7239"/>
                </a:lnTo>
                <a:lnTo>
                  <a:pt x="28702" y="2159"/>
                </a:lnTo>
                <a:close/>
              </a:path>
              <a:path w="467360" h="291464">
                <a:moveTo>
                  <a:pt x="93472" y="4191"/>
                </a:moveTo>
                <a:lnTo>
                  <a:pt x="61760" y="40309"/>
                </a:lnTo>
                <a:lnTo>
                  <a:pt x="48564" y="78625"/>
                </a:lnTo>
                <a:lnTo>
                  <a:pt x="41846" y="122110"/>
                </a:lnTo>
                <a:lnTo>
                  <a:pt x="41021" y="145669"/>
                </a:lnTo>
                <a:lnTo>
                  <a:pt x="41846" y="168694"/>
                </a:lnTo>
                <a:lnTo>
                  <a:pt x="48564" y="212128"/>
                </a:lnTo>
                <a:lnTo>
                  <a:pt x="61760" y="250888"/>
                </a:lnTo>
                <a:lnTo>
                  <a:pt x="90805" y="291465"/>
                </a:lnTo>
                <a:lnTo>
                  <a:pt x="93472" y="287274"/>
                </a:lnTo>
                <a:lnTo>
                  <a:pt x="84137" y="276136"/>
                </a:lnTo>
                <a:lnTo>
                  <a:pt x="75946" y="262712"/>
                </a:lnTo>
                <a:lnTo>
                  <a:pt x="58242" y="209486"/>
                </a:lnTo>
                <a:lnTo>
                  <a:pt x="52857" y="167817"/>
                </a:lnTo>
                <a:lnTo>
                  <a:pt x="52197" y="145542"/>
                </a:lnTo>
                <a:lnTo>
                  <a:pt x="52882" y="123075"/>
                </a:lnTo>
                <a:lnTo>
                  <a:pt x="58293" y="81165"/>
                </a:lnTo>
                <a:lnTo>
                  <a:pt x="68897" y="44183"/>
                </a:lnTo>
                <a:lnTo>
                  <a:pt x="84137" y="15367"/>
                </a:lnTo>
                <a:lnTo>
                  <a:pt x="93472" y="4191"/>
                </a:lnTo>
                <a:close/>
              </a:path>
              <a:path w="467360" h="291464">
                <a:moveTo>
                  <a:pt x="161163" y="141859"/>
                </a:moveTo>
                <a:lnTo>
                  <a:pt x="97155" y="141859"/>
                </a:lnTo>
                <a:lnTo>
                  <a:pt x="97155" y="149479"/>
                </a:lnTo>
                <a:lnTo>
                  <a:pt x="161163" y="149479"/>
                </a:lnTo>
                <a:lnTo>
                  <a:pt x="161163" y="141859"/>
                </a:lnTo>
                <a:close/>
              </a:path>
              <a:path w="467360" h="291464">
                <a:moveTo>
                  <a:pt x="467233" y="145542"/>
                </a:moveTo>
                <a:lnTo>
                  <a:pt x="463880" y="99809"/>
                </a:lnTo>
                <a:lnTo>
                  <a:pt x="453771" y="58547"/>
                </a:lnTo>
                <a:lnTo>
                  <a:pt x="428231" y="11023"/>
                </a:lnTo>
                <a:lnTo>
                  <a:pt x="417322" y="0"/>
                </a:lnTo>
                <a:lnTo>
                  <a:pt x="414782" y="4191"/>
                </a:lnTo>
                <a:lnTo>
                  <a:pt x="424040" y="15367"/>
                </a:lnTo>
                <a:lnTo>
                  <a:pt x="432206" y="28689"/>
                </a:lnTo>
                <a:lnTo>
                  <a:pt x="449922" y="81165"/>
                </a:lnTo>
                <a:lnTo>
                  <a:pt x="455256" y="123075"/>
                </a:lnTo>
                <a:lnTo>
                  <a:pt x="455930" y="145669"/>
                </a:lnTo>
                <a:lnTo>
                  <a:pt x="455256" y="167817"/>
                </a:lnTo>
                <a:lnTo>
                  <a:pt x="449922" y="209486"/>
                </a:lnTo>
                <a:lnTo>
                  <a:pt x="439356" y="246989"/>
                </a:lnTo>
                <a:lnTo>
                  <a:pt x="414782" y="287274"/>
                </a:lnTo>
                <a:lnTo>
                  <a:pt x="417322" y="291465"/>
                </a:lnTo>
                <a:lnTo>
                  <a:pt x="446430" y="250888"/>
                </a:lnTo>
                <a:lnTo>
                  <a:pt x="459676" y="212128"/>
                </a:lnTo>
                <a:lnTo>
                  <a:pt x="466394" y="168694"/>
                </a:lnTo>
                <a:lnTo>
                  <a:pt x="467233" y="1455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177920" y="2824734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/>
                <a:cs typeface="Cambria Math"/>
              </a:rPr>
              <a:t>2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714496" y="2696590"/>
            <a:ext cx="424815" cy="291465"/>
          </a:xfrm>
          <a:custGeom>
            <a:avLst/>
            <a:gdLst/>
            <a:ahLst/>
            <a:cxnLst/>
            <a:rect l="l" t="t" r="r" b="b"/>
            <a:pathLst>
              <a:path w="424814" h="291464">
                <a:moveTo>
                  <a:pt x="52451" y="4191"/>
                </a:moveTo>
                <a:lnTo>
                  <a:pt x="20739" y="40309"/>
                </a:lnTo>
                <a:lnTo>
                  <a:pt x="7543" y="78625"/>
                </a:lnTo>
                <a:lnTo>
                  <a:pt x="825" y="122110"/>
                </a:lnTo>
                <a:lnTo>
                  <a:pt x="0" y="145669"/>
                </a:lnTo>
                <a:lnTo>
                  <a:pt x="825" y="168694"/>
                </a:lnTo>
                <a:lnTo>
                  <a:pt x="7543" y="212128"/>
                </a:lnTo>
                <a:lnTo>
                  <a:pt x="20739" y="250888"/>
                </a:lnTo>
                <a:lnTo>
                  <a:pt x="49784" y="291465"/>
                </a:lnTo>
                <a:lnTo>
                  <a:pt x="52451" y="287274"/>
                </a:lnTo>
                <a:lnTo>
                  <a:pt x="43116" y="276136"/>
                </a:lnTo>
                <a:lnTo>
                  <a:pt x="34912" y="262712"/>
                </a:lnTo>
                <a:lnTo>
                  <a:pt x="17221" y="209486"/>
                </a:lnTo>
                <a:lnTo>
                  <a:pt x="11836" y="167817"/>
                </a:lnTo>
                <a:lnTo>
                  <a:pt x="11176" y="145542"/>
                </a:lnTo>
                <a:lnTo>
                  <a:pt x="11861" y="123075"/>
                </a:lnTo>
                <a:lnTo>
                  <a:pt x="17272" y="81165"/>
                </a:lnTo>
                <a:lnTo>
                  <a:pt x="27876" y="44183"/>
                </a:lnTo>
                <a:lnTo>
                  <a:pt x="43116" y="15367"/>
                </a:lnTo>
                <a:lnTo>
                  <a:pt x="52451" y="4191"/>
                </a:lnTo>
                <a:close/>
              </a:path>
              <a:path w="424814" h="291464">
                <a:moveTo>
                  <a:pt x="120142" y="141859"/>
                </a:moveTo>
                <a:lnTo>
                  <a:pt x="56134" y="141859"/>
                </a:lnTo>
                <a:lnTo>
                  <a:pt x="56134" y="149479"/>
                </a:lnTo>
                <a:lnTo>
                  <a:pt x="120142" y="149479"/>
                </a:lnTo>
                <a:lnTo>
                  <a:pt x="120142" y="141859"/>
                </a:lnTo>
                <a:close/>
              </a:path>
              <a:path w="424814" h="291464">
                <a:moveTo>
                  <a:pt x="424688" y="145542"/>
                </a:moveTo>
                <a:lnTo>
                  <a:pt x="421335" y="99809"/>
                </a:lnTo>
                <a:lnTo>
                  <a:pt x="411226" y="58547"/>
                </a:lnTo>
                <a:lnTo>
                  <a:pt x="385686" y="11023"/>
                </a:lnTo>
                <a:lnTo>
                  <a:pt x="374777" y="0"/>
                </a:lnTo>
                <a:lnTo>
                  <a:pt x="372237" y="4191"/>
                </a:lnTo>
                <a:lnTo>
                  <a:pt x="381495" y="15367"/>
                </a:lnTo>
                <a:lnTo>
                  <a:pt x="389661" y="28689"/>
                </a:lnTo>
                <a:lnTo>
                  <a:pt x="407377" y="81165"/>
                </a:lnTo>
                <a:lnTo>
                  <a:pt x="412711" y="123075"/>
                </a:lnTo>
                <a:lnTo>
                  <a:pt x="413385" y="145669"/>
                </a:lnTo>
                <a:lnTo>
                  <a:pt x="412711" y="167817"/>
                </a:lnTo>
                <a:lnTo>
                  <a:pt x="407377" y="209486"/>
                </a:lnTo>
                <a:lnTo>
                  <a:pt x="396798" y="246989"/>
                </a:lnTo>
                <a:lnTo>
                  <a:pt x="372237" y="287274"/>
                </a:lnTo>
                <a:lnTo>
                  <a:pt x="374777" y="291465"/>
                </a:lnTo>
                <a:lnTo>
                  <a:pt x="403885" y="250888"/>
                </a:lnTo>
                <a:lnTo>
                  <a:pt x="417131" y="212128"/>
                </a:lnTo>
                <a:lnTo>
                  <a:pt x="423849" y="168694"/>
                </a:lnTo>
                <a:lnTo>
                  <a:pt x="424688" y="1455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758946" y="2824734"/>
            <a:ext cx="889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/>
                <a:cs typeface="Cambria Math"/>
              </a:rPr>
              <a:t>2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295775" y="2788285"/>
            <a:ext cx="338455" cy="106045"/>
          </a:xfrm>
          <a:custGeom>
            <a:avLst/>
            <a:gdLst/>
            <a:ahLst/>
            <a:cxnLst/>
            <a:rect l="l" t="t" r="r" b="b"/>
            <a:pathLst>
              <a:path w="338454" h="106044">
                <a:moveTo>
                  <a:pt x="304419" y="0"/>
                </a:moveTo>
                <a:lnTo>
                  <a:pt x="302895" y="4317"/>
                </a:lnTo>
                <a:lnTo>
                  <a:pt x="309038" y="6937"/>
                </a:lnTo>
                <a:lnTo>
                  <a:pt x="314325" y="10604"/>
                </a:lnTo>
                <a:lnTo>
                  <a:pt x="328549" y="52450"/>
                </a:lnTo>
                <a:lnTo>
                  <a:pt x="328166" y="61757"/>
                </a:lnTo>
                <a:lnTo>
                  <a:pt x="309145" y="98905"/>
                </a:lnTo>
                <a:lnTo>
                  <a:pt x="303149" y="101600"/>
                </a:lnTo>
                <a:lnTo>
                  <a:pt x="304419" y="105917"/>
                </a:lnTo>
                <a:lnTo>
                  <a:pt x="333325" y="79873"/>
                </a:lnTo>
                <a:lnTo>
                  <a:pt x="338200" y="52959"/>
                </a:lnTo>
                <a:lnTo>
                  <a:pt x="337653" y="43241"/>
                </a:lnTo>
                <a:lnTo>
                  <a:pt x="318881" y="6794"/>
                </a:lnTo>
                <a:lnTo>
                  <a:pt x="312132" y="2790"/>
                </a:lnTo>
                <a:lnTo>
                  <a:pt x="304419" y="0"/>
                </a:lnTo>
                <a:close/>
              </a:path>
              <a:path w="338454" h="106044">
                <a:moveTo>
                  <a:pt x="33782" y="0"/>
                </a:moveTo>
                <a:lnTo>
                  <a:pt x="4929" y="26044"/>
                </a:lnTo>
                <a:lnTo>
                  <a:pt x="0" y="52959"/>
                </a:lnTo>
                <a:lnTo>
                  <a:pt x="545" y="62676"/>
                </a:lnTo>
                <a:lnTo>
                  <a:pt x="19303" y="99123"/>
                </a:lnTo>
                <a:lnTo>
                  <a:pt x="33782" y="105917"/>
                </a:lnTo>
                <a:lnTo>
                  <a:pt x="35051" y="101600"/>
                </a:lnTo>
                <a:lnTo>
                  <a:pt x="29055" y="98905"/>
                </a:lnTo>
                <a:lnTo>
                  <a:pt x="23844" y="95186"/>
                </a:lnTo>
                <a:lnTo>
                  <a:pt x="9651" y="52450"/>
                </a:lnTo>
                <a:lnTo>
                  <a:pt x="10034" y="43406"/>
                </a:lnTo>
                <a:lnTo>
                  <a:pt x="29162" y="6937"/>
                </a:lnTo>
                <a:lnTo>
                  <a:pt x="35305" y="4317"/>
                </a:lnTo>
                <a:lnTo>
                  <a:pt x="337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139820" y="2661665"/>
            <a:ext cx="2011680" cy="249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880"/>
              </a:lnSpc>
              <a:spcBef>
                <a:spcPts val="100"/>
              </a:spcBef>
              <a:tabLst>
                <a:tab pos="631190" algn="l"/>
              </a:tabLst>
            </a:pPr>
            <a:r>
              <a:rPr sz="900" dirty="0">
                <a:latin typeface="Cambria Math"/>
                <a:cs typeface="Cambria Math"/>
              </a:rPr>
              <a:t>5	5</a:t>
            </a:r>
            <a:endParaRPr sz="900">
              <a:latin typeface="Cambria Math"/>
              <a:cs typeface="Cambria Math"/>
            </a:endParaRPr>
          </a:p>
          <a:p>
            <a:pPr marL="139065">
              <a:lnSpc>
                <a:spcPts val="880"/>
              </a:lnSpc>
              <a:tabLst>
                <a:tab pos="720090" algn="l"/>
              </a:tabLst>
            </a:pPr>
            <a:r>
              <a:rPr sz="900" dirty="0">
                <a:latin typeface="Cambria Math"/>
                <a:cs typeface="Cambria Math"/>
              </a:rPr>
              <a:t>×</a:t>
            </a:r>
            <a:r>
              <a:rPr sz="900" spc="15" dirty="0">
                <a:latin typeface="Cambria Math"/>
                <a:cs typeface="Cambria Math"/>
              </a:rPr>
              <a:t> </a:t>
            </a:r>
            <a:r>
              <a:rPr sz="900" spc="10" dirty="0">
                <a:latin typeface="Cambria Math"/>
                <a:cs typeface="Cambria Math"/>
              </a:rPr>
              <a:t>3</a:t>
            </a:r>
            <a:r>
              <a:rPr sz="975" spc="15" baseline="25641" dirty="0">
                <a:latin typeface="Cambria Math"/>
                <a:cs typeface="Cambria Math"/>
              </a:rPr>
              <a:t>2   </a:t>
            </a:r>
            <a:r>
              <a:rPr sz="975" spc="217" baseline="25641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−	× </a:t>
            </a:r>
            <a:r>
              <a:rPr sz="900" spc="10" dirty="0">
                <a:latin typeface="Cambria Math"/>
                <a:cs typeface="Cambria Math"/>
              </a:rPr>
              <a:t>2</a:t>
            </a:r>
            <a:r>
              <a:rPr sz="975" spc="15" baseline="25641" dirty="0">
                <a:latin typeface="Cambria Math"/>
                <a:cs typeface="Cambria Math"/>
              </a:rPr>
              <a:t>2   </a:t>
            </a:r>
            <a:r>
              <a:rPr sz="975" spc="232" baseline="25641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−</a:t>
            </a:r>
            <a:r>
              <a:rPr sz="900" spc="165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8</a:t>
            </a:r>
            <a:r>
              <a:rPr sz="900" spc="-15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− 3</a:t>
            </a:r>
            <a:r>
              <a:rPr sz="900" spc="350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+</a:t>
            </a:r>
            <a:r>
              <a:rPr sz="900" spc="355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8</a:t>
            </a:r>
            <a:r>
              <a:rPr sz="900" spc="5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×</a:t>
            </a:r>
            <a:r>
              <a:rPr sz="900" spc="-15" dirty="0">
                <a:latin typeface="Cambria Math"/>
                <a:cs typeface="Cambria Math"/>
              </a:rPr>
              <a:t> </a:t>
            </a:r>
            <a:r>
              <a:rPr sz="900" dirty="0">
                <a:latin typeface="Cambria Math"/>
                <a:cs typeface="Cambria Math"/>
              </a:rPr>
              <a:t>2</a:t>
            </a:r>
            <a:endParaRPr sz="9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66359" y="2748534"/>
            <a:ext cx="3613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mbria Math"/>
                <a:cs typeface="Cambria Math"/>
              </a:rPr>
              <a:t>×</a:t>
            </a:r>
            <a:r>
              <a:rPr sz="900" spc="-35" dirty="0">
                <a:latin typeface="Cambria Math"/>
                <a:cs typeface="Cambria Math"/>
              </a:rPr>
              <a:t> </a:t>
            </a:r>
            <a:r>
              <a:rPr sz="900" spc="10" dirty="0">
                <a:latin typeface="Cambria Math"/>
                <a:cs typeface="Cambria Math"/>
              </a:rPr>
              <a:t>10</a:t>
            </a:r>
            <a:r>
              <a:rPr sz="975" spc="15" baseline="25641" dirty="0">
                <a:latin typeface="Cambria Math"/>
                <a:cs typeface="Cambria Math"/>
              </a:rPr>
              <a:t>5</a:t>
            </a:r>
            <a:endParaRPr sz="975" baseline="25641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11601" y="3106928"/>
            <a:ext cx="4851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=</a:t>
            </a:r>
            <a:r>
              <a:rPr sz="1200" spc="60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𝟒.</a:t>
            </a:r>
            <a:r>
              <a:rPr sz="1200" spc="-65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𝟓𝑱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1000" y="5224271"/>
            <a:ext cx="6096000" cy="2665730"/>
            <a:chOff x="381000" y="5224271"/>
            <a:chExt cx="6096000" cy="2665730"/>
          </a:xfrm>
        </p:grpSpPr>
        <p:sp>
          <p:nvSpPr>
            <p:cNvPr id="25" name="object 25"/>
            <p:cNvSpPr/>
            <p:nvPr/>
          </p:nvSpPr>
          <p:spPr>
            <a:xfrm>
              <a:off x="381000" y="5224271"/>
              <a:ext cx="1722120" cy="2665730"/>
            </a:xfrm>
            <a:custGeom>
              <a:avLst/>
              <a:gdLst/>
              <a:ahLst/>
              <a:cxnLst/>
              <a:rect l="l" t="t" r="r" b="b"/>
              <a:pathLst>
                <a:path w="1722120" h="2665729">
                  <a:moveTo>
                    <a:pt x="1722120" y="0"/>
                  </a:moveTo>
                  <a:lnTo>
                    <a:pt x="0" y="0"/>
                  </a:lnTo>
                  <a:lnTo>
                    <a:pt x="0" y="2665476"/>
                  </a:lnTo>
                  <a:lnTo>
                    <a:pt x="1722120" y="2665476"/>
                  </a:lnTo>
                  <a:lnTo>
                    <a:pt x="1722120" y="0"/>
                  </a:lnTo>
                  <a:close/>
                </a:path>
              </a:pathLst>
            </a:custGeom>
            <a:solidFill>
              <a:srgbClr val="40B9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89547" y="5224271"/>
              <a:ext cx="187960" cy="2665730"/>
            </a:xfrm>
            <a:custGeom>
              <a:avLst/>
              <a:gdLst/>
              <a:ahLst/>
              <a:cxnLst/>
              <a:rect l="l" t="t" r="r" b="b"/>
              <a:pathLst>
                <a:path w="187960" h="2665729">
                  <a:moveTo>
                    <a:pt x="0" y="2665476"/>
                  </a:moveTo>
                  <a:lnTo>
                    <a:pt x="187451" y="2665476"/>
                  </a:lnTo>
                  <a:lnTo>
                    <a:pt x="187451" y="0"/>
                  </a:lnTo>
                  <a:lnTo>
                    <a:pt x="0" y="0"/>
                  </a:lnTo>
                  <a:lnTo>
                    <a:pt x="0" y="2665476"/>
                  </a:lnTo>
                  <a:close/>
                </a:path>
              </a:pathLst>
            </a:custGeom>
            <a:solidFill>
              <a:srgbClr val="C7C7C7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14019" y="6455105"/>
            <a:ext cx="11118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u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l</a:t>
            </a:r>
            <a:r>
              <a:rPr sz="18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3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81000" y="4858511"/>
            <a:ext cx="6090285" cy="2607310"/>
            <a:chOff x="381000" y="4858511"/>
            <a:chExt cx="6090285" cy="2607310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4858511"/>
              <a:ext cx="6089904" cy="47701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8062" y="5535226"/>
              <a:ext cx="977268" cy="33718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50142" y="5979248"/>
              <a:ext cx="884480" cy="28929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34968" y="6068948"/>
              <a:ext cx="1713111" cy="16016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9476" y="6430365"/>
              <a:ext cx="980356" cy="13487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70258" y="6775479"/>
              <a:ext cx="1549684" cy="13487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82592" y="7061707"/>
              <a:ext cx="1260356" cy="11988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09267" y="7372491"/>
              <a:ext cx="1320711" cy="93246"/>
            </a:xfrm>
            <a:prstGeom prst="rect">
              <a:avLst/>
            </a:prstGeom>
          </p:spPr>
        </p:pic>
      </p:grp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23845" y="1345538"/>
            <a:ext cx="391731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50000"/>
              </a:lnSpc>
              <a:spcBef>
                <a:spcPts val="100"/>
              </a:spcBef>
            </a:pPr>
            <a:r>
              <a:rPr sz="1100" b="1" dirty="0">
                <a:latin typeface="Corbel"/>
                <a:cs typeface="Corbel"/>
              </a:rPr>
              <a:t>1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15" dirty="0">
                <a:latin typeface="Corbel"/>
                <a:cs typeface="Corbel"/>
              </a:rPr>
              <a:t>kg</a:t>
            </a:r>
            <a:r>
              <a:rPr sz="1100" b="1" spc="-1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gas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is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contained</a:t>
            </a:r>
            <a:r>
              <a:rPr sz="1100" b="1" dirty="0">
                <a:latin typeface="Corbel"/>
                <a:cs typeface="Corbel"/>
              </a:rPr>
              <a:t> in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a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piston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cylinder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arrangement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at</a:t>
            </a:r>
            <a:r>
              <a:rPr sz="1100" b="1" dirty="0">
                <a:latin typeface="Corbel"/>
                <a:cs typeface="Corbel"/>
              </a:rPr>
              <a:t> a 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pressure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8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bar</a:t>
            </a:r>
            <a:r>
              <a:rPr sz="1100" b="1" dirty="0">
                <a:latin typeface="Corbel"/>
                <a:cs typeface="Corbel"/>
              </a:rPr>
              <a:t> and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volume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0.045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5" dirty="0">
                <a:latin typeface="Corbel"/>
                <a:cs typeface="Corbel"/>
              </a:rPr>
              <a:t>m</a:t>
            </a:r>
            <a:r>
              <a:rPr sz="1050" b="1" spc="7" baseline="27777" dirty="0">
                <a:latin typeface="Corbel"/>
                <a:cs typeface="Corbel"/>
              </a:rPr>
              <a:t>3</a:t>
            </a:r>
            <a:r>
              <a:rPr sz="1100" b="1" spc="5" dirty="0">
                <a:latin typeface="Corbel"/>
                <a:cs typeface="Corbel"/>
              </a:rPr>
              <a:t>.</a:t>
            </a:r>
            <a:r>
              <a:rPr sz="1100" b="1" spc="10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The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fluid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10" dirty="0">
                <a:latin typeface="Corbel"/>
                <a:cs typeface="Corbel"/>
              </a:rPr>
              <a:t>is</a:t>
            </a:r>
            <a:r>
              <a:rPr sz="1100" b="1" spc="-5" dirty="0">
                <a:latin typeface="Corbel"/>
                <a:cs typeface="Corbel"/>
              </a:rPr>
              <a:t> allowed</a:t>
            </a:r>
            <a:r>
              <a:rPr sz="1100" b="1" dirty="0">
                <a:latin typeface="Corbel"/>
                <a:cs typeface="Corbel"/>
              </a:rPr>
              <a:t> to 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expand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reversibly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according</a:t>
            </a:r>
            <a:r>
              <a:rPr sz="1100" b="1" dirty="0">
                <a:latin typeface="Corbel"/>
                <a:cs typeface="Corbel"/>
              </a:rPr>
              <a:t> to</a:t>
            </a:r>
            <a:r>
              <a:rPr sz="1100" b="1" spc="5" dirty="0">
                <a:latin typeface="Corbel"/>
                <a:cs typeface="Corbel"/>
              </a:rPr>
              <a:t> pV</a:t>
            </a:r>
            <a:r>
              <a:rPr sz="1050" b="1" spc="7" baseline="27777" dirty="0">
                <a:latin typeface="Corbel"/>
                <a:cs typeface="Corbel"/>
              </a:rPr>
              <a:t>1.8</a:t>
            </a:r>
            <a:r>
              <a:rPr sz="1050" b="1" spc="15" baseline="27777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=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C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until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the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volume 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becomes </a:t>
            </a:r>
            <a:r>
              <a:rPr sz="1100" b="1" dirty="0">
                <a:latin typeface="Corbel"/>
                <a:cs typeface="Corbel"/>
              </a:rPr>
              <a:t>two </a:t>
            </a:r>
            <a:r>
              <a:rPr sz="1100" b="1" spc="-5" dirty="0">
                <a:latin typeface="Corbel"/>
                <a:cs typeface="Corbel"/>
              </a:rPr>
              <a:t>times </a:t>
            </a:r>
            <a:r>
              <a:rPr sz="1100" b="1" dirty="0">
                <a:latin typeface="Corbel"/>
                <a:cs typeface="Corbel"/>
              </a:rPr>
              <a:t>of its initial </a:t>
            </a:r>
            <a:r>
              <a:rPr sz="1100" b="1" spc="-5" dirty="0">
                <a:latin typeface="Corbel"/>
                <a:cs typeface="Corbel"/>
              </a:rPr>
              <a:t>value. The fluid </a:t>
            </a:r>
            <a:r>
              <a:rPr sz="1100" b="1" dirty="0">
                <a:latin typeface="Corbel"/>
                <a:cs typeface="Corbel"/>
              </a:rPr>
              <a:t>is </a:t>
            </a:r>
            <a:r>
              <a:rPr sz="1100" b="1" spc="-5" dirty="0">
                <a:latin typeface="Corbel"/>
                <a:cs typeface="Corbel"/>
              </a:rPr>
              <a:t>then cooled 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reversibly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at</a:t>
            </a:r>
            <a:r>
              <a:rPr sz="1100" b="1" dirty="0">
                <a:latin typeface="Corbel"/>
                <a:cs typeface="Corbel"/>
              </a:rPr>
              <a:t> constant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pressure</a:t>
            </a:r>
            <a:r>
              <a:rPr sz="1100" b="1" dirty="0">
                <a:latin typeface="Corbel"/>
                <a:cs typeface="Corbel"/>
              </a:rPr>
              <a:t> until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the</a:t>
            </a:r>
            <a:r>
              <a:rPr sz="1100" b="1" dirty="0">
                <a:latin typeface="Corbel"/>
                <a:cs typeface="Corbel"/>
              </a:rPr>
              <a:t> piston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reaches</a:t>
            </a:r>
            <a:r>
              <a:rPr sz="1100" b="1" dirty="0">
                <a:latin typeface="Corbel"/>
                <a:cs typeface="Corbel"/>
              </a:rPr>
              <a:t> its 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original position. </a:t>
            </a:r>
            <a:r>
              <a:rPr sz="1100" b="1" spc="-10" dirty="0">
                <a:latin typeface="Corbel"/>
                <a:cs typeface="Corbel"/>
              </a:rPr>
              <a:t>Finally, </a:t>
            </a:r>
            <a:r>
              <a:rPr sz="1100" b="1" spc="-5" dirty="0">
                <a:latin typeface="Corbel"/>
                <a:cs typeface="Corbel"/>
              </a:rPr>
              <a:t>the heat addition </a:t>
            </a:r>
            <a:r>
              <a:rPr sz="1100" b="1" spc="-10" dirty="0">
                <a:latin typeface="Corbel"/>
                <a:cs typeface="Corbel"/>
              </a:rPr>
              <a:t>take </a:t>
            </a:r>
            <a:r>
              <a:rPr sz="1100" b="1" spc="-5" dirty="0">
                <a:latin typeface="Corbel"/>
                <a:cs typeface="Corbel"/>
              </a:rPr>
              <a:t>place </a:t>
            </a:r>
            <a:r>
              <a:rPr sz="1100" b="1" dirty="0">
                <a:latin typeface="Corbel"/>
                <a:cs typeface="Corbel"/>
              </a:rPr>
              <a:t>until </a:t>
            </a:r>
            <a:r>
              <a:rPr sz="1100" b="1" spc="-5" dirty="0">
                <a:latin typeface="Corbel"/>
                <a:cs typeface="Corbel"/>
              </a:rPr>
              <a:t>the 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gas</a:t>
            </a:r>
            <a:r>
              <a:rPr sz="1100" b="1" dirty="0">
                <a:latin typeface="Corbel"/>
                <a:cs typeface="Corbel"/>
              </a:rPr>
              <a:t> pressure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increases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to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initial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pressure.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Calculate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net</a:t>
            </a:r>
            <a:r>
              <a:rPr sz="1100" b="1" dirty="0">
                <a:latin typeface="Corbel"/>
                <a:cs typeface="Corbel"/>
              </a:rPr>
              <a:t> work </a:t>
            </a:r>
            <a:r>
              <a:rPr sz="1100" b="1" spc="-21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done</a:t>
            </a:r>
            <a:r>
              <a:rPr sz="1100" b="1" spc="-20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by</a:t>
            </a:r>
            <a:r>
              <a:rPr sz="1100" b="1" dirty="0">
                <a:latin typeface="Corbel"/>
                <a:cs typeface="Corbel"/>
              </a:rPr>
              <a:t> gas during</a:t>
            </a:r>
            <a:r>
              <a:rPr sz="1100" b="1" spc="-5" dirty="0">
                <a:latin typeface="Corbel"/>
                <a:cs typeface="Corbel"/>
              </a:rPr>
              <a:t> the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cycle.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510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Numerical</a:t>
            </a:r>
            <a:r>
              <a:rPr sz="18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4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49245" y="5752338"/>
            <a:ext cx="68643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Corbel"/>
                <a:cs typeface="Corbel"/>
              </a:rPr>
              <a:t>G</a:t>
            </a:r>
            <a:r>
              <a:rPr sz="1100" spc="-5" dirty="0">
                <a:latin typeface="Corbel"/>
                <a:cs typeface="Corbel"/>
              </a:rPr>
              <a:t>i</a:t>
            </a:r>
            <a:r>
              <a:rPr sz="1100" dirty="0">
                <a:latin typeface="Corbel"/>
                <a:cs typeface="Corbel"/>
              </a:rPr>
              <a:t>ven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</a:t>
            </a:r>
            <a:r>
              <a:rPr sz="1100" dirty="0">
                <a:latin typeface="Corbel"/>
                <a:cs typeface="Corbel"/>
              </a:rPr>
              <a:t>ata: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3238500" y="5669127"/>
            <a:ext cx="83502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255270">
              <a:lnSpc>
                <a:spcPct val="150000"/>
              </a:lnSpc>
              <a:spcBef>
                <a:spcPts val="100"/>
              </a:spcBef>
            </a:pPr>
            <a:r>
              <a:rPr sz="1100" dirty="0">
                <a:latin typeface="Corbel"/>
                <a:cs typeface="Corbel"/>
              </a:rPr>
              <a:t>m = 1 </a:t>
            </a:r>
            <a:r>
              <a:rPr sz="1100" spc="-25" dirty="0">
                <a:latin typeface="Corbel"/>
                <a:cs typeface="Corbel"/>
              </a:rPr>
              <a:t>kg 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5" dirty="0">
                <a:latin typeface="Corbel"/>
                <a:cs typeface="Corbel"/>
              </a:rPr>
              <a:t>p</a:t>
            </a:r>
            <a:r>
              <a:rPr sz="1050" spc="7" baseline="-19841" dirty="0">
                <a:latin typeface="Corbel"/>
                <a:cs typeface="Corbel"/>
              </a:rPr>
              <a:t>1</a:t>
            </a:r>
            <a:r>
              <a:rPr sz="1050" spc="60" baseline="-19841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4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8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bar</a:t>
            </a:r>
            <a:endParaRPr sz="1100">
              <a:latin typeface="Corbel"/>
              <a:cs typeface="Corbel"/>
            </a:endParaRPr>
          </a:p>
          <a:p>
            <a:pPr marL="38100" marR="30480">
              <a:lnSpc>
                <a:spcPct val="150000"/>
              </a:lnSpc>
            </a:pPr>
            <a:r>
              <a:rPr sz="1100" spc="5" dirty="0">
                <a:latin typeface="Corbel"/>
                <a:cs typeface="Corbel"/>
              </a:rPr>
              <a:t>V</a:t>
            </a:r>
            <a:r>
              <a:rPr sz="1050" spc="7" baseline="-19841" dirty="0">
                <a:latin typeface="Corbel"/>
                <a:cs typeface="Corbel"/>
              </a:rPr>
              <a:t>1 </a:t>
            </a:r>
            <a:r>
              <a:rPr sz="1100" dirty="0">
                <a:latin typeface="Corbel"/>
                <a:cs typeface="Corbel"/>
              </a:rPr>
              <a:t>= </a:t>
            </a:r>
            <a:r>
              <a:rPr sz="1100" spc="-5" dirty="0">
                <a:latin typeface="Corbel"/>
                <a:cs typeface="Corbel"/>
              </a:rPr>
              <a:t>0.045 </a:t>
            </a:r>
            <a:r>
              <a:rPr sz="1100" spc="5" dirty="0">
                <a:latin typeface="Corbel"/>
                <a:cs typeface="Corbel"/>
              </a:rPr>
              <a:t>m</a:t>
            </a:r>
            <a:r>
              <a:rPr sz="1050" spc="7" baseline="27777" dirty="0">
                <a:latin typeface="Corbel"/>
                <a:cs typeface="Corbel"/>
              </a:rPr>
              <a:t>3 </a:t>
            </a:r>
            <a:r>
              <a:rPr sz="1050" spc="-195" baseline="27777" dirty="0">
                <a:latin typeface="Corbel"/>
                <a:cs typeface="Corbel"/>
              </a:rPr>
              <a:t> </a:t>
            </a:r>
            <a:r>
              <a:rPr sz="1100" spc="5" dirty="0">
                <a:latin typeface="Corbel"/>
                <a:cs typeface="Corbel"/>
              </a:rPr>
              <a:t>pV</a:t>
            </a:r>
            <a:r>
              <a:rPr sz="1050" spc="7" baseline="27777" dirty="0">
                <a:latin typeface="Corbel"/>
                <a:cs typeface="Corbel"/>
              </a:rPr>
              <a:t>1.8</a:t>
            </a:r>
            <a:r>
              <a:rPr sz="1050" spc="89" baseline="27777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5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C</a:t>
            </a:r>
            <a:endParaRPr sz="1100">
              <a:latin typeface="Corbel"/>
              <a:cs typeface="Corbel"/>
            </a:endParaRPr>
          </a:p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100" spc="5" dirty="0">
                <a:latin typeface="Corbel"/>
                <a:cs typeface="Corbel"/>
              </a:rPr>
              <a:t>V</a:t>
            </a:r>
            <a:r>
              <a:rPr sz="1050" spc="7" baseline="-19841" dirty="0">
                <a:latin typeface="Corbel"/>
                <a:cs typeface="Corbel"/>
              </a:rPr>
              <a:t>2</a:t>
            </a:r>
            <a:r>
              <a:rPr sz="1050" spc="37" baseline="-19841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50" dirty="0">
                <a:latin typeface="Corbel"/>
                <a:cs typeface="Corbel"/>
              </a:rPr>
              <a:t> </a:t>
            </a:r>
            <a:r>
              <a:rPr sz="1100" spc="5" dirty="0">
                <a:latin typeface="Corbel"/>
                <a:cs typeface="Corbel"/>
              </a:rPr>
              <a:t>2V</a:t>
            </a:r>
            <a:r>
              <a:rPr sz="1050" spc="7" baseline="-19841" dirty="0">
                <a:latin typeface="Corbel"/>
                <a:cs typeface="Corbel"/>
              </a:rPr>
              <a:t>1</a:t>
            </a:r>
            <a:endParaRPr sz="1050" baseline="-19841">
              <a:latin typeface="Corbel"/>
              <a:cs typeface="Corbel"/>
            </a:endParaRPr>
          </a:p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100" spc="5" dirty="0">
                <a:latin typeface="Corbel"/>
                <a:cs typeface="Corbel"/>
              </a:rPr>
              <a:t>W</a:t>
            </a:r>
            <a:r>
              <a:rPr sz="1050" spc="7" baseline="-19841" dirty="0">
                <a:latin typeface="Corbel"/>
                <a:cs typeface="Corbel"/>
              </a:rPr>
              <a:t>net</a:t>
            </a:r>
            <a:r>
              <a:rPr sz="1050" spc="52" baseline="-19841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5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?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515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Numerical</a:t>
            </a:r>
            <a:r>
              <a:rPr sz="18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4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77821" y="876300"/>
            <a:ext cx="4299585" cy="3092450"/>
            <a:chOff x="2177821" y="876300"/>
            <a:chExt cx="4299585" cy="3092450"/>
          </a:xfrm>
        </p:grpSpPr>
        <p:sp>
          <p:nvSpPr>
            <p:cNvPr id="4" name="object 4"/>
            <p:cNvSpPr/>
            <p:nvPr/>
          </p:nvSpPr>
          <p:spPr>
            <a:xfrm>
              <a:off x="6289548" y="1248156"/>
              <a:ext cx="187960" cy="2665730"/>
            </a:xfrm>
            <a:custGeom>
              <a:avLst/>
              <a:gdLst/>
              <a:ahLst/>
              <a:cxnLst/>
              <a:rect l="l" t="t" r="r" b="b"/>
              <a:pathLst>
                <a:path w="187960" h="2665729">
                  <a:moveTo>
                    <a:pt x="0" y="2665476"/>
                  </a:moveTo>
                  <a:lnTo>
                    <a:pt x="187451" y="2665476"/>
                  </a:lnTo>
                  <a:lnTo>
                    <a:pt x="187451" y="0"/>
                  </a:lnTo>
                  <a:lnTo>
                    <a:pt x="0" y="0"/>
                  </a:lnTo>
                  <a:lnTo>
                    <a:pt x="0" y="2665476"/>
                  </a:lnTo>
                  <a:close/>
                </a:path>
              </a:pathLst>
            </a:custGeom>
            <a:solidFill>
              <a:srgbClr val="C7C7C7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3400" y="876300"/>
              <a:ext cx="1952244" cy="16200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53995" y="1078992"/>
              <a:ext cx="1618487" cy="1859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77821" y="1286255"/>
              <a:ext cx="2165578" cy="21031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66205" y="1553003"/>
              <a:ext cx="1587973" cy="2910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90679" y="1885188"/>
              <a:ext cx="999623" cy="4982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02479" y="2403347"/>
              <a:ext cx="845652" cy="39928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80306" y="2501007"/>
              <a:ext cx="537847" cy="16904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88159" y="2836164"/>
              <a:ext cx="892989" cy="2331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67043" y="3102864"/>
              <a:ext cx="627844" cy="3916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32103" y="3159251"/>
              <a:ext cx="754324" cy="27881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22855" y="3552444"/>
              <a:ext cx="906727" cy="41600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80128" y="2616682"/>
              <a:ext cx="1462834" cy="4004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90256" y="3071700"/>
              <a:ext cx="730213" cy="18492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12207" y="3227832"/>
              <a:ext cx="1543812" cy="3276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06054" y="3637610"/>
              <a:ext cx="1559138" cy="273044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510"/>
              </a:spcBef>
            </a:pP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u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ic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l</a:t>
            </a:r>
            <a:r>
              <a:rPr sz="18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4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515"/>
              </a:spcBef>
            </a:pP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u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l</a:t>
            </a:r>
            <a:r>
              <a:rPr sz="18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4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246561" y="4937427"/>
            <a:ext cx="1409514" cy="116314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156851" y="6161532"/>
            <a:ext cx="2326713" cy="17068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252420" y="6390835"/>
            <a:ext cx="842480" cy="235926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2215895" y="6675119"/>
            <a:ext cx="2063750" cy="399415"/>
            <a:chOff x="2215895" y="6675119"/>
            <a:chExt cx="2063750" cy="399415"/>
          </a:xfrm>
        </p:grpSpPr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215895" y="6675119"/>
              <a:ext cx="763524" cy="39928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015995" y="6891527"/>
              <a:ext cx="1263414" cy="182880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255618" y="7140072"/>
            <a:ext cx="1158043" cy="67347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320004" y="4937074"/>
            <a:ext cx="2004444" cy="160705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4318104" y="5194775"/>
            <a:ext cx="1864995" cy="320675"/>
            <a:chOff x="4318104" y="5194775"/>
            <a:chExt cx="1864995" cy="320675"/>
          </a:xfrm>
        </p:grpSpPr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318104" y="5194775"/>
              <a:ext cx="837179" cy="2032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87111" y="5344667"/>
              <a:ext cx="1095756" cy="170687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4078128" y="5643276"/>
            <a:ext cx="2108200" cy="204470"/>
            <a:chOff x="4078128" y="5643276"/>
            <a:chExt cx="2108200" cy="204470"/>
          </a:xfrm>
        </p:grpSpPr>
        <p:pic>
          <p:nvPicPr>
            <p:cNvPr id="35" name="object 3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119731" y="5654040"/>
              <a:ext cx="2063136" cy="1677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080509" y="5645658"/>
              <a:ext cx="2103120" cy="200025"/>
            </a:xfrm>
            <a:custGeom>
              <a:avLst/>
              <a:gdLst/>
              <a:ahLst/>
              <a:cxnLst/>
              <a:rect l="l" t="t" r="r" b="b"/>
              <a:pathLst>
                <a:path w="2103120" h="200025">
                  <a:moveTo>
                    <a:pt x="0" y="199644"/>
                  </a:moveTo>
                  <a:lnTo>
                    <a:pt x="2103119" y="199644"/>
                  </a:lnTo>
                  <a:lnTo>
                    <a:pt x="2103119" y="0"/>
                  </a:lnTo>
                  <a:lnTo>
                    <a:pt x="0" y="0"/>
                  </a:lnTo>
                  <a:lnTo>
                    <a:pt x="0" y="199644"/>
                  </a:lnTo>
                  <a:close/>
                </a:path>
              </a:pathLst>
            </a:custGeom>
            <a:ln w="4762">
              <a:solidFill>
                <a:srgbClr val="D439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49245" y="1292200"/>
            <a:ext cx="3865879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080" indent="-91440" algn="just">
              <a:lnSpc>
                <a:spcPct val="150000"/>
              </a:lnSpc>
              <a:spcBef>
                <a:spcPts val="100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204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10" dirty="0">
                <a:latin typeface="Corbel"/>
                <a:cs typeface="Corbel"/>
              </a:rPr>
              <a:t>Point </a:t>
            </a:r>
            <a:r>
              <a:rPr sz="1100" b="1" spc="-5" dirty="0">
                <a:latin typeface="Corbel"/>
                <a:cs typeface="Corbel"/>
              </a:rPr>
              <a:t>Function: </a:t>
            </a:r>
            <a:r>
              <a:rPr sz="1100" spc="-5" dirty="0">
                <a:latin typeface="Corbel"/>
                <a:cs typeface="Corbel"/>
              </a:rPr>
              <a:t>The property of system which does not depends 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on path of </a:t>
            </a:r>
            <a:r>
              <a:rPr sz="1100" dirty="0">
                <a:latin typeface="Corbel"/>
                <a:cs typeface="Corbel"/>
              </a:rPr>
              <a:t>process, </a:t>
            </a:r>
            <a:r>
              <a:rPr sz="1100" spc="-5" dirty="0">
                <a:latin typeface="Corbel"/>
                <a:cs typeface="Corbel"/>
              </a:rPr>
              <a:t>but depends on states (two </a:t>
            </a:r>
            <a:r>
              <a:rPr sz="1100" dirty="0">
                <a:latin typeface="Corbel"/>
                <a:cs typeface="Corbel"/>
              </a:rPr>
              <a:t>end </a:t>
            </a:r>
            <a:r>
              <a:rPr sz="1100" spc="-5" dirty="0">
                <a:latin typeface="Corbel"/>
                <a:cs typeface="Corbel"/>
              </a:rPr>
              <a:t>conditions of </a:t>
            </a:r>
            <a:r>
              <a:rPr sz="1100" dirty="0">
                <a:latin typeface="Corbel"/>
                <a:cs typeface="Corbel"/>
              </a:rPr>
              <a:t> process),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this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property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called as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point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function.</a:t>
            </a:r>
            <a:endParaRPr sz="1100">
              <a:latin typeface="Corbel"/>
              <a:cs typeface="Corbel"/>
            </a:endParaRPr>
          </a:p>
          <a:p>
            <a:pPr marL="12700" algn="just">
              <a:lnSpc>
                <a:spcPct val="100000"/>
              </a:lnSpc>
              <a:spcBef>
                <a:spcPts val="66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Corbel"/>
                <a:cs typeface="Corbel"/>
              </a:rPr>
              <a:t>E</a:t>
            </a:r>
            <a:r>
              <a:rPr sz="1100" spc="-5" dirty="0">
                <a:latin typeface="Corbel"/>
                <a:cs typeface="Corbel"/>
              </a:rPr>
              <a:t>xampl</a:t>
            </a:r>
            <a:r>
              <a:rPr sz="1100" spc="5" dirty="0">
                <a:latin typeface="Corbel"/>
                <a:cs typeface="Corbel"/>
              </a:rPr>
              <a:t>e</a:t>
            </a:r>
            <a:r>
              <a:rPr sz="1100" dirty="0">
                <a:latin typeface="Corbel"/>
                <a:cs typeface="Corbel"/>
              </a:rPr>
              <a:t>: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pressure,</a:t>
            </a:r>
            <a:r>
              <a:rPr sz="1100" spc="-3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temp</a:t>
            </a:r>
            <a:r>
              <a:rPr sz="1100" dirty="0">
                <a:latin typeface="Corbel"/>
                <a:cs typeface="Corbel"/>
              </a:rPr>
              <a:t>erat</a:t>
            </a:r>
            <a:r>
              <a:rPr sz="1100" spc="5" dirty="0">
                <a:latin typeface="Corbel"/>
                <a:cs typeface="Corbel"/>
              </a:rPr>
              <a:t>u</a:t>
            </a:r>
            <a:r>
              <a:rPr sz="1100" dirty="0">
                <a:latin typeface="Corbel"/>
                <a:cs typeface="Corbel"/>
              </a:rPr>
              <a:t>re,</a:t>
            </a:r>
            <a:r>
              <a:rPr sz="1100" spc="-4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v</a:t>
            </a:r>
            <a:r>
              <a:rPr sz="1100" spc="-5" dirty="0">
                <a:latin typeface="Corbel"/>
                <a:cs typeface="Corbel"/>
              </a:rPr>
              <a:t>ol</a:t>
            </a:r>
            <a:r>
              <a:rPr sz="1100" dirty="0">
                <a:latin typeface="Corbel"/>
                <a:cs typeface="Corbel"/>
              </a:rPr>
              <a:t>ume</a:t>
            </a:r>
            <a:endParaRPr sz="1100">
              <a:latin typeface="Corbel"/>
              <a:cs typeface="Corbel"/>
            </a:endParaRPr>
          </a:p>
          <a:p>
            <a:pPr marL="104139" marR="5715" indent="-91440" algn="just">
              <a:lnSpc>
                <a:spcPct val="150000"/>
              </a:lnSpc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204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latin typeface="Corbel"/>
                <a:cs typeface="Corbel"/>
              </a:rPr>
              <a:t>Path</a:t>
            </a:r>
            <a:r>
              <a:rPr sz="1100" b="1" dirty="0">
                <a:latin typeface="Corbel"/>
                <a:cs typeface="Corbel"/>
              </a:rPr>
              <a:t> Function: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There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are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certain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quantities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which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cannot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be 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located on </a:t>
            </a:r>
            <a:r>
              <a:rPr sz="1100" dirty="0">
                <a:latin typeface="Corbel"/>
                <a:cs typeface="Corbel"/>
              </a:rPr>
              <a:t>a </a:t>
            </a:r>
            <a:r>
              <a:rPr sz="1100" spc="-5" dirty="0">
                <a:latin typeface="Corbel"/>
                <a:cs typeface="Corbel"/>
              </a:rPr>
              <a:t>graph </a:t>
            </a:r>
            <a:r>
              <a:rPr sz="1100" spc="-10" dirty="0">
                <a:latin typeface="Corbel"/>
                <a:cs typeface="Corbel"/>
              </a:rPr>
              <a:t>by </a:t>
            </a:r>
            <a:r>
              <a:rPr sz="1100" dirty="0">
                <a:latin typeface="Corbel"/>
                <a:cs typeface="Corbel"/>
              </a:rPr>
              <a:t>a </a:t>
            </a:r>
            <a:r>
              <a:rPr sz="1100" spc="-5" dirty="0">
                <a:latin typeface="Corbel"/>
                <a:cs typeface="Corbel"/>
              </a:rPr>
              <a:t>point </a:t>
            </a:r>
            <a:r>
              <a:rPr sz="1100" dirty="0">
                <a:latin typeface="Corbel"/>
                <a:cs typeface="Corbel"/>
              </a:rPr>
              <a:t>but are </a:t>
            </a:r>
            <a:r>
              <a:rPr sz="1100" spc="-5" dirty="0">
                <a:latin typeface="Corbel"/>
                <a:cs typeface="Corbel"/>
              </a:rPr>
              <a:t>represented by </a:t>
            </a:r>
            <a:r>
              <a:rPr sz="1100" dirty="0">
                <a:latin typeface="Corbel"/>
                <a:cs typeface="Corbel"/>
              </a:rPr>
              <a:t>the area </a:t>
            </a:r>
            <a:r>
              <a:rPr sz="1100" spc="-5" dirty="0">
                <a:latin typeface="Corbel"/>
                <a:cs typeface="Corbel"/>
              </a:rPr>
              <a:t>on 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that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graph.</a:t>
            </a:r>
            <a:endParaRPr sz="1100">
              <a:latin typeface="Corbel"/>
              <a:cs typeface="Corbel"/>
            </a:endParaRPr>
          </a:p>
          <a:p>
            <a:pPr marL="104139" marR="6350" indent="-91440" algn="just">
              <a:lnSpc>
                <a:spcPct val="150000"/>
              </a:lnSpc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1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Corbel"/>
                <a:cs typeface="Corbel"/>
              </a:rPr>
              <a:t>Those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quantities</a:t>
            </a:r>
            <a:r>
              <a:rPr sz="1100" spc="1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are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dependent</a:t>
            </a:r>
            <a:r>
              <a:rPr sz="1100" spc="1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on</a:t>
            </a:r>
            <a:r>
              <a:rPr sz="1100" spc="1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1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path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10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process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and </a:t>
            </a:r>
            <a:r>
              <a:rPr sz="1100" dirty="0">
                <a:latin typeface="Corbel"/>
                <a:cs typeface="Corbel"/>
              </a:rPr>
              <a:t> are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called </a:t>
            </a:r>
            <a:r>
              <a:rPr sz="1100" dirty="0">
                <a:latin typeface="Corbel"/>
                <a:cs typeface="Corbel"/>
              </a:rPr>
              <a:t>path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function.</a:t>
            </a:r>
            <a:endParaRPr sz="1100">
              <a:latin typeface="Corbel"/>
              <a:cs typeface="Corbel"/>
            </a:endParaRPr>
          </a:p>
          <a:p>
            <a:pPr marL="12700" algn="just">
              <a:lnSpc>
                <a:spcPct val="100000"/>
              </a:lnSpc>
              <a:spcBef>
                <a:spcPts val="66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Corbel"/>
                <a:cs typeface="Corbel"/>
              </a:rPr>
              <a:t>E</a:t>
            </a:r>
            <a:r>
              <a:rPr sz="1100" spc="-5" dirty="0">
                <a:latin typeface="Corbel"/>
                <a:cs typeface="Corbel"/>
              </a:rPr>
              <a:t>xampl</a:t>
            </a:r>
            <a:r>
              <a:rPr sz="1100" spc="5" dirty="0">
                <a:latin typeface="Corbel"/>
                <a:cs typeface="Corbel"/>
              </a:rPr>
              <a:t>e</a:t>
            </a:r>
            <a:r>
              <a:rPr sz="1100" dirty="0">
                <a:latin typeface="Corbel"/>
                <a:cs typeface="Corbel"/>
              </a:rPr>
              <a:t>: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w</a:t>
            </a:r>
            <a:r>
              <a:rPr sz="1100" spc="-5" dirty="0">
                <a:latin typeface="Corbel"/>
                <a:cs typeface="Corbel"/>
              </a:rPr>
              <a:t>or</a:t>
            </a:r>
            <a:r>
              <a:rPr sz="1100" dirty="0">
                <a:latin typeface="Corbel"/>
                <a:cs typeface="Corbel"/>
              </a:rPr>
              <a:t>k,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heat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Times New Roman"/>
              <a:cs typeface="Times New Roman"/>
            </a:endParaRPr>
          </a:p>
          <a:p>
            <a:pPr marL="45720" marR="394335">
              <a:lnSpc>
                <a:spcPts val="1939"/>
              </a:lnSpc>
              <a:spcBef>
                <a:spcPts val="5"/>
              </a:spcBef>
            </a:pPr>
            <a:r>
              <a:rPr sz="1800" spc="-114" dirty="0">
                <a:solidFill>
                  <a:srgbClr val="FFFFFF"/>
                </a:solidFill>
                <a:latin typeface="Corbel"/>
                <a:cs typeface="Corbel"/>
              </a:rPr>
              <a:t>P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fu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n 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and Path </a:t>
            </a:r>
            <a:r>
              <a:rPr sz="18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function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>
              <a:latin typeface="Times New Roman"/>
              <a:cs typeface="Times New Roman"/>
            </a:endParaRPr>
          </a:p>
          <a:p>
            <a:pPr marL="45720" marR="394335">
              <a:lnSpc>
                <a:spcPct val="90100"/>
              </a:lnSpc>
              <a:spcBef>
                <a:spcPts val="5"/>
              </a:spcBef>
            </a:pPr>
            <a:r>
              <a:rPr sz="1800" spc="-114" dirty="0">
                <a:solidFill>
                  <a:srgbClr val="FFFFFF"/>
                </a:solidFill>
                <a:latin typeface="Corbel"/>
                <a:cs typeface="Corbel"/>
              </a:rPr>
              <a:t>P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fu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n 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and Path </a:t>
            </a:r>
            <a:r>
              <a:rPr sz="18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function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4935" y="4960620"/>
            <a:ext cx="1720595" cy="15209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8911" y="5483352"/>
            <a:ext cx="1900427" cy="166573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4935" y="6603492"/>
            <a:ext cx="1880615" cy="161848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23845" y="1166215"/>
            <a:ext cx="3916679" cy="2792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539" marR="30480" indent="-91440" algn="just">
              <a:lnSpc>
                <a:spcPct val="150000"/>
              </a:lnSpc>
              <a:spcBef>
                <a:spcPts val="100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204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Corbel"/>
                <a:cs typeface="Corbel"/>
              </a:rPr>
              <a:t>Temperature</a:t>
            </a:r>
            <a:r>
              <a:rPr sz="1100" spc="-5" dirty="0">
                <a:latin typeface="Corbel"/>
                <a:cs typeface="Corbel"/>
              </a:rPr>
              <a:t> scales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enable</a:t>
            </a:r>
            <a:r>
              <a:rPr sz="1100" dirty="0">
                <a:latin typeface="Corbel"/>
                <a:cs typeface="Corbel"/>
              </a:rPr>
              <a:t> us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to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use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common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basis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for 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temperature measurements </a:t>
            </a:r>
            <a:r>
              <a:rPr sz="1100" dirty="0">
                <a:latin typeface="Corbel"/>
                <a:cs typeface="Corbel"/>
              </a:rPr>
              <a:t>and </a:t>
            </a:r>
            <a:r>
              <a:rPr sz="1100" spc="-5" dirty="0">
                <a:latin typeface="Corbel"/>
                <a:cs typeface="Corbel"/>
              </a:rPr>
              <a:t>several temperature scales have </a:t>
            </a:r>
            <a:r>
              <a:rPr sz="1100" dirty="0">
                <a:latin typeface="Corbel"/>
                <a:cs typeface="Corbel"/>
              </a:rPr>
              <a:t> been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introduced</a:t>
            </a:r>
            <a:r>
              <a:rPr sz="1100" spc="-3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so </a:t>
            </a:r>
            <a:r>
              <a:rPr sz="1100" spc="-15" dirty="0">
                <a:latin typeface="Corbel"/>
                <a:cs typeface="Corbel"/>
              </a:rPr>
              <a:t>far.</a:t>
            </a:r>
            <a:endParaRPr sz="1100">
              <a:latin typeface="Corbel"/>
              <a:cs typeface="Corbel"/>
            </a:endParaRPr>
          </a:p>
          <a:p>
            <a:pPr marL="129539" marR="30480" indent="-91440" algn="just">
              <a:lnSpc>
                <a:spcPts val="1980"/>
              </a:lnSpc>
              <a:spcBef>
                <a:spcPts val="175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204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Corbel"/>
                <a:cs typeface="Corbel"/>
              </a:rPr>
              <a:t>All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temperature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scales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are</a:t>
            </a:r>
            <a:r>
              <a:rPr sz="1100" dirty="0">
                <a:latin typeface="Corbel"/>
                <a:cs typeface="Corbel"/>
              </a:rPr>
              <a:t> based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on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some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easily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reproducible 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states</a:t>
            </a:r>
            <a:r>
              <a:rPr sz="1100" spc="1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such</a:t>
            </a:r>
            <a:r>
              <a:rPr sz="1100" spc="1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as</a:t>
            </a:r>
            <a:r>
              <a:rPr sz="1100" spc="1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freezing</a:t>
            </a:r>
            <a:r>
              <a:rPr sz="1100" spc="1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and</a:t>
            </a:r>
            <a:r>
              <a:rPr sz="1100" spc="1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boiling</a:t>
            </a:r>
            <a:r>
              <a:rPr sz="1100" spc="1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point</a:t>
            </a:r>
            <a:r>
              <a:rPr sz="1100" spc="1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temperatures</a:t>
            </a:r>
            <a:r>
              <a:rPr sz="1100" spc="1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spc="114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water</a:t>
            </a:r>
            <a:endParaRPr sz="1100">
              <a:latin typeface="Corbel"/>
              <a:cs typeface="Corbel"/>
            </a:endParaRPr>
          </a:p>
          <a:p>
            <a:pPr marL="129539" algn="just">
              <a:lnSpc>
                <a:spcPct val="100000"/>
              </a:lnSpc>
              <a:spcBef>
                <a:spcPts val="484"/>
              </a:spcBef>
            </a:pPr>
            <a:r>
              <a:rPr sz="1100" spc="-5" dirty="0">
                <a:latin typeface="Corbel"/>
                <a:cs typeface="Corbel"/>
              </a:rPr>
              <a:t>i.e.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ice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point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and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steam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point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respectively.</a:t>
            </a:r>
            <a:endParaRPr sz="1100">
              <a:latin typeface="Corbel"/>
              <a:cs typeface="Corbel"/>
            </a:endParaRPr>
          </a:p>
          <a:p>
            <a:pPr marL="129539" marR="31750" indent="-91440" algn="just">
              <a:lnSpc>
                <a:spcPct val="150000"/>
              </a:lnSpc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204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Corbel"/>
                <a:cs typeface="Corbel"/>
              </a:rPr>
              <a:t>The temperature scale used in </a:t>
            </a:r>
            <a:r>
              <a:rPr sz="1100" dirty="0">
                <a:latin typeface="Corbel"/>
                <a:cs typeface="Corbel"/>
              </a:rPr>
              <a:t>SI </a:t>
            </a:r>
            <a:r>
              <a:rPr sz="1100" spc="-5" dirty="0">
                <a:latin typeface="Corbel"/>
                <a:cs typeface="Corbel"/>
              </a:rPr>
              <a:t>units is </a:t>
            </a:r>
            <a:r>
              <a:rPr sz="1100" dirty="0">
                <a:latin typeface="Corbel"/>
                <a:cs typeface="Corbel"/>
              </a:rPr>
              <a:t>the </a:t>
            </a:r>
            <a:r>
              <a:rPr sz="1100" spc="-5" dirty="0">
                <a:latin typeface="Corbel"/>
                <a:cs typeface="Corbel"/>
              </a:rPr>
              <a:t>Celsius scale. </a:t>
            </a:r>
            <a:r>
              <a:rPr sz="1100" dirty="0">
                <a:latin typeface="Corbel"/>
                <a:cs typeface="Corbel"/>
              </a:rPr>
              <a:t>On the 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Celsius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scale,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ice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point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and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steam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point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are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assigned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10" dirty="0">
                <a:latin typeface="Corbel"/>
                <a:cs typeface="Corbel"/>
              </a:rPr>
              <a:t>the 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numerical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values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0 and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100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050" spc="7" baseline="27777" dirty="0">
                <a:latin typeface="Corbel"/>
                <a:cs typeface="Corbel"/>
              </a:rPr>
              <a:t>0</a:t>
            </a:r>
            <a:r>
              <a:rPr sz="1100" spc="5" dirty="0">
                <a:latin typeface="Corbel"/>
                <a:cs typeface="Corbel"/>
              </a:rPr>
              <a:t>C </a:t>
            </a:r>
            <a:r>
              <a:rPr sz="1100" spc="-5" dirty="0">
                <a:latin typeface="Corbel"/>
                <a:cs typeface="Corbel"/>
              </a:rPr>
              <a:t>respectively.</a:t>
            </a:r>
            <a:endParaRPr sz="1100">
              <a:latin typeface="Corbel"/>
              <a:cs typeface="Corbel"/>
            </a:endParaRPr>
          </a:p>
          <a:p>
            <a:pPr marL="38100" algn="just">
              <a:lnSpc>
                <a:spcPct val="100000"/>
              </a:lnSpc>
              <a:spcBef>
                <a:spcPts val="660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1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Corbel"/>
                <a:cs typeface="Corbel"/>
              </a:rPr>
              <a:t>The</a:t>
            </a:r>
            <a:r>
              <a:rPr sz="1100" spc="9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English</a:t>
            </a:r>
            <a:r>
              <a:rPr sz="1100" spc="9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r>
              <a:rPr sz="1100" spc="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uses</a:t>
            </a:r>
            <a:r>
              <a:rPr sz="1100" spc="9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the</a:t>
            </a:r>
            <a:r>
              <a:rPr sz="1100" spc="10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Fahrenheit</a:t>
            </a:r>
            <a:r>
              <a:rPr sz="1100" spc="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scale,</a:t>
            </a:r>
            <a:r>
              <a:rPr sz="1100" spc="9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which</a:t>
            </a:r>
            <a:r>
              <a:rPr sz="1100" spc="10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assigns</a:t>
            </a:r>
            <a:r>
              <a:rPr sz="1100" b="1" spc="9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32</a:t>
            </a:r>
            <a:endParaRPr sz="1100">
              <a:latin typeface="Corbel"/>
              <a:cs typeface="Corbel"/>
            </a:endParaRPr>
          </a:p>
          <a:p>
            <a:pPr marL="129539">
              <a:lnSpc>
                <a:spcPct val="100000"/>
              </a:lnSpc>
              <a:spcBef>
                <a:spcPts val="660"/>
              </a:spcBef>
            </a:pPr>
            <a:r>
              <a:rPr sz="1100" b="1" dirty="0">
                <a:latin typeface="Corbel"/>
                <a:cs typeface="Corbel"/>
              </a:rPr>
              <a:t>and</a:t>
            </a:r>
            <a:r>
              <a:rPr sz="1100" b="1" spc="-1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212</a:t>
            </a:r>
            <a:r>
              <a:rPr sz="1100" b="1" spc="-10" dirty="0">
                <a:latin typeface="Corbel"/>
                <a:cs typeface="Corbel"/>
              </a:rPr>
              <a:t> </a:t>
            </a:r>
            <a:r>
              <a:rPr sz="1050" b="1" baseline="27777" dirty="0">
                <a:latin typeface="Corbel"/>
                <a:cs typeface="Corbel"/>
              </a:rPr>
              <a:t>0</a:t>
            </a:r>
            <a:r>
              <a:rPr sz="1100" b="1" dirty="0">
                <a:latin typeface="Corbel"/>
                <a:cs typeface="Corbel"/>
              </a:rPr>
              <a:t>F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as</a:t>
            </a:r>
            <a:r>
              <a:rPr sz="1100" b="1" spc="1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the</a:t>
            </a:r>
            <a:r>
              <a:rPr sz="1100" b="1" spc="-15" dirty="0">
                <a:latin typeface="Corbel"/>
                <a:cs typeface="Corbel"/>
              </a:rPr>
              <a:t> </a:t>
            </a:r>
            <a:r>
              <a:rPr sz="1000" b="1" spc="-5" dirty="0">
                <a:latin typeface="Corbel"/>
                <a:cs typeface="Corbel"/>
              </a:rPr>
              <a:t>ice</a:t>
            </a:r>
            <a:r>
              <a:rPr sz="1000" b="1" spc="5" dirty="0">
                <a:latin typeface="Corbel"/>
                <a:cs typeface="Corbel"/>
              </a:rPr>
              <a:t> </a:t>
            </a:r>
            <a:r>
              <a:rPr sz="1000" b="1" spc="-5" dirty="0">
                <a:latin typeface="Corbel"/>
                <a:cs typeface="Corbel"/>
              </a:rPr>
              <a:t>point</a:t>
            </a:r>
            <a:r>
              <a:rPr sz="1000" b="1" dirty="0">
                <a:latin typeface="Corbel"/>
                <a:cs typeface="Corbel"/>
              </a:rPr>
              <a:t> </a:t>
            </a:r>
            <a:r>
              <a:rPr sz="1000" b="1" spc="-5" dirty="0">
                <a:latin typeface="Corbel"/>
                <a:cs typeface="Corbel"/>
              </a:rPr>
              <a:t>and</a:t>
            </a:r>
            <a:r>
              <a:rPr sz="1000" b="1" spc="5" dirty="0">
                <a:latin typeface="Corbel"/>
                <a:cs typeface="Corbel"/>
              </a:rPr>
              <a:t> </a:t>
            </a:r>
            <a:r>
              <a:rPr sz="1000" b="1" spc="-5" dirty="0">
                <a:latin typeface="Corbel"/>
                <a:cs typeface="Corbel"/>
              </a:rPr>
              <a:t>steam</a:t>
            </a:r>
            <a:r>
              <a:rPr sz="1000" b="1" spc="10" dirty="0">
                <a:latin typeface="Corbel"/>
                <a:cs typeface="Corbel"/>
              </a:rPr>
              <a:t> </a:t>
            </a:r>
            <a:r>
              <a:rPr sz="1000" b="1" spc="-5" dirty="0">
                <a:latin typeface="Corbel"/>
                <a:cs typeface="Corbel"/>
              </a:rPr>
              <a:t>point</a:t>
            </a:r>
            <a:r>
              <a:rPr sz="1000" b="1" spc="5" dirty="0">
                <a:latin typeface="Corbel"/>
                <a:cs typeface="Corbel"/>
              </a:rPr>
              <a:t> </a:t>
            </a:r>
            <a:r>
              <a:rPr sz="1000" spc="-10" dirty="0">
                <a:latin typeface="Corbel"/>
                <a:cs typeface="Corbel"/>
              </a:rPr>
              <a:t>respectively.</a:t>
            </a:r>
            <a:endParaRPr sz="10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marL="45720" marR="487680">
              <a:lnSpc>
                <a:spcPts val="1939"/>
              </a:lnSpc>
              <a:spcBef>
                <a:spcPts val="5"/>
              </a:spcBef>
            </a:pPr>
            <a:r>
              <a:rPr sz="1800" spc="-16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pe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u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e 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Scale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23845" y="5771743"/>
            <a:ext cx="3916045" cy="1534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9539" marR="30480" indent="-91440" algn="just">
              <a:lnSpc>
                <a:spcPct val="150100"/>
              </a:lnSpc>
              <a:spcBef>
                <a:spcPts val="95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204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more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useful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temperature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scale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in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thermodynamics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spc="2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 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absolute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temperature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10" dirty="0">
                <a:latin typeface="Corbel"/>
                <a:cs typeface="Corbel"/>
              </a:rPr>
              <a:t>scale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and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is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called</a:t>
            </a:r>
            <a:r>
              <a:rPr sz="1100" dirty="0">
                <a:latin typeface="Corbel"/>
                <a:cs typeface="Corbel"/>
              </a:rPr>
              <a:t> the </a:t>
            </a:r>
            <a:r>
              <a:rPr sz="1100" spc="-5" dirty="0">
                <a:latin typeface="Corbel"/>
                <a:cs typeface="Corbel"/>
              </a:rPr>
              <a:t>Kelvin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scale.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The </a:t>
            </a:r>
            <a:r>
              <a:rPr sz="11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temperature unit </a:t>
            </a:r>
            <a:r>
              <a:rPr sz="1100" dirty="0">
                <a:latin typeface="Corbel"/>
                <a:cs typeface="Corbel"/>
              </a:rPr>
              <a:t>on </a:t>
            </a:r>
            <a:r>
              <a:rPr sz="1100" spc="-5" dirty="0">
                <a:latin typeface="Corbel"/>
                <a:cs typeface="Corbel"/>
              </a:rPr>
              <a:t>this scale is Kelvin, designated as </a:t>
            </a:r>
            <a:r>
              <a:rPr sz="1100" dirty="0">
                <a:latin typeface="Corbel"/>
                <a:cs typeface="Corbel"/>
              </a:rPr>
              <a:t>K, </a:t>
            </a:r>
            <a:r>
              <a:rPr sz="1100" spc="-5" dirty="0">
                <a:latin typeface="Corbel"/>
                <a:cs typeface="Corbel"/>
              </a:rPr>
              <a:t>without </a:t>
            </a:r>
            <a:r>
              <a:rPr sz="1100" dirty="0">
                <a:latin typeface="Corbel"/>
                <a:cs typeface="Corbel"/>
              </a:rPr>
              <a:t> the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degree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symbol.</a:t>
            </a:r>
            <a:endParaRPr sz="1100">
              <a:latin typeface="Corbel"/>
              <a:cs typeface="Corbel"/>
            </a:endParaRPr>
          </a:p>
          <a:p>
            <a:pPr marL="38100" algn="just">
              <a:lnSpc>
                <a:spcPct val="100000"/>
              </a:lnSpc>
              <a:spcBef>
                <a:spcPts val="66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Corbel"/>
                <a:cs typeface="Corbel"/>
              </a:rPr>
              <a:t>Th</a:t>
            </a:r>
            <a:r>
              <a:rPr sz="1100" dirty="0">
                <a:latin typeface="Corbel"/>
                <a:cs typeface="Corbel"/>
              </a:rPr>
              <a:t>e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spc="-20" dirty="0">
                <a:latin typeface="Corbel"/>
                <a:cs typeface="Corbel"/>
              </a:rPr>
              <a:t>K</a:t>
            </a:r>
            <a:r>
              <a:rPr sz="1100" dirty="0">
                <a:latin typeface="Corbel"/>
                <a:cs typeface="Corbel"/>
              </a:rPr>
              <a:t>elv</a:t>
            </a:r>
            <a:r>
              <a:rPr sz="1100" spc="-5" dirty="0">
                <a:latin typeface="Corbel"/>
                <a:cs typeface="Corbel"/>
              </a:rPr>
              <a:t>i</a:t>
            </a:r>
            <a:r>
              <a:rPr sz="1100" dirty="0">
                <a:latin typeface="Corbel"/>
                <a:cs typeface="Corbel"/>
              </a:rPr>
              <a:t>n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</a:t>
            </a:r>
            <a:r>
              <a:rPr sz="1100" spc="-10" dirty="0">
                <a:latin typeface="Corbel"/>
                <a:cs typeface="Corbel"/>
              </a:rPr>
              <a:t>c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-10" dirty="0">
                <a:latin typeface="Corbel"/>
                <a:cs typeface="Corbel"/>
              </a:rPr>
              <a:t>l</a:t>
            </a:r>
            <a:r>
              <a:rPr sz="1100" dirty="0">
                <a:latin typeface="Corbel"/>
                <a:cs typeface="Corbel"/>
              </a:rPr>
              <a:t>e</a:t>
            </a:r>
            <a:r>
              <a:rPr sz="1100" spc="-5" dirty="0">
                <a:latin typeface="Corbel"/>
                <a:cs typeface="Corbel"/>
              </a:rPr>
              <a:t> i</a:t>
            </a:r>
            <a:r>
              <a:rPr sz="1100" dirty="0">
                <a:latin typeface="Corbel"/>
                <a:cs typeface="Corbel"/>
              </a:rPr>
              <a:t>s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re</a:t>
            </a:r>
            <a:r>
              <a:rPr sz="1100" spc="-5" dirty="0">
                <a:latin typeface="Corbel"/>
                <a:cs typeface="Corbel"/>
              </a:rPr>
              <a:t>l</a:t>
            </a:r>
            <a:r>
              <a:rPr sz="1100" dirty="0">
                <a:latin typeface="Corbel"/>
                <a:cs typeface="Corbel"/>
              </a:rPr>
              <a:t>ated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to</a:t>
            </a:r>
            <a:r>
              <a:rPr sz="1100" spc="-4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Cels</a:t>
            </a:r>
            <a:r>
              <a:rPr sz="1100" spc="-10" dirty="0">
                <a:latin typeface="Corbel"/>
                <a:cs typeface="Corbel"/>
              </a:rPr>
              <a:t>i</a:t>
            </a:r>
            <a:r>
              <a:rPr sz="1100" dirty="0">
                <a:latin typeface="Corbel"/>
                <a:cs typeface="Corbel"/>
              </a:rPr>
              <a:t>us</a:t>
            </a:r>
            <a:r>
              <a:rPr sz="1100" spc="-5" dirty="0">
                <a:latin typeface="Corbel"/>
                <a:cs typeface="Corbel"/>
              </a:rPr>
              <a:t> s</a:t>
            </a:r>
            <a:r>
              <a:rPr sz="1100" spc="-10" dirty="0">
                <a:latin typeface="Corbel"/>
                <a:cs typeface="Corbel"/>
              </a:rPr>
              <a:t>c</a:t>
            </a:r>
            <a:r>
              <a:rPr sz="1100" dirty="0">
                <a:latin typeface="Corbel"/>
                <a:cs typeface="Corbel"/>
              </a:rPr>
              <a:t>a</a:t>
            </a:r>
            <a:r>
              <a:rPr sz="1100" spc="-10" dirty="0">
                <a:latin typeface="Corbel"/>
                <a:cs typeface="Corbel"/>
              </a:rPr>
              <a:t>l</a:t>
            </a:r>
            <a:r>
              <a:rPr sz="1100" dirty="0">
                <a:latin typeface="Corbel"/>
                <a:cs typeface="Corbel"/>
              </a:rPr>
              <a:t>e</a:t>
            </a:r>
            <a:r>
              <a:rPr sz="1100" spc="-5" dirty="0">
                <a:latin typeface="Corbel"/>
                <a:cs typeface="Corbel"/>
              </a:rPr>
              <a:t> b</a:t>
            </a:r>
            <a:r>
              <a:rPr sz="1100" spc="-40" dirty="0">
                <a:latin typeface="Corbel"/>
                <a:cs typeface="Corbel"/>
              </a:rPr>
              <a:t>y</a:t>
            </a:r>
            <a:r>
              <a:rPr sz="1100" dirty="0">
                <a:latin typeface="Corbel"/>
                <a:cs typeface="Corbel"/>
              </a:rPr>
              <a:t>,</a:t>
            </a:r>
            <a:endParaRPr sz="1100">
              <a:latin typeface="Corbel"/>
              <a:cs typeface="Corbel"/>
            </a:endParaRPr>
          </a:p>
          <a:p>
            <a:pPr marL="952500">
              <a:lnSpc>
                <a:spcPct val="100000"/>
              </a:lnSpc>
              <a:spcBef>
                <a:spcPts val="660"/>
              </a:spcBef>
            </a:pPr>
            <a:r>
              <a:rPr sz="1100" dirty="0">
                <a:latin typeface="Corbel"/>
                <a:cs typeface="Corbel"/>
              </a:rPr>
              <a:t>T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5" dirty="0">
                <a:latin typeface="Corbel"/>
                <a:cs typeface="Corbel"/>
              </a:rPr>
              <a:t>(K</a:t>
            </a:r>
            <a:r>
              <a:rPr sz="1100" dirty="0">
                <a:latin typeface="Corbel"/>
                <a:cs typeface="Corbel"/>
              </a:rPr>
              <a:t>)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8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5" dirty="0">
                <a:latin typeface="Corbel"/>
                <a:cs typeface="Corbel"/>
              </a:rPr>
              <a:t>(</a:t>
            </a:r>
            <a:r>
              <a:rPr sz="1050" spc="15" baseline="27777" dirty="0">
                <a:latin typeface="Corbel"/>
                <a:cs typeface="Corbel"/>
              </a:rPr>
              <a:t>0</a:t>
            </a:r>
            <a:r>
              <a:rPr sz="1100" spc="-5" dirty="0">
                <a:latin typeface="Corbel"/>
                <a:cs typeface="Corbel"/>
              </a:rPr>
              <a:t>C</a:t>
            </a:r>
            <a:r>
              <a:rPr sz="1100" dirty="0">
                <a:latin typeface="Corbel"/>
                <a:cs typeface="Corbel"/>
              </a:rPr>
              <a:t>) +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spc="-25" dirty="0">
                <a:latin typeface="Corbel"/>
                <a:cs typeface="Corbel"/>
              </a:rPr>
              <a:t>2</a:t>
            </a:r>
            <a:r>
              <a:rPr sz="1100" spc="-5" dirty="0">
                <a:latin typeface="Corbel"/>
                <a:cs typeface="Corbel"/>
              </a:rPr>
              <a:t>7</a:t>
            </a:r>
            <a:r>
              <a:rPr sz="1100" dirty="0">
                <a:latin typeface="Corbel"/>
                <a:cs typeface="Corbel"/>
              </a:rPr>
              <a:t>3</a:t>
            </a:r>
            <a:r>
              <a:rPr sz="1100" spc="-5" dirty="0">
                <a:latin typeface="Corbel"/>
                <a:cs typeface="Corbel"/>
              </a:rPr>
              <a:t>.15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/>
              <a:cs typeface="Times New Roman"/>
            </a:endParaRPr>
          </a:p>
          <a:p>
            <a:pPr marL="45720">
              <a:lnSpc>
                <a:spcPts val="2055"/>
              </a:lnSpc>
            </a:pPr>
            <a:r>
              <a:rPr sz="1800" spc="-50" dirty="0">
                <a:solidFill>
                  <a:srgbClr val="FFFFFF"/>
                </a:solidFill>
                <a:latin typeface="Corbel"/>
                <a:cs typeface="Corbel"/>
              </a:rPr>
              <a:t>Temperature</a:t>
            </a:r>
            <a:endParaRPr sz="1800">
              <a:latin typeface="Corbel"/>
              <a:cs typeface="Corbel"/>
            </a:endParaRPr>
          </a:p>
          <a:p>
            <a:pPr marL="45720">
              <a:lnSpc>
                <a:spcPts val="2055"/>
              </a:lnSpc>
            </a:pP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Scale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marL="45720" marR="487680">
              <a:lnSpc>
                <a:spcPts val="1939"/>
              </a:lnSpc>
              <a:spcBef>
                <a:spcPts val="5"/>
              </a:spcBef>
            </a:pPr>
            <a:r>
              <a:rPr sz="1800" spc="-16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pe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u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e  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Scale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4799" y="1118778"/>
            <a:ext cx="2974894" cy="302401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49245" y="5268823"/>
            <a:ext cx="3865245" cy="254063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b="1" spc="-5" dirty="0">
                <a:solidFill>
                  <a:srgbClr val="00AFEF"/>
                </a:solidFill>
                <a:latin typeface="Corbel"/>
                <a:cs typeface="Corbel"/>
              </a:rPr>
              <a:t>Continuation</a:t>
            </a:r>
            <a:r>
              <a:rPr sz="1100" b="1" spc="-10" dirty="0">
                <a:solidFill>
                  <a:srgbClr val="00AFEF"/>
                </a:solidFill>
                <a:latin typeface="Corbel"/>
                <a:cs typeface="Corbel"/>
              </a:rPr>
              <a:t> </a:t>
            </a:r>
            <a:r>
              <a:rPr sz="1100" b="1" dirty="0">
                <a:solidFill>
                  <a:srgbClr val="00AFEF"/>
                </a:solidFill>
                <a:latin typeface="Corbel"/>
                <a:cs typeface="Corbel"/>
              </a:rPr>
              <a:t>of</a:t>
            </a:r>
            <a:r>
              <a:rPr sz="1100" b="1" spc="-20" dirty="0">
                <a:solidFill>
                  <a:srgbClr val="00AFEF"/>
                </a:solidFill>
                <a:latin typeface="Corbel"/>
                <a:cs typeface="Corbel"/>
              </a:rPr>
              <a:t> </a:t>
            </a:r>
            <a:r>
              <a:rPr sz="1100" b="1" spc="-5" dirty="0">
                <a:solidFill>
                  <a:srgbClr val="00AFEF"/>
                </a:solidFill>
                <a:latin typeface="Corbel"/>
                <a:cs typeface="Corbel"/>
              </a:rPr>
              <a:t>matter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13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Corbel"/>
                <a:cs typeface="Corbel"/>
              </a:rPr>
              <a:t>It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brings </a:t>
            </a:r>
            <a:r>
              <a:rPr sz="1100" spc="-5" dirty="0">
                <a:latin typeface="Corbel"/>
                <a:cs typeface="Corbel"/>
              </a:rPr>
              <a:t>together</a:t>
            </a:r>
            <a:r>
              <a:rPr sz="1100" spc="20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Macroscopic </a:t>
            </a:r>
            <a:r>
              <a:rPr sz="1100" dirty="0">
                <a:latin typeface="Corbel"/>
                <a:cs typeface="Corbel"/>
              </a:rPr>
              <a:t>and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Microscopic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approach.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Corbel"/>
                <a:cs typeface="Corbel"/>
              </a:rPr>
              <a:t>Th</a:t>
            </a:r>
            <a:r>
              <a:rPr sz="1100" dirty="0">
                <a:latin typeface="Corbel"/>
                <a:cs typeface="Corbel"/>
              </a:rPr>
              <a:t>e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m</a:t>
            </a:r>
            <a:r>
              <a:rPr sz="1100" spc="-5" dirty="0">
                <a:latin typeface="Corbel"/>
                <a:cs typeface="Corbel"/>
              </a:rPr>
              <a:t>as</a:t>
            </a:r>
            <a:r>
              <a:rPr sz="1100" dirty="0">
                <a:latin typeface="Corbel"/>
                <a:cs typeface="Corbel"/>
              </a:rPr>
              <a:t>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distri</a:t>
            </a:r>
            <a:r>
              <a:rPr sz="1100" spc="-10" dirty="0">
                <a:latin typeface="Corbel"/>
                <a:cs typeface="Corbel"/>
              </a:rPr>
              <a:t>b</a:t>
            </a:r>
            <a:r>
              <a:rPr sz="1100" dirty="0">
                <a:latin typeface="Corbel"/>
                <a:cs typeface="Corbel"/>
              </a:rPr>
              <a:t>u</a:t>
            </a:r>
            <a:r>
              <a:rPr sz="1100" spc="-5" dirty="0">
                <a:latin typeface="Corbel"/>
                <a:cs typeface="Corbel"/>
              </a:rPr>
              <a:t>tio</a:t>
            </a:r>
            <a:r>
              <a:rPr sz="1100" dirty="0">
                <a:latin typeface="Corbel"/>
                <a:cs typeface="Corbel"/>
              </a:rPr>
              <a:t>n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</a:t>
            </a:r>
            <a:r>
              <a:rPr sz="1100" dirty="0">
                <a:latin typeface="Corbel"/>
                <a:cs typeface="Corbel"/>
              </a:rPr>
              <a:t>s</a:t>
            </a:r>
            <a:r>
              <a:rPr sz="1100" spc="5" dirty="0">
                <a:latin typeface="Corbel"/>
                <a:cs typeface="Corbel"/>
              </a:rPr>
              <a:t> n</a:t>
            </a:r>
            <a:r>
              <a:rPr sz="1100" spc="-5" dirty="0">
                <a:latin typeface="Corbel"/>
                <a:cs typeface="Corbel"/>
              </a:rPr>
              <a:t>o</a:t>
            </a:r>
            <a:r>
              <a:rPr sz="1100" dirty="0">
                <a:latin typeface="Corbel"/>
                <a:cs typeface="Corbel"/>
              </a:rPr>
              <a:t>t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5" dirty="0">
                <a:latin typeface="Corbel"/>
                <a:cs typeface="Corbel"/>
              </a:rPr>
              <a:t>un</a:t>
            </a:r>
            <a:r>
              <a:rPr sz="1100" spc="-5" dirty="0">
                <a:latin typeface="Corbel"/>
                <a:cs typeface="Corbel"/>
              </a:rPr>
              <a:t>i</a:t>
            </a:r>
            <a:r>
              <a:rPr sz="1100" dirty="0">
                <a:latin typeface="Corbel"/>
                <a:cs typeface="Corbel"/>
              </a:rPr>
              <a:t>form</a:t>
            </a:r>
            <a:r>
              <a:rPr sz="1100" spc="-15" dirty="0">
                <a:latin typeface="Corbel"/>
                <a:cs typeface="Corbel"/>
              </a:rPr>
              <a:t>s</a:t>
            </a:r>
            <a:r>
              <a:rPr sz="1100" dirty="0">
                <a:latin typeface="Corbel"/>
                <a:cs typeface="Corbel"/>
              </a:rPr>
              <a:t>.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7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Corbel"/>
                <a:cs typeface="Corbel"/>
              </a:rPr>
              <a:t>Voids/gaps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are</a:t>
            </a:r>
            <a:r>
              <a:rPr sz="1100" spc="-5" dirty="0">
                <a:latin typeface="Corbel"/>
                <a:cs typeface="Corbel"/>
              </a:rPr>
              <a:t> existing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between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molecules.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latin typeface="Corbel"/>
                <a:cs typeface="Corbel"/>
              </a:rPr>
              <a:t>Su</a:t>
            </a:r>
            <a:r>
              <a:rPr sz="1100" spc="-10" dirty="0">
                <a:latin typeface="Corbel"/>
                <a:cs typeface="Corbel"/>
              </a:rPr>
              <a:t>b</a:t>
            </a:r>
            <a:r>
              <a:rPr sz="1100" spc="-5" dirty="0">
                <a:latin typeface="Corbel"/>
                <a:cs typeface="Corbel"/>
              </a:rPr>
              <a:t>st</a:t>
            </a:r>
            <a:r>
              <a:rPr sz="1100" spc="-10" dirty="0">
                <a:latin typeface="Corbel"/>
                <a:cs typeface="Corbel"/>
              </a:rPr>
              <a:t>a</a:t>
            </a:r>
            <a:r>
              <a:rPr sz="1100" dirty="0">
                <a:latin typeface="Corbel"/>
                <a:cs typeface="Corbel"/>
              </a:rPr>
              <a:t>n</a:t>
            </a:r>
            <a:r>
              <a:rPr sz="1100" spc="-5" dirty="0">
                <a:latin typeface="Corbel"/>
                <a:cs typeface="Corbel"/>
              </a:rPr>
              <a:t>c</a:t>
            </a:r>
            <a:r>
              <a:rPr sz="1100" dirty="0">
                <a:latin typeface="Corbel"/>
                <a:cs typeface="Corbel"/>
              </a:rPr>
              <a:t>e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</a:t>
            </a:r>
            <a:r>
              <a:rPr sz="1100" dirty="0">
                <a:latin typeface="Corbel"/>
                <a:cs typeface="Corbel"/>
              </a:rPr>
              <a:t>s v</a:t>
            </a:r>
            <a:r>
              <a:rPr sz="1100" spc="-5" dirty="0">
                <a:latin typeface="Corbel"/>
                <a:cs typeface="Corbel"/>
              </a:rPr>
              <a:t>i</a:t>
            </a:r>
            <a:r>
              <a:rPr sz="1100" dirty="0">
                <a:latin typeface="Corbel"/>
                <a:cs typeface="Corbel"/>
              </a:rPr>
              <a:t>ewed</a:t>
            </a:r>
            <a:r>
              <a:rPr sz="1100" spc="-3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</a:t>
            </a:r>
            <a:r>
              <a:rPr sz="1100" dirty="0">
                <a:latin typeface="Corbel"/>
                <a:cs typeface="Corbel"/>
              </a:rPr>
              <a:t>o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b</a:t>
            </a:r>
            <a:r>
              <a:rPr sz="1100" dirty="0">
                <a:latin typeface="Corbel"/>
                <a:cs typeface="Corbel"/>
              </a:rPr>
              <a:t>e</a:t>
            </a:r>
            <a:r>
              <a:rPr sz="1100" spc="-5" dirty="0">
                <a:latin typeface="Corbel"/>
                <a:cs typeface="Corbel"/>
              </a:rPr>
              <a:t> conti</a:t>
            </a:r>
            <a:r>
              <a:rPr sz="1100" dirty="0">
                <a:latin typeface="Corbel"/>
                <a:cs typeface="Corbel"/>
              </a:rPr>
              <a:t>nuous</a:t>
            </a:r>
            <a:r>
              <a:rPr sz="1100" spc="-3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and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homoge</a:t>
            </a:r>
            <a:r>
              <a:rPr sz="1100" dirty="0">
                <a:latin typeface="Corbel"/>
                <a:cs typeface="Corbel"/>
              </a:rPr>
              <a:t>neous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Corbel"/>
                <a:cs typeface="Corbel"/>
              </a:rPr>
              <a:t>N</a:t>
            </a:r>
            <a:r>
              <a:rPr sz="1100" dirty="0">
                <a:latin typeface="Corbel"/>
                <a:cs typeface="Corbel"/>
              </a:rPr>
              <a:t>o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m</a:t>
            </a:r>
            <a:r>
              <a:rPr sz="1100" spc="-10" dirty="0">
                <a:latin typeface="Corbel"/>
                <a:cs typeface="Corbel"/>
              </a:rPr>
              <a:t>i</a:t>
            </a:r>
            <a:r>
              <a:rPr sz="1100" spc="-5" dirty="0">
                <a:latin typeface="Corbel"/>
                <a:cs typeface="Corbel"/>
              </a:rPr>
              <a:t>c</a:t>
            </a:r>
            <a:r>
              <a:rPr sz="1100" dirty="0">
                <a:latin typeface="Corbel"/>
                <a:cs typeface="Corbel"/>
              </a:rPr>
              <a:t>ros</a:t>
            </a:r>
            <a:r>
              <a:rPr sz="1100" spc="-5" dirty="0">
                <a:latin typeface="Corbel"/>
                <a:cs typeface="Corbel"/>
              </a:rPr>
              <a:t>copi</a:t>
            </a:r>
            <a:r>
              <a:rPr sz="1100" dirty="0">
                <a:latin typeface="Corbel"/>
                <a:cs typeface="Corbel"/>
              </a:rPr>
              <a:t>c gaps</a:t>
            </a:r>
            <a:r>
              <a:rPr sz="1100" spc="-3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</a:t>
            </a:r>
            <a:r>
              <a:rPr sz="1100" dirty="0">
                <a:latin typeface="Corbel"/>
                <a:cs typeface="Corbel"/>
              </a:rPr>
              <a:t>r</a:t>
            </a:r>
            <a:r>
              <a:rPr sz="1100" spc="-5" dirty="0">
                <a:latin typeface="Corbel"/>
                <a:cs typeface="Corbel"/>
              </a:rPr>
              <a:t> hol</a:t>
            </a:r>
            <a:r>
              <a:rPr sz="1100" dirty="0">
                <a:latin typeface="Corbel"/>
                <a:cs typeface="Corbel"/>
              </a:rPr>
              <a:t>es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latin typeface="Corbel"/>
                <a:cs typeface="Corbel"/>
              </a:rPr>
              <a:t>P</a:t>
            </a:r>
            <a:r>
              <a:rPr sz="1100" dirty="0">
                <a:latin typeface="Corbel"/>
                <a:cs typeface="Corbel"/>
              </a:rPr>
              <a:t>re</a:t>
            </a:r>
            <a:r>
              <a:rPr sz="1100" spc="-5" dirty="0">
                <a:latin typeface="Corbel"/>
                <a:cs typeface="Corbel"/>
              </a:rPr>
              <a:t>ss</a:t>
            </a:r>
            <a:r>
              <a:rPr sz="1100" dirty="0">
                <a:latin typeface="Corbel"/>
                <a:cs typeface="Corbel"/>
              </a:rPr>
              <a:t>ure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and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temp</a:t>
            </a:r>
            <a:r>
              <a:rPr sz="1100" dirty="0">
                <a:latin typeface="Corbel"/>
                <a:cs typeface="Corbel"/>
              </a:rPr>
              <a:t>erat</a:t>
            </a:r>
            <a:r>
              <a:rPr sz="1100" spc="5" dirty="0">
                <a:latin typeface="Corbel"/>
                <a:cs typeface="Corbel"/>
              </a:rPr>
              <a:t>u</a:t>
            </a:r>
            <a:r>
              <a:rPr sz="1100" dirty="0">
                <a:latin typeface="Corbel"/>
                <a:cs typeface="Corbel"/>
              </a:rPr>
              <a:t>re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</a:t>
            </a:r>
            <a:r>
              <a:rPr sz="1100" dirty="0">
                <a:latin typeface="Corbel"/>
                <a:cs typeface="Corbel"/>
              </a:rPr>
              <a:t>s</a:t>
            </a:r>
            <a:r>
              <a:rPr sz="1100" spc="-5" dirty="0">
                <a:latin typeface="Corbel"/>
                <a:cs typeface="Corbel"/>
              </a:rPr>
              <a:t> l</a:t>
            </a:r>
            <a:r>
              <a:rPr sz="1100" dirty="0">
                <a:latin typeface="Corbel"/>
                <a:cs typeface="Corbel"/>
              </a:rPr>
              <a:t>arge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5" dirty="0">
                <a:latin typeface="Corbel"/>
                <a:cs typeface="Corbel"/>
              </a:rPr>
              <a:t>n</a:t>
            </a:r>
            <a:r>
              <a:rPr sz="1100" spc="-5" dirty="0">
                <a:latin typeface="Corbel"/>
                <a:cs typeface="Corbel"/>
              </a:rPr>
              <a:t>o</a:t>
            </a:r>
            <a:r>
              <a:rPr sz="1100" dirty="0">
                <a:latin typeface="Corbel"/>
                <a:cs typeface="Corbel"/>
              </a:rPr>
              <a:t>.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</a:t>
            </a:r>
            <a:r>
              <a:rPr sz="1100" dirty="0">
                <a:latin typeface="Corbel"/>
                <a:cs typeface="Corbel"/>
              </a:rPr>
              <a:t>f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m</a:t>
            </a:r>
            <a:r>
              <a:rPr sz="1100" spc="-5" dirty="0">
                <a:latin typeface="Corbel"/>
                <a:cs typeface="Corbel"/>
              </a:rPr>
              <a:t>ol</a:t>
            </a:r>
            <a:r>
              <a:rPr sz="1100" dirty="0">
                <a:latin typeface="Corbel"/>
                <a:cs typeface="Corbel"/>
              </a:rPr>
              <a:t>ecules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Corbel"/>
                <a:cs typeface="Corbel"/>
              </a:rPr>
              <a:t>Co</a:t>
            </a:r>
            <a:r>
              <a:rPr sz="1100" dirty="0">
                <a:latin typeface="Corbel"/>
                <a:cs typeface="Corbel"/>
              </a:rPr>
              <a:t>n</a:t>
            </a:r>
            <a:r>
              <a:rPr sz="1100" spc="-5" dirty="0">
                <a:latin typeface="Corbel"/>
                <a:cs typeface="Corbel"/>
              </a:rPr>
              <a:t>tin</a:t>
            </a:r>
            <a:r>
              <a:rPr sz="1100" spc="5" dirty="0">
                <a:latin typeface="Corbel"/>
                <a:cs typeface="Corbel"/>
              </a:rPr>
              <a:t>u</a:t>
            </a:r>
            <a:r>
              <a:rPr sz="1100" spc="-5" dirty="0">
                <a:latin typeface="Corbel"/>
                <a:cs typeface="Corbel"/>
              </a:rPr>
              <a:t>o</a:t>
            </a:r>
            <a:r>
              <a:rPr sz="1100" dirty="0">
                <a:latin typeface="Corbel"/>
                <a:cs typeface="Corbel"/>
              </a:rPr>
              <a:t>us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endParaRPr sz="1100">
              <a:latin typeface="Corbel"/>
              <a:cs typeface="Corbel"/>
            </a:endParaRPr>
          </a:p>
          <a:p>
            <a:pPr marL="104139" marR="5080" indent="-91440">
              <a:lnSpc>
                <a:spcPct val="150000"/>
              </a:lnSpc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130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Corbel"/>
                <a:cs typeface="Corbel"/>
              </a:rPr>
              <a:t>Not</a:t>
            </a:r>
            <a:r>
              <a:rPr sz="1100" spc="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applicable</a:t>
            </a:r>
            <a:r>
              <a:rPr sz="1100" spc="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when</a:t>
            </a:r>
            <a:r>
              <a:rPr sz="1100" spc="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numbers</a:t>
            </a:r>
            <a:r>
              <a:rPr sz="1100" spc="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of</a:t>
            </a:r>
            <a:r>
              <a:rPr sz="1100" spc="1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molecules</a:t>
            </a:r>
            <a:r>
              <a:rPr sz="1100" spc="22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in</a:t>
            </a:r>
            <a:r>
              <a:rPr sz="1100" spc="229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the</a:t>
            </a:r>
            <a:r>
              <a:rPr sz="1100" spc="21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system</a:t>
            </a:r>
            <a:r>
              <a:rPr sz="1100" spc="22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are 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very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small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/>
              <a:cs typeface="Times New Roman"/>
            </a:endParaRPr>
          </a:p>
          <a:p>
            <a:pPr marL="45720">
              <a:lnSpc>
                <a:spcPts val="2055"/>
              </a:lnSpc>
            </a:pP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onc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ep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f</a:t>
            </a:r>
            <a:endParaRPr sz="1800">
              <a:latin typeface="Corbel"/>
              <a:cs typeface="Corbel"/>
            </a:endParaRPr>
          </a:p>
          <a:p>
            <a:pPr marL="45720">
              <a:lnSpc>
                <a:spcPts val="2055"/>
              </a:lnSpc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Continuum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94560" y="1248155"/>
            <a:ext cx="4282440" cy="2665730"/>
            <a:chOff x="2194560" y="1248155"/>
            <a:chExt cx="4282440" cy="2665730"/>
          </a:xfrm>
        </p:grpSpPr>
        <p:sp>
          <p:nvSpPr>
            <p:cNvPr id="4" name="object 4"/>
            <p:cNvSpPr/>
            <p:nvPr/>
          </p:nvSpPr>
          <p:spPr>
            <a:xfrm>
              <a:off x="6289548" y="1248155"/>
              <a:ext cx="187960" cy="2665730"/>
            </a:xfrm>
            <a:custGeom>
              <a:avLst/>
              <a:gdLst/>
              <a:ahLst/>
              <a:cxnLst/>
              <a:rect l="l" t="t" r="r" b="b"/>
              <a:pathLst>
                <a:path w="187960" h="2665729">
                  <a:moveTo>
                    <a:pt x="0" y="2665476"/>
                  </a:moveTo>
                  <a:lnTo>
                    <a:pt x="187451" y="2665476"/>
                  </a:lnTo>
                  <a:lnTo>
                    <a:pt x="187451" y="0"/>
                  </a:lnTo>
                  <a:lnTo>
                    <a:pt x="0" y="0"/>
                  </a:lnTo>
                  <a:lnTo>
                    <a:pt x="0" y="2665476"/>
                  </a:lnTo>
                  <a:close/>
                </a:path>
              </a:pathLst>
            </a:custGeom>
            <a:solidFill>
              <a:srgbClr val="C7C7C7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4560" y="1292351"/>
              <a:ext cx="1676400" cy="145999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67911" y="1254251"/>
              <a:ext cx="2406395" cy="145999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Times New Roman"/>
              <a:cs typeface="Times New Roman"/>
            </a:endParaRPr>
          </a:p>
          <a:p>
            <a:pPr marL="45720" marR="648335">
              <a:lnSpc>
                <a:spcPts val="1939"/>
              </a:lnSpc>
              <a:spcBef>
                <a:spcPts val="5"/>
              </a:spcBef>
            </a:pP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cep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t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f  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ont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uu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76094" y="3010026"/>
            <a:ext cx="2056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Verdana"/>
                <a:cs typeface="Verdana"/>
              </a:rPr>
              <a:t>Knudsen</a:t>
            </a:r>
            <a:r>
              <a:rPr sz="1000" b="1" spc="15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Number,</a:t>
            </a:r>
            <a:r>
              <a:rPr sz="1000" b="1" spc="15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Kn</a:t>
            </a:r>
            <a:r>
              <a:rPr sz="1000" b="1" spc="-1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=</a:t>
            </a:r>
            <a:r>
              <a:rPr sz="1000" b="1" spc="325" dirty="0">
                <a:latin typeface="Verdana"/>
                <a:cs typeface="Verdana"/>
              </a:rPr>
              <a:t> </a:t>
            </a:r>
            <a:r>
              <a:rPr sz="1000" spc="-5" dirty="0">
                <a:latin typeface="Symbol"/>
                <a:cs typeface="Symbol"/>
              </a:rPr>
              <a:t>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/L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6094" y="3316351"/>
            <a:ext cx="303911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95"/>
              </a:lnSpc>
              <a:spcBef>
                <a:spcPts val="95"/>
              </a:spcBef>
            </a:pPr>
            <a:r>
              <a:rPr sz="1000" spc="-10" dirty="0">
                <a:latin typeface="Verdana"/>
                <a:cs typeface="Verdana"/>
              </a:rPr>
              <a:t>Where,</a:t>
            </a:r>
            <a:endParaRPr sz="1000">
              <a:latin typeface="Verdana"/>
              <a:cs typeface="Verdana"/>
            </a:endParaRPr>
          </a:p>
          <a:p>
            <a:pPr marL="56515" marR="5080">
              <a:lnSpc>
                <a:spcPts val="1210"/>
              </a:lnSpc>
              <a:spcBef>
                <a:spcPts val="25"/>
              </a:spcBef>
              <a:tabLst>
                <a:tab pos="408940" algn="l"/>
              </a:tabLst>
            </a:pPr>
            <a:r>
              <a:rPr sz="1000" spc="-5" dirty="0">
                <a:latin typeface="Symbol"/>
                <a:cs typeface="Symbol"/>
              </a:rPr>
              <a:t></a:t>
            </a:r>
            <a:r>
              <a:rPr sz="1000" spc="215" dirty="0">
                <a:latin typeface="Times New Roman"/>
                <a:cs typeface="Times New Roman"/>
              </a:rPr>
              <a:t> </a:t>
            </a:r>
            <a:r>
              <a:rPr sz="1000" spc="-5" dirty="0">
                <a:latin typeface="Verdana"/>
                <a:cs typeface="Verdana"/>
              </a:rPr>
              <a:t>=</a:t>
            </a:r>
            <a:r>
              <a:rPr sz="1000" spc="360" dirty="0">
                <a:latin typeface="Verdana"/>
                <a:cs typeface="Verdana"/>
              </a:rPr>
              <a:t> </a:t>
            </a:r>
            <a:r>
              <a:rPr sz="1000" spc="-15" dirty="0">
                <a:latin typeface="Verdana"/>
                <a:cs typeface="Verdana"/>
              </a:rPr>
              <a:t>average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distance </a:t>
            </a:r>
            <a:r>
              <a:rPr sz="1000" spc="-10" dirty="0">
                <a:latin typeface="Verdana"/>
                <a:cs typeface="Verdana"/>
              </a:rPr>
              <a:t>between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two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molecules </a:t>
            </a:r>
            <a:r>
              <a:rPr sz="1000" spc="-34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L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=	Largest</a:t>
            </a:r>
            <a:r>
              <a:rPr sz="1000" spc="2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dimension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of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5" dirty="0">
                <a:latin typeface="Verdana"/>
                <a:cs typeface="Verdana"/>
              </a:rPr>
              <a:t>the</a:t>
            </a:r>
            <a:r>
              <a:rPr sz="1000" spc="-10" dirty="0">
                <a:latin typeface="Verdana"/>
                <a:cs typeface="Verdana"/>
              </a:rPr>
              <a:t> system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6094" y="3924427"/>
            <a:ext cx="21532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" dirty="0">
                <a:latin typeface="Verdana"/>
                <a:cs typeface="Verdana"/>
              </a:rPr>
              <a:t>The </a:t>
            </a:r>
            <a:r>
              <a:rPr sz="1000" b="1" spc="-10" dirty="0">
                <a:latin typeface="Verdana"/>
                <a:cs typeface="Verdana"/>
              </a:rPr>
              <a:t>limiting</a:t>
            </a:r>
            <a:r>
              <a:rPr sz="1000" b="1" spc="30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value</a:t>
            </a:r>
            <a:r>
              <a:rPr sz="1000" b="1" spc="20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of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5" dirty="0">
                <a:latin typeface="Verdana"/>
                <a:cs typeface="Verdana"/>
              </a:rPr>
              <a:t>Kn</a:t>
            </a:r>
            <a:r>
              <a:rPr sz="1000" b="1" spc="10" dirty="0">
                <a:latin typeface="Verdana"/>
                <a:cs typeface="Verdana"/>
              </a:rPr>
              <a:t> </a:t>
            </a:r>
            <a:r>
              <a:rPr sz="1000" spc="-5" dirty="0">
                <a:latin typeface="Symbol"/>
                <a:cs typeface="Symbol"/>
              </a:rPr>
              <a:t></a:t>
            </a:r>
            <a:r>
              <a:rPr sz="1000" spc="95" dirty="0">
                <a:latin typeface="Times New Roman"/>
                <a:cs typeface="Times New Roman"/>
              </a:rPr>
              <a:t> </a:t>
            </a:r>
            <a:r>
              <a:rPr sz="1000" b="1" spc="-5" dirty="0">
                <a:latin typeface="Verdana"/>
                <a:cs typeface="Verdana"/>
              </a:rPr>
              <a:t>0.1.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89547" y="5224271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23845" y="5416480"/>
            <a:ext cx="3916679" cy="2038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 algn="just">
              <a:lnSpc>
                <a:spcPct val="150100"/>
              </a:lnSpc>
              <a:spcBef>
                <a:spcPts val="105"/>
              </a:spcBef>
            </a:pPr>
            <a:r>
              <a:rPr sz="1100" b="1" dirty="0">
                <a:latin typeface="Corbel"/>
                <a:cs typeface="Corbel"/>
              </a:rPr>
              <a:t>A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piston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cylinder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device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operates</a:t>
            </a:r>
            <a:r>
              <a:rPr sz="1100" b="1" dirty="0">
                <a:latin typeface="Corbel"/>
                <a:cs typeface="Corbel"/>
              </a:rPr>
              <a:t> 1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15" dirty="0">
                <a:latin typeface="Corbel"/>
                <a:cs typeface="Corbel"/>
              </a:rPr>
              <a:t>kg</a:t>
            </a:r>
            <a:r>
              <a:rPr sz="1100" b="1" spc="-10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of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fluid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at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10" dirty="0">
                <a:latin typeface="Corbel"/>
                <a:cs typeface="Corbel"/>
              </a:rPr>
              <a:t>20</a:t>
            </a:r>
            <a:r>
              <a:rPr sz="1100" b="1" spc="-5" dirty="0">
                <a:latin typeface="Corbel"/>
                <a:cs typeface="Corbel"/>
              </a:rPr>
              <a:t> atm. 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Pressure. The </a:t>
            </a:r>
            <a:r>
              <a:rPr sz="1100" b="1" dirty="0">
                <a:latin typeface="Corbel"/>
                <a:cs typeface="Corbel"/>
              </a:rPr>
              <a:t>initial </a:t>
            </a:r>
            <a:r>
              <a:rPr sz="1100" b="1" spc="-5" dirty="0">
                <a:latin typeface="Corbel"/>
                <a:cs typeface="Corbel"/>
              </a:rPr>
              <a:t>volume </a:t>
            </a:r>
            <a:r>
              <a:rPr sz="1100" b="1" dirty="0">
                <a:latin typeface="Corbel"/>
                <a:cs typeface="Corbel"/>
              </a:rPr>
              <a:t>is </a:t>
            </a:r>
            <a:r>
              <a:rPr sz="1100" b="1" spc="-5" dirty="0">
                <a:latin typeface="Corbel"/>
                <a:cs typeface="Corbel"/>
              </a:rPr>
              <a:t>0.04 </a:t>
            </a:r>
            <a:r>
              <a:rPr sz="1100" b="1" spc="5" dirty="0">
                <a:latin typeface="Corbel"/>
                <a:cs typeface="Corbel"/>
              </a:rPr>
              <a:t>m</a:t>
            </a:r>
            <a:r>
              <a:rPr sz="1050" b="1" spc="7" baseline="27777" dirty="0">
                <a:latin typeface="Corbel"/>
                <a:cs typeface="Corbel"/>
              </a:rPr>
              <a:t>3</a:t>
            </a:r>
            <a:r>
              <a:rPr sz="1100" b="1" spc="5" dirty="0">
                <a:latin typeface="Corbel"/>
                <a:cs typeface="Corbel"/>
              </a:rPr>
              <a:t>. </a:t>
            </a:r>
            <a:r>
              <a:rPr sz="1100" b="1" spc="-5" dirty="0">
                <a:latin typeface="Corbel"/>
                <a:cs typeface="Corbel"/>
              </a:rPr>
              <a:t>The fluid </a:t>
            </a:r>
            <a:r>
              <a:rPr sz="1100" b="1" spc="-10" dirty="0">
                <a:latin typeface="Corbel"/>
                <a:cs typeface="Corbel"/>
              </a:rPr>
              <a:t>is </a:t>
            </a:r>
            <a:r>
              <a:rPr sz="1100" b="1" spc="-5" dirty="0">
                <a:latin typeface="Corbel"/>
                <a:cs typeface="Corbel"/>
              </a:rPr>
              <a:t>allowed </a:t>
            </a:r>
            <a:r>
              <a:rPr sz="1100" b="1" dirty="0">
                <a:latin typeface="Corbel"/>
                <a:cs typeface="Corbel"/>
              </a:rPr>
              <a:t>to 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expand </a:t>
            </a:r>
            <a:r>
              <a:rPr sz="1100" b="1" spc="-5" dirty="0">
                <a:latin typeface="Corbel"/>
                <a:cs typeface="Corbel"/>
              </a:rPr>
              <a:t>reversibly following </a:t>
            </a:r>
            <a:r>
              <a:rPr sz="1100" b="1" dirty="0">
                <a:latin typeface="Corbel"/>
                <a:cs typeface="Corbel"/>
              </a:rPr>
              <a:t>a process </a:t>
            </a:r>
            <a:r>
              <a:rPr sz="1100" b="1" spc="5" dirty="0">
                <a:latin typeface="Corbel"/>
                <a:cs typeface="Corbel"/>
              </a:rPr>
              <a:t>pV</a:t>
            </a:r>
            <a:r>
              <a:rPr sz="1050" b="1" spc="7" baseline="27777" dirty="0">
                <a:latin typeface="Corbel"/>
                <a:cs typeface="Corbel"/>
              </a:rPr>
              <a:t>1.45</a:t>
            </a:r>
            <a:r>
              <a:rPr sz="1050" b="1" spc="15" baseline="27777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= </a:t>
            </a:r>
            <a:r>
              <a:rPr sz="1100" b="1" spc="-5" dirty="0">
                <a:latin typeface="Corbel"/>
                <a:cs typeface="Corbel"/>
              </a:rPr>
              <a:t>Constant </a:t>
            </a:r>
            <a:r>
              <a:rPr sz="1100" b="1" dirty="0">
                <a:latin typeface="Corbel"/>
                <a:cs typeface="Corbel"/>
              </a:rPr>
              <a:t>so </a:t>
            </a:r>
            <a:r>
              <a:rPr sz="1100" b="1" spc="-5" dirty="0">
                <a:latin typeface="Corbel"/>
                <a:cs typeface="Corbel"/>
              </a:rPr>
              <a:t>that 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the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volume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becomes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double.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The</a:t>
            </a:r>
            <a:r>
              <a:rPr sz="1100" b="1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fluid</a:t>
            </a:r>
            <a:r>
              <a:rPr sz="1100" b="1" dirty="0">
                <a:latin typeface="Corbel"/>
                <a:cs typeface="Corbel"/>
              </a:rPr>
              <a:t> is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then</a:t>
            </a:r>
            <a:r>
              <a:rPr sz="1100" b="1" spc="220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cooled</a:t>
            </a:r>
            <a:r>
              <a:rPr sz="1100" b="1" spc="220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at </a:t>
            </a:r>
            <a:r>
              <a:rPr sz="1100" b="1" dirty="0">
                <a:latin typeface="Corbel"/>
                <a:cs typeface="Corbel"/>
              </a:rPr>
              <a:t> constant pressure until </a:t>
            </a:r>
            <a:r>
              <a:rPr sz="1100" b="1" spc="-5" dirty="0">
                <a:latin typeface="Corbel"/>
                <a:cs typeface="Corbel"/>
              </a:rPr>
              <a:t>the </a:t>
            </a:r>
            <a:r>
              <a:rPr sz="1100" b="1" dirty="0">
                <a:latin typeface="Corbel"/>
                <a:cs typeface="Corbel"/>
              </a:rPr>
              <a:t>piston </a:t>
            </a:r>
            <a:r>
              <a:rPr sz="1100" b="1" spc="-5" dirty="0">
                <a:latin typeface="Corbel"/>
                <a:cs typeface="Corbel"/>
              </a:rPr>
              <a:t>comes back </a:t>
            </a:r>
            <a:r>
              <a:rPr sz="1100" b="1" dirty="0">
                <a:latin typeface="Corbel"/>
                <a:cs typeface="Corbel"/>
              </a:rPr>
              <a:t>to </a:t>
            </a:r>
            <a:r>
              <a:rPr sz="1100" b="1" spc="-5" dirty="0">
                <a:latin typeface="Corbel"/>
                <a:cs typeface="Corbel"/>
              </a:rPr>
              <a:t>the </a:t>
            </a:r>
            <a:r>
              <a:rPr sz="1100" b="1" dirty="0">
                <a:latin typeface="Corbel"/>
                <a:cs typeface="Corbel"/>
              </a:rPr>
              <a:t>original </a:t>
            </a:r>
            <a:r>
              <a:rPr sz="1100" b="1" spc="5" dirty="0">
                <a:latin typeface="Corbel"/>
                <a:cs typeface="Corbel"/>
              </a:rPr>
              <a:t> </a:t>
            </a:r>
            <a:r>
              <a:rPr sz="1100" b="1" dirty="0">
                <a:latin typeface="Corbel"/>
                <a:cs typeface="Corbel"/>
              </a:rPr>
              <a:t>position. </a:t>
            </a:r>
            <a:r>
              <a:rPr sz="1100" b="1" spc="-10" dirty="0">
                <a:latin typeface="Corbel"/>
                <a:cs typeface="Corbel"/>
              </a:rPr>
              <a:t>Keeping </a:t>
            </a:r>
            <a:r>
              <a:rPr sz="1100" b="1" spc="-5" dirty="0">
                <a:latin typeface="Corbel"/>
                <a:cs typeface="Corbel"/>
              </a:rPr>
              <a:t>the piston unaltered, heat </a:t>
            </a:r>
            <a:r>
              <a:rPr sz="1100" b="1" dirty="0">
                <a:latin typeface="Corbel"/>
                <a:cs typeface="Corbel"/>
              </a:rPr>
              <a:t>is </a:t>
            </a:r>
            <a:r>
              <a:rPr sz="1100" b="1" spc="-5" dirty="0">
                <a:latin typeface="Corbel"/>
                <a:cs typeface="Corbel"/>
              </a:rPr>
              <a:t>added reversibly </a:t>
            </a:r>
            <a:r>
              <a:rPr sz="1100" b="1" dirty="0">
                <a:latin typeface="Corbel"/>
                <a:cs typeface="Corbel"/>
              </a:rPr>
              <a:t> to restore it to </a:t>
            </a:r>
            <a:r>
              <a:rPr sz="1100" b="1" spc="-5" dirty="0">
                <a:latin typeface="Corbel"/>
                <a:cs typeface="Corbel"/>
              </a:rPr>
              <a:t>the </a:t>
            </a:r>
            <a:r>
              <a:rPr sz="1100" b="1" dirty="0">
                <a:latin typeface="Corbel"/>
                <a:cs typeface="Corbel"/>
              </a:rPr>
              <a:t>initial pressure. </a:t>
            </a:r>
            <a:r>
              <a:rPr sz="1100" b="1" spc="-5" dirty="0">
                <a:latin typeface="Corbel"/>
                <a:cs typeface="Corbel"/>
              </a:rPr>
              <a:t>Calculate </a:t>
            </a:r>
            <a:r>
              <a:rPr sz="1100" b="1" dirty="0">
                <a:latin typeface="Corbel"/>
                <a:cs typeface="Corbel"/>
              </a:rPr>
              <a:t>work done in </a:t>
            </a:r>
            <a:r>
              <a:rPr sz="1100" b="1" spc="-10" dirty="0">
                <a:latin typeface="Corbel"/>
                <a:cs typeface="Corbel"/>
              </a:rPr>
              <a:t>the </a:t>
            </a:r>
            <a:r>
              <a:rPr sz="1100" b="1" spc="-5" dirty="0">
                <a:latin typeface="Corbel"/>
                <a:cs typeface="Corbel"/>
              </a:rPr>
              <a:t> cycle.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515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Numerical</a:t>
            </a:r>
            <a:r>
              <a:rPr sz="18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5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5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18-01-2024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89547" y="1248155"/>
            <a:ext cx="187960" cy="2665730"/>
          </a:xfrm>
          <a:custGeom>
            <a:avLst/>
            <a:gdLst/>
            <a:ahLst/>
            <a:cxnLst/>
            <a:rect l="l" t="t" r="r" b="b"/>
            <a:pathLst>
              <a:path w="187960" h="2665729">
                <a:moveTo>
                  <a:pt x="0" y="2665476"/>
                </a:moveTo>
                <a:lnTo>
                  <a:pt x="187451" y="2665476"/>
                </a:lnTo>
                <a:lnTo>
                  <a:pt x="187451" y="0"/>
                </a:lnTo>
                <a:lnTo>
                  <a:pt x="0" y="0"/>
                </a:lnTo>
                <a:lnTo>
                  <a:pt x="0" y="2665476"/>
                </a:lnTo>
                <a:close/>
              </a:path>
            </a:pathLst>
          </a:custGeom>
          <a:solidFill>
            <a:srgbClr val="C7C7C7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49245" y="1649730"/>
            <a:ext cx="6864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rbel"/>
                <a:cs typeface="Corbel"/>
              </a:rPr>
              <a:t>G</a:t>
            </a:r>
            <a:r>
              <a:rPr sz="1100" spc="-5" dirty="0">
                <a:latin typeface="Corbel"/>
                <a:cs typeface="Corbel"/>
              </a:rPr>
              <a:t>i</a:t>
            </a:r>
            <a:r>
              <a:rPr sz="1100" dirty="0">
                <a:latin typeface="Corbel"/>
                <a:cs typeface="Corbel"/>
              </a:rPr>
              <a:t>ven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d</a:t>
            </a:r>
            <a:r>
              <a:rPr sz="1100" dirty="0">
                <a:latin typeface="Corbel"/>
                <a:cs typeface="Corbel"/>
              </a:rPr>
              <a:t>ata: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38500" y="1566519"/>
            <a:ext cx="2171065" cy="178625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60"/>
              </a:spcBef>
            </a:pPr>
            <a:r>
              <a:rPr sz="1100" dirty="0">
                <a:latin typeface="Corbel"/>
                <a:cs typeface="Corbel"/>
              </a:rPr>
              <a:t>m</a:t>
            </a:r>
            <a:r>
              <a:rPr sz="1100" spc="-3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3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1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spc="-25" dirty="0">
                <a:latin typeface="Corbel"/>
                <a:cs typeface="Corbel"/>
              </a:rPr>
              <a:t>kg</a:t>
            </a:r>
            <a:endParaRPr sz="1100">
              <a:latin typeface="Corbel"/>
              <a:cs typeface="Corbel"/>
            </a:endParaRPr>
          </a:p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100" spc="5" dirty="0">
                <a:latin typeface="Corbel"/>
                <a:cs typeface="Corbel"/>
              </a:rPr>
              <a:t>p</a:t>
            </a:r>
            <a:r>
              <a:rPr sz="1050" spc="7" baseline="-19841" dirty="0">
                <a:latin typeface="Corbel"/>
                <a:cs typeface="Corbel"/>
              </a:rPr>
              <a:t>1</a:t>
            </a:r>
            <a:r>
              <a:rPr sz="1050" spc="97" baseline="-19841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15" dirty="0">
                <a:latin typeface="Corbel"/>
                <a:cs typeface="Corbel"/>
              </a:rPr>
              <a:t> 20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atm.</a:t>
            </a:r>
            <a:r>
              <a:rPr sz="1100" spc="-2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spc="-15" dirty="0">
                <a:latin typeface="Corbel"/>
                <a:cs typeface="Corbel"/>
              </a:rPr>
              <a:t>20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x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15" dirty="0">
                <a:latin typeface="Corbel"/>
                <a:cs typeface="Corbel"/>
              </a:rPr>
              <a:t>1.01325</a:t>
            </a:r>
            <a:endParaRPr sz="1100">
              <a:latin typeface="Corbel"/>
              <a:cs typeface="Corbel"/>
            </a:endParaRPr>
          </a:p>
          <a:p>
            <a:pPr marL="38100" marR="30480" indent="138430">
              <a:lnSpc>
                <a:spcPct val="150000"/>
              </a:lnSpc>
            </a:pPr>
            <a:r>
              <a:rPr sz="1100" dirty="0">
                <a:latin typeface="Corbel"/>
                <a:cs typeface="Corbel"/>
              </a:rPr>
              <a:t>= </a:t>
            </a:r>
            <a:r>
              <a:rPr sz="1100" spc="-10" dirty="0">
                <a:latin typeface="Corbel"/>
                <a:cs typeface="Corbel"/>
              </a:rPr>
              <a:t>20.265 </a:t>
            </a:r>
            <a:r>
              <a:rPr sz="1100" dirty="0">
                <a:latin typeface="Corbel"/>
                <a:cs typeface="Corbel"/>
              </a:rPr>
              <a:t>bar = </a:t>
            </a:r>
            <a:r>
              <a:rPr sz="1100" spc="-10" dirty="0">
                <a:latin typeface="Corbel"/>
                <a:cs typeface="Corbel"/>
              </a:rPr>
              <a:t>20.265 </a:t>
            </a:r>
            <a:r>
              <a:rPr sz="1100" dirty="0">
                <a:latin typeface="Corbel"/>
                <a:cs typeface="Corbel"/>
              </a:rPr>
              <a:t>x 10</a:t>
            </a:r>
            <a:r>
              <a:rPr sz="1050" baseline="27777" dirty="0">
                <a:latin typeface="Corbel"/>
                <a:cs typeface="Corbel"/>
              </a:rPr>
              <a:t>5 </a:t>
            </a:r>
            <a:r>
              <a:rPr sz="1100" dirty="0">
                <a:latin typeface="Corbel"/>
                <a:cs typeface="Corbel"/>
              </a:rPr>
              <a:t>N/mm</a:t>
            </a:r>
            <a:r>
              <a:rPr sz="1050" baseline="27777" dirty="0">
                <a:latin typeface="Corbel"/>
                <a:cs typeface="Corbel"/>
              </a:rPr>
              <a:t>2 </a:t>
            </a:r>
            <a:r>
              <a:rPr sz="1050" spc="-195" baseline="27777" dirty="0">
                <a:latin typeface="Corbel"/>
                <a:cs typeface="Corbel"/>
              </a:rPr>
              <a:t> </a:t>
            </a:r>
            <a:r>
              <a:rPr sz="1100" spc="5" dirty="0">
                <a:latin typeface="Corbel"/>
                <a:cs typeface="Corbel"/>
              </a:rPr>
              <a:t>V</a:t>
            </a:r>
            <a:r>
              <a:rPr sz="1050" spc="7" baseline="-19841" dirty="0">
                <a:latin typeface="Corbel"/>
                <a:cs typeface="Corbel"/>
              </a:rPr>
              <a:t>1</a:t>
            </a:r>
            <a:r>
              <a:rPr sz="1050" spc="112" baseline="-19841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0.04</a:t>
            </a:r>
            <a:r>
              <a:rPr sz="1100" spc="-15" dirty="0">
                <a:latin typeface="Corbel"/>
                <a:cs typeface="Corbel"/>
              </a:rPr>
              <a:t> </a:t>
            </a:r>
            <a:r>
              <a:rPr sz="1100" spc="5" dirty="0">
                <a:latin typeface="Corbel"/>
                <a:cs typeface="Corbel"/>
              </a:rPr>
              <a:t>m</a:t>
            </a:r>
            <a:r>
              <a:rPr sz="1050" spc="7" baseline="27777" dirty="0">
                <a:latin typeface="Corbel"/>
                <a:cs typeface="Corbel"/>
              </a:rPr>
              <a:t>3</a:t>
            </a:r>
            <a:endParaRPr sz="1050" baseline="27777">
              <a:latin typeface="Corbel"/>
              <a:cs typeface="Corbel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sz="1650" baseline="-17676" dirty="0">
                <a:latin typeface="Corbel"/>
                <a:cs typeface="Corbel"/>
              </a:rPr>
              <a:t>pV</a:t>
            </a:r>
            <a:r>
              <a:rPr sz="700" spc="5" dirty="0">
                <a:latin typeface="Corbel"/>
                <a:cs typeface="Corbel"/>
              </a:rPr>
              <a:t>1.</a:t>
            </a:r>
            <a:r>
              <a:rPr sz="700" spc="20" dirty="0">
                <a:latin typeface="Corbel"/>
                <a:cs typeface="Corbel"/>
              </a:rPr>
              <a:t>4</a:t>
            </a:r>
            <a:r>
              <a:rPr sz="700" spc="15" dirty="0">
                <a:latin typeface="Corbel"/>
                <a:cs typeface="Corbel"/>
              </a:rPr>
              <a:t>5</a:t>
            </a:r>
            <a:r>
              <a:rPr sz="700" dirty="0">
                <a:latin typeface="Corbel"/>
                <a:cs typeface="Corbel"/>
              </a:rPr>
              <a:t> </a:t>
            </a:r>
            <a:r>
              <a:rPr sz="700" spc="-70" dirty="0">
                <a:latin typeface="Corbel"/>
                <a:cs typeface="Corbel"/>
              </a:rPr>
              <a:t> </a:t>
            </a:r>
            <a:r>
              <a:rPr sz="1650" baseline="-17676" dirty="0">
                <a:latin typeface="Corbel"/>
                <a:cs typeface="Corbel"/>
              </a:rPr>
              <a:t>=</a:t>
            </a:r>
            <a:r>
              <a:rPr sz="1650" spc="-67" baseline="-17676" dirty="0">
                <a:latin typeface="Corbel"/>
                <a:cs typeface="Corbel"/>
              </a:rPr>
              <a:t> </a:t>
            </a:r>
            <a:r>
              <a:rPr sz="1650" baseline="-17676" dirty="0">
                <a:latin typeface="Corbel"/>
                <a:cs typeface="Corbel"/>
              </a:rPr>
              <a:t>C</a:t>
            </a:r>
            <a:endParaRPr sz="1650" baseline="-17676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Corbel"/>
              <a:cs typeface="Corbel"/>
            </a:endParaRPr>
          </a:p>
          <a:p>
            <a:pPr marL="38100">
              <a:lnSpc>
                <a:spcPct val="100000"/>
              </a:lnSpc>
            </a:pPr>
            <a:r>
              <a:rPr sz="1100" dirty="0">
                <a:latin typeface="Corbel"/>
                <a:cs typeface="Corbel"/>
              </a:rPr>
              <a:t>V</a:t>
            </a:r>
            <a:r>
              <a:rPr sz="1050" spc="22" baseline="-19841" dirty="0">
                <a:latin typeface="Corbel"/>
                <a:cs typeface="Corbel"/>
              </a:rPr>
              <a:t>2 </a:t>
            </a:r>
            <a:r>
              <a:rPr sz="1050" spc="-104" baseline="-19841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spc="-5" dirty="0">
                <a:latin typeface="Corbel"/>
                <a:cs typeface="Corbel"/>
              </a:rPr>
              <a:t>2</a:t>
            </a:r>
            <a:r>
              <a:rPr sz="1100" dirty="0">
                <a:latin typeface="Corbel"/>
                <a:cs typeface="Corbel"/>
              </a:rPr>
              <a:t>V</a:t>
            </a:r>
            <a:r>
              <a:rPr sz="1050" spc="22" baseline="-19841" dirty="0">
                <a:latin typeface="Corbel"/>
                <a:cs typeface="Corbel"/>
              </a:rPr>
              <a:t>1</a:t>
            </a:r>
            <a:endParaRPr sz="1050" baseline="-19841">
              <a:latin typeface="Corbel"/>
              <a:cs typeface="Corbel"/>
            </a:endParaRPr>
          </a:p>
          <a:p>
            <a:pPr marL="38100">
              <a:lnSpc>
                <a:spcPct val="100000"/>
              </a:lnSpc>
              <a:spcBef>
                <a:spcPts val="665"/>
              </a:spcBef>
            </a:pPr>
            <a:r>
              <a:rPr sz="1100" spc="5" dirty="0">
                <a:latin typeface="Corbel"/>
                <a:cs typeface="Corbel"/>
              </a:rPr>
              <a:t>W</a:t>
            </a:r>
            <a:r>
              <a:rPr sz="1050" spc="7" baseline="-19841" dirty="0">
                <a:latin typeface="Corbel"/>
                <a:cs typeface="Corbel"/>
              </a:rPr>
              <a:t>net</a:t>
            </a:r>
            <a:r>
              <a:rPr sz="1050" spc="52" baseline="-19841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5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?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000" y="1248155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510"/>
              </a:spcBef>
            </a:pP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Numerical</a:t>
            </a:r>
            <a:r>
              <a:rPr sz="18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5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53128" y="4878323"/>
            <a:ext cx="2024380" cy="3011805"/>
            <a:chOff x="4453128" y="4878323"/>
            <a:chExt cx="2024380" cy="3011805"/>
          </a:xfrm>
        </p:grpSpPr>
        <p:sp>
          <p:nvSpPr>
            <p:cNvPr id="8" name="object 8"/>
            <p:cNvSpPr/>
            <p:nvPr/>
          </p:nvSpPr>
          <p:spPr>
            <a:xfrm>
              <a:off x="6289548" y="5224271"/>
              <a:ext cx="187960" cy="2665730"/>
            </a:xfrm>
            <a:custGeom>
              <a:avLst/>
              <a:gdLst/>
              <a:ahLst/>
              <a:cxnLst/>
              <a:rect l="l" t="t" r="r" b="b"/>
              <a:pathLst>
                <a:path w="187960" h="2665729">
                  <a:moveTo>
                    <a:pt x="0" y="2665476"/>
                  </a:moveTo>
                  <a:lnTo>
                    <a:pt x="187451" y="2665476"/>
                  </a:lnTo>
                  <a:lnTo>
                    <a:pt x="187451" y="0"/>
                  </a:lnTo>
                  <a:lnTo>
                    <a:pt x="0" y="0"/>
                  </a:lnTo>
                  <a:lnTo>
                    <a:pt x="0" y="2665476"/>
                  </a:lnTo>
                  <a:close/>
                </a:path>
              </a:pathLst>
            </a:custGeom>
            <a:solidFill>
              <a:srgbClr val="C7C7C7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53128" y="4878323"/>
              <a:ext cx="1973579" cy="149047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81000" y="5224271"/>
            <a:ext cx="1722120" cy="2665730"/>
          </a:xfrm>
          <a:prstGeom prst="rect">
            <a:avLst/>
          </a:prstGeom>
          <a:solidFill>
            <a:srgbClr val="40B9D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1515"/>
              </a:spcBef>
            </a:pP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N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u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m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e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r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i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c</a:t>
            </a:r>
            <a:r>
              <a:rPr sz="1800" spc="-45" dirty="0">
                <a:solidFill>
                  <a:srgbClr val="FFFFFF"/>
                </a:solidFill>
                <a:latin typeface="Corbel"/>
                <a:cs typeface="Corbel"/>
              </a:rPr>
              <a:t>a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l</a:t>
            </a:r>
            <a:r>
              <a:rPr sz="18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4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1841" y="5546602"/>
            <a:ext cx="1981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i="1" spc="-150" dirty="0">
                <a:latin typeface="Times New Roman"/>
                <a:cs typeface="Times New Roman"/>
              </a:rPr>
              <a:t>P</a:t>
            </a:r>
            <a:r>
              <a:rPr sz="1200" spc="-225" baseline="-24305" dirty="0">
                <a:latin typeface="Times New Roman"/>
                <a:cs typeface="Times New Roman"/>
              </a:rPr>
              <a:t>1</a:t>
            </a:r>
            <a:endParaRPr sz="1200" baseline="-2430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02990" y="5592823"/>
            <a:ext cx="4432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Symbol"/>
                <a:cs typeface="Symbol"/>
              </a:rPr>
              <a:t></a:t>
            </a:r>
            <a:r>
              <a:rPr sz="1400" spc="-180" dirty="0">
                <a:latin typeface="Times New Roman"/>
                <a:cs typeface="Times New Roman"/>
              </a:rPr>
              <a:t> </a:t>
            </a:r>
            <a:r>
              <a:rPr sz="2100" i="1" spc="-60" baseline="13888" dirty="0">
                <a:latin typeface="Times New Roman"/>
                <a:cs typeface="Times New Roman"/>
              </a:rPr>
              <a:t>V</a:t>
            </a:r>
            <a:r>
              <a:rPr sz="800" spc="5" dirty="0">
                <a:latin typeface="Times New Roman"/>
                <a:cs typeface="Times New Roman"/>
              </a:rPr>
              <a:t>2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Symbol"/>
                <a:cs typeface="Symbol"/>
              </a:rPr>
              <a:t>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62025" y="5293089"/>
            <a:ext cx="8413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378460" algn="l"/>
              </a:tabLst>
            </a:pPr>
            <a:r>
              <a:rPr sz="1400" i="1" spc="5" dirty="0">
                <a:latin typeface="Times New Roman"/>
                <a:cs typeface="Times New Roman"/>
              </a:rPr>
              <a:t>P	</a:t>
            </a:r>
            <a:r>
              <a:rPr sz="2100" baseline="3968" dirty="0">
                <a:latin typeface="Symbol"/>
                <a:cs typeface="Symbol"/>
              </a:rPr>
              <a:t></a:t>
            </a:r>
            <a:r>
              <a:rPr sz="2100" spc="-157" baseline="3968" dirty="0">
                <a:latin typeface="Times New Roman"/>
                <a:cs typeface="Times New Roman"/>
              </a:rPr>
              <a:t> </a:t>
            </a:r>
            <a:r>
              <a:rPr sz="1400" i="1" spc="5" dirty="0">
                <a:latin typeface="Times New Roman"/>
                <a:cs typeface="Times New Roman"/>
              </a:rPr>
              <a:t>V</a:t>
            </a:r>
            <a:r>
              <a:rPr sz="1400" i="1" dirty="0">
                <a:latin typeface="Times New Roman"/>
                <a:cs typeface="Times New Roman"/>
              </a:rPr>
              <a:t> </a:t>
            </a:r>
            <a:r>
              <a:rPr sz="1400" i="1" spc="-10" dirty="0">
                <a:latin typeface="Times New Roman"/>
                <a:cs typeface="Times New Roman"/>
              </a:rPr>
              <a:t> </a:t>
            </a:r>
            <a:r>
              <a:rPr sz="2100" spc="60" baseline="3968" dirty="0">
                <a:latin typeface="Symbol"/>
                <a:cs typeface="Symbol"/>
              </a:rPr>
              <a:t></a:t>
            </a:r>
            <a:r>
              <a:rPr sz="1200" i="1" spc="7" baseline="72916" dirty="0">
                <a:latin typeface="Times New Roman"/>
                <a:cs typeface="Times New Roman"/>
              </a:rPr>
              <a:t>n</a:t>
            </a:r>
            <a:endParaRPr sz="1200" baseline="72916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45200" y="5339316"/>
            <a:ext cx="8013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</a:t>
            </a:r>
            <a:r>
              <a:rPr sz="80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800" spc="5" dirty="0">
                <a:latin typeface="Times New Roman"/>
                <a:cs typeface="Times New Roman"/>
              </a:rPr>
              <a:t> </a:t>
            </a:r>
            <a:r>
              <a:rPr sz="800" spc="170" dirty="0">
                <a:latin typeface="Times New Roman"/>
                <a:cs typeface="Times New Roman"/>
              </a:rPr>
              <a:t> </a:t>
            </a:r>
            <a:r>
              <a:rPr sz="2100" spc="7" baseline="-21825" dirty="0">
                <a:latin typeface="Symbol"/>
                <a:cs typeface="Symbol"/>
              </a:rPr>
              <a:t></a:t>
            </a:r>
            <a:r>
              <a:rPr sz="2100" spc="-89" baseline="-21825" dirty="0">
                <a:latin typeface="Times New Roman"/>
                <a:cs typeface="Times New Roman"/>
              </a:rPr>
              <a:t> </a:t>
            </a:r>
            <a:r>
              <a:rPr sz="2100" baseline="-33730" dirty="0">
                <a:latin typeface="Symbol"/>
                <a:cs typeface="Symbol"/>
              </a:rPr>
              <a:t></a:t>
            </a:r>
            <a:r>
              <a:rPr sz="1400" u="sng" spc="6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800" spc="155" dirty="0">
                <a:latin typeface="Times New Roman"/>
                <a:cs typeface="Times New Roman"/>
              </a:rPr>
              <a:t> </a:t>
            </a:r>
            <a:r>
              <a:rPr sz="2100" baseline="-33730" dirty="0">
                <a:latin typeface="Symbol"/>
                <a:cs typeface="Symbol"/>
              </a:rPr>
              <a:t></a:t>
            </a:r>
            <a:endParaRPr sz="2100" baseline="-3373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24201" y="5066791"/>
            <a:ext cx="109918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705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2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5" dirty="0">
                <a:latin typeface="Corbel"/>
                <a:cs typeface="Corbel"/>
              </a:rPr>
              <a:t>Fo</a:t>
            </a:r>
            <a:r>
              <a:rPr sz="1100" dirty="0">
                <a:latin typeface="Corbel"/>
                <a:cs typeface="Corbel"/>
              </a:rPr>
              <a:t>r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pr</a:t>
            </a:r>
            <a:r>
              <a:rPr sz="1100" spc="-5" dirty="0">
                <a:latin typeface="Corbel"/>
                <a:cs typeface="Corbel"/>
              </a:rPr>
              <a:t>oc</a:t>
            </a:r>
            <a:r>
              <a:rPr sz="1100" dirty="0">
                <a:latin typeface="Corbel"/>
                <a:cs typeface="Corbel"/>
              </a:rPr>
              <a:t>ess</a:t>
            </a:r>
            <a:r>
              <a:rPr sz="1100" spc="-1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1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–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2,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24201" y="7833156"/>
            <a:ext cx="25812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10" dirty="0">
                <a:solidFill>
                  <a:srgbClr val="40B9D2"/>
                </a:solidFill>
                <a:latin typeface="Microsoft Sans Serif"/>
                <a:cs typeface="Microsoft Sans Serif"/>
              </a:rPr>
              <a:t>🞄</a:t>
            </a:r>
            <a:r>
              <a:rPr sz="1100" spc="-135" dirty="0">
                <a:solidFill>
                  <a:srgbClr val="40B9D2"/>
                </a:solidFill>
                <a:latin typeface="Microsoft Sans Serif"/>
                <a:cs typeface="Microsoft Sans Serif"/>
              </a:rPr>
              <a:t> </a:t>
            </a:r>
            <a:r>
              <a:rPr sz="1100" spc="-15" dirty="0">
                <a:latin typeface="Corbel"/>
                <a:cs typeface="Corbel"/>
              </a:rPr>
              <a:t>Work </a:t>
            </a:r>
            <a:r>
              <a:rPr sz="1100" spc="-5" dirty="0">
                <a:latin typeface="Corbel"/>
                <a:cs typeface="Corbel"/>
              </a:rPr>
              <a:t>in</a:t>
            </a:r>
            <a:r>
              <a:rPr sz="1100" dirty="0">
                <a:latin typeface="Corbel"/>
                <a:cs typeface="Corbel"/>
              </a:rPr>
              <a:t> the</a:t>
            </a:r>
            <a:r>
              <a:rPr sz="1100" spc="-5" dirty="0">
                <a:latin typeface="Corbel"/>
                <a:cs typeface="Corbel"/>
              </a:rPr>
              <a:t> cycle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-10" dirty="0">
                <a:latin typeface="Corbel"/>
                <a:cs typeface="Corbel"/>
              </a:rPr>
              <a:t> 47.82</a:t>
            </a:r>
            <a:r>
              <a:rPr sz="1100" spc="-5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–</a:t>
            </a:r>
            <a:r>
              <a:rPr sz="1100" spc="-5" dirty="0">
                <a:latin typeface="Corbel"/>
                <a:cs typeface="Corbel"/>
              </a:rPr>
              <a:t> 29.65</a:t>
            </a:r>
            <a:r>
              <a:rPr sz="1100" spc="-20" dirty="0">
                <a:latin typeface="Corbel"/>
                <a:cs typeface="Corbel"/>
              </a:rPr>
              <a:t> </a:t>
            </a:r>
            <a:r>
              <a:rPr sz="1100" dirty="0">
                <a:latin typeface="Corbel"/>
                <a:cs typeface="Corbel"/>
              </a:rPr>
              <a:t>=</a:t>
            </a:r>
            <a:r>
              <a:rPr sz="1100" spc="5" dirty="0">
                <a:latin typeface="Corbel"/>
                <a:cs typeface="Corbel"/>
              </a:rPr>
              <a:t> </a:t>
            </a:r>
            <a:r>
              <a:rPr sz="1100" b="1" spc="-5" dirty="0">
                <a:latin typeface="Corbel"/>
                <a:cs typeface="Corbel"/>
              </a:rPr>
              <a:t>18.17</a:t>
            </a:r>
            <a:r>
              <a:rPr sz="1100" b="1" spc="-35" dirty="0">
                <a:latin typeface="Corbel"/>
                <a:cs typeface="Corbel"/>
              </a:rPr>
              <a:t> </a:t>
            </a:r>
            <a:r>
              <a:rPr sz="1100" b="1" spc="-10" dirty="0">
                <a:latin typeface="Corbel"/>
                <a:cs typeface="Corbel"/>
              </a:rPr>
              <a:t>kJ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402321" y="6133754"/>
            <a:ext cx="106680" cy="0"/>
          </a:xfrm>
          <a:custGeom>
            <a:avLst/>
            <a:gdLst/>
            <a:ahLst/>
            <a:cxnLst/>
            <a:rect l="l" t="t" r="r" b="b"/>
            <a:pathLst>
              <a:path w="106679">
                <a:moveTo>
                  <a:pt x="0" y="0"/>
                </a:moveTo>
                <a:lnTo>
                  <a:pt x="106474" y="0"/>
                </a:lnTo>
              </a:path>
            </a:pathLst>
          </a:custGeom>
          <a:ln w="88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458152" y="5873593"/>
            <a:ext cx="5003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baseline="3968" dirty="0">
                <a:latin typeface="Symbol"/>
                <a:cs typeface="Symbol"/>
              </a:rPr>
              <a:t></a:t>
            </a:r>
            <a:r>
              <a:rPr sz="2100" spc="-150" baseline="3968" dirty="0">
                <a:latin typeface="Times New Roman"/>
                <a:cs typeface="Times New Roman"/>
              </a:rPr>
              <a:t> </a:t>
            </a:r>
            <a:r>
              <a:rPr sz="1400" i="1" spc="5" dirty="0">
                <a:latin typeface="Times New Roman"/>
                <a:cs typeface="Times New Roman"/>
              </a:rPr>
              <a:t>V</a:t>
            </a:r>
            <a:r>
              <a:rPr sz="1400" i="1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 </a:t>
            </a:r>
            <a:r>
              <a:rPr sz="2100" spc="60" baseline="3968" dirty="0">
                <a:latin typeface="Symbol"/>
                <a:cs typeface="Symbol"/>
              </a:rPr>
              <a:t></a:t>
            </a:r>
            <a:r>
              <a:rPr sz="1200" i="1" spc="7" baseline="72916" dirty="0">
                <a:latin typeface="Times New Roman"/>
                <a:cs typeface="Times New Roman"/>
              </a:rPr>
              <a:t>n</a:t>
            </a:r>
            <a:endParaRPr sz="1200" baseline="72916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67997" y="5766212"/>
            <a:ext cx="5492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baseline="-37698" dirty="0">
                <a:latin typeface="Symbol"/>
                <a:cs typeface="Symbol"/>
              </a:rPr>
              <a:t></a:t>
            </a:r>
            <a:r>
              <a:rPr sz="2100" spc="-104" baseline="-37698" dirty="0">
                <a:latin typeface="Times New Roman"/>
                <a:cs typeface="Times New Roman"/>
              </a:rPr>
              <a:t> </a:t>
            </a:r>
            <a:r>
              <a:rPr sz="2100" baseline="-33730" dirty="0">
                <a:latin typeface="Times New Roman"/>
                <a:cs typeface="Times New Roman"/>
              </a:rPr>
              <a:t>1</a:t>
            </a:r>
            <a:r>
              <a:rPr sz="2100" spc="-120" baseline="-33730" dirty="0">
                <a:latin typeface="Times New Roman"/>
                <a:cs typeface="Times New Roman"/>
              </a:rPr>
              <a:t> </a:t>
            </a:r>
            <a:r>
              <a:rPr sz="2100" spc="-67" baseline="-37698" dirty="0">
                <a:latin typeface="Symbol"/>
                <a:cs typeface="Symbol"/>
              </a:rPr>
              <a:t></a:t>
            </a:r>
            <a:r>
              <a:rPr sz="800" spc="5" dirty="0">
                <a:latin typeface="Times New Roman"/>
                <a:cs typeface="Times New Roman"/>
              </a:rPr>
              <a:t>1.45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01631" y="5987024"/>
            <a:ext cx="6419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Symbol"/>
                <a:cs typeface="Symbol"/>
              </a:rPr>
              <a:t></a:t>
            </a:r>
            <a:r>
              <a:rPr sz="1400" spc="-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20.265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31233" y="5987024"/>
            <a:ext cx="128206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i="1" spc="-110" dirty="0">
                <a:latin typeface="Times New Roman"/>
                <a:cs typeface="Times New Roman"/>
              </a:rPr>
              <a:t>P</a:t>
            </a:r>
            <a:r>
              <a:rPr sz="1200" spc="-165" baseline="-24305" dirty="0">
                <a:latin typeface="Times New Roman"/>
                <a:cs typeface="Times New Roman"/>
              </a:rPr>
              <a:t>2</a:t>
            </a:r>
            <a:r>
              <a:rPr sz="1200" spc="52" baseline="-24305" dirty="0">
                <a:latin typeface="Times New Roman"/>
                <a:cs typeface="Times New Roman"/>
              </a:rPr>
              <a:t>  </a:t>
            </a:r>
            <a:r>
              <a:rPr sz="1400" dirty="0">
                <a:latin typeface="Symbol"/>
                <a:cs typeface="Symbol"/>
              </a:rPr>
              <a:t>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2100" baseline="-11904" dirty="0">
                <a:latin typeface="Symbol"/>
                <a:cs typeface="Symbol"/>
              </a:rPr>
              <a:t></a:t>
            </a:r>
            <a:r>
              <a:rPr sz="2100" u="sng" spc="937" baseline="218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spc="7" baseline="3819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200" spc="300" baseline="38194" dirty="0">
                <a:latin typeface="Times New Roman"/>
                <a:cs typeface="Times New Roman"/>
              </a:rPr>
              <a:t> </a:t>
            </a:r>
            <a:r>
              <a:rPr sz="2100" baseline="-11904" dirty="0">
                <a:latin typeface="Symbol"/>
                <a:cs typeface="Symbol"/>
              </a:rPr>
              <a:t></a:t>
            </a:r>
            <a:r>
              <a:rPr sz="2100" spc="494" baseline="-11904" dirty="0">
                <a:latin typeface="Times New Roman"/>
                <a:cs typeface="Times New Roman"/>
              </a:rPr>
              <a:t> </a:t>
            </a:r>
            <a:r>
              <a:rPr sz="1400" spc="-100" dirty="0">
                <a:latin typeface="Times New Roman"/>
                <a:cs typeface="Times New Roman"/>
              </a:rPr>
              <a:t>.</a:t>
            </a:r>
            <a:r>
              <a:rPr sz="1400" i="1" spc="-100" dirty="0">
                <a:latin typeface="Times New Roman"/>
                <a:cs typeface="Times New Roman"/>
              </a:rPr>
              <a:t>P</a:t>
            </a:r>
            <a:r>
              <a:rPr sz="1200" spc="-150" baseline="-24305" dirty="0">
                <a:latin typeface="Times New Roman"/>
                <a:cs typeface="Times New Roman"/>
              </a:rPr>
              <a:t>1</a:t>
            </a:r>
            <a:r>
              <a:rPr sz="1200" spc="-15" baseline="-243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Symbol"/>
                <a:cs typeface="Symbol"/>
              </a:rPr>
              <a:t>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2100" baseline="-15873" dirty="0">
                <a:latin typeface="Symbol"/>
                <a:cs typeface="Symbol"/>
              </a:rPr>
              <a:t></a:t>
            </a:r>
            <a:endParaRPr sz="2100" baseline="-15873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22278" y="6035131"/>
            <a:ext cx="946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Symbol"/>
                <a:cs typeface="Symbol"/>
              </a:rPr>
              <a:t>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67997" y="6147639"/>
            <a:ext cx="374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Symbol"/>
                <a:cs typeface="Symbol"/>
              </a:rPr>
              <a:t>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2100" baseline="5952" dirty="0">
                <a:latin typeface="Times New Roman"/>
                <a:cs typeface="Times New Roman"/>
              </a:rPr>
              <a:t>2</a:t>
            </a:r>
            <a:r>
              <a:rPr sz="2100" spc="-150" baseline="5952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Symbol"/>
                <a:cs typeface="Symbol"/>
              </a:rPr>
              <a:t>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58152" y="6173319"/>
            <a:ext cx="4432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Symbol"/>
                <a:cs typeface="Symbol"/>
              </a:rPr>
              <a:t></a:t>
            </a:r>
            <a:r>
              <a:rPr sz="1400" spc="-180" dirty="0">
                <a:latin typeface="Times New Roman"/>
                <a:cs typeface="Times New Roman"/>
              </a:rPr>
              <a:t> </a:t>
            </a:r>
            <a:r>
              <a:rPr sz="2100" i="1" spc="-60" baseline="13888" dirty="0">
                <a:latin typeface="Times New Roman"/>
                <a:cs typeface="Times New Roman"/>
              </a:rPr>
              <a:t>V</a:t>
            </a:r>
            <a:r>
              <a:rPr sz="800" spc="5" dirty="0">
                <a:latin typeface="Times New Roman"/>
                <a:cs typeface="Times New Roman"/>
              </a:rPr>
              <a:t>2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Symbol"/>
                <a:cs typeface="Symbol"/>
              </a:rPr>
              <a:t>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629682" y="6888342"/>
            <a:ext cx="2353945" cy="0"/>
          </a:xfrm>
          <a:custGeom>
            <a:avLst/>
            <a:gdLst/>
            <a:ahLst/>
            <a:cxnLst/>
            <a:rect l="l" t="t" r="r" b="b"/>
            <a:pathLst>
              <a:path w="2353945">
                <a:moveTo>
                  <a:pt x="0" y="0"/>
                </a:moveTo>
                <a:lnTo>
                  <a:pt x="2353631" y="0"/>
                </a:lnTo>
              </a:path>
            </a:pathLst>
          </a:custGeom>
          <a:ln w="88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608576" y="6548977"/>
            <a:ext cx="238760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0" dirty="0">
                <a:latin typeface="Times New Roman"/>
                <a:cs typeface="Times New Roman"/>
              </a:rPr>
              <a:t>100</a:t>
            </a:r>
            <a:r>
              <a:rPr sz="2850" spc="15" baseline="-2923" dirty="0">
                <a:latin typeface="Symbol"/>
                <a:cs typeface="Symbol"/>
              </a:rPr>
              <a:t></a:t>
            </a:r>
            <a:r>
              <a:rPr sz="1400" spc="10" dirty="0">
                <a:latin typeface="Times New Roman"/>
                <a:cs typeface="Times New Roman"/>
              </a:rPr>
              <a:t>20.265</a:t>
            </a:r>
            <a:r>
              <a:rPr sz="1400" spc="10" dirty="0">
                <a:latin typeface="Symbol"/>
                <a:cs typeface="Symbol"/>
              </a:rPr>
              <a:t></a:t>
            </a:r>
            <a:r>
              <a:rPr sz="1400" spc="-1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0.04</a:t>
            </a:r>
            <a:r>
              <a:rPr sz="1400" spc="-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Symbol"/>
                <a:cs typeface="Symbol"/>
              </a:rPr>
              <a:t></a:t>
            </a:r>
            <a:r>
              <a:rPr sz="1400" spc="-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7.417</a:t>
            </a:r>
            <a:r>
              <a:rPr sz="1400" spc="-1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Symbol"/>
                <a:cs typeface="Symbol"/>
              </a:rPr>
              <a:t></a:t>
            </a:r>
            <a:r>
              <a:rPr sz="1400" spc="-185" dirty="0">
                <a:latin typeface="Times New Roman"/>
                <a:cs typeface="Times New Roman"/>
              </a:rPr>
              <a:t> </a:t>
            </a:r>
            <a:r>
              <a:rPr sz="1400" spc="-30" dirty="0">
                <a:latin typeface="Times New Roman"/>
                <a:cs typeface="Times New Roman"/>
              </a:rPr>
              <a:t>0.08</a:t>
            </a:r>
            <a:r>
              <a:rPr sz="2850" spc="-44" baseline="-2923" dirty="0">
                <a:latin typeface="Symbol"/>
                <a:cs typeface="Symbol"/>
              </a:rPr>
              <a:t></a:t>
            </a:r>
            <a:endParaRPr sz="2850" baseline="-2923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51038" y="6414230"/>
            <a:ext cx="1228725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Symbol"/>
                <a:cs typeface="Symbol"/>
              </a:rPr>
              <a:t>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7.417</a:t>
            </a:r>
            <a:r>
              <a:rPr sz="1400" i="1" dirty="0">
                <a:latin typeface="Times New Roman"/>
                <a:cs typeface="Times New Roman"/>
              </a:rPr>
              <a:t>bar</a:t>
            </a:r>
            <a:endParaRPr sz="1400">
              <a:latin typeface="Times New Roman"/>
              <a:cs typeface="Times New Roman"/>
            </a:endParaRPr>
          </a:p>
          <a:p>
            <a:pPr marL="523875">
              <a:lnSpc>
                <a:spcPct val="100000"/>
              </a:lnSpc>
              <a:spcBef>
                <a:spcPts val="5"/>
              </a:spcBef>
            </a:pPr>
            <a:r>
              <a:rPr sz="1400" i="1" dirty="0">
                <a:latin typeface="Times New Roman"/>
                <a:cs typeface="Times New Roman"/>
              </a:rPr>
              <a:t>p</a:t>
            </a:r>
            <a:r>
              <a:rPr sz="1400" i="1" spc="-160" dirty="0">
                <a:latin typeface="Times New Roman"/>
                <a:cs typeface="Times New Roman"/>
              </a:rPr>
              <a:t> </a:t>
            </a:r>
            <a:r>
              <a:rPr sz="1400" i="1" spc="5" dirty="0">
                <a:latin typeface="Times New Roman"/>
                <a:cs typeface="Times New Roman"/>
              </a:rPr>
              <a:t>V</a:t>
            </a:r>
            <a:r>
              <a:rPr sz="1400" i="1" dirty="0">
                <a:latin typeface="Times New Roman"/>
                <a:cs typeface="Times New Roman"/>
              </a:rPr>
              <a:t> </a:t>
            </a:r>
            <a:r>
              <a:rPr sz="1400" i="1" spc="-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Symbol"/>
                <a:cs typeface="Symbol"/>
              </a:rPr>
              <a:t>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p</a:t>
            </a:r>
            <a:r>
              <a:rPr sz="1400" i="1" spc="-10" dirty="0">
                <a:latin typeface="Times New Roman"/>
                <a:cs typeface="Times New Roman"/>
              </a:rPr>
              <a:t> </a:t>
            </a:r>
            <a:r>
              <a:rPr sz="1400" i="1" spc="5" dirty="0">
                <a:latin typeface="Times New Roman"/>
                <a:cs typeface="Times New Roman"/>
              </a:rPr>
              <a:t>V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05786" y="6674686"/>
            <a:ext cx="15176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107440" algn="l"/>
              </a:tabLst>
            </a:pPr>
            <a:r>
              <a:rPr sz="2100" i="1" spc="-37" baseline="-21825" dirty="0">
                <a:latin typeface="Times New Roman"/>
                <a:cs typeface="Times New Roman"/>
              </a:rPr>
              <a:t>W</a:t>
            </a:r>
            <a:r>
              <a:rPr sz="1200" spc="-37" baseline="-62500" dirty="0">
                <a:latin typeface="Times New Roman"/>
                <a:cs typeface="Times New Roman"/>
              </a:rPr>
              <a:t>1</a:t>
            </a:r>
            <a:r>
              <a:rPr sz="1200" spc="-37" baseline="-62500" dirty="0">
                <a:latin typeface="Symbol"/>
                <a:cs typeface="Symbol"/>
              </a:rPr>
              <a:t></a:t>
            </a:r>
            <a:r>
              <a:rPr sz="1200" spc="-37" baseline="-62500" dirty="0">
                <a:latin typeface="Times New Roman"/>
                <a:cs typeface="Times New Roman"/>
              </a:rPr>
              <a:t>2</a:t>
            </a:r>
            <a:r>
              <a:rPr sz="1200" spc="412" baseline="-62500" dirty="0">
                <a:latin typeface="Times New Roman"/>
                <a:cs typeface="Times New Roman"/>
              </a:rPr>
              <a:t> </a:t>
            </a:r>
            <a:r>
              <a:rPr sz="2100" baseline="-21825" dirty="0">
                <a:latin typeface="Symbol"/>
                <a:cs typeface="Symbol"/>
              </a:rPr>
              <a:t>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400" u="sng" spc="1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 </a:t>
            </a:r>
            <a:r>
              <a:rPr sz="800" u="sng" spc="2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	2 </a:t>
            </a:r>
            <a:r>
              <a:rPr sz="800" u="sng" spc="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800" spc="5" dirty="0">
                <a:latin typeface="Times New Roman"/>
                <a:cs typeface="Times New Roman"/>
              </a:rPr>
              <a:t> </a:t>
            </a:r>
            <a:r>
              <a:rPr sz="800" spc="140" dirty="0">
                <a:latin typeface="Times New Roman"/>
                <a:cs typeface="Times New Roman"/>
              </a:rPr>
              <a:t> </a:t>
            </a:r>
            <a:r>
              <a:rPr sz="2100" baseline="-21825" dirty="0">
                <a:latin typeface="Symbol"/>
                <a:cs typeface="Symbol"/>
              </a:rPr>
              <a:t></a:t>
            </a:r>
            <a:endParaRPr sz="2100" baseline="-21825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77580" y="6881685"/>
            <a:ext cx="21005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74189" algn="l"/>
              </a:tabLst>
            </a:pPr>
            <a:r>
              <a:rPr sz="1400" i="1" dirty="0">
                <a:latin typeface="Times New Roman"/>
                <a:cs typeface="Times New Roman"/>
              </a:rPr>
              <a:t>n</a:t>
            </a:r>
            <a:r>
              <a:rPr sz="1400" i="1" spc="-110" dirty="0">
                <a:latin typeface="Times New Roman"/>
                <a:cs typeface="Times New Roman"/>
              </a:rPr>
              <a:t> </a:t>
            </a:r>
            <a:r>
              <a:rPr sz="1400" spc="85" dirty="0">
                <a:latin typeface="Symbol"/>
                <a:cs typeface="Symbol"/>
              </a:rPr>
              <a:t></a:t>
            </a:r>
            <a:r>
              <a:rPr sz="1400" dirty="0">
                <a:latin typeface="Times New Roman"/>
                <a:cs typeface="Times New Roman"/>
              </a:rPr>
              <a:t>1	0.45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47997" y="7111056"/>
            <a:ext cx="7289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Symbol"/>
                <a:cs typeface="Symbol"/>
              </a:rPr>
              <a:t>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47.82</a:t>
            </a:r>
            <a:r>
              <a:rPr sz="1400" i="1" dirty="0">
                <a:latin typeface="Times New Roman"/>
                <a:cs typeface="Times New Roman"/>
              </a:rPr>
              <a:t>kJ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05790" y="7305141"/>
            <a:ext cx="3764279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00" i="1" spc="-45" dirty="0">
                <a:latin typeface="Times New Roman"/>
                <a:cs typeface="Times New Roman"/>
              </a:rPr>
              <a:t>W</a:t>
            </a:r>
            <a:r>
              <a:rPr sz="1200" spc="60" baseline="-24305" dirty="0">
                <a:latin typeface="Times New Roman"/>
                <a:cs typeface="Times New Roman"/>
              </a:rPr>
              <a:t>2</a:t>
            </a:r>
            <a:r>
              <a:rPr sz="1200" spc="37" baseline="-24305" dirty="0">
                <a:latin typeface="Symbol"/>
                <a:cs typeface="Symbol"/>
              </a:rPr>
              <a:t></a:t>
            </a:r>
            <a:r>
              <a:rPr sz="1200" spc="7" baseline="-24305" dirty="0">
                <a:latin typeface="Times New Roman"/>
                <a:cs typeface="Times New Roman"/>
              </a:rPr>
              <a:t>3</a:t>
            </a:r>
            <a:r>
              <a:rPr sz="1200" baseline="-24305" dirty="0">
                <a:latin typeface="Times New Roman"/>
                <a:cs typeface="Times New Roman"/>
              </a:rPr>
              <a:t> </a:t>
            </a:r>
            <a:r>
              <a:rPr sz="1200" spc="60" baseline="-2430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Symbol"/>
                <a:cs typeface="Symbol"/>
              </a:rPr>
              <a:t>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p</a:t>
            </a:r>
            <a:r>
              <a:rPr sz="1200" spc="7" baseline="-24305" dirty="0">
                <a:latin typeface="Times New Roman"/>
                <a:cs typeface="Times New Roman"/>
              </a:rPr>
              <a:t>2</a:t>
            </a:r>
            <a:r>
              <a:rPr sz="1200" spc="135" baseline="-24305" dirty="0">
                <a:latin typeface="Times New Roman"/>
                <a:cs typeface="Times New Roman"/>
              </a:rPr>
              <a:t> </a:t>
            </a:r>
            <a:r>
              <a:rPr sz="2775" spc="-254" baseline="-3003" dirty="0">
                <a:latin typeface="Symbol"/>
                <a:cs typeface="Symbol"/>
              </a:rPr>
              <a:t></a:t>
            </a:r>
            <a:r>
              <a:rPr sz="1400" i="1" spc="-40" dirty="0">
                <a:latin typeface="Times New Roman"/>
                <a:cs typeface="Times New Roman"/>
              </a:rPr>
              <a:t>V</a:t>
            </a:r>
            <a:r>
              <a:rPr sz="1200" spc="7" baseline="-24305" dirty="0">
                <a:latin typeface="Times New Roman"/>
                <a:cs typeface="Times New Roman"/>
              </a:rPr>
              <a:t>2</a:t>
            </a:r>
            <a:r>
              <a:rPr sz="1200" baseline="-24305" dirty="0">
                <a:latin typeface="Times New Roman"/>
                <a:cs typeface="Times New Roman"/>
              </a:rPr>
              <a:t> </a:t>
            </a:r>
            <a:r>
              <a:rPr sz="1200" spc="-37" baseline="-24305" dirty="0">
                <a:latin typeface="Times New Roman"/>
                <a:cs typeface="Times New Roman"/>
              </a:rPr>
              <a:t> </a:t>
            </a:r>
            <a:r>
              <a:rPr sz="1400" spc="110" dirty="0">
                <a:latin typeface="Symbol"/>
                <a:cs typeface="Symbol"/>
              </a:rPr>
              <a:t></a:t>
            </a:r>
            <a:r>
              <a:rPr sz="1400" i="1" spc="-130" dirty="0">
                <a:latin typeface="Times New Roman"/>
                <a:cs typeface="Times New Roman"/>
              </a:rPr>
              <a:t>V</a:t>
            </a:r>
            <a:r>
              <a:rPr sz="1200" spc="7" baseline="-24305" dirty="0">
                <a:latin typeface="Times New Roman"/>
                <a:cs typeface="Times New Roman"/>
              </a:rPr>
              <a:t>1</a:t>
            </a:r>
            <a:r>
              <a:rPr sz="1200" spc="-44" baseline="-24305" dirty="0">
                <a:latin typeface="Times New Roman"/>
                <a:cs typeface="Times New Roman"/>
              </a:rPr>
              <a:t> </a:t>
            </a:r>
            <a:r>
              <a:rPr sz="2775" spc="-232" baseline="-3003" dirty="0">
                <a:latin typeface="Symbol"/>
                <a:cs typeface="Symbol"/>
              </a:rPr>
              <a:t></a:t>
            </a:r>
            <a:r>
              <a:rPr sz="2775" spc="-232" baseline="-3003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Symbol"/>
                <a:cs typeface="Symbol"/>
              </a:rPr>
              <a:t>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Symbol"/>
                <a:cs typeface="Symbol"/>
              </a:rPr>
              <a:t></a:t>
            </a:r>
            <a:r>
              <a:rPr sz="1400" spc="5" dirty="0">
                <a:latin typeface="Times New Roman"/>
                <a:cs typeface="Times New Roman"/>
              </a:rPr>
              <a:t>100</a:t>
            </a:r>
            <a:r>
              <a:rPr sz="1400" spc="-22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Symbol"/>
                <a:cs typeface="Symbol"/>
              </a:rPr>
              <a:t></a:t>
            </a:r>
            <a:r>
              <a:rPr sz="1400" spc="-17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0.04</a:t>
            </a:r>
            <a:r>
              <a:rPr sz="1400" spc="-22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Symbol"/>
                <a:cs typeface="Symbol"/>
              </a:rPr>
              <a:t></a:t>
            </a:r>
            <a:r>
              <a:rPr sz="1400" spc="-17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7.417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Symbol"/>
                <a:cs typeface="Symbol"/>
              </a:rPr>
              <a:t>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Symbol"/>
                <a:cs typeface="Symbol"/>
              </a:rPr>
              <a:t></a:t>
            </a:r>
            <a:r>
              <a:rPr sz="1400" spc="5" dirty="0">
                <a:latin typeface="Times New Roman"/>
                <a:cs typeface="Times New Roman"/>
              </a:rPr>
              <a:t>29.65</a:t>
            </a:r>
            <a:r>
              <a:rPr sz="1400" i="1" spc="-5" dirty="0">
                <a:latin typeface="Times New Roman"/>
                <a:cs typeface="Times New Roman"/>
              </a:rPr>
              <a:t>k</a:t>
            </a:r>
            <a:r>
              <a:rPr sz="1400" i="1" spc="5" dirty="0">
                <a:latin typeface="Times New Roman"/>
                <a:cs typeface="Times New Roman"/>
              </a:rPr>
              <a:t>J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199382" y="7783830"/>
            <a:ext cx="581025" cy="299085"/>
          </a:xfrm>
          <a:custGeom>
            <a:avLst/>
            <a:gdLst/>
            <a:ahLst/>
            <a:cxnLst/>
            <a:rect l="l" t="t" r="r" b="b"/>
            <a:pathLst>
              <a:path w="581025" h="299084">
                <a:moveTo>
                  <a:pt x="0" y="298704"/>
                </a:moveTo>
                <a:lnTo>
                  <a:pt x="580643" y="298704"/>
                </a:lnTo>
                <a:lnTo>
                  <a:pt x="580643" y="0"/>
                </a:lnTo>
                <a:lnTo>
                  <a:pt x="0" y="0"/>
                </a:lnTo>
                <a:lnTo>
                  <a:pt x="0" y="298704"/>
                </a:lnTo>
                <a:close/>
              </a:path>
            </a:pathLst>
          </a:custGeom>
          <a:ln w="4762">
            <a:solidFill>
              <a:srgbClr val="ED6F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2624</Words>
  <Application>Microsoft Office PowerPoint</Application>
  <PresentationFormat>On-screen Show (4:3)</PresentationFormat>
  <Paragraphs>608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Calibri</vt:lpstr>
      <vt:lpstr>Cambria Math</vt:lpstr>
      <vt:lpstr>Corbel</vt:lpstr>
      <vt:lpstr>Microsoft Sans Serif</vt:lpstr>
      <vt:lpstr>Symbol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 to the online  certificate  course</dc:title>
  <dc:creator>Deepak Mashru</dc:creator>
  <cp:lastModifiedBy>DigitBrew</cp:lastModifiedBy>
  <cp:revision>5</cp:revision>
  <dcterms:created xsi:type="dcterms:W3CDTF">2024-02-07T16:25:49Z</dcterms:created>
  <dcterms:modified xsi:type="dcterms:W3CDTF">2024-02-07T17:14:01Z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2024-02-07T00:00:00Z</vt:filetime>
  </property>
</Properties>
</file>