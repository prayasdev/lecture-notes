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7" r:id="rId2"/>
    <p:sldId id="498" r:id="rId3"/>
    <p:sldId id="380" r:id="rId4"/>
    <p:sldId id="381" r:id="rId5"/>
    <p:sldId id="383" r:id="rId6"/>
    <p:sldId id="417" r:id="rId7"/>
    <p:sldId id="499" r:id="rId8"/>
    <p:sldId id="385" r:id="rId9"/>
    <p:sldId id="500" r:id="rId10"/>
    <p:sldId id="386" r:id="rId11"/>
    <p:sldId id="501" r:id="rId12"/>
    <p:sldId id="502" r:id="rId13"/>
    <p:sldId id="503" r:id="rId14"/>
    <p:sldId id="504" r:id="rId15"/>
    <p:sldId id="505" r:id="rId16"/>
    <p:sldId id="506" r:id="rId17"/>
    <p:sldId id="507" r:id="rId18"/>
    <p:sldId id="508" r:id="rId19"/>
    <p:sldId id="509" r:id="rId20"/>
    <p:sldId id="510" r:id="rId21"/>
    <p:sldId id="511" r:id="rId22"/>
    <p:sldId id="512" r:id="rId23"/>
    <p:sldId id="513" r:id="rId24"/>
    <p:sldId id="514" r:id="rId25"/>
    <p:sldId id="515" r:id="rId26"/>
    <p:sldId id="516" r:id="rId27"/>
    <p:sldId id="517" r:id="rId28"/>
    <p:sldId id="518" r:id="rId29"/>
    <p:sldId id="519" r:id="rId30"/>
    <p:sldId id="520" r:id="rId31"/>
    <p:sldId id="521" r:id="rId32"/>
    <p:sldId id="522" r:id="rId33"/>
    <p:sldId id="523" r:id="rId34"/>
    <p:sldId id="524" r:id="rId35"/>
    <p:sldId id="525" r:id="rId36"/>
    <p:sldId id="526" r:id="rId37"/>
    <p:sldId id="527" r:id="rId38"/>
    <p:sldId id="528" r:id="rId39"/>
    <p:sldId id="529" r:id="rId40"/>
    <p:sldId id="530" r:id="rId41"/>
    <p:sldId id="531" r:id="rId42"/>
    <p:sldId id="532" r:id="rId43"/>
    <p:sldId id="533" r:id="rId44"/>
    <p:sldId id="536" r:id="rId45"/>
    <p:sldId id="537" r:id="rId46"/>
    <p:sldId id="545" r:id="rId47"/>
    <p:sldId id="538" r:id="rId48"/>
    <p:sldId id="539" r:id="rId49"/>
    <p:sldId id="540" r:id="rId50"/>
    <p:sldId id="541" r:id="rId51"/>
    <p:sldId id="546" r:id="rId52"/>
    <p:sldId id="534" r:id="rId53"/>
    <p:sldId id="535" r:id="rId54"/>
    <p:sldId id="542" r:id="rId55"/>
    <p:sldId id="543" r:id="rId56"/>
    <p:sldId id="544" r:id="rId57"/>
    <p:sldId id="547" r:id="rId58"/>
    <p:sldId id="548" r:id="rId59"/>
    <p:sldId id="549" r:id="rId60"/>
    <p:sldId id="550" r:id="rId61"/>
    <p:sldId id="551" r:id="rId62"/>
    <p:sldId id="552" r:id="rId63"/>
    <p:sldId id="553"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1BBAF"/>
    <a:srgbClr val="FFCA4F"/>
    <a:srgbClr val="854F89"/>
    <a:srgbClr val="FFE152"/>
    <a:srgbClr val="DD00FF"/>
    <a:srgbClr val="D8D5ED"/>
    <a:srgbClr val="B5FCFF"/>
    <a:srgbClr val="40B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63" d="100"/>
          <a:sy n="63" d="100"/>
        </p:scale>
        <p:origin x="80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C2A0F-DD18-4D8E-8C83-A6F32888CCBC}" type="datetimeFigureOut">
              <a:rPr lang="en-IN" smtClean="0"/>
              <a:t>04-04-2024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B4456-79F6-4813-A63B-D4253474F180}" type="slidenum">
              <a:rPr lang="en-IN" smtClean="0"/>
              <a:t>‹#›</a:t>
            </a:fld>
            <a:endParaRPr lang="en-IN"/>
          </a:p>
        </p:txBody>
      </p:sp>
    </p:spTree>
    <p:extLst>
      <p:ext uri="{BB962C8B-B14F-4D97-AF65-F5344CB8AC3E}">
        <p14:creationId xmlns:p14="http://schemas.microsoft.com/office/powerpoint/2010/main" val="215834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2B4456-79F6-4813-A63B-D4253474F180}" type="slidenum">
              <a:rPr lang="en-IN" smtClean="0"/>
              <a:t>1</a:t>
            </a:fld>
            <a:endParaRPr lang="en-IN"/>
          </a:p>
        </p:txBody>
      </p:sp>
    </p:spTree>
    <p:extLst>
      <p:ext uri="{BB962C8B-B14F-4D97-AF65-F5344CB8AC3E}">
        <p14:creationId xmlns:p14="http://schemas.microsoft.com/office/powerpoint/2010/main" val="1204173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486396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68102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627244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820009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049948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419162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497517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870467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137702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055258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6E4831-481F-4AF1-9D8E-170CD6E1C3F5}" type="datetimeFigureOut">
              <a:rPr lang="en-IN" smtClean="0"/>
              <a:pPr/>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715232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B6E4831-481F-4AF1-9D8E-170CD6E1C3F5}" type="datetimeFigureOut">
              <a:rPr lang="en-IN" smtClean="0"/>
              <a:pPr/>
              <a:t>04-04-2024</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1089974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0.wmf"/><Relationship Id="rId4" Type="http://schemas.openxmlformats.org/officeDocument/2006/relationships/oleObject" Target="../embeddings/oleObject2.bin"/><Relationship Id="rId9" Type="http://schemas.openxmlformats.org/officeDocument/2006/relationships/image" Target="../media/image22.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25.wmf"/><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txBox="1">
            <a:spLocks/>
          </p:cNvSpPr>
          <p:nvPr/>
        </p:nvSpPr>
        <p:spPr>
          <a:xfrm>
            <a:off x="1069848" y="850505"/>
            <a:ext cx="7315200" cy="44794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7200" b="1" dirty="0"/>
          </a:p>
        </p:txBody>
      </p:sp>
      <p:sp>
        <p:nvSpPr>
          <p:cNvPr id="3" name="Title 2">
            <a:extLst>
              <a:ext uri="{FF2B5EF4-FFF2-40B4-BE49-F238E27FC236}">
                <a16:creationId xmlns:a16="http://schemas.microsoft.com/office/drawing/2014/main" id="{1FC360D0-60E8-426B-A452-3178AFFA7AB5}"/>
              </a:ext>
            </a:extLst>
          </p:cNvPr>
          <p:cNvSpPr>
            <a:spLocks noGrp="1"/>
          </p:cNvSpPr>
          <p:nvPr>
            <p:ph type="ctrTitle"/>
          </p:nvPr>
        </p:nvSpPr>
        <p:spPr>
          <a:xfrm>
            <a:off x="0" y="1755104"/>
            <a:ext cx="9144000" cy="2654336"/>
          </a:xfrm>
        </p:spPr>
        <p:txBody>
          <a:bodyPr/>
          <a:lstStyle/>
          <a:p>
            <a:pPr algn="ctr"/>
            <a:r>
              <a:rPr lang="en-US" dirty="0"/>
              <a:t>Basic Mechanical Engineering</a:t>
            </a:r>
            <a:br>
              <a:rPr lang="en-US" dirty="0"/>
            </a:br>
            <a:endParaRPr lang="en-IN" dirty="0"/>
          </a:p>
        </p:txBody>
      </p:sp>
    </p:spTree>
    <p:extLst>
      <p:ext uri="{BB962C8B-B14F-4D97-AF65-F5344CB8AC3E}">
        <p14:creationId xmlns:p14="http://schemas.microsoft.com/office/powerpoint/2010/main" val="3082812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44825" cy="4601183"/>
          </a:xfrm>
        </p:spPr>
        <p:txBody>
          <a:bodyPr/>
          <a:lstStyle/>
          <a:p>
            <a:pPr algn="ctr"/>
            <a:r>
              <a:rPr lang="en-IN" dirty="0"/>
              <a:t>Pure substance</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A pure substance which is a homogeneous substance retains its chemical composition even though it undergoes a change in phase during a thermodynamic process.</a:t>
            </a:r>
          </a:p>
          <a:p>
            <a:pPr marL="342900" lvl="3" indent="-342900" algn="just">
              <a:lnSpc>
                <a:spcPct val="150000"/>
              </a:lnSpc>
            </a:pPr>
            <a:r>
              <a:rPr lang="en-US" sz="2000" dirty="0">
                <a:solidFill>
                  <a:schemeClr val="tx1"/>
                </a:solidFill>
              </a:rPr>
              <a:t>Water is one of the pure substance, which can exist in the three different phase.</a:t>
            </a:r>
            <a:endParaRPr lang="en-US" sz="2000" b="1" dirty="0">
              <a:solidFill>
                <a:schemeClr val="tx1"/>
              </a:solidFill>
            </a:endParaRP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6792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44825" cy="4601183"/>
          </a:xfrm>
        </p:spPr>
        <p:txBody>
          <a:bodyPr/>
          <a:lstStyle/>
          <a:p>
            <a:pPr algn="ctr"/>
            <a:r>
              <a:rPr lang="en-IN" dirty="0"/>
              <a:t>Vapour</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It can be defined as that state of the substance in which the </a:t>
            </a:r>
            <a:r>
              <a:rPr lang="en-US" sz="2000" b="1" dirty="0">
                <a:solidFill>
                  <a:schemeClr val="tx1"/>
                </a:solidFill>
              </a:rPr>
              <a:t>evaporation</a:t>
            </a:r>
            <a:r>
              <a:rPr lang="en-US" sz="2000" dirty="0">
                <a:solidFill>
                  <a:schemeClr val="tx1"/>
                </a:solidFill>
              </a:rPr>
              <a:t> from its liquid state is </a:t>
            </a:r>
            <a:r>
              <a:rPr lang="en-US" sz="2000" b="1" dirty="0">
                <a:solidFill>
                  <a:schemeClr val="tx1"/>
                </a:solidFill>
              </a:rPr>
              <a:t>not complete</a:t>
            </a:r>
            <a:r>
              <a:rPr lang="en-US" sz="2000" dirty="0">
                <a:solidFill>
                  <a:schemeClr val="tx1"/>
                </a:solidFill>
              </a:rPr>
              <a:t>.</a:t>
            </a:r>
          </a:p>
          <a:p>
            <a:pPr marL="342900" lvl="3" indent="-342900" algn="just">
              <a:lnSpc>
                <a:spcPct val="150000"/>
              </a:lnSpc>
            </a:pPr>
            <a:r>
              <a:rPr lang="en-US" sz="2000" dirty="0">
                <a:solidFill>
                  <a:schemeClr val="tx1"/>
                </a:solidFill>
              </a:rPr>
              <a:t>A </a:t>
            </a:r>
            <a:r>
              <a:rPr lang="en-US" sz="2000" dirty="0" err="1">
                <a:solidFill>
                  <a:schemeClr val="tx1"/>
                </a:solidFill>
              </a:rPr>
              <a:t>Vapour</a:t>
            </a:r>
            <a:r>
              <a:rPr lang="en-US" sz="2000" dirty="0">
                <a:solidFill>
                  <a:schemeClr val="tx1"/>
                </a:solidFill>
              </a:rPr>
              <a:t> consists of a mixture of the pure gaseous form and liquid particles in suspension. Example: Steam contains water particles.</a:t>
            </a: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0" lvl="3" indent="0" algn="just">
              <a:lnSpc>
                <a:spcPct val="150000"/>
              </a:lnSpc>
              <a:buNone/>
            </a:pPr>
            <a:r>
              <a:rPr lang="en-US" sz="2000" b="1" dirty="0">
                <a:solidFill>
                  <a:schemeClr val="tx1"/>
                </a:solidFill>
              </a:rPr>
              <a:t>       </a:t>
            </a: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b="1" dirty="0">
              <a:solidFill>
                <a:schemeClr val="tx1"/>
              </a:solidFill>
            </a:endParaRPr>
          </a:p>
          <a:p>
            <a:pPr marL="0" lvl="3" indent="0" algn="just">
              <a:lnSpc>
                <a:spcPct val="150000"/>
              </a:lnSpc>
              <a:buNone/>
            </a:pPr>
            <a:r>
              <a:rPr lang="en-US" sz="2000" b="1" dirty="0">
                <a:solidFill>
                  <a:schemeClr val="tx1"/>
                </a:solidFill>
              </a:rPr>
              <a:t>           Water </a:t>
            </a:r>
            <a:r>
              <a:rPr lang="en-US" sz="2000" b="1" dirty="0" err="1">
                <a:solidFill>
                  <a:schemeClr val="tx1"/>
                </a:solidFill>
              </a:rPr>
              <a:t>Vapour</a:t>
            </a:r>
            <a:r>
              <a:rPr lang="en-US" sz="2000" b="1" dirty="0">
                <a:solidFill>
                  <a:schemeClr val="tx1"/>
                </a:solidFill>
              </a:rPr>
              <a:t> in the air                                             Steam </a:t>
            </a:r>
            <a:r>
              <a:rPr lang="en-US" sz="2000" b="1" dirty="0" err="1">
                <a:solidFill>
                  <a:schemeClr val="tx1"/>
                </a:solidFill>
              </a:rPr>
              <a:t>Vapour</a:t>
            </a: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3640997" y="3081471"/>
            <a:ext cx="3766305" cy="2899604"/>
          </a:xfrm>
          <a:prstGeom prst="rect">
            <a:avLst/>
          </a:prstGeom>
        </p:spPr>
      </p:pic>
      <p:pic>
        <p:nvPicPr>
          <p:cNvPr id="6" name="Picture 5"/>
          <p:cNvPicPr>
            <a:picLocks noChangeAspect="1"/>
          </p:cNvPicPr>
          <p:nvPr/>
        </p:nvPicPr>
        <p:blipFill>
          <a:blip r:embed="rId3"/>
          <a:stretch>
            <a:fillRect/>
          </a:stretch>
        </p:blipFill>
        <p:spPr>
          <a:xfrm>
            <a:off x="8612709" y="3081471"/>
            <a:ext cx="2355406" cy="2899604"/>
          </a:xfrm>
          <a:prstGeom prst="rect">
            <a:avLst/>
          </a:prstGeom>
        </p:spPr>
      </p:pic>
    </p:spTree>
    <p:extLst>
      <p:ext uri="{BB962C8B-B14F-4D97-AF65-F5344CB8AC3E}">
        <p14:creationId xmlns:p14="http://schemas.microsoft.com/office/powerpoint/2010/main" val="389248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animEffect transition="in" filter="fade">
                                      <p:cBhvr>
                                        <p:cTn id="25"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After the complete </a:t>
            </a:r>
            <a:r>
              <a:rPr lang="en-US" sz="2000" dirty="0" err="1">
                <a:solidFill>
                  <a:schemeClr val="tx1"/>
                </a:solidFill>
              </a:rPr>
              <a:t>vapourisation</a:t>
            </a:r>
            <a:r>
              <a:rPr lang="en-US" sz="2000" dirty="0">
                <a:solidFill>
                  <a:schemeClr val="tx1"/>
                </a:solidFill>
              </a:rPr>
              <a:t>, it exists purely in the gaseous phase as </a:t>
            </a:r>
            <a:r>
              <a:rPr lang="en-US" sz="2000" b="1" dirty="0">
                <a:solidFill>
                  <a:schemeClr val="tx1"/>
                </a:solidFill>
              </a:rPr>
              <a:t>steam</a:t>
            </a:r>
            <a:r>
              <a:rPr lang="en-US" sz="2000" dirty="0">
                <a:solidFill>
                  <a:schemeClr val="tx1"/>
                </a:solidFill>
              </a:rPr>
              <a:t>.</a:t>
            </a:r>
          </a:p>
          <a:p>
            <a:pPr marL="342900" lvl="3" indent="-342900" algn="just">
              <a:lnSpc>
                <a:spcPct val="150000"/>
              </a:lnSpc>
            </a:pPr>
            <a:r>
              <a:rPr lang="en-US" sz="2000" dirty="0" err="1">
                <a:solidFill>
                  <a:schemeClr val="tx1"/>
                </a:solidFill>
              </a:rPr>
              <a:t>Vapour</a:t>
            </a:r>
            <a:r>
              <a:rPr lang="en-US" sz="2000" dirty="0">
                <a:solidFill>
                  <a:schemeClr val="tx1"/>
                </a:solidFill>
              </a:rPr>
              <a:t> do not obeys </a:t>
            </a:r>
            <a:r>
              <a:rPr lang="en-US" sz="2000" b="1" dirty="0">
                <a:solidFill>
                  <a:schemeClr val="tx1"/>
                </a:solidFill>
              </a:rPr>
              <a:t>Boyle’s law and </a:t>
            </a:r>
            <a:r>
              <a:rPr lang="en-US" sz="2000" b="1" dirty="0" err="1">
                <a:solidFill>
                  <a:schemeClr val="tx1"/>
                </a:solidFill>
              </a:rPr>
              <a:t>Charle’s</a:t>
            </a:r>
            <a:r>
              <a:rPr lang="en-US" sz="2000" b="1" dirty="0">
                <a:solidFill>
                  <a:schemeClr val="tx1"/>
                </a:solidFill>
              </a:rPr>
              <a:t> law</a:t>
            </a:r>
            <a:r>
              <a:rPr lang="en-US" sz="2000" dirty="0">
                <a:solidFill>
                  <a:schemeClr val="tx1"/>
                </a:solidFill>
              </a:rPr>
              <a:t> under all conditions of temperature and pressure.</a:t>
            </a: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b="1" dirty="0">
              <a:solidFill>
                <a:schemeClr val="tx1"/>
              </a:solidFill>
            </a:endParaRPr>
          </a:p>
          <a:p>
            <a:pPr marL="0" lvl="3" indent="0" algn="just">
              <a:lnSpc>
                <a:spcPct val="150000"/>
              </a:lnSpc>
              <a:buNone/>
            </a:pPr>
            <a:endParaRPr lang="en-US" sz="2000" b="1"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27496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Difference between Steam and Gas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6635028"/>
              </p:ext>
            </p:extLst>
          </p:nvPr>
        </p:nvGraphicFramePr>
        <p:xfrm>
          <a:off x="3496235" y="1192478"/>
          <a:ext cx="8229599" cy="4463899"/>
        </p:xfrm>
        <a:graphic>
          <a:graphicData uri="http://schemas.openxmlformats.org/drawingml/2006/table">
            <a:tbl>
              <a:tblPr firstRow="1" firstCol="1" lastCol="1" bandRow="1" bandCol="1">
                <a:tableStyleId>{69012ECD-51FC-41F1-AA8D-1B2483CD663E}</a:tableStyleId>
              </a:tblPr>
              <a:tblGrid>
                <a:gridCol w="4571999">
                  <a:extLst>
                    <a:ext uri="{9D8B030D-6E8A-4147-A177-3AD203B41FA5}">
                      <a16:colId xmlns:a16="http://schemas.microsoft.com/office/drawing/2014/main" val="455477881"/>
                    </a:ext>
                  </a:extLst>
                </a:gridCol>
                <a:gridCol w="3657600">
                  <a:extLst>
                    <a:ext uri="{9D8B030D-6E8A-4147-A177-3AD203B41FA5}">
                      <a16:colId xmlns:a16="http://schemas.microsoft.com/office/drawing/2014/main" val="894322853"/>
                    </a:ext>
                  </a:extLst>
                </a:gridCol>
              </a:tblGrid>
              <a:tr h="536840">
                <a:tc>
                  <a:txBody>
                    <a:bodyPr/>
                    <a:lstStyle/>
                    <a:p>
                      <a:pPr marL="996315">
                        <a:lnSpc>
                          <a:spcPct val="115000"/>
                        </a:lnSpc>
                        <a:spcBef>
                          <a:spcPts val="5"/>
                        </a:spcBef>
                        <a:spcAft>
                          <a:spcPts val="0"/>
                        </a:spcAft>
                      </a:pPr>
                      <a:r>
                        <a:rPr lang="en-US" sz="2400" dirty="0">
                          <a:solidFill>
                            <a:schemeClr val="tx1"/>
                          </a:solidFill>
                          <a:effectLst/>
                        </a:rPr>
                        <a:t>Steam (</a:t>
                      </a:r>
                      <a:r>
                        <a:rPr lang="en-US" sz="2400" dirty="0" err="1">
                          <a:solidFill>
                            <a:schemeClr val="tx1"/>
                          </a:solidFill>
                          <a:effectLst/>
                        </a:rPr>
                        <a:t>Vapour</a:t>
                      </a:r>
                      <a:r>
                        <a:rPr lang="en-US" sz="2400" dirty="0">
                          <a:solidFill>
                            <a:schemeClr val="tx1"/>
                          </a:solidFill>
                          <a:effectLst/>
                        </a:rPr>
                        <a:t>)</a:t>
                      </a:r>
                      <a:endParaRPr lang="en-IN" sz="1800" dirty="0">
                        <a:solidFill>
                          <a:schemeClr val="tx1"/>
                        </a:solidFill>
                        <a:effectLst/>
                        <a:latin typeface="DejaVu Sans"/>
                        <a:ea typeface="DejaVu Sans"/>
                        <a:cs typeface="DejaVu San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66495" marR="1160780" algn="ctr">
                        <a:lnSpc>
                          <a:spcPct val="115000"/>
                        </a:lnSpc>
                        <a:spcBef>
                          <a:spcPts val="5"/>
                        </a:spcBef>
                        <a:spcAft>
                          <a:spcPts val="0"/>
                        </a:spcAft>
                      </a:pPr>
                      <a:r>
                        <a:rPr lang="en-US" sz="2400" dirty="0">
                          <a:solidFill>
                            <a:schemeClr val="tx1"/>
                          </a:solidFill>
                          <a:effectLst/>
                        </a:rPr>
                        <a:t>Gas</a:t>
                      </a:r>
                      <a:endParaRPr lang="en-IN" sz="1800" dirty="0">
                        <a:solidFill>
                          <a:schemeClr val="tx1"/>
                        </a:solidFill>
                        <a:effectLst/>
                        <a:latin typeface="DejaVu Sans"/>
                        <a:ea typeface="DejaVu Sans"/>
                        <a:cs typeface="DejaVu San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654110"/>
                  </a:ext>
                </a:extLst>
              </a:tr>
              <a:tr h="1147470">
                <a:tc>
                  <a:txBody>
                    <a:bodyPr/>
                    <a:lstStyle/>
                    <a:p>
                      <a:pPr marL="67945" algn="l">
                        <a:lnSpc>
                          <a:spcPts val="2000"/>
                        </a:lnSpc>
                        <a:spcAft>
                          <a:spcPts val="0"/>
                        </a:spcAft>
                      </a:pPr>
                      <a:r>
                        <a:rPr lang="en-US" sz="2000" b="0" kern="1200" dirty="0"/>
                        <a:t>It is state of substance in which evaporation is not completed from its liquid state.</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l">
                        <a:lnSpc>
                          <a:spcPts val="2000"/>
                        </a:lnSpc>
                        <a:spcAft>
                          <a:spcPts val="0"/>
                        </a:spcAft>
                      </a:pPr>
                      <a:r>
                        <a:rPr lang="en-US" sz="2000" b="0" kern="1200" dirty="0"/>
                        <a:t>It is state in which there is complete vaporization of liquid. It is gaseous state.</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920221"/>
                  </a:ext>
                </a:extLst>
              </a:tr>
              <a:tr h="1066027">
                <a:tc>
                  <a:txBody>
                    <a:bodyPr/>
                    <a:lstStyle/>
                    <a:p>
                      <a:pPr marL="67945" algn="l">
                        <a:lnSpc>
                          <a:spcPts val="2000"/>
                        </a:lnSpc>
                        <a:spcAft>
                          <a:spcPts val="0"/>
                        </a:spcAft>
                      </a:pPr>
                      <a:r>
                        <a:rPr lang="en-US" sz="2000" b="0" kern="1200" dirty="0"/>
                        <a:t>It  does not obey Boyle’ law, </a:t>
                      </a:r>
                      <a:r>
                        <a:rPr lang="en-US" sz="2000" b="0" kern="1200" dirty="0" err="1"/>
                        <a:t>Charle’s</a:t>
                      </a:r>
                      <a:r>
                        <a:rPr lang="en-US" sz="2000" b="0" kern="1200" dirty="0"/>
                        <a:t> law  and characteristics gas law. Hence it is not perfect gas.</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l">
                        <a:lnSpc>
                          <a:spcPts val="2000"/>
                        </a:lnSpc>
                        <a:spcAft>
                          <a:spcPts val="0"/>
                        </a:spcAft>
                      </a:pPr>
                      <a:r>
                        <a:rPr lang="en-US" sz="2000" b="0" kern="1200" dirty="0"/>
                        <a:t>It obeys all gas laws, hence it is</a:t>
                      </a:r>
                      <a:endParaRPr lang="en-IN" sz="2000" b="0" kern="1200" dirty="0"/>
                    </a:p>
                    <a:p>
                      <a:pPr marL="67945" algn="l">
                        <a:lnSpc>
                          <a:spcPts val="2000"/>
                        </a:lnSpc>
                        <a:spcBef>
                          <a:spcPts val="205"/>
                        </a:spcBef>
                        <a:spcAft>
                          <a:spcPts val="0"/>
                        </a:spcAft>
                      </a:pPr>
                      <a:r>
                        <a:rPr lang="en-US" sz="2000" b="0" kern="1200" dirty="0"/>
                        <a:t>perfect gas.</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9471529"/>
                  </a:ext>
                </a:extLst>
              </a:tr>
              <a:tr h="1009238">
                <a:tc>
                  <a:txBody>
                    <a:bodyPr/>
                    <a:lstStyle/>
                    <a:p>
                      <a:pPr marL="67945" algn="l">
                        <a:lnSpc>
                          <a:spcPts val="2000"/>
                        </a:lnSpc>
                        <a:spcAft>
                          <a:spcPts val="0"/>
                        </a:spcAft>
                      </a:pPr>
                      <a:r>
                        <a:rPr lang="en-US" sz="2000" b="0" kern="1200" dirty="0"/>
                        <a:t>When the steam is cooled it gets condensed.</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l">
                        <a:lnSpc>
                          <a:spcPts val="2000"/>
                        </a:lnSpc>
                        <a:spcAft>
                          <a:spcPts val="0"/>
                        </a:spcAft>
                      </a:pPr>
                      <a:r>
                        <a:rPr lang="en-US" sz="2000" b="0" kern="1200" dirty="0"/>
                        <a:t>It remains in gaseous state at moderate pressure and temperature.</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260358"/>
                  </a:ext>
                </a:extLst>
              </a:tr>
              <a:tr h="704324">
                <a:tc>
                  <a:txBody>
                    <a:bodyPr/>
                    <a:lstStyle/>
                    <a:p>
                      <a:pPr marL="67945" algn="l">
                        <a:lnSpc>
                          <a:spcPts val="2000"/>
                        </a:lnSpc>
                        <a:spcAft>
                          <a:spcPts val="0"/>
                        </a:spcAft>
                      </a:pPr>
                      <a:r>
                        <a:rPr lang="en-US" sz="2000" b="0" kern="1200" dirty="0"/>
                        <a:t>Specific volume of steam is less compared to gases.</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l">
                        <a:lnSpc>
                          <a:spcPts val="2000"/>
                        </a:lnSpc>
                        <a:spcAft>
                          <a:spcPts val="0"/>
                        </a:spcAft>
                      </a:pPr>
                      <a:r>
                        <a:rPr lang="en-US" sz="2000" b="0" kern="1200" dirty="0"/>
                        <a:t>Specific volume of gases is more</a:t>
                      </a:r>
                      <a:endParaRPr lang="en-IN" sz="2000" b="0" kern="1200" dirty="0"/>
                    </a:p>
                    <a:p>
                      <a:pPr marL="67945" algn="l">
                        <a:lnSpc>
                          <a:spcPts val="2000"/>
                        </a:lnSpc>
                        <a:spcBef>
                          <a:spcPts val="205"/>
                        </a:spcBef>
                        <a:spcAft>
                          <a:spcPts val="0"/>
                        </a:spcAft>
                      </a:pPr>
                      <a:r>
                        <a:rPr lang="en-US" sz="2000" b="0" kern="1200" dirty="0"/>
                        <a:t>compared to steam.</a:t>
                      </a:r>
                      <a:endParaRPr lang="en-IN" sz="2000" b="0"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404844"/>
                  </a:ext>
                </a:extLst>
              </a:tr>
            </a:tbl>
          </a:graphicData>
        </a:graphic>
      </p:graphicFrame>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231356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Steam Formation</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3439648" y="728720"/>
            <a:ext cx="8509471" cy="5470374"/>
          </a:xfrm>
          <a:prstGeom prst="rect">
            <a:avLst/>
          </a:prstGeom>
        </p:spPr>
      </p:pic>
    </p:spTree>
    <p:extLst>
      <p:ext uri="{BB962C8B-B14F-4D97-AF65-F5344CB8AC3E}">
        <p14:creationId xmlns:p14="http://schemas.microsoft.com/office/powerpoint/2010/main" val="125040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Steam Formation</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3855695" y="523660"/>
            <a:ext cx="7573432" cy="5801535"/>
          </a:xfrm>
          <a:prstGeom prst="rect">
            <a:avLst/>
          </a:prstGeom>
        </p:spPr>
      </p:pic>
    </p:spTree>
    <p:extLst>
      <p:ext uri="{BB962C8B-B14F-4D97-AF65-F5344CB8AC3E}">
        <p14:creationId xmlns:p14="http://schemas.microsoft.com/office/powerpoint/2010/main" val="189588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Steam Formation</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The </a:t>
            </a:r>
            <a:r>
              <a:rPr lang="en-US" sz="2000" b="1" dirty="0">
                <a:solidFill>
                  <a:schemeClr val="tx1"/>
                </a:solidFill>
              </a:rPr>
              <a:t>saturation temperature</a:t>
            </a:r>
            <a:r>
              <a:rPr lang="en-US" sz="2000" dirty="0">
                <a:solidFill>
                  <a:schemeClr val="tx1"/>
                </a:solidFill>
              </a:rPr>
              <a:t> is defined as the temperature at which the water begins to boil at the stated pressure. This condition of water at temperature </a:t>
            </a:r>
            <a:r>
              <a:rPr lang="en-US" sz="2000" dirty="0" err="1">
                <a:solidFill>
                  <a:schemeClr val="tx1"/>
                </a:solidFill>
              </a:rPr>
              <a:t>Ts</a:t>
            </a:r>
            <a:r>
              <a:rPr lang="en-US" sz="2000" dirty="0">
                <a:solidFill>
                  <a:schemeClr val="tx1"/>
                </a:solidFill>
              </a:rPr>
              <a:t> is represented by the point B on the graph.</a:t>
            </a:r>
          </a:p>
          <a:p>
            <a:pPr marL="342900" lvl="3" indent="-342900" algn="just">
              <a:lnSpc>
                <a:spcPct val="150000"/>
              </a:lnSpc>
            </a:pPr>
            <a:r>
              <a:rPr lang="en-US" sz="2000" dirty="0">
                <a:solidFill>
                  <a:schemeClr val="tx1"/>
                </a:solidFill>
              </a:rPr>
              <a:t>The amount of heat required to raise the temperature of 1 kg of water from 0 °C to the saturation temperature </a:t>
            </a:r>
            <a:r>
              <a:rPr lang="en-US" sz="2000" dirty="0" err="1">
                <a:solidFill>
                  <a:schemeClr val="tx1"/>
                </a:solidFill>
              </a:rPr>
              <a:t>Ts</a:t>
            </a:r>
            <a:r>
              <a:rPr lang="en-US" sz="2000" dirty="0">
                <a:solidFill>
                  <a:schemeClr val="tx1"/>
                </a:solidFill>
              </a:rPr>
              <a:t> °C at a given pressure is known as the </a:t>
            </a:r>
            <a:r>
              <a:rPr lang="en-US" sz="2000" b="1" dirty="0">
                <a:solidFill>
                  <a:schemeClr val="tx1"/>
                </a:solidFill>
              </a:rPr>
              <a:t>sensible heat</a:t>
            </a:r>
            <a:r>
              <a:rPr lang="en-US" sz="2000" dirty="0">
                <a:solidFill>
                  <a:schemeClr val="tx1"/>
                </a:solidFill>
              </a:rPr>
              <a:t> and denoted by hf. This heat is also called </a:t>
            </a:r>
            <a:r>
              <a:rPr lang="en-US" sz="2000" b="1" dirty="0">
                <a:solidFill>
                  <a:schemeClr val="tx1"/>
                </a:solidFill>
              </a:rPr>
              <a:t>enthalpy of the liquid</a:t>
            </a:r>
            <a:r>
              <a:rPr lang="en-US" sz="2000" dirty="0">
                <a:solidFill>
                  <a:schemeClr val="tx1"/>
                </a:solidFill>
              </a:rPr>
              <a:t>.</a:t>
            </a:r>
          </a:p>
          <a:p>
            <a:pPr marL="342900" lvl="3" indent="-342900" algn="just">
              <a:lnSpc>
                <a:spcPct val="150000"/>
              </a:lnSpc>
            </a:pPr>
            <a:r>
              <a:rPr lang="en-US" sz="2000" dirty="0">
                <a:solidFill>
                  <a:schemeClr val="tx1"/>
                </a:solidFill>
              </a:rPr>
              <a:t>The heat being supplied does not show any rise of temperature but changes water into vapor state (steam) and is called </a:t>
            </a:r>
            <a:r>
              <a:rPr lang="en-US" sz="2000" b="1" dirty="0">
                <a:solidFill>
                  <a:schemeClr val="tx1"/>
                </a:solidFill>
              </a:rPr>
              <a:t>latent heat</a:t>
            </a:r>
            <a:r>
              <a:rPr lang="en-US" sz="2000" dirty="0">
                <a:solidFill>
                  <a:schemeClr val="tx1"/>
                </a:solidFill>
              </a:rPr>
              <a:t> or </a:t>
            </a:r>
            <a:r>
              <a:rPr lang="en-US" sz="2000" b="1" dirty="0">
                <a:solidFill>
                  <a:schemeClr val="tx1"/>
                </a:solidFill>
              </a:rPr>
              <a:t>hidden heat</a:t>
            </a:r>
            <a:r>
              <a:rPr lang="en-US" sz="2000" dirty="0">
                <a:solidFill>
                  <a:schemeClr val="tx1"/>
                </a:solidFill>
              </a:rPr>
              <a:t> or </a:t>
            </a:r>
            <a:r>
              <a:rPr lang="en-US" sz="2000" b="1" dirty="0">
                <a:solidFill>
                  <a:schemeClr val="tx1"/>
                </a:solidFill>
              </a:rPr>
              <a:t>enthalpy of evaporation</a:t>
            </a:r>
            <a:r>
              <a:rPr lang="en-US" sz="2000" dirty="0">
                <a:solidFill>
                  <a:schemeClr val="tx1"/>
                </a:solidFill>
              </a:rPr>
              <a:t>. It is denoted by </a:t>
            </a:r>
            <a:r>
              <a:rPr lang="en-US" sz="2000" dirty="0" err="1">
                <a:solidFill>
                  <a:schemeClr val="tx1"/>
                </a:solidFill>
              </a:rPr>
              <a:t>h</a:t>
            </a:r>
            <a:r>
              <a:rPr lang="en-US" sz="2000" baseline="-25000" dirty="0" err="1">
                <a:solidFill>
                  <a:schemeClr val="tx1"/>
                </a:solidFill>
              </a:rPr>
              <a:t>fg</a:t>
            </a:r>
            <a:r>
              <a:rPr lang="en-US" sz="2000" dirty="0">
                <a:solidFill>
                  <a:schemeClr val="tx1"/>
                </a:solidFill>
              </a:rPr>
              <a:t>. If the steam is in contact with water, it is called </a:t>
            </a:r>
            <a:r>
              <a:rPr lang="en-US" sz="2000" b="1" dirty="0">
                <a:solidFill>
                  <a:schemeClr val="tx1"/>
                </a:solidFill>
              </a:rPr>
              <a:t>wet steam.</a:t>
            </a:r>
            <a:r>
              <a:rPr lang="en-US" sz="2000" dirty="0">
                <a:solidFill>
                  <a:schemeClr val="tx1"/>
                </a:solidFill>
              </a:rPr>
              <a:t> </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035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Steam Formation</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If supply of heat to the saturated steam is continued at constant pressure there will be increase in temperature and volume of steam. The temperature of the steam above the saturation temperature at a given pressure is called </a:t>
            </a:r>
            <a:r>
              <a:rPr lang="en-US" sz="2000" b="1" dirty="0">
                <a:solidFill>
                  <a:schemeClr val="tx1"/>
                </a:solidFill>
              </a:rPr>
              <a:t>superheated temperature</a:t>
            </a:r>
            <a:r>
              <a:rPr lang="en-US" sz="2000" dirty="0">
                <a:solidFill>
                  <a:schemeClr val="tx1"/>
                </a:solidFill>
              </a:rPr>
              <a:t>.</a:t>
            </a:r>
          </a:p>
          <a:p>
            <a:pPr marL="342900" lvl="3" indent="-342900" algn="just">
              <a:lnSpc>
                <a:spcPct val="150000"/>
              </a:lnSpc>
            </a:pPr>
            <a:r>
              <a:rPr lang="en-US" sz="2000" dirty="0">
                <a:solidFill>
                  <a:schemeClr val="tx1"/>
                </a:solidFill>
              </a:rPr>
              <a:t>During this process of heating, the dry steam will be heated from its dry state, and the process of heating is called </a:t>
            </a:r>
            <a:r>
              <a:rPr lang="en-US" sz="2000" b="1" dirty="0">
                <a:solidFill>
                  <a:schemeClr val="tx1"/>
                </a:solidFill>
              </a:rPr>
              <a:t>superheating</a:t>
            </a:r>
            <a:r>
              <a:rPr lang="en-US" sz="2000" dirty="0">
                <a:solidFill>
                  <a:schemeClr val="tx1"/>
                </a:solidFill>
              </a:rPr>
              <a:t>. The steam when superheated is called </a:t>
            </a:r>
            <a:r>
              <a:rPr lang="en-US" sz="2000" b="1" dirty="0">
                <a:solidFill>
                  <a:schemeClr val="tx1"/>
                </a:solidFill>
              </a:rPr>
              <a:t>superheated steam</a:t>
            </a:r>
            <a:r>
              <a:rPr lang="en-US" sz="2000" dirty="0">
                <a:solidFill>
                  <a:schemeClr val="tx1"/>
                </a:solidFill>
              </a:rPr>
              <a:t>. This superheating is represented by the inclined line CD on the graph.</a:t>
            </a:r>
          </a:p>
          <a:p>
            <a:pPr marL="342900" lvl="3" indent="-342900" algn="just">
              <a:lnSpc>
                <a:spcPct val="150000"/>
              </a:lnSpc>
            </a:pPr>
            <a:r>
              <a:rPr lang="en-US" sz="2000" dirty="0">
                <a:solidFill>
                  <a:schemeClr val="tx1"/>
                </a:solidFill>
              </a:rPr>
              <a:t>The amount of heat required to raise the temperature of dry steam from its saturation temperature to any required higher temperature at the given constant pressure is called </a:t>
            </a:r>
            <a:r>
              <a:rPr lang="en-US" sz="2000" b="1" dirty="0">
                <a:solidFill>
                  <a:schemeClr val="tx1"/>
                </a:solidFill>
              </a:rPr>
              <a:t>amount of superheat</a:t>
            </a:r>
            <a:r>
              <a:rPr lang="en-US" sz="2000" dirty="0">
                <a:solidFill>
                  <a:schemeClr val="tx1"/>
                </a:solidFill>
              </a:rPr>
              <a:t> or </a:t>
            </a:r>
            <a:r>
              <a:rPr lang="en-US" sz="2000" b="1" dirty="0">
                <a:solidFill>
                  <a:schemeClr val="tx1"/>
                </a:solidFill>
              </a:rPr>
              <a:t>enthalpy of superheat</a:t>
            </a:r>
            <a:r>
              <a:rPr lang="en-US" sz="2000" dirty="0">
                <a:solidFill>
                  <a:schemeClr val="tx1"/>
                </a:solidFill>
              </a:rPr>
              <a:t>. The difference between the superheated temperature and the saturation temperature is known as </a:t>
            </a:r>
            <a:r>
              <a:rPr lang="en-US" sz="2000" b="1" dirty="0">
                <a:solidFill>
                  <a:schemeClr val="tx1"/>
                </a:solidFill>
              </a:rPr>
              <a:t>degree of superheat</a:t>
            </a:r>
            <a:r>
              <a:rPr lang="en-US" sz="2000" dirty="0">
                <a:solidFill>
                  <a:schemeClr val="tx1"/>
                </a:solidFill>
              </a:rPr>
              <a:t>. </a:t>
            </a:r>
          </a:p>
          <a:p>
            <a:pPr marL="0" lvl="3"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1884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The steam during the steam generation process can exist in three different types:</a:t>
            </a:r>
          </a:p>
          <a:p>
            <a:pPr marL="357188" lvl="3" indent="-357188" algn="ctr">
              <a:lnSpc>
                <a:spcPct val="150000"/>
              </a:lnSpc>
              <a:buNone/>
            </a:pPr>
            <a:r>
              <a:rPr lang="en-US" sz="2000" i="1" dirty="0">
                <a:solidFill>
                  <a:schemeClr val="tx1"/>
                </a:solidFill>
              </a:rPr>
              <a:t>“Wet steam, dry and saturated steam and superheated steam”</a:t>
            </a:r>
            <a:endParaRPr lang="en-US" sz="2000" dirty="0">
              <a:solidFill>
                <a:schemeClr val="tx1"/>
              </a:solidFill>
            </a:endParaRPr>
          </a:p>
          <a:p>
            <a:pPr marL="457200" lvl="4"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0097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br>
              <a:rPr lang="en-IN" dirty="0"/>
            </a:br>
            <a:r>
              <a:rPr lang="en-IN" dirty="0"/>
              <a:t>(Wet 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Both the water molecules and steam coexist to form a two phase mixture, called </a:t>
            </a:r>
            <a:r>
              <a:rPr lang="en-US" sz="2000" b="1" dirty="0">
                <a:solidFill>
                  <a:schemeClr val="tx1"/>
                </a:solidFill>
              </a:rPr>
              <a:t>wet steam</a:t>
            </a:r>
            <a:r>
              <a:rPr lang="en-US" sz="2000" dirty="0">
                <a:solidFill>
                  <a:schemeClr val="tx1"/>
                </a:solidFill>
              </a:rPr>
              <a:t>.</a:t>
            </a:r>
          </a:p>
          <a:p>
            <a:pPr marL="342900" lvl="3" indent="-342900" algn="just">
              <a:lnSpc>
                <a:spcPct val="150000"/>
              </a:lnSpc>
            </a:pPr>
            <a:r>
              <a:rPr lang="en-US" sz="2000" b="1" dirty="0">
                <a:solidFill>
                  <a:schemeClr val="tx1"/>
                </a:solidFill>
              </a:rPr>
              <a:t>Dryness fraction of steam </a:t>
            </a:r>
            <a:r>
              <a:rPr lang="en-US" sz="2000" dirty="0">
                <a:solidFill>
                  <a:schemeClr val="tx1"/>
                </a:solidFill>
              </a:rPr>
              <a:t>is the ratio of the mass of actual dry steam present in a known quantity of wet steam to the total mass of the wet steam.</a:t>
            </a:r>
          </a:p>
          <a:p>
            <a:pPr marL="342900" lvl="3" indent="-342900" algn="just">
              <a:lnSpc>
                <a:spcPct val="150000"/>
              </a:lnSpc>
            </a:pPr>
            <a:r>
              <a:rPr lang="en-US" sz="2000" dirty="0">
                <a:solidFill>
                  <a:schemeClr val="tx1"/>
                </a:solidFill>
              </a:rPr>
              <a:t>The quality of the wet steam is specified by the dry fraction which indicates the amount of dry steam present in the given quantity of wet steam and is denoted by x.</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2916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br>
              <a:rPr lang="en-IN" dirty="0"/>
            </a:br>
            <a:r>
              <a:rPr lang="en-IN" dirty="0"/>
              <a:t>(Wet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Let,	 </a:t>
                </a:r>
                <a:r>
                  <a:rPr lang="en-US" sz="2000" dirty="0" err="1">
                    <a:solidFill>
                      <a:schemeClr val="tx1"/>
                    </a:solidFill>
                  </a:rPr>
                  <a:t>m</a:t>
                </a:r>
                <a:r>
                  <a:rPr lang="en-US" sz="2000" baseline="-25000" dirty="0" err="1">
                    <a:solidFill>
                      <a:schemeClr val="tx1"/>
                    </a:solidFill>
                  </a:rPr>
                  <a:t>s</a:t>
                </a:r>
                <a:r>
                  <a:rPr lang="en-US" sz="2000" dirty="0">
                    <a:solidFill>
                      <a:schemeClr val="tx1"/>
                    </a:solidFill>
                  </a:rPr>
                  <a:t> = mass of dry steam present in the given quantity of wet steam.</a:t>
                </a:r>
              </a:p>
              <a:p>
                <a:pPr marL="981075" lvl="3" indent="0" algn="just">
                  <a:lnSpc>
                    <a:spcPct val="150000"/>
                  </a:lnSpc>
                  <a:buNone/>
                </a:pPr>
                <a:r>
                  <a:rPr lang="en-US" sz="2000" dirty="0">
                    <a:solidFill>
                      <a:schemeClr val="tx1"/>
                    </a:solidFill>
                  </a:rPr>
                  <a:t>m</a:t>
                </a:r>
                <a:r>
                  <a:rPr lang="en-US" sz="2000" baseline="-25000" dirty="0">
                    <a:solidFill>
                      <a:schemeClr val="tx1"/>
                    </a:solidFill>
                  </a:rPr>
                  <a:t>w</a:t>
                </a:r>
                <a:r>
                  <a:rPr lang="en-US" sz="2000" dirty="0">
                    <a:solidFill>
                      <a:schemeClr val="tx1"/>
                    </a:solidFill>
                  </a:rPr>
                  <a:t> = mass of superheated water molecules in the given quantity of wet steam.</a:t>
                </a:r>
              </a:p>
              <a:p>
                <a:pPr>
                  <a:lnSpc>
                    <a:spcPct val="150000"/>
                  </a:lnSpc>
                </a:pPr>
                <a:r>
                  <a:rPr lang="en-US" dirty="0">
                    <a:solidFill>
                      <a:schemeClr val="tx1"/>
                    </a:solidFill>
                  </a:rPr>
                  <a:t>Dryness fraction </a:t>
                </a:r>
                <a14:m>
                  <m:oMath xmlns:m="http://schemas.openxmlformats.org/officeDocument/2006/math">
                    <m:r>
                      <m:rPr>
                        <m:sty m:val="p"/>
                      </m:rPr>
                      <a:rPr lang="en-US" b="0" i="0" smtClean="0">
                        <a:solidFill>
                          <a:schemeClr val="tx1"/>
                        </a:solidFill>
                        <a:latin typeface="Cambria Math" panose="02040503050406030204" pitchFamily="18" charset="0"/>
                      </a:rPr>
                      <m:t>x</m:t>
                    </m:r>
                    <m:r>
                      <a:rPr lang="en-US" b="0" i="0" smtClean="0">
                        <a:solidFill>
                          <a:schemeClr val="tx1"/>
                        </a:solidFill>
                        <a:latin typeface="Cambria Math" panose="02040503050406030204" pitchFamily="18" charset="0"/>
                      </a:rPr>
                      <m:t> = </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𝑀𝑎𝑠𝑠</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𝑜𝑓</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𝑑𝑟𝑦</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𝑠𝑡𝑒𝑎𝑚</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𝑝𝑟𝑒𝑠𝑒𝑛𝑡</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𝑖𝑛</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𝑤𝑒𝑡</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𝑠𝑡𝑒𝑎𝑚</m:t>
                        </m:r>
                      </m:num>
                      <m:den>
                        <m:r>
                          <a:rPr lang="en-US" b="0" i="1" smtClean="0">
                            <a:solidFill>
                              <a:schemeClr val="tx1"/>
                            </a:solidFill>
                            <a:latin typeface="Cambria Math" panose="02040503050406030204" pitchFamily="18" charset="0"/>
                          </a:rPr>
                          <m:t>𝑇𝑜𝑡𝑎𝑙</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𝑚𝑎𝑠𝑠</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𝑜𝑓</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𝑤𝑒𝑡</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𝑠𝑡𝑒𝑎𝑚</m:t>
                        </m:r>
                      </m:den>
                    </m:f>
                  </m:oMath>
                </a14:m>
                <a:endParaRPr lang="en-US"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 </m:t>
                      </m:r>
                      <m:f>
                        <m:fPr>
                          <m:ctrlPr>
                            <a:rPr lang="en-IN" i="1">
                              <a:solidFill>
                                <a:schemeClr val="tx1"/>
                              </a:solidFill>
                              <a:latin typeface="Cambria Math" panose="02040503050406030204" pitchFamily="18" charset="0"/>
                            </a:rPr>
                          </m:ctrlPr>
                        </m:fPr>
                        <m:num>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𝑚</m:t>
                              </m:r>
                            </m:e>
                            <m:sub>
                              <m:r>
                                <a:rPr lang="en-US" b="0" i="1" smtClean="0">
                                  <a:solidFill>
                                    <a:schemeClr val="tx1"/>
                                  </a:solidFill>
                                  <a:latin typeface="Cambria Math" panose="02040503050406030204" pitchFamily="18" charset="0"/>
                                </a:rPr>
                                <m:t>𝑠</m:t>
                              </m:r>
                            </m:sub>
                          </m:sSub>
                        </m:num>
                        <m:den>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𝑚</m:t>
                              </m:r>
                            </m:e>
                            <m:sub>
                              <m:r>
                                <a:rPr lang="en-US" b="0" i="1" smtClean="0">
                                  <a:solidFill>
                                    <a:schemeClr val="tx1"/>
                                  </a:solidFill>
                                  <a:latin typeface="Cambria Math" panose="02040503050406030204" pitchFamily="18" charset="0"/>
                                </a:rPr>
                                <m:t>𝑤</m:t>
                              </m:r>
                            </m:sub>
                          </m:sSub>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𝑚</m:t>
                              </m:r>
                            </m:e>
                            <m:sub>
                              <m:r>
                                <a:rPr lang="en-US" b="0" i="1" smtClean="0">
                                  <a:solidFill>
                                    <a:schemeClr val="tx1"/>
                                  </a:solidFill>
                                  <a:latin typeface="Cambria Math" panose="02040503050406030204" pitchFamily="18" charset="0"/>
                                </a:rPr>
                                <m:t>𝑠</m:t>
                              </m:r>
                            </m:sub>
                          </m:sSub>
                        </m:den>
                      </m:f>
                    </m:oMath>
                  </m:oMathPara>
                </a14:m>
                <a:endParaRPr lang="en-IN" sz="1600" dirty="0"/>
              </a:p>
              <a:p>
                <a:pPr>
                  <a:lnSpc>
                    <a:spcPct val="150000"/>
                  </a:lnSpc>
                </a:pPr>
                <a:r>
                  <a:rPr lang="en-US" dirty="0">
                    <a:solidFill>
                      <a:schemeClr val="tx1"/>
                    </a:solidFill>
                  </a:rPr>
                  <a:t>The dryness fraction of wet steam is always less than 1 and for dry steam it is equal to 1.</a:t>
                </a:r>
                <a:endParaRPr lang="en-IN" dirty="0">
                  <a:solidFill>
                    <a:schemeClr val="tx1"/>
                  </a:solidFill>
                </a:endParaRPr>
              </a:p>
              <a:p>
                <a:pPr marL="981075"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69702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fade">
                                      <p:cBhvr>
                                        <p:cTn id="10" dur="500"/>
                                        <p:tgtEl>
                                          <p:spTgt spid="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Effect transition="in" filter="fade">
                                      <p:cBhvr>
                                        <p:cTn id="20" dur="500"/>
                                        <p:tgtEl>
                                          <p:spTgt spid="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Effect transition="in" filter="fade">
                                      <p:cBhvr>
                                        <p:cTn id="2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br>
              <a:rPr lang="en-IN" dirty="0"/>
            </a:br>
            <a:r>
              <a:rPr lang="en-IN" dirty="0"/>
              <a:t>(Wet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fontScale="85000" lnSpcReduction="10000"/>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200" b="1" dirty="0">
                    <a:solidFill>
                      <a:schemeClr val="tx1"/>
                    </a:solidFill>
                  </a:rPr>
                  <a:t>Wetness fraction of steam</a:t>
                </a:r>
                <a:r>
                  <a:rPr lang="en-US" sz="2200" dirty="0">
                    <a:solidFill>
                      <a:schemeClr val="tx1"/>
                    </a:solidFill>
                  </a:rPr>
                  <a:t> is the ratio of the mass of water particles present in a in a known quantity of wet steam to the total mass of the wet steam.</a:t>
                </a:r>
              </a:p>
              <a:p>
                <a:pPr>
                  <a:lnSpc>
                    <a:spcPct val="150000"/>
                  </a:lnSpc>
                </a:pPr>
                <a:r>
                  <a:rPr lang="en-US" sz="2200" dirty="0">
                    <a:solidFill>
                      <a:schemeClr val="tx1"/>
                    </a:solidFill>
                  </a:rPr>
                  <a:t>Wetness fraction</a:t>
                </a:r>
                <a14:m>
                  <m:oMath xmlns:m="http://schemas.openxmlformats.org/officeDocument/2006/math">
                    <m:r>
                      <a:rPr lang="en-US" sz="2200">
                        <a:solidFill>
                          <a:schemeClr val="tx1"/>
                        </a:solidFill>
                        <a:latin typeface="Cambria Math" panose="02040503050406030204" pitchFamily="18" charset="0"/>
                      </a:rPr>
                      <m:t> </m:t>
                    </m:r>
                    <m:r>
                      <a:rPr lang="en-US" sz="2200" b="0" i="0" smtClean="0">
                        <a:solidFill>
                          <a:schemeClr val="tx1"/>
                        </a:solidFill>
                        <a:latin typeface="Cambria Math" panose="02040503050406030204" pitchFamily="18" charset="0"/>
                      </a:rPr>
                      <m:t>= </m:t>
                    </m:r>
                    <m:f>
                      <m:fPr>
                        <m:ctrlPr>
                          <a:rPr lang="en-US" sz="2200" i="1" smtClean="0">
                            <a:solidFill>
                              <a:schemeClr val="tx1"/>
                            </a:solidFill>
                            <a:latin typeface="Cambria Math" panose="02040503050406030204" pitchFamily="18" charset="0"/>
                          </a:rPr>
                        </m:ctrlPr>
                      </m:fPr>
                      <m:num>
                        <m:r>
                          <a:rPr lang="en-US" sz="2200" b="0" i="1" smtClean="0">
                            <a:solidFill>
                              <a:schemeClr val="tx1"/>
                            </a:solidFill>
                            <a:latin typeface="Cambria Math" panose="02040503050406030204" pitchFamily="18" charset="0"/>
                          </a:rPr>
                          <m:t>𝑀𝑎𝑠𝑠</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𝑜𝑓</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𝑤𝑎𝑡𝑒𝑟</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𝑝𝑎𝑟𝑡𝑖𝑐𝑎𝑙𝑒𝑠</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𝑝𝑟𝑒𝑠𝑒𝑛𝑡</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𝑖𝑛</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𝑤𝑒𝑡</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𝑠𝑡𝑒𝑎𝑚</m:t>
                        </m:r>
                      </m:num>
                      <m:den>
                        <m:r>
                          <a:rPr lang="en-US" sz="2200" b="0" i="1" smtClean="0">
                            <a:solidFill>
                              <a:schemeClr val="tx1"/>
                            </a:solidFill>
                            <a:latin typeface="Cambria Math" panose="02040503050406030204" pitchFamily="18" charset="0"/>
                          </a:rPr>
                          <m:t>𝑇𝑜𝑡𝑎𝑙</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𝑚𝑎𝑠𝑠</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𝑜𝑓</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𝑤𝑒𝑡</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𝑠𝑡𝑒𝑎𝑚</m:t>
                        </m:r>
                      </m:den>
                    </m:f>
                  </m:oMath>
                </a14:m>
                <a:endParaRPr lang="en-US" sz="2200"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sz="2200" b="0" i="1" smtClean="0">
                          <a:solidFill>
                            <a:schemeClr val="tx1"/>
                          </a:solidFill>
                          <a:latin typeface="Cambria Math" panose="02040503050406030204" pitchFamily="18" charset="0"/>
                        </a:rPr>
                        <m:t>= </m:t>
                      </m:r>
                      <m:f>
                        <m:fPr>
                          <m:ctrlPr>
                            <a:rPr lang="en-IN" sz="2200" i="1">
                              <a:solidFill>
                                <a:schemeClr val="tx1"/>
                              </a:solidFill>
                              <a:latin typeface="Cambria Math" panose="02040503050406030204" pitchFamily="18" charset="0"/>
                            </a:rPr>
                          </m:ctrlPr>
                        </m:fPr>
                        <m:num>
                          <m:sSub>
                            <m:sSubPr>
                              <m:ctrlPr>
                                <a:rPr lang="en-US" sz="220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𝑚</m:t>
                              </m:r>
                            </m:e>
                            <m:sub>
                              <m:r>
                                <a:rPr lang="en-US" sz="2200" b="0" i="1" smtClean="0">
                                  <a:solidFill>
                                    <a:schemeClr val="tx1"/>
                                  </a:solidFill>
                                  <a:latin typeface="Cambria Math" panose="02040503050406030204" pitchFamily="18" charset="0"/>
                                </a:rPr>
                                <m:t>𝑤</m:t>
                              </m:r>
                            </m:sub>
                          </m:sSub>
                        </m:num>
                        <m:den>
                          <m:sSub>
                            <m:sSubPr>
                              <m:ctrlPr>
                                <a:rPr lang="en-US" sz="220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𝑚</m:t>
                              </m:r>
                            </m:e>
                            <m:sub>
                              <m:r>
                                <a:rPr lang="en-US" sz="2200" b="0" i="1" smtClean="0">
                                  <a:solidFill>
                                    <a:schemeClr val="tx1"/>
                                  </a:solidFill>
                                  <a:latin typeface="Cambria Math" panose="02040503050406030204" pitchFamily="18" charset="0"/>
                                </a:rPr>
                                <m:t>𝑤</m:t>
                              </m:r>
                            </m:sub>
                          </m:sSub>
                          <m:r>
                            <a:rPr lang="en-US" sz="2200" b="0" i="1" smtClean="0">
                              <a:solidFill>
                                <a:schemeClr val="tx1"/>
                              </a:solidFill>
                              <a:latin typeface="Cambria Math" panose="02040503050406030204" pitchFamily="18" charset="0"/>
                            </a:rPr>
                            <m:t>+ </m:t>
                          </m:r>
                          <m:sSub>
                            <m:sSubPr>
                              <m:ctrlPr>
                                <a:rPr lang="en-US" sz="2200" b="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𝑚</m:t>
                              </m:r>
                            </m:e>
                            <m:sub>
                              <m:r>
                                <a:rPr lang="en-US" sz="2200" b="0" i="1" smtClean="0">
                                  <a:solidFill>
                                    <a:schemeClr val="tx1"/>
                                  </a:solidFill>
                                  <a:latin typeface="Cambria Math" panose="02040503050406030204" pitchFamily="18" charset="0"/>
                                </a:rPr>
                                <m:t>𝑠</m:t>
                              </m:r>
                            </m:sub>
                          </m:sSub>
                        </m:den>
                      </m:f>
                    </m:oMath>
                  </m:oMathPara>
                </a14:m>
                <a:endParaRPr lang="en-IN" sz="22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sz="2200" i="1">
                          <a:solidFill>
                            <a:schemeClr val="tx1"/>
                          </a:solidFill>
                          <a:latin typeface="Cambria Math" panose="02040503050406030204" pitchFamily="18" charset="0"/>
                        </a:rPr>
                        <m:t>= </m:t>
                      </m:r>
                      <m:f>
                        <m:fPr>
                          <m:ctrlPr>
                            <a:rPr lang="en-IN"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i="1">
                                  <a:solidFill>
                                    <a:schemeClr val="tx1"/>
                                  </a:solidFill>
                                  <a:latin typeface="Cambria Math" panose="02040503050406030204" pitchFamily="18" charset="0"/>
                                </a:rPr>
                                <m:t>𝑤</m:t>
                              </m:r>
                            </m:sub>
                          </m:sSub>
                        </m:num>
                        <m:den>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i="1">
                                  <a:solidFill>
                                    <a:schemeClr val="tx1"/>
                                  </a:solidFill>
                                  <a:latin typeface="Cambria Math" panose="02040503050406030204" pitchFamily="18" charset="0"/>
                                </a:rPr>
                                <m:t>𝑤</m:t>
                              </m:r>
                            </m:sub>
                          </m:sSub>
                          <m:r>
                            <a:rPr lang="en-US" sz="2200" i="1">
                              <a:solidFill>
                                <a:schemeClr val="tx1"/>
                              </a:solidFill>
                              <a:latin typeface="Cambria Math" panose="02040503050406030204" pitchFamily="18" charset="0"/>
                            </a:rPr>
                            <m:t>+ </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i="1">
                                  <a:solidFill>
                                    <a:schemeClr val="tx1"/>
                                  </a:solidFill>
                                  <a:latin typeface="Cambria Math" panose="02040503050406030204" pitchFamily="18" charset="0"/>
                                </a:rPr>
                                <m:t>𝑠</m:t>
                              </m:r>
                            </m:sub>
                          </m:sSub>
                        </m:den>
                      </m:f>
                      <m:r>
                        <a:rPr lang="en-US" sz="2200" b="0" i="1" smtClean="0">
                          <a:solidFill>
                            <a:schemeClr val="tx1"/>
                          </a:solidFill>
                          <a:latin typeface="Cambria Math" panose="02040503050406030204" pitchFamily="18" charset="0"/>
                        </a:rPr>
                        <m:t>+1 −1</m:t>
                      </m:r>
                    </m:oMath>
                  </m:oMathPara>
                </a14:m>
                <a:endParaRPr lang="en-IN" sz="22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sz="2200" i="1">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1−</m:t>
                      </m:r>
                      <m:r>
                        <a:rPr lang="en-US" sz="2200" i="1">
                          <a:solidFill>
                            <a:schemeClr val="tx1"/>
                          </a:solidFill>
                          <a:latin typeface="Cambria Math" panose="02040503050406030204" pitchFamily="18" charset="0"/>
                        </a:rPr>
                        <m:t> </m:t>
                      </m:r>
                      <m:f>
                        <m:fPr>
                          <m:ctrlPr>
                            <a:rPr lang="en-IN"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b="0" i="1" smtClean="0">
                                  <a:solidFill>
                                    <a:schemeClr val="tx1"/>
                                  </a:solidFill>
                                  <a:latin typeface="Cambria Math" panose="02040503050406030204" pitchFamily="18" charset="0"/>
                                </a:rPr>
                                <m:t>𝑠</m:t>
                              </m:r>
                            </m:sub>
                          </m:sSub>
                        </m:num>
                        <m:den>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i="1">
                                  <a:solidFill>
                                    <a:schemeClr val="tx1"/>
                                  </a:solidFill>
                                  <a:latin typeface="Cambria Math" panose="02040503050406030204" pitchFamily="18" charset="0"/>
                                </a:rPr>
                                <m:t>𝑤</m:t>
                              </m:r>
                            </m:sub>
                          </m:sSub>
                          <m:r>
                            <a:rPr lang="en-US" sz="2200" i="1">
                              <a:solidFill>
                                <a:schemeClr val="tx1"/>
                              </a:solidFill>
                              <a:latin typeface="Cambria Math" panose="02040503050406030204" pitchFamily="18" charset="0"/>
                            </a:rPr>
                            <m:t>+ </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𝑚</m:t>
                              </m:r>
                            </m:e>
                            <m:sub>
                              <m:r>
                                <a:rPr lang="en-US" sz="2200" i="1">
                                  <a:solidFill>
                                    <a:schemeClr val="tx1"/>
                                  </a:solidFill>
                                  <a:latin typeface="Cambria Math" panose="02040503050406030204" pitchFamily="18" charset="0"/>
                                </a:rPr>
                                <m:t>𝑠</m:t>
                              </m:r>
                            </m:sub>
                          </m:sSub>
                        </m:den>
                      </m:f>
                    </m:oMath>
                  </m:oMathPara>
                </a14:m>
                <a:endParaRPr lang="en-IN" sz="22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sz="2200" i="1">
                          <a:solidFill>
                            <a:schemeClr val="tx1"/>
                          </a:solidFill>
                          <a:latin typeface="Cambria Math" panose="02040503050406030204" pitchFamily="18" charset="0"/>
                        </a:rPr>
                        <m:t>=1−</m:t>
                      </m:r>
                      <m:r>
                        <a:rPr lang="en-US" sz="2200" b="0" i="1" smtClean="0">
                          <a:solidFill>
                            <a:schemeClr val="tx1"/>
                          </a:solidFill>
                          <a:latin typeface="Cambria Math" panose="02040503050406030204" pitchFamily="18" charset="0"/>
                        </a:rPr>
                        <m:t>𝑥</m:t>
                      </m:r>
                    </m:oMath>
                  </m:oMathPara>
                </a14:m>
                <a:endParaRPr lang="en-IN" sz="2200" dirty="0"/>
              </a:p>
              <a:p>
                <a:pPr>
                  <a:lnSpc>
                    <a:spcPct val="150000"/>
                  </a:lnSpc>
                </a:pPr>
                <a:r>
                  <a:rPr lang="en-US" sz="2200" b="1" dirty="0">
                    <a:solidFill>
                      <a:schemeClr val="tx1"/>
                    </a:solidFill>
                  </a:rPr>
                  <a:t>Priming:</a:t>
                </a:r>
                <a:r>
                  <a:rPr lang="en-US" sz="2200" dirty="0">
                    <a:solidFill>
                      <a:schemeClr val="tx1"/>
                    </a:solidFill>
                  </a:rPr>
                  <a:t> When wetness fraction is expressed in percentage, it is known as priming.</a:t>
                </a:r>
              </a:p>
              <a:p>
                <a:pPr marL="0" indent="0">
                  <a:lnSpc>
                    <a:spcPct val="150000"/>
                  </a:lnSpc>
                  <a:buNone/>
                </a:pPr>
                <a:r>
                  <a:rPr lang="en-US" sz="2200" dirty="0">
                    <a:solidFill>
                      <a:schemeClr val="tx1"/>
                    </a:solidFill>
                  </a:rPr>
                  <a:t>		Priming = 100 (1 – x).</a:t>
                </a:r>
                <a:endParaRPr lang="en-IN" sz="2200" dirty="0"/>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446" r="-669"/>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4772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500"/>
                                        <p:tgtEl>
                                          <p:spTgt spid="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xEl>
                                              <p:pRg st="8" end="8"/>
                                            </p:txEl>
                                          </p:spTgt>
                                        </p:tgtEl>
                                        <p:attrNameLst>
                                          <p:attrName>style.visibility</p:attrName>
                                        </p:attrNameLst>
                                      </p:cBhvr>
                                      <p:to>
                                        <p:strVal val="visible"/>
                                      </p:to>
                                    </p:set>
                                    <p:animEffect transition="in" filter="fade">
                                      <p:cBhvr>
                                        <p:cTn id="42"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br>
              <a:rPr lang="en-IN" dirty="0"/>
            </a:br>
            <a:r>
              <a:rPr lang="en-IN" dirty="0"/>
              <a:t>(</a:t>
            </a:r>
            <a:r>
              <a:rPr lang="en-US" dirty="0"/>
              <a:t>Dry saturated </a:t>
            </a:r>
            <a:r>
              <a:rPr lang="en-IN" dirty="0"/>
              <a:t>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A steam at the saturation temperature corresponding to a given pressure and having no water molecules entrained in it is known as dry saturated steam or dry steam. </a:t>
            </a:r>
          </a:p>
          <a:p>
            <a:pPr marL="342900" lvl="3" indent="-342900" algn="just">
              <a:lnSpc>
                <a:spcPct val="150000"/>
              </a:lnSpc>
            </a:pPr>
            <a:r>
              <a:rPr lang="en-US" sz="2000" dirty="0">
                <a:solidFill>
                  <a:schemeClr val="tx1"/>
                </a:solidFill>
              </a:rPr>
              <a:t>Its dryness fraction will be unity because it does not contain any water molecules.</a:t>
            </a:r>
          </a:p>
          <a:p>
            <a:pPr marL="342900" lvl="3" indent="-342900" algn="just">
              <a:lnSpc>
                <a:spcPct val="150000"/>
              </a:lnSpc>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26031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Types of steam</a:t>
            </a:r>
            <a:br>
              <a:rPr lang="en-IN" dirty="0"/>
            </a:br>
            <a:r>
              <a:rPr lang="en-IN" dirty="0"/>
              <a:t>(</a:t>
            </a:r>
            <a:r>
              <a:rPr lang="en-US" dirty="0"/>
              <a:t>Superheated </a:t>
            </a:r>
            <a:r>
              <a:rPr lang="en-IN" dirty="0"/>
              <a:t>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3" indent="0" algn="just">
              <a:lnSpc>
                <a:spcPct val="150000"/>
              </a:lnSpc>
              <a:buNone/>
            </a:pPr>
            <a:endParaRPr lang="en-US" sz="2000" dirty="0">
              <a:solidFill>
                <a:schemeClr val="tx1"/>
              </a:solidFill>
            </a:endParaRPr>
          </a:p>
          <a:p>
            <a:pPr marL="342900" lvl="3" indent="-342900" algn="just">
              <a:lnSpc>
                <a:spcPct val="150000"/>
              </a:lnSpc>
            </a:pPr>
            <a:r>
              <a:rPr lang="en-US" sz="2000" dirty="0">
                <a:solidFill>
                  <a:schemeClr val="tx1"/>
                </a:solidFill>
              </a:rPr>
              <a:t>When a dry saturated steam is heated further at the given constant pressure, its temperature rises beyond its saturation temperature. The steam in this state is said to be superheated.</a:t>
            </a:r>
          </a:p>
          <a:p>
            <a:pPr marL="342900" lvl="3" indent="-342900" algn="just">
              <a:lnSpc>
                <a:spcPct val="150000"/>
              </a:lnSpc>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5244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Enthalpy of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342900" lvl="3" indent="-342900" algn="just">
                  <a:lnSpc>
                    <a:spcPct val="150000"/>
                  </a:lnSpc>
                </a:pPr>
                <a:r>
                  <a:rPr lang="en-US" sz="2000" dirty="0">
                    <a:solidFill>
                      <a:schemeClr val="tx1"/>
                    </a:solidFill>
                  </a:rPr>
                  <a:t>As we know the non flow energy equation, </a:t>
                </a:r>
              </a:p>
              <a:p>
                <a:pPr marL="342900" lvl="3" indent="-342900" algn="just">
                  <a:lnSpc>
                    <a:spcPct val="150000"/>
                  </a:lnSpc>
                </a:pPr>
                <a:r>
                  <a:rPr lang="en-US" sz="2000" dirty="0">
                    <a:solidFill>
                      <a:schemeClr val="tx1"/>
                    </a:solidFill>
                  </a:rPr>
                  <a:t>Heat supplied, </a:t>
                </a:r>
                <a14:m>
                  <m:oMath xmlns:m="http://schemas.openxmlformats.org/officeDocument/2006/math">
                    <m:r>
                      <a:rPr lang="en-US" sz="2000" b="0" i="1" smtClean="0">
                        <a:solidFill>
                          <a:schemeClr val="tx1"/>
                        </a:solidFill>
                        <a:latin typeface="Cambria Math" panose="02040503050406030204" pitchFamily="18" charset="0"/>
                      </a:rPr>
                      <m:t>𝑞</m:t>
                    </m:r>
                    <m:r>
                      <a:rPr lang="en-US" sz="2000" b="0" i="1" smtClean="0">
                        <a:solidFill>
                          <a:schemeClr val="tx1"/>
                        </a:solidFill>
                        <a:latin typeface="Cambria Math" panose="02040503050406030204" pitchFamily="18" charset="0"/>
                      </a:rPr>
                      <m:t>= ∆ </m:t>
                    </m:r>
                    <m:r>
                      <a:rPr lang="en-US" sz="2000" b="0" i="1" smtClean="0">
                        <a:solidFill>
                          <a:schemeClr val="tx1"/>
                        </a:solidFill>
                        <a:latin typeface="Cambria Math" panose="02040503050406030204" pitchFamily="18" charset="0"/>
                        <a:ea typeface="Cambria Math" panose="02040503050406030204" pitchFamily="18" charset="0"/>
                      </a:rPr>
                      <m:t>𝑈</m:t>
                    </m:r>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𝑊</m:t>
                    </m:r>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𝑠𝑜</m:t>
                    </m:r>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𝑞</m:t>
                    </m:r>
                    <m:r>
                      <a:rPr lang="en-US" sz="2000" b="0" i="1" smtClean="0">
                        <a:solidFill>
                          <a:schemeClr val="tx1"/>
                        </a:solidFill>
                        <a:latin typeface="Cambria Math" panose="02040503050406030204" pitchFamily="18" charset="0"/>
                        <a:ea typeface="Cambria Math" panose="02040503050406030204" pitchFamily="18" charset="0"/>
                      </a:rPr>
                      <m:t>= ∆ </m:t>
                    </m:r>
                    <m:r>
                      <a:rPr lang="en-US" sz="2000" b="0" i="1" smtClean="0">
                        <a:solidFill>
                          <a:schemeClr val="tx1"/>
                        </a:solidFill>
                        <a:latin typeface="Cambria Math" panose="02040503050406030204" pitchFamily="18" charset="0"/>
                        <a:ea typeface="Cambria Math" panose="02040503050406030204" pitchFamily="18" charset="0"/>
                      </a:rPr>
                      <m:t>𝑈</m:t>
                    </m:r>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𝑝</m:t>
                    </m:r>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𝑑𝑣</m:t>
                    </m:r>
                    <m:r>
                      <a:rPr lang="en-US" sz="2000" b="0" i="1" smtClean="0">
                        <a:solidFill>
                          <a:schemeClr val="tx1"/>
                        </a:solidFill>
                        <a:latin typeface="Cambria Math" panose="02040503050406030204" pitchFamily="18" charset="0"/>
                        <a:ea typeface="Cambria Math" panose="02040503050406030204" pitchFamily="18" charset="0"/>
                      </a:rPr>
                      <m:t> </m:t>
                    </m:r>
                  </m:oMath>
                </a14:m>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rPr>
                        <m:t>𝑞</m:t>
                      </m:r>
                      <m:r>
                        <a:rPr lang="en-US" sz="2000" i="1">
                          <a:solidFill>
                            <a:schemeClr val="tx1"/>
                          </a:solidFill>
                          <a:latin typeface="Cambria Math" panose="02040503050406030204" pitchFamily="18" charset="0"/>
                        </a:rPr>
                        <m:t>= </m:t>
                      </m:r>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𝑢</m:t>
                              </m:r>
                            </m:e>
                            <m:sub>
                              <m:r>
                                <a:rPr lang="en-US" sz="2000" b="0" i="1" smtClean="0">
                                  <a:solidFill>
                                    <a:schemeClr val="tx1"/>
                                  </a:solidFill>
                                  <a:latin typeface="Cambria Math" panose="02040503050406030204" pitchFamily="18" charset="0"/>
                                </a:rPr>
                                <m:t>2</m:t>
                              </m:r>
                            </m:sub>
                          </m:sSub>
                          <m:r>
                            <a:rPr lang="en-US" sz="2000" b="0" i="1" smtClean="0">
                              <a:solidFill>
                                <a:schemeClr val="tx1"/>
                              </a:solidFill>
                              <a:latin typeface="Cambria Math" panose="02040503050406030204" pitchFamily="18" charset="0"/>
                            </a:rPr>
                            <m:t> −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𝑢</m:t>
                              </m:r>
                            </m:e>
                            <m:sub>
                              <m:r>
                                <a:rPr lang="en-US" sz="2000" b="0" i="1" smtClean="0">
                                  <a:solidFill>
                                    <a:schemeClr val="tx1"/>
                                  </a:solidFill>
                                  <a:latin typeface="Cambria Math" panose="02040503050406030204" pitchFamily="18" charset="0"/>
                                </a:rPr>
                                <m:t>1</m:t>
                              </m:r>
                            </m:sub>
                          </m:sSub>
                        </m:e>
                      </m:d>
                      <m:r>
                        <a:rPr lang="en-US" sz="2000" i="1">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𝑝</m:t>
                      </m:r>
                      <m:r>
                        <a:rPr lang="en-US" sz="2000" b="0" i="1" smtClean="0">
                          <a:solidFill>
                            <a:schemeClr val="tx1"/>
                          </a:solidFill>
                          <a:latin typeface="Cambria Math" panose="02040503050406030204" pitchFamily="18" charset="0"/>
                          <a:ea typeface="Cambria Math" panose="02040503050406030204" pitchFamily="18" charset="0"/>
                        </a:rPr>
                        <m:t> </m:t>
                      </m:r>
                      <m:d>
                        <m:dPr>
                          <m:ctrlPr>
                            <a:rPr lang="en-US" sz="2000" b="0" i="1" smtClean="0">
                              <a:solidFill>
                                <a:schemeClr val="tx1"/>
                              </a:solidFill>
                              <a:latin typeface="Cambria Math" panose="02040503050406030204" pitchFamily="18" charset="0"/>
                              <a:ea typeface="Cambria Math" panose="02040503050406030204" pitchFamily="18" charset="0"/>
                            </a:rPr>
                          </m:ctrlPr>
                        </m:dPr>
                        <m:e>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𝑣</m:t>
                              </m:r>
                            </m:e>
                            <m:sub>
                              <m:r>
                                <a:rPr lang="en-US" sz="2000" b="0" i="1" smtClean="0">
                                  <a:solidFill>
                                    <a:schemeClr val="tx1"/>
                                  </a:solidFill>
                                  <a:latin typeface="Cambria Math" panose="02040503050406030204" pitchFamily="18" charset="0"/>
                                  <a:ea typeface="Cambria Math" panose="02040503050406030204" pitchFamily="18" charset="0"/>
                                </a:rPr>
                                <m:t>2</m:t>
                              </m:r>
                            </m:sub>
                          </m:sSub>
                          <m:r>
                            <a:rPr lang="en-US" sz="2000" b="0" i="1" smtClean="0">
                              <a:solidFill>
                                <a:schemeClr val="tx1"/>
                              </a:solidFill>
                              <a:latin typeface="Cambria Math" panose="02040503050406030204" pitchFamily="18" charset="0"/>
                              <a:ea typeface="Cambria Math" panose="02040503050406030204" pitchFamily="18" charset="0"/>
                            </a:rPr>
                            <m:t> −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𝑣</m:t>
                              </m:r>
                            </m:e>
                            <m:sub>
                              <m:r>
                                <a:rPr lang="en-US" sz="2000" b="0" i="1" smtClean="0">
                                  <a:solidFill>
                                    <a:schemeClr val="tx1"/>
                                  </a:solidFill>
                                  <a:latin typeface="Cambria Math" panose="02040503050406030204" pitchFamily="18" charset="0"/>
                                  <a:ea typeface="Cambria Math" panose="02040503050406030204" pitchFamily="18" charset="0"/>
                                </a:rPr>
                                <m:t>1</m:t>
                              </m:r>
                            </m:sub>
                          </m:sSub>
                        </m:e>
                      </m:d>
                    </m:oMath>
                  </m:oMathPara>
                </a14:m>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rPr>
                        <m:t>𝑞</m:t>
                      </m:r>
                      <m:r>
                        <a:rPr lang="en-US" sz="2000" i="1">
                          <a:solidFill>
                            <a:schemeClr val="tx1"/>
                          </a:solidFill>
                          <a:latin typeface="Cambria Math" panose="02040503050406030204" pitchFamily="18" charset="0"/>
                        </a:rPr>
                        <m:t>= </m:t>
                      </m:r>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𝑢</m:t>
                              </m:r>
                            </m:e>
                            <m:sub>
                              <m:r>
                                <a:rPr lang="en-US" sz="2000" i="1">
                                  <a:solidFill>
                                    <a:schemeClr val="tx1"/>
                                  </a:solidFill>
                                  <a:latin typeface="Cambria Math" panose="02040503050406030204" pitchFamily="18" charset="0"/>
                                </a:rPr>
                                <m:t>2</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𝑝</m:t>
                          </m:r>
                          <m:r>
                            <a:rPr lang="en-US" sz="2000" b="0" i="1" smtClean="0">
                              <a:solidFill>
                                <a:schemeClr val="tx1"/>
                              </a:solidFill>
                              <a:latin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𝑣</m:t>
                              </m:r>
                            </m:e>
                            <m:sub>
                              <m:r>
                                <a:rPr lang="en-US" sz="2000" i="1">
                                  <a:solidFill>
                                    <a:schemeClr val="tx1"/>
                                  </a:solidFill>
                                  <a:latin typeface="Cambria Math" panose="02040503050406030204" pitchFamily="18" charset="0"/>
                                  <a:ea typeface="Cambria Math" panose="02040503050406030204" pitchFamily="18" charset="0"/>
                                </a:rPr>
                                <m:t>2</m:t>
                              </m:r>
                            </m:sub>
                          </m:sSub>
                        </m:e>
                      </m:d>
                      <m:r>
                        <a:rPr lang="en-US" sz="2000" b="0" i="1" smtClean="0">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 </m:t>
                      </m:r>
                      <m:d>
                        <m:dPr>
                          <m:ctrlPr>
                            <a:rPr lang="en-US" sz="2000" i="1">
                              <a:solidFill>
                                <a:schemeClr val="tx1"/>
                              </a:solidFill>
                              <a:latin typeface="Cambria Math" panose="02040503050406030204" pitchFamily="18" charset="0"/>
                              <a:ea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𝑢</m:t>
                              </m:r>
                            </m:e>
                            <m:sub>
                              <m:r>
                                <a:rPr lang="en-US" sz="2000" i="1">
                                  <a:solidFill>
                                    <a:schemeClr val="tx1"/>
                                  </a:solidFill>
                                  <a:latin typeface="Cambria Math" panose="02040503050406030204" pitchFamily="18" charset="0"/>
                                </a:rPr>
                                <m:t>1</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𝑝</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𝑣</m:t>
                              </m:r>
                            </m:e>
                            <m:sub>
                              <m:r>
                                <a:rPr lang="en-US" sz="2000" i="1">
                                  <a:solidFill>
                                    <a:schemeClr val="tx1"/>
                                  </a:solidFill>
                                  <a:latin typeface="Cambria Math" panose="02040503050406030204" pitchFamily="18" charset="0"/>
                                  <a:ea typeface="Cambria Math" panose="02040503050406030204" pitchFamily="18" charset="0"/>
                                </a:rPr>
                                <m:t>1</m:t>
                              </m:r>
                            </m:sub>
                          </m:sSub>
                        </m:e>
                      </m:d>
                    </m:oMath>
                  </m:oMathPara>
                </a14:m>
                <a:endParaRPr lang="en-US" sz="2000" dirty="0">
                  <a:solidFill>
                    <a:schemeClr val="tx1"/>
                  </a:solidFill>
                </a:endParaRPr>
              </a:p>
              <a:p>
                <a:pPr marL="342900" lvl="3" indent="-342900" algn="just">
                  <a:lnSpc>
                    <a:spcPct val="150000"/>
                  </a:lnSpc>
                </a:pPr>
                <a:r>
                  <a:rPr lang="en-US" sz="2000" dirty="0">
                    <a:solidFill>
                      <a:schemeClr val="tx1"/>
                    </a:solidFill>
                  </a:rPr>
                  <a:t>But, specific enthalpy; h = u + p v</a:t>
                </a: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rPr>
                        <m:t>𝑞</m:t>
                      </m:r>
                      <m:r>
                        <a:rPr lang="en-US" sz="2000" i="1">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2</m:t>
                          </m:r>
                        </m:sub>
                      </m:sSub>
                      <m:r>
                        <a:rPr lang="en-US" sz="2000" b="0" i="1" smtClean="0">
                          <a:solidFill>
                            <a:schemeClr val="tx1"/>
                          </a:solidFill>
                          <a:latin typeface="Cambria Math" panose="02040503050406030204" pitchFamily="18" charset="0"/>
                        </a:rPr>
                        <m:t> −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1</m:t>
                          </m:r>
                        </m:sub>
                      </m:sSub>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h</m:t>
                      </m:r>
                    </m:oMath>
                  </m:oMathPara>
                </a14:m>
                <a:endParaRPr lang="en-US" sz="2000" dirty="0">
                  <a:solidFill>
                    <a:schemeClr val="tx1"/>
                  </a:solidFill>
                </a:endParaRPr>
              </a:p>
              <a:p>
                <a:pPr marL="0"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2135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Enthalpy of Liquid</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342900" lvl="3" indent="-342900" algn="just">
                  <a:lnSpc>
                    <a:spcPct val="150000"/>
                  </a:lnSpc>
                </a:pPr>
                <a:r>
                  <a:rPr lang="en-US" sz="2000" dirty="0">
                    <a:solidFill>
                      <a:schemeClr val="tx1"/>
                    </a:solidFill>
                  </a:rPr>
                  <a:t>The first phase in production of steam is heating up the water to saturation temperature </a:t>
                </a:r>
                <a:r>
                  <a:rPr lang="en-US" sz="2000" dirty="0" err="1">
                    <a:solidFill>
                      <a:schemeClr val="tx1"/>
                    </a:solidFill>
                  </a:rPr>
                  <a:t>T</a:t>
                </a:r>
                <a:r>
                  <a:rPr lang="en-US" sz="2000" baseline="-25000" dirty="0" err="1">
                    <a:solidFill>
                      <a:schemeClr val="tx1"/>
                    </a:solidFill>
                  </a:rPr>
                  <a:t>s</a:t>
                </a:r>
                <a:r>
                  <a:rPr lang="en-US" sz="2000" dirty="0">
                    <a:solidFill>
                      <a:schemeClr val="tx1"/>
                    </a:solidFill>
                  </a:rPr>
                  <a:t> so, the heat energy supplied to the water in this phase is known as </a:t>
                </a:r>
                <a:r>
                  <a:rPr lang="en-US" sz="2000" b="1" dirty="0">
                    <a:solidFill>
                      <a:schemeClr val="tx1"/>
                    </a:solidFill>
                  </a:rPr>
                  <a:t>enthalpy of liquid.</a:t>
                </a:r>
              </a:p>
              <a:p>
                <a:pPr marL="342900" lvl="3" indent="-342900" algn="just">
                  <a:lnSpc>
                    <a:spcPct val="150000"/>
                  </a:lnSpc>
                </a:pPr>
                <a:r>
                  <a:rPr lang="en-US" sz="2000" dirty="0">
                    <a:solidFill>
                      <a:schemeClr val="tx1"/>
                    </a:solidFill>
                  </a:rPr>
                  <a:t>The amount of heat required to raise the temperature of 1 kg of water from 0 °C to the saturation temperature </a:t>
                </a:r>
                <a:r>
                  <a:rPr lang="en-US" sz="2000" dirty="0" err="1">
                    <a:solidFill>
                      <a:schemeClr val="tx1"/>
                    </a:solidFill>
                  </a:rPr>
                  <a:t>Ts</a:t>
                </a:r>
                <a:r>
                  <a:rPr lang="en-US" sz="2000" dirty="0">
                    <a:solidFill>
                      <a:schemeClr val="tx1"/>
                    </a:solidFill>
                  </a:rPr>
                  <a:t> °C at a given pressure is known as the </a:t>
                </a:r>
                <a:r>
                  <a:rPr lang="en-US" sz="2000" b="1" dirty="0">
                    <a:solidFill>
                      <a:schemeClr val="tx1"/>
                    </a:solidFill>
                  </a:rPr>
                  <a:t>sensible heat</a:t>
                </a:r>
                <a:r>
                  <a:rPr lang="en-US" sz="2000" dirty="0">
                    <a:solidFill>
                      <a:schemeClr val="tx1"/>
                    </a:solidFill>
                  </a:rPr>
                  <a:t> or </a:t>
                </a:r>
                <a:r>
                  <a:rPr lang="en-US" sz="2000" b="1" dirty="0">
                    <a:solidFill>
                      <a:schemeClr val="tx1"/>
                    </a:solidFill>
                  </a:rPr>
                  <a:t>enthalpy of the liquid</a:t>
                </a:r>
                <a:r>
                  <a:rPr lang="en-US" sz="2000" dirty="0">
                    <a:solidFill>
                      <a:schemeClr val="tx1"/>
                    </a:solidFill>
                  </a:rPr>
                  <a:t>.</a:t>
                </a:r>
              </a:p>
              <a:p>
                <a:pPr marL="342900" lvl="3" indent="-342900" algn="just">
                  <a:lnSpc>
                    <a:spcPct val="150000"/>
                  </a:lnSpc>
                </a:pPr>
                <a:r>
                  <a:rPr lang="en-US" sz="2000" dirty="0">
                    <a:solidFill>
                      <a:schemeClr val="tx1"/>
                    </a:solidFill>
                  </a:rPr>
                  <a:t>It is denoted by </a:t>
                </a:r>
                <a:r>
                  <a:rPr lang="en-US" sz="2000" dirty="0" err="1">
                    <a:solidFill>
                      <a:schemeClr val="tx1"/>
                    </a:solidFill>
                  </a:rPr>
                  <a:t>h</a:t>
                </a:r>
                <a:r>
                  <a:rPr lang="en-US" sz="2000" baseline="-25000" dirty="0" err="1">
                    <a:solidFill>
                      <a:schemeClr val="tx1"/>
                    </a:solidFill>
                  </a:rPr>
                  <a:t>f</a:t>
                </a:r>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𝑝𝑤</m:t>
                          </m:r>
                        </m:sub>
                      </m:sSub>
                      <m:r>
                        <a:rPr lang="en-US" sz="2000" b="0" i="1" smtClean="0">
                          <a:solidFill>
                            <a:schemeClr val="tx1"/>
                          </a:solidFill>
                          <a:latin typeface="Cambria Math" panose="02040503050406030204" pitchFamily="18" charset="0"/>
                        </a:rPr>
                        <m:t> </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𝑡</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 −0</m:t>
                          </m:r>
                        </m:e>
                      </m:d>
                    </m:oMath>
                  </m:oMathPara>
                </a14:m>
                <a:endParaRPr lang="en-US" sz="2000" dirty="0">
                  <a:solidFill>
                    <a:schemeClr val="tx1"/>
                  </a:solidFill>
                </a:endParaRPr>
              </a:p>
              <a:p>
                <a:pPr marL="342900" lvl="3" indent="-342900" algn="just">
                  <a:lnSpc>
                    <a:spcPct val="150000"/>
                  </a:lnSpc>
                </a:pPr>
                <a:r>
                  <a:rPr lang="en-US" sz="2000" dirty="0">
                    <a:solidFill>
                      <a:schemeClr val="tx1"/>
                    </a:solidFill>
                  </a:rPr>
                  <a:t>Where, </a:t>
                </a:r>
                <a:r>
                  <a:rPr lang="en-US" sz="2000" dirty="0" err="1">
                    <a:solidFill>
                      <a:schemeClr val="tx1"/>
                    </a:solidFill>
                  </a:rPr>
                  <a:t>h</a:t>
                </a:r>
                <a:r>
                  <a:rPr lang="en-US" sz="2000" baseline="-25000" dirty="0" err="1">
                    <a:solidFill>
                      <a:schemeClr val="tx1"/>
                    </a:solidFill>
                  </a:rPr>
                  <a:t>f</a:t>
                </a:r>
                <a:r>
                  <a:rPr lang="en-US" sz="2000" dirty="0">
                    <a:solidFill>
                      <a:schemeClr val="tx1"/>
                    </a:solidFill>
                  </a:rPr>
                  <a:t> = enthalpy of liquid in kJ / kg</a:t>
                </a:r>
              </a:p>
              <a:p>
                <a:pPr marL="1169988" lvl="3" indent="0" algn="just">
                  <a:lnSpc>
                    <a:spcPct val="150000"/>
                  </a:lnSpc>
                  <a:buNone/>
                </a:pPr>
                <a:r>
                  <a:rPr lang="en-US" sz="2000" dirty="0" err="1">
                    <a:solidFill>
                      <a:schemeClr val="tx1"/>
                    </a:solidFill>
                  </a:rPr>
                  <a:t>C</a:t>
                </a:r>
                <a:r>
                  <a:rPr lang="en-US" sz="2000" baseline="-25000" dirty="0" err="1">
                    <a:solidFill>
                      <a:schemeClr val="tx1"/>
                    </a:solidFill>
                  </a:rPr>
                  <a:t>pw</a:t>
                </a:r>
                <a:r>
                  <a:rPr lang="en-US" sz="2000" dirty="0">
                    <a:solidFill>
                      <a:schemeClr val="tx1"/>
                    </a:solidFill>
                  </a:rPr>
                  <a:t> = specific heat of water = 4.1868 k / kg K</a:t>
                </a:r>
              </a:p>
              <a:p>
                <a:pPr marL="1169988" lvl="3" indent="0" algn="just">
                  <a:lnSpc>
                    <a:spcPct val="150000"/>
                  </a:lnSpc>
                  <a:buNone/>
                </a:pPr>
                <a:r>
                  <a:rPr lang="en-US" sz="2000" dirty="0" err="1">
                    <a:solidFill>
                      <a:schemeClr val="tx1"/>
                    </a:solidFill>
                  </a:rPr>
                  <a:t>t</a:t>
                </a:r>
                <a:r>
                  <a:rPr lang="en-US" sz="2000" baseline="-25000" dirty="0" err="1">
                    <a:solidFill>
                      <a:schemeClr val="tx1"/>
                    </a:solidFill>
                  </a:rPr>
                  <a:t>f</a:t>
                </a:r>
                <a:r>
                  <a:rPr lang="en-US" sz="2000" dirty="0">
                    <a:solidFill>
                      <a:schemeClr val="tx1"/>
                    </a:solidFill>
                  </a:rPr>
                  <a:t> = temperature of water in </a:t>
                </a:r>
                <a:r>
                  <a:rPr lang="en-US" sz="2000" baseline="30000" dirty="0">
                    <a:solidFill>
                      <a:schemeClr val="tx1"/>
                    </a:solidFill>
                  </a:rPr>
                  <a:t>0</a:t>
                </a:r>
                <a:r>
                  <a:rPr lang="en-US" sz="2000" dirty="0">
                    <a:solidFill>
                      <a:schemeClr val="tx1"/>
                    </a:solidFill>
                  </a:rPr>
                  <a:t>C.</a:t>
                </a: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5622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Enthalpy of dry saturated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total amount of heat required to convert 1 kg of water into 1 kg of dry saturated steam from its freezing point. It is denoted by hg.</a:t>
                </a:r>
                <a:endParaRPr lang="en-US" sz="2000" b="1"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𝑔</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𝑓𝑔</m:t>
                          </m:r>
                        </m:sub>
                      </m:sSub>
                    </m:oMath>
                  </m:oMathPara>
                </a14:m>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5611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Enthalpy of Wet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total amount of heat supplied at a constant pressure to convert 1 kg of water at 0 °C to 1 kg of wet steam at the specified dryness fraction. It is denoted by h.</a:t>
                </a:r>
                <a:endParaRPr lang="en-US" sz="2000" b="1"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h</m:t>
                      </m:r>
                      <m:r>
                        <a:rPr lang="en-US" sz="2000" b="0" i="1" smtClean="0">
                          <a:solidFill>
                            <a:schemeClr val="tx1"/>
                          </a:solidFill>
                          <a:latin typeface="Cambria Math" panose="02040503050406030204" pitchFamily="18" charset="0"/>
                        </a:rPr>
                        <m:t> =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𝑥</m:t>
                      </m:r>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𝑓𝑔</m:t>
                          </m:r>
                        </m:sub>
                      </m:sSub>
                    </m:oMath>
                  </m:oMathPara>
                </a14:m>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75432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Enthalpy of Superheated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total amount of heat required to convert 1 kg of water at 0 °C into 1 kg of superheated steam. It is denoted by </a:t>
                </a:r>
                <a:r>
                  <a:rPr lang="en-US" sz="2000" dirty="0" err="1">
                    <a:solidFill>
                      <a:schemeClr val="tx1"/>
                    </a:solidFill>
                  </a:rPr>
                  <a:t>h</a:t>
                </a:r>
                <a:r>
                  <a:rPr lang="en-US" sz="2000" baseline="-25000" dirty="0" err="1">
                    <a:solidFill>
                      <a:schemeClr val="tx1"/>
                    </a:solidFill>
                  </a:rPr>
                  <a:t>sup</a:t>
                </a:r>
                <a:r>
                  <a:rPr lang="en-US" sz="2000" dirty="0">
                    <a:solidFill>
                      <a:schemeClr val="tx1"/>
                    </a:solidFill>
                  </a:rPr>
                  <a:t>.</a:t>
                </a:r>
                <a:endParaRPr lang="en-US" sz="2000" b="1"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𝑠𝑢𝑝</m:t>
                          </m:r>
                        </m:sub>
                      </m:sSub>
                      <m:r>
                        <a:rPr lang="en-US" sz="2000" b="0" i="1" smtClean="0">
                          <a:solidFill>
                            <a:schemeClr val="tx1"/>
                          </a:solidFill>
                          <a:latin typeface="Cambria Math" panose="02040503050406030204" pitchFamily="18" charset="0"/>
                        </a:rPr>
                        <m:t> =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𝑓𝑔</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𝑝𝑠</m:t>
                          </m:r>
                        </m:sub>
                      </m:sSub>
                      <m:r>
                        <a:rPr lang="en-US" sz="2000" b="0" i="1" smtClean="0">
                          <a:solidFill>
                            <a:schemeClr val="tx1"/>
                          </a:solidFill>
                          <a:latin typeface="Cambria Math" panose="02040503050406030204" pitchFamily="18" charset="0"/>
                        </a:rPr>
                        <m:t> </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𝑠𝑢𝑝</m:t>
                              </m:r>
                            </m:sub>
                          </m:sSub>
                          <m:r>
                            <a:rPr lang="en-US" sz="2000" b="0" i="1" smtClean="0">
                              <a:solidFill>
                                <a:schemeClr val="tx1"/>
                              </a:solidFill>
                              <a:latin typeface="Cambria Math" panose="02040503050406030204" pitchFamily="18" charset="0"/>
                            </a:rPr>
                            <m:t> −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𝑠𝑎𝑡</m:t>
                              </m:r>
                            </m:sub>
                          </m:sSub>
                        </m:e>
                      </m:d>
                    </m:oMath>
                  </m:oMathPara>
                </a14:m>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h</m:t>
                          </m:r>
                        </m:e>
                        <m:sub>
                          <m:r>
                            <a:rPr lang="en-US" sz="2000" i="1">
                              <a:solidFill>
                                <a:schemeClr val="tx1"/>
                              </a:solidFill>
                              <a:latin typeface="Cambria Math" panose="02040503050406030204" pitchFamily="18" charset="0"/>
                            </a:rPr>
                            <m:t>𝑠𝑢𝑝</m:t>
                          </m:r>
                        </m:sub>
                      </m:sSub>
                      <m:r>
                        <a:rPr lang="en-US" sz="2000" i="1">
                          <a:solidFill>
                            <a:schemeClr val="tx1"/>
                          </a:solidFill>
                          <a:latin typeface="Cambria Math" panose="02040503050406030204" pitchFamily="18" charset="0"/>
                        </a:rPr>
                        <m:t> =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h</m:t>
                          </m:r>
                        </m:e>
                        <m:sub>
                          <m:r>
                            <a:rPr lang="en-US" sz="2000" i="1">
                              <a:solidFill>
                                <a:schemeClr val="tx1"/>
                              </a:solidFill>
                              <a:latin typeface="Cambria Math" panose="02040503050406030204" pitchFamily="18" charset="0"/>
                            </a:rPr>
                            <m:t>𝑔</m:t>
                          </m:r>
                        </m:sub>
                      </m:sSub>
                      <m:r>
                        <a:rPr lang="en-US" sz="2000" i="1">
                          <a:solidFill>
                            <a:schemeClr val="tx1"/>
                          </a:solidFill>
                          <a:latin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𝐶</m:t>
                          </m:r>
                        </m:e>
                        <m:sub>
                          <m:r>
                            <a:rPr lang="en-US" sz="2000" i="1">
                              <a:solidFill>
                                <a:schemeClr val="tx1"/>
                              </a:solidFill>
                              <a:latin typeface="Cambria Math" panose="02040503050406030204" pitchFamily="18" charset="0"/>
                            </a:rPr>
                            <m:t>𝑝𝑠</m:t>
                          </m:r>
                        </m:sub>
                      </m:sSub>
                      <m:r>
                        <a:rPr lang="en-US" sz="2000" i="1">
                          <a:solidFill>
                            <a:schemeClr val="tx1"/>
                          </a:solidFill>
                          <a:latin typeface="Cambria Math" panose="02040503050406030204" pitchFamily="18" charset="0"/>
                        </a:rPr>
                        <m:t> </m:t>
                      </m:r>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𝑠𝑢𝑝</m:t>
                              </m:r>
                            </m:sub>
                          </m:sSub>
                          <m:r>
                            <a:rPr lang="en-US" sz="2000" i="1">
                              <a:solidFill>
                                <a:schemeClr val="tx1"/>
                              </a:solidFill>
                              <a:latin typeface="Cambria Math" panose="02040503050406030204" pitchFamily="18" charset="0"/>
                            </a:rPr>
                            <m:t> −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𝑠𝑎𝑡</m:t>
                              </m:r>
                            </m:sub>
                          </m:sSub>
                        </m:e>
                      </m:d>
                    </m:oMath>
                  </m:oMathPara>
                </a14:m>
                <a:endParaRPr lang="en-US" sz="2000" dirty="0">
                  <a:solidFill>
                    <a:schemeClr val="tx1"/>
                  </a:solidFill>
                </a:endParaRPr>
              </a:p>
              <a:p>
                <a:pPr marL="0"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1984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Degree of superheat</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difference between the temperature of superheated steam and dry saturated steam at the given pressure.</a:t>
                </a:r>
                <a:endParaRPr lang="en-US" sz="2000" b="1"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𝐷𝑒𝑔𝑟𝑒𝑒</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𝑜𝑓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𝑠𝑢𝑝𝑒𝑟h𝑒𝑎𝑡</m:t>
                      </m:r>
                      <m:r>
                        <a:rPr lang="en-US" sz="2000" i="1">
                          <a:solidFill>
                            <a:schemeClr val="tx1"/>
                          </a:solidFill>
                          <a:latin typeface="Cambria Math" panose="02040503050406030204" pitchFamily="18" charset="0"/>
                        </a:rPr>
                        <m:t> = </m:t>
                      </m:r>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𝑠𝑢𝑝</m:t>
                              </m:r>
                            </m:sub>
                          </m:sSub>
                          <m:r>
                            <a:rPr lang="en-US" sz="2000" i="1">
                              <a:solidFill>
                                <a:schemeClr val="tx1"/>
                              </a:solidFill>
                              <a:latin typeface="Cambria Math" panose="02040503050406030204" pitchFamily="18" charset="0"/>
                            </a:rPr>
                            <m:t> −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𝑠𝑎𝑡</m:t>
                              </m:r>
                            </m:sub>
                          </m:sSub>
                        </m:e>
                      </m:d>
                    </m:oMath>
                  </m:oMathPara>
                </a14:m>
                <a:endParaRPr lang="en-US" sz="2000" dirty="0">
                  <a:solidFill>
                    <a:schemeClr val="tx1"/>
                  </a:solidFill>
                </a:endParaRPr>
              </a:p>
              <a:p>
                <a:pPr marL="0"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77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Amount of superheat</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amount of heat added during superheating of steam. </a:t>
                </a:r>
              </a:p>
              <a:p>
                <a:pPr marL="342900" lvl="3" indent="-342900" algn="just">
                  <a:lnSpc>
                    <a:spcPct val="150000"/>
                  </a:lnSpc>
                </a:pPr>
                <a:r>
                  <a:rPr lang="en-US" sz="2000" dirty="0">
                    <a:solidFill>
                      <a:schemeClr val="tx1"/>
                    </a:solidFill>
                  </a:rPr>
                  <a:t>It is also known as heat of superheat.</a:t>
                </a:r>
                <a:endParaRPr lang="en-US" sz="2000" b="1"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𝐴𝑚𝑜𝑢𝑛𝑡</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𝑜𝑓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𝑠𝑢𝑝𝑒𝑟h𝑒𝑎𝑡</m:t>
                      </m:r>
                      <m:r>
                        <a:rPr lang="en-US" sz="2000" b="0" i="1" smtClean="0">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𝐶</m:t>
                          </m:r>
                        </m:e>
                        <m:sub>
                          <m:r>
                            <a:rPr lang="en-US" sz="2000" i="1">
                              <a:solidFill>
                                <a:schemeClr val="tx1"/>
                              </a:solidFill>
                              <a:latin typeface="Cambria Math" panose="02040503050406030204" pitchFamily="18" charset="0"/>
                            </a:rPr>
                            <m:t>𝑝𝑠</m:t>
                          </m:r>
                        </m:sub>
                      </m:sSub>
                      <m:r>
                        <a:rPr lang="en-US" sz="2000" i="1">
                          <a:solidFill>
                            <a:schemeClr val="tx1"/>
                          </a:solidFill>
                          <a:latin typeface="Cambria Math" panose="02040503050406030204" pitchFamily="18" charset="0"/>
                        </a:rPr>
                        <m:t> </m:t>
                      </m:r>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𝑠𝑢𝑝</m:t>
                              </m:r>
                            </m:sub>
                          </m:sSub>
                          <m:r>
                            <a:rPr lang="en-US" sz="2000" i="1">
                              <a:solidFill>
                                <a:schemeClr val="tx1"/>
                              </a:solidFill>
                              <a:latin typeface="Cambria Math" panose="02040503050406030204" pitchFamily="18" charset="0"/>
                            </a:rPr>
                            <m:t> −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𝑠𝑎𝑡</m:t>
                              </m:r>
                            </m:sub>
                          </m:sSub>
                        </m:e>
                      </m:d>
                    </m:oMath>
                  </m:oMathPara>
                </a14:m>
                <a:endParaRPr lang="en-US" sz="2000" dirty="0">
                  <a:solidFill>
                    <a:schemeClr val="tx1"/>
                  </a:solidFill>
                </a:endParaRPr>
              </a:p>
              <a:p>
                <a:pPr marL="0"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4713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Specific Volume of 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volume occupied by the unit mass of a substance. </a:t>
            </a:r>
          </a:p>
          <a:p>
            <a:pPr marL="342900" lvl="3" indent="-342900" algn="just">
              <a:lnSpc>
                <a:spcPct val="150000"/>
              </a:lnSpc>
            </a:pPr>
            <a:r>
              <a:rPr lang="en-US" sz="2000" dirty="0">
                <a:solidFill>
                  <a:schemeClr val="tx1"/>
                </a:solidFill>
              </a:rPr>
              <a:t>It is expressed in m</a:t>
            </a:r>
            <a:r>
              <a:rPr lang="en-US" sz="2000" baseline="30000" dirty="0">
                <a:solidFill>
                  <a:schemeClr val="tx1"/>
                </a:solidFill>
              </a:rPr>
              <a:t>3 </a:t>
            </a:r>
            <a:r>
              <a:rPr lang="en-US" sz="2000" dirty="0">
                <a:solidFill>
                  <a:schemeClr val="tx1"/>
                </a:solidFill>
              </a:rPr>
              <a:t>/ kg. </a:t>
            </a:r>
          </a:p>
          <a:p>
            <a:pPr marL="342900" lvl="3" indent="-342900" algn="just">
              <a:lnSpc>
                <a:spcPct val="150000"/>
              </a:lnSpc>
            </a:pPr>
            <a:r>
              <a:rPr lang="en-US" sz="2000" dirty="0">
                <a:solidFill>
                  <a:schemeClr val="tx1"/>
                </a:solidFill>
              </a:rPr>
              <a:t>The volume of water and steam increases with the increase in temperature</a:t>
            </a:r>
          </a:p>
          <a:p>
            <a:pPr marL="0" lvl="3"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5675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Specific Volume of saturated water</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volume occupied by 1 kg of water at the saturation temperature at a given pressure. It is denoted by </a:t>
            </a:r>
            <a:r>
              <a:rPr lang="en-US" sz="2000" dirty="0" err="1">
                <a:solidFill>
                  <a:schemeClr val="tx1"/>
                </a:solidFill>
              </a:rPr>
              <a:t>v</a:t>
            </a:r>
            <a:r>
              <a:rPr lang="en-US" sz="2000" baseline="-25000" dirty="0" err="1">
                <a:solidFill>
                  <a:schemeClr val="tx1"/>
                </a:solidFill>
              </a:rPr>
              <a:t>f</a:t>
            </a:r>
            <a:r>
              <a:rPr lang="en-US" sz="2000" baseline="-25000" dirty="0">
                <a:solidFill>
                  <a:schemeClr val="tx1"/>
                </a:solidFill>
              </a:rPr>
              <a:t> </a:t>
            </a:r>
            <a:r>
              <a:rPr lang="en-US" sz="2000" dirty="0">
                <a:solidFill>
                  <a:schemeClr val="tx1"/>
                </a:solidFill>
              </a:rPr>
              <a:t>.</a:t>
            </a: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3802719" y="1560500"/>
            <a:ext cx="7280000" cy="4680000"/>
          </a:xfrm>
          <a:prstGeom prst="rect">
            <a:avLst/>
          </a:prstGeom>
        </p:spPr>
      </p:pic>
    </p:spTree>
    <p:extLst>
      <p:ext uri="{BB962C8B-B14F-4D97-AF65-F5344CB8AC3E}">
        <p14:creationId xmlns:p14="http://schemas.microsoft.com/office/powerpoint/2010/main" val="390082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Specific Volume of dry saturated 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volume occupied by 1 kg of dry saturated steam at a given pressure. It is denoted by v</a:t>
            </a:r>
            <a:r>
              <a:rPr lang="en-US" sz="2000" baseline="-25000" dirty="0">
                <a:solidFill>
                  <a:schemeClr val="tx1"/>
                </a:solidFill>
              </a:rPr>
              <a:t>g </a:t>
            </a:r>
            <a:r>
              <a:rPr lang="en-US" sz="2000" dirty="0">
                <a:solidFill>
                  <a:schemeClr val="tx1"/>
                </a:solidFill>
              </a:rPr>
              <a:t>. </a:t>
            </a: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3802719" y="1560500"/>
            <a:ext cx="7280000" cy="4680000"/>
          </a:xfrm>
          <a:prstGeom prst="rect">
            <a:avLst/>
          </a:prstGeom>
        </p:spPr>
      </p:pic>
    </p:spTree>
    <p:extLst>
      <p:ext uri="{BB962C8B-B14F-4D97-AF65-F5344CB8AC3E}">
        <p14:creationId xmlns:p14="http://schemas.microsoft.com/office/powerpoint/2010/main" val="214001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Specific Volume of wet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volume occupied by 1 kg of steam with dryness fraction x which contains some dry steam as well as water molecules suspended in it at a given pressure. It is denoted by v.</a:t>
                </a:r>
              </a:p>
              <a:p>
                <a:pPr marL="342900" lvl="3" indent="-342900" algn="just">
                  <a:lnSpc>
                    <a:spcPct val="150000"/>
                  </a:lnSpc>
                </a:pPr>
                <a:r>
                  <a:rPr lang="en-US" sz="2000" dirty="0">
                    <a:solidFill>
                      <a:schemeClr val="tx1"/>
                    </a:solidFill>
                  </a:rPr>
                  <a:t>Consider 1 kg of wet steam with dryness fraction x.</a:t>
                </a:r>
              </a:p>
              <a:p>
                <a:pPr marL="342900" lvl="3" indent="-342900" algn="just">
                  <a:lnSpc>
                    <a:spcPct val="150000"/>
                  </a:lnSpc>
                </a:pPr>
                <a:r>
                  <a:rPr lang="en-US" sz="2000" dirty="0">
                    <a:solidFill>
                      <a:schemeClr val="tx1"/>
                    </a:solidFill>
                  </a:rPr>
                  <a:t>This steam contains (</a:t>
                </a:r>
                <a:r>
                  <a:rPr lang="en-US" sz="2000" dirty="0" err="1">
                    <a:solidFill>
                      <a:schemeClr val="tx1"/>
                    </a:solidFill>
                  </a:rPr>
                  <a:t>i</a:t>
                </a:r>
                <a:r>
                  <a:rPr lang="en-US" sz="2000" dirty="0">
                    <a:solidFill>
                      <a:schemeClr val="tx1"/>
                    </a:solidFill>
                  </a:rPr>
                  <a:t>) x kg of dry steam (ii) (1-x) kg of water molecules.</a:t>
                </a: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𝑣</m:t>
                      </m:r>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𝑥</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𝑣</m:t>
                          </m:r>
                        </m:e>
                        <m:sub>
                          <m:r>
                            <a:rPr lang="en-US" sz="2000" b="0" i="1" smtClean="0">
                              <a:solidFill>
                                <a:schemeClr val="tx1"/>
                              </a:solidFill>
                              <a:latin typeface="Cambria Math" panose="02040503050406030204" pitchFamily="18" charset="0"/>
                              <a:ea typeface="Cambria Math" panose="02040503050406030204" pitchFamily="18" charset="0"/>
                            </a:rPr>
                            <m:t>𝑔</m:t>
                          </m:r>
                        </m:sub>
                      </m:sSub>
                      <m:r>
                        <a:rPr lang="en-US" sz="2000" b="0" i="1" smtClean="0">
                          <a:solidFill>
                            <a:schemeClr val="tx1"/>
                          </a:solidFill>
                          <a:latin typeface="Cambria Math" panose="02040503050406030204" pitchFamily="18" charset="0"/>
                          <a:ea typeface="Cambria Math" panose="02040503050406030204" pitchFamily="18" charset="0"/>
                        </a:rPr>
                        <m:t>+ </m:t>
                      </m:r>
                      <m:d>
                        <m:dPr>
                          <m:ctrlPr>
                            <a:rPr lang="en-US" sz="2000" b="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1 −</m:t>
                          </m:r>
                          <m:r>
                            <a:rPr lang="en-US" sz="2000" b="0" i="1" smtClean="0">
                              <a:solidFill>
                                <a:schemeClr val="tx1"/>
                              </a:solidFill>
                              <a:latin typeface="Cambria Math" panose="02040503050406030204" pitchFamily="18" charset="0"/>
                              <a:ea typeface="Cambria Math" panose="02040503050406030204" pitchFamily="18" charset="0"/>
                            </a:rPr>
                            <m:t>𝑥</m:t>
                          </m:r>
                        </m:e>
                      </m:d>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𝑣</m:t>
                          </m:r>
                        </m:e>
                        <m:sub>
                          <m:r>
                            <a:rPr lang="en-US" sz="2000" b="0" i="1" smtClean="0">
                              <a:solidFill>
                                <a:schemeClr val="tx1"/>
                              </a:solidFill>
                              <a:latin typeface="Cambria Math" panose="02040503050406030204" pitchFamily="18" charset="0"/>
                              <a:ea typeface="Cambria Math" panose="02040503050406030204" pitchFamily="18" charset="0"/>
                            </a:rPr>
                            <m:t>𝑓</m:t>
                          </m:r>
                        </m:sub>
                      </m:sSub>
                    </m:oMath>
                  </m:oMathPara>
                </a14:m>
                <a:endParaRPr lang="en-US" sz="2000" dirty="0">
                  <a:solidFill>
                    <a:schemeClr val="tx1"/>
                  </a:solidFill>
                </a:endParaRPr>
              </a:p>
              <a:p>
                <a:pPr marL="342900" lvl="3" indent="-342900" algn="just">
                  <a:lnSpc>
                    <a:spcPct val="150000"/>
                  </a:lnSpc>
                </a:pPr>
                <a:r>
                  <a:rPr lang="en-US" sz="2000" dirty="0">
                    <a:solidFill>
                      <a:schemeClr val="tx1"/>
                    </a:solidFill>
                  </a:rPr>
                  <a:t>But, (1 – x) </a:t>
                </a:r>
                <a:r>
                  <a:rPr lang="en-US" sz="2000" dirty="0" err="1">
                    <a:solidFill>
                      <a:schemeClr val="tx1"/>
                    </a:solidFill>
                  </a:rPr>
                  <a:t>v</a:t>
                </a:r>
                <a:r>
                  <a:rPr lang="en-US" sz="2000" baseline="-25000" dirty="0" err="1">
                    <a:solidFill>
                      <a:schemeClr val="tx1"/>
                    </a:solidFill>
                  </a:rPr>
                  <a:t>f</a:t>
                </a:r>
                <a:r>
                  <a:rPr lang="en-US" sz="2000" dirty="0">
                    <a:solidFill>
                      <a:schemeClr val="tx1"/>
                    </a:solidFill>
                  </a:rPr>
                  <a:t> is very low, we can </a:t>
                </a:r>
                <a:r>
                  <a:rPr lang="en-US" sz="2000" dirty="0" err="1">
                    <a:solidFill>
                      <a:schemeClr val="tx1"/>
                    </a:solidFill>
                  </a:rPr>
                  <a:t>neglate</a:t>
                </a:r>
                <a:r>
                  <a:rPr lang="en-US" sz="2000" dirty="0">
                    <a:solidFill>
                      <a:schemeClr val="tx1"/>
                    </a:solidFill>
                  </a:rPr>
                  <a:t>.</a:t>
                </a: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𝑣</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𝑥</m:t>
                      </m:r>
                      <m:r>
                        <a:rPr lang="en-US" sz="2000" i="1">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𝑣</m:t>
                          </m:r>
                        </m:e>
                        <m:sub>
                          <m:r>
                            <a:rPr lang="en-US" sz="2000" i="1">
                              <a:solidFill>
                                <a:schemeClr val="tx1"/>
                              </a:solidFill>
                              <a:latin typeface="Cambria Math" panose="02040503050406030204" pitchFamily="18" charset="0"/>
                              <a:ea typeface="Cambria Math" panose="02040503050406030204" pitchFamily="18" charset="0"/>
                            </a:rPr>
                            <m:t>𝑔</m:t>
                          </m:r>
                        </m:sub>
                      </m:sSub>
                    </m:oMath>
                  </m:oMathPara>
                </a14:m>
                <a:endParaRPr lang="en-US" sz="2000" dirty="0">
                  <a:solidFill>
                    <a:schemeClr val="tx1"/>
                  </a:solidFill>
                </a:endParaRPr>
              </a:p>
              <a:p>
                <a:pPr marL="0" lvl="3" indent="0" algn="just">
                  <a:lnSpc>
                    <a:spcPct val="150000"/>
                  </a:lnSpc>
                  <a:buNone/>
                </a:pPr>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4" name="Table 3"/>
          <p:cNvGraphicFramePr>
            <a:graphicFrameLocks noGrp="1"/>
          </p:cNvGraphicFramePr>
          <p:nvPr>
            <p:extLst>
              <p:ext uri="{D42A27DB-BD31-4B8C-83A1-F6EECF244321}">
                <p14:modId xmlns:p14="http://schemas.microsoft.com/office/powerpoint/2010/main" val="2510413304"/>
              </p:ext>
            </p:extLst>
          </p:nvPr>
        </p:nvGraphicFramePr>
        <p:xfrm>
          <a:off x="3592286" y="3077716"/>
          <a:ext cx="8128000" cy="118872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915675454"/>
                    </a:ext>
                  </a:extLst>
                </a:gridCol>
                <a:gridCol w="1625600">
                  <a:extLst>
                    <a:ext uri="{9D8B030D-6E8A-4147-A177-3AD203B41FA5}">
                      <a16:colId xmlns:a16="http://schemas.microsoft.com/office/drawing/2014/main" val="2998447785"/>
                    </a:ext>
                  </a:extLst>
                </a:gridCol>
                <a:gridCol w="1625600">
                  <a:extLst>
                    <a:ext uri="{9D8B030D-6E8A-4147-A177-3AD203B41FA5}">
                      <a16:colId xmlns:a16="http://schemas.microsoft.com/office/drawing/2014/main" val="603585132"/>
                    </a:ext>
                  </a:extLst>
                </a:gridCol>
                <a:gridCol w="1625600">
                  <a:extLst>
                    <a:ext uri="{9D8B030D-6E8A-4147-A177-3AD203B41FA5}">
                      <a16:colId xmlns:a16="http://schemas.microsoft.com/office/drawing/2014/main" val="3872478132"/>
                    </a:ext>
                  </a:extLst>
                </a:gridCol>
                <a:gridCol w="1625600">
                  <a:extLst>
                    <a:ext uri="{9D8B030D-6E8A-4147-A177-3AD203B41FA5}">
                      <a16:colId xmlns:a16="http://schemas.microsoft.com/office/drawing/2014/main" val="2866072740"/>
                    </a:ext>
                  </a:extLst>
                </a:gridCol>
              </a:tblGrid>
              <a:tr h="741680">
                <a:tc>
                  <a:txBody>
                    <a:bodyPr/>
                    <a:lstStyle/>
                    <a:p>
                      <a:pPr algn="ctr"/>
                      <a:r>
                        <a:rPr lang="en-US" dirty="0"/>
                        <a:t>Specific volume of wet steam</a:t>
                      </a: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Volume of dry steam at given pressure</a:t>
                      </a: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Volume of water molecules in mixture</a:t>
                      </a: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8731136"/>
                  </a:ext>
                </a:extLst>
              </a:tr>
            </a:tbl>
          </a:graphicData>
        </a:graphic>
      </p:graphicFrame>
    </p:spTree>
    <p:extLst>
      <p:ext uri="{BB962C8B-B14F-4D97-AF65-F5344CB8AC3E}">
        <p14:creationId xmlns:p14="http://schemas.microsoft.com/office/powerpoint/2010/main" val="9803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500"/>
                                        <p:tgtEl>
                                          <p:spTgt spid="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8" end="8"/>
                                            </p:txEl>
                                          </p:spTgt>
                                        </p:tgtEl>
                                        <p:attrNameLst>
                                          <p:attrName>style.visibility</p:attrName>
                                        </p:attrNameLst>
                                      </p:cBhvr>
                                      <p:to>
                                        <p:strVal val="visible"/>
                                      </p:to>
                                    </p:set>
                                    <p:animEffect transition="in" filter="fade">
                                      <p:cBhvr>
                                        <p:cTn id="32"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Specific Volume of superheated steam</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It is defined as the volume occupied by 1 kg of superheated steam at a given pressure and superheated temperature.</a:t>
                </a:r>
              </a:p>
              <a:p>
                <a:pPr marL="342900" lvl="3" indent="-342900" algn="just">
                  <a:lnSpc>
                    <a:spcPct val="150000"/>
                  </a:lnSpc>
                </a:pPr>
                <a:r>
                  <a:rPr lang="en-US" sz="2000" dirty="0">
                    <a:solidFill>
                      <a:schemeClr val="tx1"/>
                    </a:solidFill>
                  </a:rPr>
                  <a:t>The superheated steam behaves like a perfect gas; so its specific volume is determined approximately applying </a:t>
                </a:r>
                <a:r>
                  <a:rPr lang="en-US" sz="2000" dirty="0" err="1">
                    <a:solidFill>
                      <a:schemeClr val="tx1"/>
                    </a:solidFill>
                  </a:rPr>
                  <a:t>Charle’s</a:t>
                </a:r>
                <a:r>
                  <a:rPr lang="en-US" sz="2000" dirty="0">
                    <a:solidFill>
                      <a:schemeClr val="tx1"/>
                    </a:solidFill>
                  </a:rPr>
                  <a:t> law.</a:t>
                </a:r>
              </a:p>
              <a:p>
                <a:pPr marL="0" lvl="3" indent="0" algn="just">
                  <a:lnSpc>
                    <a:spcPct val="150000"/>
                  </a:lnSpc>
                  <a:buNone/>
                </a:pPr>
                <a14:m>
                  <m:oMathPara xmlns:m="http://schemas.openxmlformats.org/officeDocument/2006/math">
                    <m:oMathParaPr>
                      <m:jc m:val="centerGroup"/>
                    </m:oMathParaPr>
                    <m:oMath xmlns:m="http://schemas.openxmlformats.org/officeDocument/2006/math">
                      <m:f>
                        <m:fPr>
                          <m:ctrlPr>
                            <a:rPr lang="en-US" sz="2000" i="1" smtClean="0">
                              <a:solidFill>
                                <a:schemeClr val="tx1"/>
                              </a:solidFill>
                              <a:latin typeface="Cambria Math" panose="02040503050406030204" pitchFamily="18" charset="0"/>
                            </a:rPr>
                          </m:ctrlPr>
                        </m:fPr>
                        <m:num>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𝑔</m:t>
                              </m:r>
                            </m:sub>
                          </m:sSub>
                        </m:num>
                        <m:den>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𝑠</m:t>
                              </m:r>
                            </m:sub>
                          </m:sSub>
                        </m:den>
                      </m:f>
                      <m:r>
                        <a:rPr lang="en-US" sz="2000" b="0" i="1" smtClean="0">
                          <a:solidFill>
                            <a:schemeClr val="tx1"/>
                          </a:solidFill>
                          <a:latin typeface="Cambria Math" panose="02040503050406030204" pitchFamily="18" charset="0"/>
                        </a:rPr>
                        <m:t>= </m:t>
                      </m:r>
                      <m:f>
                        <m:fPr>
                          <m:ctrlPr>
                            <a:rPr lang="en-US" sz="2000" b="0" i="1" smtClean="0">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𝑠𝑢𝑝</m:t>
                              </m:r>
                            </m:sub>
                          </m:sSub>
                        </m:num>
                        <m:den>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𝑠𝑢𝑝</m:t>
                              </m:r>
                            </m:sub>
                          </m:sSub>
                        </m:den>
                      </m:f>
                    </m:oMath>
                  </m:oMathPara>
                </a14:m>
                <a:endParaRPr lang="en-US" sz="2000" dirty="0">
                  <a:solidFill>
                    <a:schemeClr val="tx1"/>
                  </a:solidFill>
                </a:endParaRP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𝑣</m:t>
                          </m:r>
                        </m:e>
                        <m:sub>
                          <m:r>
                            <a:rPr lang="en-US" sz="2000" i="1">
                              <a:solidFill>
                                <a:schemeClr val="tx1"/>
                              </a:solidFill>
                              <a:latin typeface="Cambria Math" panose="02040503050406030204" pitchFamily="18" charset="0"/>
                            </a:rPr>
                            <m:t>𝑠𝑢𝑝</m:t>
                          </m:r>
                        </m:sub>
                      </m:sSub>
                      <m:r>
                        <a:rPr lang="en-US" sz="2000" b="0" i="1" smtClean="0">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sSub>
                            <m:sSubPr>
                              <m:ctrlPr>
                                <a:rPr lang="en-US" sz="2000" i="1">
                                  <a:solidFill>
                                    <a:schemeClr val="tx1"/>
                                  </a:solidFill>
                                  <a:latin typeface="Cambria Math" panose="02040503050406030204" pitchFamily="18" charset="0"/>
                                </a:rPr>
                              </m:ctrlPr>
                            </m:sSub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𝑠𝑢𝑝</m:t>
                                  </m:r>
                                </m:sub>
                              </m:sSub>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𝑣</m:t>
                              </m:r>
                            </m:e>
                            <m:sub>
                              <m:r>
                                <a:rPr lang="en-US" sz="2000" i="1">
                                  <a:solidFill>
                                    <a:schemeClr val="tx1"/>
                                  </a:solidFill>
                                  <a:latin typeface="Cambria Math" panose="02040503050406030204" pitchFamily="18" charset="0"/>
                                </a:rPr>
                                <m:t>𝑔</m:t>
                              </m:r>
                            </m:sub>
                          </m:sSub>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𝑠</m:t>
                              </m:r>
                            </m:sub>
                          </m:sSub>
                        </m:den>
                      </m:f>
                    </m:oMath>
                  </m:oMathPara>
                </a14:m>
                <a:endParaRPr lang="en-US" sz="2000" dirty="0">
                  <a:solidFill>
                    <a:schemeClr val="tx1"/>
                  </a:solidFill>
                </a:endParaRPr>
              </a:p>
            </p:txBody>
          </p:sp>
        </mc:Choice>
        <mc:Fallback xmlns="">
          <p:sp>
            <p:nvSpPr>
              <p:cNvPr id="9"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56001" y="0"/>
                <a:ext cx="8200570" cy="6858000"/>
              </a:xfrm>
              <a:blipFill>
                <a:blip r:embed="rId2"/>
                <a:stretch>
                  <a:fillRect l="-520" r="-743"/>
                </a:stretch>
              </a:blipFill>
            </p:spPr>
            <p:txBody>
              <a:bodyPr/>
              <a:lstStyle/>
              <a:p>
                <a:r>
                  <a:rPr lang="en-IN">
                    <a:noFill/>
                  </a:rPr>
                  <a:t> </a:t>
                </a:r>
              </a:p>
            </p:txBody>
          </p:sp>
        </mc:Fallback>
      </mc:AlternateContent>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12298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Internal energy of steam</a:t>
            </a:r>
          </a:p>
        </p:txBody>
      </p:sp>
      <p:sp>
        <p:nvSpPr>
          <p:cNvPr id="9"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Internal energy is defined as the difference between the enthalpy of steam and external work of evaporation.</a:t>
            </a:r>
          </a:p>
          <a:p>
            <a:pPr marL="342900" lvl="3" indent="-342900" algn="just">
              <a:lnSpc>
                <a:spcPct val="150000"/>
              </a:lnSpc>
            </a:pPr>
            <a:r>
              <a:rPr lang="en-US" sz="2000" dirty="0">
                <a:solidFill>
                  <a:schemeClr val="tx1"/>
                </a:solidFill>
              </a:rPr>
              <a:t>Internal energy of dry steam: </a:t>
            </a:r>
            <a:r>
              <a:rPr lang="en-US" sz="2000" dirty="0" err="1">
                <a:solidFill>
                  <a:schemeClr val="tx1"/>
                </a:solidFill>
              </a:rPr>
              <a:t>u</a:t>
            </a:r>
            <a:r>
              <a:rPr lang="en-US" sz="2000" baseline="-25000" dirty="0" err="1">
                <a:solidFill>
                  <a:schemeClr val="tx1"/>
                </a:solidFill>
              </a:rPr>
              <a:t>g</a:t>
            </a:r>
            <a:r>
              <a:rPr lang="en-US" sz="2000" dirty="0">
                <a:solidFill>
                  <a:schemeClr val="tx1"/>
                </a:solidFill>
              </a:rPr>
              <a:t> = h</a:t>
            </a:r>
            <a:r>
              <a:rPr lang="en-US" sz="2000" baseline="-25000" dirty="0">
                <a:solidFill>
                  <a:schemeClr val="tx1"/>
                </a:solidFill>
              </a:rPr>
              <a:t>g</a:t>
            </a:r>
            <a:r>
              <a:rPr lang="en-US" sz="2000" dirty="0">
                <a:solidFill>
                  <a:schemeClr val="tx1"/>
                </a:solidFill>
              </a:rPr>
              <a:t> – p v</a:t>
            </a:r>
            <a:r>
              <a:rPr lang="en-US" sz="2000" baseline="-25000" dirty="0">
                <a:solidFill>
                  <a:schemeClr val="tx1"/>
                </a:solidFill>
              </a:rPr>
              <a:t>g</a:t>
            </a:r>
            <a:endParaRPr lang="en-US" sz="2000" dirty="0">
              <a:solidFill>
                <a:schemeClr val="tx1"/>
              </a:solidFill>
            </a:endParaRPr>
          </a:p>
          <a:p>
            <a:pPr marL="342900" lvl="3" indent="-342900" algn="just">
              <a:lnSpc>
                <a:spcPct val="150000"/>
              </a:lnSpc>
            </a:pPr>
            <a:r>
              <a:rPr lang="en-US" sz="2000" dirty="0">
                <a:solidFill>
                  <a:schemeClr val="tx1"/>
                </a:solidFill>
              </a:rPr>
              <a:t>Internal energy of wet steam: u = </a:t>
            </a:r>
            <a:r>
              <a:rPr lang="en-US" sz="2000" dirty="0" err="1">
                <a:solidFill>
                  <a:schemeClr val="tx1"/>
                </a:solidFill>
              </a:rPr>
              <a:t>h</a:t>
            </a:r>
            <a:r>
              <a:rPr lang="en-US" sz="2000" baseline="-25000" dirty="0" err="1">
                <a:solidFill>
                  <a:schemeClr val="tx1"/>
                </a:solidFill>
              </a:rPr>
              <a:t>f</a:t>
            </a:r>
            <a:r>
              <a:rPr lang="en-US" sz="2000" dirty="0">
                <a:solidFill>
                  <a:schemeClr val="tx1"/>
                </a:solidFill>
              </a:rPr>
              <a:t> + x </a:t>
            </a:r>
            <a:r>
              <a:rPr lang="en-US" sz="2000" dirty="0" err="1">
                <a:solidFill>
                  <a:schemeClr val="tx1"/>
                </a:solidFill>
              </a:rPr>
              <a:t>h</a:t>
            </a:r>
            <a:r>
              <a:rPr lang="en-US" sz="2000" baseline="-25000" dirty="0" err="1">
                <a:solidFill>
                  <a:schemeClr val="tx1"/>
                </a:solidFill>
              </a:rPr>
              <a:t>fg</a:t>
            </a:r>
            <a:r>
              <a:rPr lang="en-US" sz="2000" dirty="0">
                <a:solidFill>
                  <a:schemeClr val="tx1"/>
                </a:solidFill>
              </a:rPr>
              <a:t> – p x v</a:t>
            </a:r>
            <a:r>
              <a:rPr lang="en-US" sz="2000" baseline="-25000" dirty="0">
                <a:solidFill>
                  <a:schemeClr val="tx1"/>
                </a:solidFill>
              </a:rPr>
              <a:t>g </a:t>
            </a:r>
            <a:endParaRPr lang="en-US" sz="2000" dirty="0">
              <a:solidFill>
                <a:schemeClr val="tx1"/>
              </a:solidFill>
            </a:endParaRPr>
          </a:p>
          <a:p>
            <a:pPr marL="342900" lvl="3" indent="-342900" algn="just">
              <a:lnSpc>
                <a:spcPct val="150000"/>
              </a:lnSpc>
            </a:pPr>
            <a:r>
              <a:rPr lang="en-US" sz="2000" dirty="0">
                <a:solidFill>
                  <a:schemeClr val="tx1"/>
                </a:solidFill>
              </a:rPr>
              <a:t>Internal energy of superheated steam: </a:t>
            </a:r>
            <a:r>
              <a:rPr lang="en-US" sz="2000" dirty="0" err="1">
                <a:solidFill>
                  <a:schemeClr val="tx1"/>
                </a:solidFill>
              </a:rPr>
              <a:t>u</a:t>
            </a:r>
            <a:r>
              <a:rPr lang="en-US" sz="2000" baseline="-25000" dirty="0" err="1">
                <a:solidFill>
                  <a:schemeClr val="tx1"/>
                </a:solidFill>
              </a:rPr>
              <a:t>sup</a:t>
            </a:r>
            <a:r>
              <a:rPr lang="en-US" sz="2000" dirty="0">
                <a:solidFill>
                  <a:schemeClr val="tx1"/>
                </a:solidFill>
              </a:rPr>
              <a:t> = </a:t>
            </a:r>
            <a:r>
              <a:rPr lang="en-US" sz="2000" dirty="0" err="1">
                <a:solidFill>
                  <a:schemeClr val="tx1"/>
                </a:solidFill>
              </a:rPr>
              <a:t>h</a:t>
            </a:r>
            <a:r>
              <a:rPr lang="en-US" sz="2000" baseline="-25000" dirty="0" err="1">
                <a:solidFill>
                  <a:schemeClr val="tx1"/>
                </a:solidFill>
              </a:rPr>
              <a:t>sup</a:t>
            </a:r>
            <a:r>
              <a:rPr lang="en-US" sz="2000" dirty="0">
                <a:solidFill>
                  <a:schemeClr val="tx1"/>
                </a:solidFill>
              </a:rPr>
              <a:t> – p </a:t>
            </a:r>
            <a:r>
              <a:rPr lang="en-US" sz="2000" dirty="0" err="1">
                <a:solidFill>
                  <a:schemeClr val="tx1"/>
                </a:solidFill>
              </a:rPr>
              <a:t>v</a:t>
            </a:r>
            <a:r>
              <a:rPr lang="en-US" sz="2000" baseline="-25000" dirty="0" err="1">
                <a:solidFill>
                  <a:schemeClr val="tx1"/>
                </a:solidFill>
              </a:rPr>
              <a:t>sup</a:t>
            </a:r>
            <a:endParaRPr lang="en-US" sz="2000" dirty="0">
              <a:solidFill>
                <a:schemeClr val="tx1"/>
              </a:solidFill>
            </a:endParaRP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3126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Throttling Process</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Throttling is the type of expansion process, in which steam passes through a narrow passage and expands with a full pressure without doing any external work.</a:t>
            </a:r>
          </a:p>
          <a:p>
            <a:pPr marL="342900" lvl="3" indent="-342900" algn="just">
              <a:lnSpc>
                <a:spcPct val="150000"/>
              </a:lnSpc>
            </a:pPr>
            <a:r>
              <a:rPr lang="en-US" sz="2000" dirty="0">
                <a:solidFill>
                  <a:schemeClr val="tx1"/>
                </a:solidFill>
              </a:rPr>
              <a:t>In this process there is no exchange of heat similar to adiabatic process.</a:t>
            </a:r>
          </a:p>
          <a:p>
            <a:pPr marL="342900" lvl="3" indent="-342900" algn="just">
              <a:lnSpc>
                <a:spcPct val="150000"/>
              </a:lnSpc>
            </a:pPr>
            <a:r>
              <a:rPr lang="en-US" sz="2000" dirty="0">
                <a:solidFill>
                  <a:schemeClr val="tx1"/>
                </a:solidFill>
              </a:rPr>
              <a:t>During this process, the enthalpy remains constant, so this process is also known as constant enthalpy process.</a:t>
            </a: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a:p>
            <a:pPr marL="0" lvl="3" indent="0" algn="just">
              <a:lnSpc>
                <a:spcPct val="150000"/>
              </a:lnSpc>
              <a:buNone/>
            </a:pPr>
            <a:endParaRPr lang="en-US" sz="2000" dirty="0">
              <a:solidFill>
                <a:schemeClr val="tx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8395" y="3323876"/>
            <a:ext cx="5582408" cy="3265182"/>
          </a:xfrm>
          <a:prstGeom prst="rect">
            <a:avLst/>
          </a:prstGeom>
        </p:spPr>
      </p:pic>
    </p:spTree>
    <p:extLst>
      <p:ext uri="{BB962C8B-B14F-4D97-AF65-F5344CB8AC3E}">
        <p14:creationId xmlns:p14="http://schemas.microsoft.com/office/powerpoint/2010/main" val="3620512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Throttling Process</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Throttling is a steady flow process hence, the steady flow energy equation can be applicable.</a:t>
                </a:r>
              </a:p>
              <a:p>
                <a:pPr marL="342900" lvl="3" indent="-342900" algn="just">
                  <a:lnSpc>
                    <a:spcPct val="150000"/>
                  </a:lnSpc>
                </a:pPr>
                <a:r>
                  <a:rPr lang="en-US" sz="2000" dirty="0">
                    <a:solidFill>
                      <a:schemeClr val="tx1"/>
                    </a:solidFill>
                  </a:rPr>
                  <a:t>Steady flow energy equation is</a:t>
                </a:r>
              </a:p>
              <a:p>
                <a:pPr marL="0" lvl="3"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1</m:t>
                          </m:r>
                        </m:sub>
                      </m:sSub>
                      <m:r>
                        <a:rPr lang="en-US" sz="2000" b="0" i="1" smtClean="0">
                          <a:solidFill>
                            <a:schemeClr val="tx1"/>
                          </a:solidFill>
                          <a:latin typeface="Cambria Math" panose="02040503050406030204" pitchFamily="18" charset="0"/>
                        </a:rPr>
                        <m:t>+ </m:t>
                      </m:r>
                      <m:f>
                        <m:fPr>
                          <m:ctrlPr>
                            <a:rPr lang="en-US" sz="2000" b="0" i="1" smtClean="0">
                              <a:solidFill>
                                <a:schemeClr val="tx1"/>
                              </a:solidFill>
                              <a:latin typeface="Cambria Math" panose="02040503050406030204" pitchFamily="18" charset="0"/>
                            </a:rPr>
                          </m:ctrlPr>
                        </m:fPr>
                        <m:num>
                          <m:sSubSup>
                            <m:sSubSupPr>
                              <m:ctrlPr>
                                <a:rPr lang="en-US" sz="2000" b="0" i="1" smtClean="0">
                                  <a:solidFill>
                                    <a:schemeClr val="tx1"/>
                                  </a:solidFill>
                                  <a:latin typeface="Cambria Math" panose="02040503050406030204" pitchFamily="18" charset="0"/>
                                </a:rPr>
                              </m:ctrlPr>
                            </m:sSubSup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1</m:t>
                              </m:r>
                            </m:sub>
                            <m:sup>
                              <m:r>
                                <a:rPr lang="en-US" sz="2000" b="0" i="1" smtClean="0">
                                  <a:solidFill>
                                    <a:schemeClr val="tx1"/>
                                  </a:solidFill>
                                  <a:latin typeface="Cambria Math" panose="02040503050406030204" pitchFamily="18" charset="0"/>
                                </a:rPr>
                                <m:t>2</m:t>
                              </m:r>
                            </m:sup>
                          </m:sSubSup>
                        </m:num>
                        <m:den>
                          <m:r>
                            <a:rPr lang="en-US" sz="2000" b="0" i="1" smtClean="0">
                              <a:solidFill>
                                <a:schemeClr val="tx1"/>
                              </a:solidFill>
                              <a:latin typeface="Cambria Math" panose="02040503050406030204" pitchFamily="18" charset="0"/>
                            </a:rPr>
                            <m:t>2</m:t>
                          </m:r>
                        </m:den>
                      </m:f>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𝑔</m:t>
                      </m:r>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𝑍</m:t>
                          </m:r>
                        </m:e>
                        <m:sub>
                          <m:r>
                            <a:rPr lang="en-US" sz="2000" b="0" i="1" smtClean="0">
                              <a:solidFill>
                                <a:schemeClr val="tx1"/>
                              </a:solidFill>
                              <a:latin typeface="Cambria Math" panose="02040503050406030204" pitchFamily="18" charset="0"/>
                            </a:rPr>
                            <m:t>1</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𝑞</m:t>
                      </m:r>
                      <m:r>
                        <a:rPr lang="en-US" sz="2000" b="0" i="1" smtClean="0">
                          <a:solidFill>
                            <a:schemeClr val="tx1"/>
                          </a:solidFill>
                          <a:latin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h</m:t>
                          </m:r>
                        </m:e>
                        <m:sub>
                          <m:r>
                            <a:rPr lang="en-US" sz="2000" b="0" i="1" smtClean="0">
                              <a:solidFill>
                                <a:schemeClr val="tx1"/>
                              </a:solidFill>
                              <a:latin typeface="Cambria Math" panose="02040503050406030204" pitchFamily="18" charset="0"/>
                            </a:rPr>
                            <m:t>2</m:t>
                          </m:r>
                        </m:sub>
                      </m:sSub>
                      <m:r>
                        <a:rPr lang="en-US" sz="2000" i="1">
                          <a:solidFill>
                            <a:schemeClr val="tx1"/>
                          </a:solidFill>
                          <a:latin typeface="Cambria Math" panose="02040503050406030204" pitchFamily="18" charset="0"/>
                        </a:rPr>
                        <m:t>+ </m:t>
                      </m:r>
                      <m:f>
                        <m:fPr>
                          <m:ctrlPr>
                            <a:rPr lang="en-US" sz="2000" i="1">
                              <a:solidFill>
                                <a:schemeClr val="tx1"/>
                              </a:solidFill>
                              <a:latin typeface="Cambria Math" panose="02040503050406030204" pitchFamily="18" charset="0"/>
                            </a:rPr>
                          </m:ctrlPr>
                        </m:fPr>
                        <m:num>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2</m:t>
                              </m:r>
                            </m:sub>
                            <m:sup>
                              <m:r>
                                <a:rPr lang="en-US" sz="2000" i="1">
                                  <a:solidFill>
                                    <a:schemeClr val="tx1"/>
                                  </a:solidFill>
                                  <a:latin typeface="Cambria Math" panose="02040503050406030204" pitchFamily="18" charset="0"/>
                                </a:rPr>
                                <m:t>2</m:t>
                              </m:r>
                            </m:sup>
                          </m:sSubSup>
                        </m:num>
                        <m:den>
                          <m:r>
                            <a:rPr lang="en-US" sz="2000" i="1">
                              <a:solidFill>
                                <a:schemeClr val="tx1"/>
                              </a:solidFill>
                              <a:latin typeface="Cambria Math" panose="02040503050406030204" pitchFamily="18" charset="0"/>
                            </a:rPr>
                            <m:t>2</m:t>
                          </m:r>
                        </m:den>
                      </m:f>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𝑔</m:t>
                      </m:r>
                      <m:r>
                        <a:rPr lang="en-US" sz="2000" i="1">
                          <a:solidFill>
                            <a:schemeClr val="tx1"/>
                          </a:solidFill>
                          <a:latin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𝑍</m:t>
                          </m:r>
                        </m:e>
                        <m:sub>
                          <m:r>
                            <a:rPr lang="en-US" sz="2000" b="0" i="1" smtClean="0">
                              <a:solidFill>
                                <a:schemeClr val="tx1"/>
                              </a:solidFill>
                              <a:latin typeface="Cambria Math" panose="02040503050406030204" pitchFamily="18" charset="0"/>
                            </a:rPr>
                            <m:t>2</m:t>
                          </m:r>
                        </m:sub>
                      </m:sSub>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𝑊</m:t>
                      </m:r>
                    </m:oMath>
                  </m:oMathPara>
                </a14:m>
                <a:endParaRPr lang="en-US" sz="2000" dirty="0">
                  <a:solidFill>
                    <a:schemeClr val="tx1"/>
                  </a:solidFill>
                </a:endParaRPr>
              </a:p>
              <a:p>
                <a:pPr marL="342900" lvl="3" indent="-342900" algn="just">
                  <a:lnSpc>
                    <a:spcPct val="150000"/>
                  </a:lnSpc>
                </a:pPr>
                <a:r>
                  <a:rPr lang="en-US" sz="2000" dirty="0">
                    <a:solidFill>
                      <a:schemeClr val="tx1"/>
                    </a:solidFill>
                  </a:rPr>
                  <a:t>No work is done during throttling process, W = 0.</a:t>
                </a:r>
              </a:p>
              <a:p>
                <a:pPr marL="342900" lvl="3" indent="-342900" algn="just">
                  <a:lnSpc>
                    <a:spcPct val="150000"/>
                  </a:lnSpc>
                </a:pPr>
                <a:r>
                  <a:rPr lang="en-US" sz="2000" dirty="0">
                    <a:solidFill>
                      <a:schemeClr val="tx1"/>
                    </a:solidFill>
                  </a:rPr>
                  <a:t>No change in elevation, Z</a:t>
                </a:r>
                <a:r>
                  <a:rPr lang="en-US" sz="2000" baseline="-25000" dirty="0">
                    <a:solidFill>
                      <a:schemeClr val="tx1"/>
                    </a:solidFill>
                  </a:rPr>
                  <a:t>1</a:t>
                </a:r>
                <a:r>
                  <a:rPr lang="en-US" sz="2000" dirty="0">
                    <a:solidFill>
                      <a:schemeClr val="tx1"/>
                    </a:solidFill>
                  </a:rPr>
                  <a:t> = Z</a:t>
                </a:r>
                <a:r>
                  <a:rPr lang="en-US" sz="2000" baseline="-25000" dirty="0">
                    <a:solidFill>
                      <a:schemeClr val="tx1"/>
                    </a:solidFill>
                  </a:rPr>
                  <a:t>2</a:t>
                </a:r>
                <a:r>
                  <a:rPr lang="en-US" sz="2000" dirty="0">
                    <a:solidFill>
                      <a:schemeClr val="tx1"/>
                    </a:solidFill>
                  </a:rPr>
                  <a:t>.</a:t>
                </a:r>
              </a:p>
              <a:p>
                <a:pPr marL="342900" lvl="3" indent="-342900" algn="just">
                  <a:lnSpc>
                    <a:spcPct val="150000"/>
                  </a:lnSpc>
                </a:pPr>
                <a:r>
                  <a:rPr lang="en-US" sz="2000" dirty="0">
                    <a:solidFill>
                      <a:schemeClr val="tx1"/>
                    </a:solidFill>
                  </a:rPr>
                  <a:t>Change in K.E. is negligible; C</a:t>
                </a:r>
                <a:r>
                  <a:rPr lang="en-US" sz="2000" baseline="-25000" dirty="0">
                    <a:solidFill>
                      <a:schemeClr val="tx1"/>
                    </a:solidFill>
                  </a:rPr>
                  <a:t>1</a:t>
                </a:r>
                <a:r>
                  <a:rPr lang="en-US" sz="2000" dirty="0">
                    <a:solidFill>
                      <a:schemeClr val="tx1"/>
                    </a:solidFill>
                  </a:rPr>
                  <a:t> = C</a:t>
                </a:r>
                <a:r>
                  <a:rPr lang="en-US" sz="2000" baseline="-25000" dirty="0">
                    <a:solidFill>
                      <a:schemeClr val="tx1"/>
                    </a:solidFill>
                  </a:rPr>
                  <a:t>2</a:t>
                </a:r>
                <a:r>
                  <a:rPr lang="en-US" sz="2000" dirty="0">
                    <a:solidFill>
                      <a:schemeClr val="tx1"/>
                    </a:solidFill>
                  </a:rPr>
                  <a:t>.</a:t>
                </a:r>
              </a:p>
              <a:p>
                <a:pPr marL="342900" lvl="3" indent="-342900" algn="just">
                  <a:lnSpc>
                    <a:spcPct val="150000"/>
                  </a:lnSpc>
                </a:pPr>
                <a:r>
                  <a:rPr lang="en-US" sz="2000" dirty="0">
                    <a:solidFill>
                      <a:schemeClr val="tx1"/>
                    </a:solidFill>
                  </a:rPr>
                  <a:t>No heat is transferring, q = 0.</a:t>
                </a:r>
              </a:p>
              <a:p>
                <a:pPr marL="0" lvl="3" indent="0" algn="just">
                  <a:lnSpc>
                    <a:spcPct val="150000"/>
                  </a:lnSpc>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h</m:t>
                          </m:r>
                        </m:e>
                        <m:sub>
                          <m:r>
                            <a:rPr lang="en-US" sz="2000" i="1">
                              <a:solidFill>
                                <a:schemeClr val="tx1"/>
                              </a:solidFill>
                              <a:latin typeface="Cambria Math" panose="02040503050406030204" pitchFamily="18" charset="0"/>
                            </a:rPr>
                            <m:t>1</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h</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6" name="Content Placeholder 2">
                <a:extLst>
                  <a:ext uri="{FF2B5EF4-FFF2-40B4-BE49-F238E27FC236}">
                    <a16:creationId xmlns:a16="http://schemas.microsoft.com/office/drawing/2014/main" id="{16C28F71-07C5-40BF-BF43-4D386C21DE9B}"/>
                  </a:ext>
                </a:extLst>
              </p:cNvPr>
              <p:cNvSpPr>
                <a:spLocks noGrp="1" noRot="1" noChangeAspect="1" noMove="1" noResize="1" noEditPoints="1" noAdjustHandles="1" noChangeArrowheads="1" noChangeShapeType="1" noTextEdit="1"/>
              </p:cNvSpPr>
              <p:nvPr>
                <p:ph idx="1"/>
              </p:nvPr>
            </p:nvSpPr>
            <p:spPr>
              <a:xfrm>
                <a:off x="3529314" y="160338"/>
                <a:ext cx="8200570" cy="6858000"/>
              </a:xfrm>
              <a:blipFill>
                <a:blip r:embed="rId2"/>
                <a:stretch>
                  <a:fillRect l="-595" r="-743"/>
                </a:stretch>
              </a:blipFill>
            </p:spPr>
            <p:txBody>
              <a:bodyPr/>
              <a:lstStyle/>
              <a:p>
                <a:r>
                  <a:rPr lang="en-IN">
                    <a:noFill/>
                  </a:rPr>
                  <a:t> </a:t>
                </a:r>
              </a:p>
            </p:txBody>
          </p:sp>
        </mc:Fallback>
      </mc:AlternateContent>
    </p:spTree>
    <p:extLst>
      <p:ext uri="{BB962C8B-B14F-4D97-AF65-F5344CB8AC3E}">
        <p14:creationId xmlns:p14="http://schemas.microsoft.com/office/powerpoint/2010/main" val="30246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Measurement of dryness fraction</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The dryness fraction of steam can be measured experimentally.</a:t>
            </a:r>
          </a:p>
          <a:p>
            <a:pPr marL="342900" lvl="3" indent="-342900" algn="just">
              <a:lnSpc>
                <a:spcPct val="150000"/>
              </a:lnSpc>
            </a:pPr>
            <a:r>
              <a:rPr lang="en-US" sz="2000" dirty="0">
                <a:solidFill>
                  <a:schemeClr val="tx1"/>
                </a:solidFill>
              </a:rPr>
              <a:t>Calorimeters are used for measurement of dryness fraction of steam.</a:t>
            </a:r>
          </a:p>
          <a:p>
            <a:pPr marL="342900" lvl="3" indent="-342900" algn="just">
              <a:lnSpc>
                <a:spcPct val="150000"/>
              </a:lnSpc>
            </a:pPr>
            <a:r>
              <a:rPr lang="en-US" sz="2000" dirty="0">
                <a:solidFill>
                  <a:schemeClr val="tx1"/>
                </a:solidFill>
              </a:rPr>
              <a:t>There are four methods of determining the dryness fraction of steam.</a:t>
            </a:r>
          </a:p>
          <a:p>
            <a:pPr marL="800100" lvl="4" indent="-342900" algn="just">
              <a:lnSpc>
                <a:spcPct val="150000"/>
              </a:lnSpc>
            </a:pPr>
            <a:r>
              <a:rPr lang="en-US" sz="2000" dirty="0">
                <a:solidFill>
                  <a:schemeClr val="tx1"/>
                </a:solidFill>
              </a:rPr>
              <a:t>Bucket or Barrel calorimeter</a:t>
            </a:r>
          </a:p>
          <a:p>
            <a:pPr marL="800100" lvl="4" indent="-342900" algn="just">
              <a:lnSpc>
                <a:spcPct val="150000"/>
              </a:lnSpc>
            </a:pPr>
            <a:r>
              <a:rPr lang="en-US" sz="2000" dirty="0">
                <a:solidFill>
                  <a:schemeClr val="tx1"/>
                </a:solidFill>
              </a:rPr>
              <a:t>Throttling calorimeter</a:t>
            </a:r>
          </a:p>
          <a:p>
            <a:pPr marL="800100" lvl="4" indent="-342900" algn="just">
              <a:lnSpc>
                <a:spcPct val="150000"/>
              </a:lnSpc>
            </a:pPr>
            <a:r>
              <a:rPr lang="en-US" sz="2000" dirty="0">
                <a:solidFill>
                  <a:schemeClr val="tx1"/>
                </a:solidFill>
              </a:rPr>
              <a:t>Separating calorimeter</a:t>
            </a:r>
          </a:p>
          <a:p>
            <a:pPr marL="800100" lvl="4" indent="-342900" algn="just">
              <a:lnSpc>
                <a:spcPct val="150000"/>
              </a:lnSpc>
            </a:pPr>
            <a:r>
              <a:rPr lang="en-US" sz="2000" dirty="0">
                <a:solidFill>
                  <a:schemeClr val="tx1"/>
                </a:solidFill>
              </a:rPr>
              <a:t>Combined separating and throttling calorimeter</a:t>
            </a:r>
          </a:p>
        </p:txBody>
      </p:sp>
    </p:spTree>
    <p:extLst>
      <p:ext uri="{BB962C8B-B14F-4D97-AF65-F5344CB8AC3E}">
        <p14:creationId xmlns:p14="http://schemas.microsoft.com/office/powerpoint/2010/main" val="96870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Bucket or Barrel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2"/>
          <a:stretch>
            <a:fillRect/>
          </a:stretch>
        </p:blipFill>
        <p:spPr>
          <a:xfrm>
            <a:off x="3685125" y="360258"/>
            <a:ext cx="7913912" cy="6128340"/>
          </a:xfrm>
          <a:prstGeom prst="rect">
            <a:avLst/>
          </a:prstGeom>
        </p:spPr>
      </p:pic>
    </p:spTree>
    <p:extLst>
      <p:ext uri="{BB962C8B-B14F-4D97-AF65-F5344CB8AC3E}">
        <p14:creationId xmlns:p14="http://schemas.microsoft.com/office/powerpoint/2010/main" val="2778628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Bucket or Barrel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Heat Loss by the steam = Heat gained by water and calorimeter</a:t>
            </a: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r>
              <a:rPr lang="en-US" sz="2000" dirty="0">
                <a:solidFill>
                  <a:schemeClr val="tx1"/>
                </a:solidFill>
              </a:rPr>
              <a:t>But,                                            is called Water Equivalent of Calorimeter.</a:t>
            </a:r>
          </a:p>
          <a:p>
            <a:pPr marL="0" lvl="3" indent="0" algn="just">
              <a:lnSpc>
                <a:spcPct val="150000"/>
              </a:lnSpc>
              <a:buNone/>
            </a:pPr>
            <a:endParaRPr lang="en-US" sz="2000" dirty="0">
              <a:solidFill>
                <a:schemeClr val="tx1"/>
              </a:solidFill>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309436102"/>
              </p:ext>
            </p:extLst>
          </p:nvPr>
        </p:nvGraphicFramePr>
        <p:xfrm>
          <a:off x="4411611" y="1852068"/>
          <a:ext cx="6986989" cy="598108"/>
        </p:xfrm>
        <a:graphic>
          <a:graphicData uri="http://schemas.openxmlformats.org/presentationml/2006/ole">
            <mc:AlternateContent xmlns:mc="http://schemas.openxmlformats.org/markup-compatibility/2006">
              <mc:Choice xmlns:v="urn:schemas-microsoft-com:vml" Requires="v">
                <p:oleObj name="Equation" r:id="rId2" imgW="3263760" imgH="279360" progId="Equation.DSMT4">
                  <p:embed/>
                </p:oleObj>
              </mc:Choice>
              <mc:Fallback>
                <p:oleObj name="Equation" r:id="rId2" imgW="3263760" imgH="279360" progId="Equation.DSMT4">
                  <p:embed/>
                  <p:pic>
                    <p:nvPicPr>
                      <p:cNvPr id="3" name="Object 2"/>
                      <p:cNvPicPr/>
                      <p:nvPr/>
                    </p:nvPicPr>
                    <p:blipFill>
                      <a:blip r:embed="rId3"/>
                      <a:stretch>
                        <a:fillRect/>
                      </a:stretch>
                    </p:blipFill>
                    <p:spPr>
                      <a:xfrm>
                        <a:off x="4411611" y="1852068"/>
                        <a:ext cx="6986989" cy="598108"/>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650837393"/>
              </p:ext>
            </p:extLst>
          </p:nvPr>
        </p:nvGraphicFramePr>
        <p:xfrm>
          <a:off x="6984523" y="2600297"/>
          <a:ext cx="3670300" cy="598488"/>
        </p:xfrm>
        <a:graphic>
          <a:graphicData uri="http://schemas.openxmlformats.org/presentationml/2006/ole">
            <mc:AlternateContent xmlns:mc="http://schemas.openxmlformats.org/markup-compatibility/2006">
              <mc:Choice xmlns:v="urn:schemas-microsoft-com:vml" Requires="v">
                <p:oleObj name="Equation" r:id="rId4" imgW="1714320" imgH="279360" progId="Equation.DSMT4">
                  <p:embed/>
                </p:oleObj>
              </mc:Choice>
              <mc:Fallback>
                <p:oleObj name="Equation" r:id="rId4" imgW="1714320" imgH="279360" progId="Equation.DSMT4">
                  <p:embed/>
                  <p:pic>
                    <p:nvPicPr>
                      <p:cNvPr id="5" name="Object 4"/>
                      <p:cNvPicPr/>
                      <p:nvPr/>
                    </p:nvPicPr>
                    <p:blipFill>
                      <a:blip r:embed="rId5"/>
                      <a:stretch>
                        <a:fillRect/>
                      </a:stretch>
                    </p:blipFill>
                    <p:spPr>
                      <a:xfrm>
                        <a:off x="6984523" y="2600297"/>
                        <a:ext cx="3670300" cy="598488"/>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077869571"/>
              </p:ext>
            </p:extLst>
          </p:nvPr>
        </p:nvGraphicFramePr>
        <p:xfrm>
          <a:off x="6984523" y="3292914"/>
          <a:ext cx="3806825" cy="1089025"/>
        </p:xfrm>
        <a:graphic>
          <a:graphicData uri="http://schemas.openxmlformats.org/presentationml/2006/ole">
            <mc:AlternateContent xmlns:mc="http://schemas.openxmlformats.org/markup-compatibility/2006">
              <mc:Choice xmlns:v="urn:schemas-microsoft-com:vml" Requires="v">
                <p:oleObj name="Equation" r:id="rId6" imgW="1777680" imgH="507960" progId="Equation.DSMT4">
                  <p:embed/>
                </p:oleObj>
              </mc:Choice>
              <mc:Fallback>
                <p:oleObj name="Equation" r:id="rId6" imgW="1777680" imgH="507960" progId="Equation.DSMT4">
                  <p:embed/>
                  <p:pic>
                    <p:nvPicPr>
                      <p:cNvPr id="6" name="Object 5"/>
                      <p:cNvPicPr/>
                      <p:nvPr/>
                    </p:nvPicPr>
                    <p:blipFill>
                      <a:blip r:embed="rId7"/>
                      <a:stretch>
                        <a:fillRect/>
                      </a:stretch>
                    </p:blipFill>
                    <p:spPr>
                      <a:xfrm>
                        <a:off x="6984523" y="3292914"/>
                        <a:ext cx="3806825" cy="1089025"/>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993266574"/>
              </p:ext>
            </p:extLst>
          </p:nvPr>
        </p:nvGraphicFramePr>
        <p:xfrm>
          <a:off x="4467527" y="4745010"/>
          <a:ext cx="2092325" cy="1089025"/>
        </p:xfrm>
        <a:graphic>
          <a:graphicData uri="http://schemas.openxmlformats.org/presentationml/2006/ole">
            <mc:AlternateContent xmlns:mc="http://schemas.openxmlformats.org/markup-compatibility/2006">
              <mc:Choice xmlns:v="urn:schemas-microsoft-com:vml" Requires="v">
                <p:oleObj name="Equation" r:id="rId8" imgW="977760" imgH="507960" progId="Equation.DSMT4">
                  <p:embed/>
                </p:oleObj>
              </mc:Choice>
              <mc:Fallback>
                <p:oleObj name="Equation" r:id="rId8" imgW="977760" imgH="507960" progId="Equation.DSMT4">
                  <p:embed/>
                  <p:pic>
                    <p:nvPicPr>
                      <p:cNvPr id="7" name="Object 6"/>
                      <p:cNvPicPr/>
                      <p:nvPr/>
                    </p:nvPicPr>
                    <p:blipFill>
                      <a:blip r:embed="rId9"/>
                      <a:stretch>
                        <a:fillRect/>
                      </a:stretch>
                    </p:blipFill>
                    <p:spPr>
                      <a:xfrm>
                        <a:off x="4467527" y="4745010"/>
                        <a:ext cx="2092325" cy="1089025"/>
                      </a:xfrm>
                      <a:prstGeom prst="rect">
                        <a:avLst/>
                      </a:prstGeom>
                    </p:spPr>
                  </p:pic>
                </p:oleObj>
              </mc:Fallback>
            </mc:AlternateContent>
          </a:graphicData>
        </a:graphic>
      </p:graphicFrame>
    </p:spTree>
    <p:extLst>
      <p:ext uri="{BB962C8B-B14F-4D97-AF65-F5344CB8AC3E}">
        <p14:creationId xmlns:p14="http://schemas.microsoft.com/office/powerpoint/2010/main" val="24554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Bucket or Barrel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b="1" dirty="0">
                <a:solidFill>
                  <a:schemeClr val="tx1"/>
                </a:solidFill>
              </a:rPr>
              <a:t>Limitations:</a:t>
            </a:r>
          </a:p>
          <a:p>
            <a:pPr marL="800100" lvl="4" indent="-342900" algn="just">
              <a:lnSpc>
                <a:spcPct val="150000"/>
              </a:lnSpc>
            </a:pPr>
            <a:r>
              <a:rPr lang="en-US" sz="2000" dirty="0">
                <a:solidFill>
                  <a:schemeClr val="tx1"/>
                </a:solidFill>
              </a:rPr>
              <a:t>This method is not accurate.</a:t>
            </a:r>
          </a:p>
          <a:p>
            <a:pPr marL="800100" lvl="4" indent="-342900" algn="just">
              <a:lnSpc>
                <a:spcPct val="150000"/>
              </a:lnSpc>
            </a:pPr>
            <a:r>
              <a:rPr lang="en-US" sz="2000" dirty="0">
                <a:solidFill>
                  <a:schemeClr val="tx1"/>
                </a:solidFill>
              </a:rPr>
              <a:t>Accuracy decreases as temperature difference (t</a:t>
            </a:r>
            <a:r>
              <a:rPr lang="en-US" sz="2000" baseline="-25000" dirty="0">
                <a:solidFill>
                  <a:schemeClr val="tx1"/>
                </a:solidFill>
              </a:rPr>
              <a:t>2</a:t>
            </a:r>
            <a:r>
              <a:rPr lang="en-US" sz="2000" dirty="0">
                <a:solidFill>
                  <a:schemeClr val="tx1"/>
                </a:solidFill>
              </a:rPr>
              <a:t> – t</a:t>
            </a:r>
            <a:r>
              <a:rPr lang="en-US" sz="2000" baseline="-25000" dirty="0">
                <a:solidFill>
                  <a:schemeClr val="tx1"/>
                </a:solidFill>
              </a:rPr>
              <a:t>1</a:t>
            </a:r>
            <a:r>
              <a:rPr lang="en-US" sz="2000" dirty="0">
                <a:solidFill>
                  <a:schemeClr val="tx1"/>
                </a:solidFill>
              </a:rPr>
              <a:t>) increases because losses are more at higher temperature difference.</a:t>
            </a:r>
          </a:p>
        </p:txBody>
      </p:sp>
    </p:spTree>
    <p:extLst>
      <p:ext uri="{BB962C8B-B14F-4D97-AF65-F5344CB8AC3E}">
        <p14:creationId xmlns:p14="http://schemas.microsoft.com/office/powerpoint/2010/main" val="391229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Throttling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3452973" y="726141"/>
            <a:ext cx="8739027" cy="5392271"/>
          </a:xfrm>
          <a:prstGeom prst="rect">
            <a:avLst/>
          </a:prstGeom>
        </p:spPr>
      </p:pic>
    </p:spTree>
    <p:extLst>
      <p:ext uri="{BB962C8B-B14F-4D97-AF65-F5344CB8AC3E}">
        <p14:creationId xmlns:p14="http://schemas.microsoft.com/office/powerpoint/2010/main" val="3192756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Throttling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Enthalpy before throttling = Enthalpy after throttling</a:t>
            </a:r>
          </a:p>
          <a:p>
            <a:pPr marL="0" lvl="3" indent="0" algn="ctr">
              <a:lnSpc>
                <a:spcPct val="150000"/>
              </a:lnSpc>
              <a:buNone/>
            </a:pPr>
            <a:r>
              <a:rPr lang="en-US" sz="2000" dirty="0">
                <a:solidFill>
                  <a:schemeClr val="tx1"/>
                </a:solidFill>
              </a:rPr>
              <a:t>Enthalpy at p</a:t>
            </a:r>
            <a:r>
              <a:rPr lang="en-US" sz="2000" baseline="-25000" dirty="0">
                <a:solidFill>
                  <a:schemeClr val="tx1"/>
                </a:solidFill>
              </a:rPr>
              <a:t>1</a:t>
            </a:r>
            <a:r>
              <a:rPr lang="en-US" sz="2000" dirty="0">
                <a:solidFill>
                  <a:schemeClr val="tx1"/>
                </a:solidFill>
              </a:rPr>
              <a:t> = Enthalpy at p</a:t>
            </a:r>
            <a:r>
              <a:rPr lang="en-US" sz="2000" baseline="-25000" dirty="0">
                <a:solidFill>
                  <a:schemeClr val="tx1"/>
                </a:solidFill>
              </a:rPr>
              <a:t>2</a:t>
            </a: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342900" lvl="3" indent="-342900" algn="just">
              <a:lnSpc>
                <a:spcPct val="150000"/>
              </a:lnSpc>
            </a:pPr>
            <a:endParaRPr lang="en-US" sz="2000" dirty="0">
              <a:solidFill>
                <a:schemeClr val="tx1"/>
              </a:solidFill>
            </a:endParaRPr>
          </a:p>
          <a:p>
            <a:pPr marL="0" lvl="3" indent="0" algn="just">
              <a:lnSpc>
                <a:spcPct val="150000"/>
              </a:lnSpc>
              <a:buNone/>
            </a:pPr>
            <a:endParaRPr lang="en-US" sz="2000" dirty="0">
              <a:solidFill>
                <a:schemeClr val="tx1"/>
              </a:solidFill>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4040077902"/>
              </p:ext>
            </p:extLst>
          </p:nvPr>
        </p:nvGraphicFramePr>
        <p:xfrm>
          <a:off x="5138738" y="2661770"/>
          <a:ext cx="4948238" cy="598487"/>
        </p:xfrm>
        <a:graphic>
          <a:graphicData uri="http://schemas.openxmlformats.org/presentationml/2006/ole">
            <mc:AlternateContent xmlns:mc="http://schemas.openxmlformats.org/markup-compatibility/2006">
              <mc:Choice xmlns:v="urn:schemas-microsoft-com:vml" Requires="v">
                <p:oleObj name="Equation" r:id="rId2" imgW="2311200" imgH="279360" progId="Equation.DSMT4">
                  <p:embed/>
                </p:oleObj>
              </mc:Choice>
              <mc:Fallback>
                <p:oleObj name="Equation" r:id="rId2" imgW="2311200" imgH="279360" progId="Equation.DSMT4">
                  <p:embed/>
                  <p:pic>
                    <p:nvPicPr>
                      <p:cNvPr id="3" name="Object 2"/>
                      <p:cNvPicPr/>
                      <p:nvPr/>
                    </p:nvPicPr>
                    <p:blipFill>
                      <a:blip r:embed="rId3"/>
                      <a:stretch>
                        <a:fillRect/>
                      </a:stretch>
                    </p:blipFill>
                    <p:spPr>
                      <a:xfrm>
                        <a:off x="5138738" y="2661770"/>
                        <a:ext cx="4948238" cy="598487"/>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733726522"/>
              </p:ext>
            </p:extLst>
          </p:nvPr>
        </p:nvGraphicFramePr>
        <p:xfrm>
          <a:off x="5505451" y="3422827"/>
          <a:ext cx="4213225" cy="598488"/>
        </p:xfrm>
        <a:graphic>
          <a:graphicData uri="http://schemas.openxmlformats.org/presentationml/2006/ole">
            <mc:AlternateContent xmlns:mc="http://schemas.openxmlformats.org/markup-compatibility/2006">
              <mc:Choice xmlns:v="urn:schemas-microsoft-com:vml" Requires="v">
                <p:oleObj name="Equation" r:id="rId4" imgW="1968480" imgH="279360" progId="Equation.DSMT4">
                  <p:embed/>
                </p:oleObj>
              </mc:Choice>
              <mc:Fallback>
                <p:oleObj name="Equation" r:id="rId4" imgW="1968480" imgH="279360" progId="Equation.DSMT4">
                  <p:embed/>
                  <p:pic>
                    <p:nvPicPr>
                      <p:cNvPr id="9" name="Object 8"/>
                      <p:cNvPicPr/>
                      <p:nvPr/>
                    </p:nvPicPr>
                    <p:blipFill>
                      <a:blip r:embed="rId5"/>
                      <a:stretch>
                        <a:fillRect/>
                      </a:stretch>
                    </p:blipFill>
                    <p:spPr>
                      <a:xfrm>
                        <a:off x="5505451" y="3422827"/>
                        <a:ext cx="4213225" cy="598488"/>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2456356917"/>
              </p:ext>
            </p:extLst>
          </p:nvPr>
        </p:nvGraphicFramePr>
        <p:xfrm>
          <a:off x="5695950" y="4210779"/>
          <a:ext cx="3832225" cy="1114425"/>
        </p:xfrm>
        <a:graphic>
          <a:graphicData uri="http://schemas.openxmlformats.org/presentationml/2006/ole">
            <mc:AlternateContent xmlns:mc="http://schemas.openxmlformats.org/markup-compatibility/2006">
              <mc:Choice xmlns:v="urn:schemas-microsoft-com:vml" Requires="v">
                <p:oleObj name="Equation" r:id="rId6" imgW="1790640" imgH="520560" progId="Equation.DSMT4">
                  <p:embed/>
                </p:oleObj>
              </mc:Choice>
              <mc:Fallback>
                <p:oleObj name="Equation" r:id="rId6" imgW="1790640" imgH="520560" progId="Equation.DSMT4">
                  <p:embed/>
                  <p:pic>
                    <p:nvPicPr>
                      <p:cNvPr id="10" name="Object 9"/>
                      <p:cNvPicPr/>
                      <p:nvPr/>
                    </p:nvPicPr>
                    <p:blipFill>
                      <a:blip r:embed="rId7"/>
                      <a:stretch>
                        <a:fillRect/>
                      </a:stretch>
                    </p:blipFill>
                    <p:spPr>
                      <a:xfrm>
                        <a:off x="5695950" y="4210779"/>
                        <a:ext cx="3832225" cy="1114425"/>
                      </a:xfrm>
                      <a:prstGeom prst="rect">
                        <a:avLst/>
                      </a:prstGeom>
                    </p:spPr>
                  </p:pic>
                </p:oleObj>
              </mc:Fallback>
            </mc:AlternateContent>
          </a:graphicData>
        </a:graphic>
      </p:graphicFrame>
    </p:spTree>
    <p:extLst>
      <p:ext uri="{BB962C8B-B14F-4D97-AF65-F5344CB8AC3E}">
        <p14:creationId xmlns:p14="http://schemas.microsoft.com/office/powerpoint/2010/main" val="2917714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Separating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3608748" y="121127"/>
            <a:ext cx="8049851" cy="6606601"/>
          </a:xfrm>
          <a:prstGeom prst="rect">
            <a:avLst/>
          </a:prstGeom>
        </p:spPr>
      </p:pic>
    </p:spTree>
    <p:extLst>
      <p:ext uri="{BB962C8B-B14F-4D97-AF65-F5344CB8AC3E}">
        <p14:creationId xmlns:p14="http://schemas.microsoft.com/office/powerpoint/2010/main" val="2225502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Separating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29314" y="160338"/>
            <a:ext cx="8200570" cy="6858000"/>
          </a:xfrm>
          <a:solidFill>
            <a:schemeClr val="bg1"/>
          </a:solidFill>
        </p:spPr>
        <p:txBody>
          <a:bodyPr>
            <a:normAutofit/>
          </a:bodyPr>
          <a:lstStyle/>
          <a:p>
            <a:pPr marL="342900" lvl="3" indent="-342900" algn="just">
              <a:lnSpc>
                <a:spcPct val="150000"/>
              </a:lnSpc>
            </a:pPr>
            <a:r>
              <a:rPr lang="en-US" sz="2000" dirty="0">
                <a:solidFill>
                  <a:schemeClr val="tx1"/>
                </a:solidFill>
              </a:rPr>
              <a:t>Where, </a:t>
            </a:r>
            <a:r>
              <a:rPr lang="en-US" sz="2000" dirty="0" err="1">
                <a:solidFill>
                  <a:schemeClr val="tx1"/>
                </a:solidFill>
              </a:rPr>
              <a:t>m</a:t>
            </a:r>
            <a:r>
              <a:rPr lang="en-US" sz="2000" baseline="-25000" dirty="0" err="1">
                <a:solidFill>
                  <a:schemeClr val="tx1"/>
                </a:solidFill>
              </a:rPr>
              <a:t>s</a:t>
            </a:r>
            <a:r>
              <a:rPr lang="en-US" sz="2000" dirty="0">
                <a:solidFill>
                  <a:schemeClr val="tx1"/>
                </a:solidFill>
              </a:rPr>
              <a:t> = mass steam condensed in barrel calorimeter</a:t>
            </a:r>
          </a:p>
          <a:p>
            <a:pPr marL="0" lvl="3" indent="0" algn="just">
              <a:lnSpc>
                <a:spcPct val="150000"/>
              </a:lnSpc>
              <a:buNone/>
            </a:pPr>
            <a:r>
              <a:rPr lang="en-US" sz="2000" dirty="0">
                <a:solidFill>
                  <a:schemeClr val="tx1"/>
                </a:solidFill>
              </a:rPr>
              <a:t>	   m</a:t>
            </a:r>
            <a:r>
              <a:rPr lang="en-US" sz="2000" baseline="-25000" dirty="0">
                <a:solidFill>
                  <a:schemeClr val="tx1"/>
                </a:solidFill>
              </a:rPr>
              <a:t>w</a:t>
            </a:r>
            <a:r>
              <a:rPr lang="en-US" sz="2000" dirty="0">
                <a:solidFill>
                  <a:schemeClr val="tx1"/>
                </a:solidFill>
              </a:rPr>
              <a:t> = mass of water collected in inner chamber</a:t>
            </a:r>
          </a:p>
          <a:p>
            <a:pPr marL="0" lvl="3" indent="0" algn="just">
              <a:lnSpc>
                <a:spcPct val="150000"/>
              </a:lnSpc>
              <a:buNone/>
            </a:pPr>
            <a:r>
              <a:rPr lang="en-US" sz="2000" dirty="0">
                <a:solidFill>
                  <a:schemeClr val="tx1"/>
                </a:solidFill>
              </a:rPr>
              <a:t>	    x = dryness fraction</a:t>
            </a:r>
          </a:p>
        </p:txBody>
      </p:sp>
      <p:graphicFrame>
        <p:nvGraphicFramePr>
          <p:cNvPr id="9" name="Object 8"/>
          <p:cNvGraphicFramePr>
            <a:graphicFrameLocks noChangeAspect="1"/>
          </p:cNvGraphicFramePr>
          <p:nvPr>
            <p:extLst>
              <p:ext uri="{D42A27DB-BD31-4B8C-83A1-F6EECF244321}">
                <p14:modId xmlns:p14="http://schemas.microsoft.com/office/powerpoint/2010/main" val="3626169812"/>
              </p:ext>
            </p:extLst>
          </p:nvPr>
        </p:nvGraphicFramePr>
        <p:xfrm>
          <a:off x="6561128" y="1123837"/>
          <a:ext cx="2136941" cy="1173105"/>
        </p:xfrm>
        <a:graphic>
          <a:graphicData uri="http://schemas.openxmlformats.org/presentationml/2006/ole">
            <mc:AlternateContent xmlns:mc="http://schemas.openxmlformats.org/markup-compatibility/2006">
              <mc:Choice xmlns:v="urn:schemas-microsoft-com:vml" Requires="v">
                <p:oleObj name="Equation" r:id="rId2" imgW="787320" imgH="431640" progId="Equation.DSMT4">
                  <p:embed/>
                </p:oleObj>
              </mc:Choice>
              <mc:Fallback>
                <p:oleObj name="Equation" r:id="rId2" imgW="787320" imgH="431640" progId="Equation.DSMT4">
                  <p:embed/>
                  <p:pic>
                    <p:nvPicPr>
                      <p:cNvPr id="3" name="Object 2"/>
                      <p:cNvPicPr/>
                      <p:nvPr/>
                    </p:nvPicPr>
                    <p:blipFill>
                      <a:blip r:embed="rId3"/>
                      <a:stretch>
                        <a:fillRect/>
                      </a:stretch>
                    </p:blipFill>
                    <p:spPr>
                      <a:xfrm>
                        <a:off x="6561128" y="1123837"/>
                        <a:ext cx="2136941" cy="1173105"/>
                      </a:xfrm>
                      <a:prstGeom prst="rect">
                        <a:avLst/>
                      </a:prstGeom>
                    </p:spPr>
                  </p:pic>
                </p:oleObj>
              </mc:Fallback>
            </mc:AlternateContent>
          </a:graphicData>
        </a:graphic>
      </p:graphicFrame>
    </p:spTree>
    <p:extLst>
      <p:ext uri="{BB962C8B-B14F-4D97-AF65-F5344CB8AC3E}">
        <p14:creationId xmlns:p14="http://schemas.microsoft.com/office/powerpoint/2010/main" val="3317497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Combined separating and throttling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3576917" y="1329049"/>
            <a:ext cx="8024799" cy="4197691"/>
          </a:xfrm>
          <a:prstGeom prst="rect">
            <a:avLst/>
          </a:prstGeom>
        </p:spPr>
      </p:pic>
    </p:spTree>
    <p:extLst>
      <p:ext uri="{BB962C8B-B14F-4D97-AF65-F5344CB8AC3E}">
        <p14:creationId xmlns:p14="http://schemas.microsoft.com/office/powerpoint/2010/main" val="1046784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dirty="0"/>
              <a:t>Combined separating and throttling calorimeter</a:t>
            </a:r>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58606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lstStyle/>
          <a:p>
            <a:pPr algn="ctr"/>
            <a:r>
              <a:rPr lang="en-IN"/>
              <a:t>Steam Table</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02012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1</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lvl="0" indent="0" algn="just">
              <a:lnSpc>
                <a:spcPct val="150000"/>
              </a:lnSpc>
              <a:buNone/>
            </a:pPr>
            <a:r>
              <a:rPr lang="en-US" b="1" dirty="0">
                <a:solidFill>
                  <a:schemeClr val="tx1"/>
                </a:solidFill>
              </a:rPr>
              <a:t>Find the enthalpy of 1 kg of steam at 12 bar when (</a:t>
            </a:r>
            <a:r>
              <a:rPr lang="en-US" b="1" dirty="0" err="1">
                <a:solidFill>
                  <a:schemeClr val="tx1"/>
                </a:solidFill>
              </a:rPr>
              <a:t>i</a:t>
            </a:r>
            <a:r>
              <a:rPr lang="en-US" b="1" dirty="0">
                <a:solidFill>
                  <a:schemeClr val="tx1"/>
                </a:solidFill>
              </a:rPr>
              <a:t>) steam is dry saturated, (ii) steam is 22% wet and, (iii) superheated to 250 </a:t>
            </a:r>
            <a:r>
              <a:rPr lang="en-US" b="1" baseline="30000" dirty="0">
                <a:solidFill>
                  <a:schemeClr val="tx1"/>
                </a:solidFill>
              </a:rPr>
              <a:t>0</a:t>
            </a:r>
            <a:r>
              <a:rPr lang="en-US" b="1" dirty="0">
                <a:solidFill>
                  <a:schemeClr val="tx1"/>
                </a:solidFill>
              </a:rPr>
              <a:t>C. Use the steam table. Assume the specific heat of the superheated steam as 2.1 kJ/</a:t>
            </a:r>
            <a:r>
              <a:rPr lang="en-US" b="1" dirty="0" err="1">
                <a:solidFill>
                  <a:schemeClr val="tx1"/>
                </a:solidFill>
              </a:rPr>
              <a:t>kg.K</a:t>
            </a:r>
            <a:r>
              <a:rPr lang="en-US" b="1" dirty="0">
                <a:solidFill>
                  <a:schemeClr val="tx1"/>
                </a:solidFill>
              </a:rPr>
              <a:t>.</a:t>
            </a:r>
          </a:p>
          <a:p>
            <a:pPr marL="0" lv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buNone/>
            </a:pPr>
            <a:r>
              <a:rPr lang="en-IN" dirty="0">
                <a:solidFill>
                  <a:schemeClr val="tx1"/>
                </a:solidFill>
              </a:rPr>
              <a:t>m = 1 kg, p = 12 bar = 12 x 10</a:t>
            </a:r>
            <a:r>
              <a:rPr lang="en-IN" baseline="30000" dirty="0">
                <a:solidFill>
                  <a:schemeClr val="tx1"/>
                </a:solidFill>
              </a:rPr>
              <a:t>5</a:t>
            </a:r>
            <a:r>
              <a:rPr lang="en-IN" dirty="0">
                <a:solidFill>
                  <a:schemeClr val="tx1"/>
                </a:solidFill>
              </a:rPr>
              <a:t> N/m</a:t>
            </a:r>
            <a:r>
              <a:rPr lang="en-IN" baseline="30000" dirty="0">
                <a:solidFill>
                  <a:schemeClr val="tx1"/>
                </a:solidFill>
              </a:rPr>
              <a:t>2</a:t>
            </a:r>
            <a:r>
              <a:rPr lang="en-IN" dirty="0">
                <a:solidFill>
                  <a:schemeClr val="tx1"/>
                </a:solidFill>
              </a:rPr>
              <a:t>, </a:t>
            </a:r>
          </a:p>
          <a:p>
            <a:pPr marL="0" indent="0">
              <a:buNone/>
            </a:pPr>
            <a:r>
              <a:rPr lang="en-IN" dirty="0">
                <a:solidFill>
                  <a:schemeClr val="tx1"/>
                </a:solidFill>
              </a:rPr>
              <a:t>Steam is 22% wet, hence wetness fraction= 0.22, </a:t>
            </a:r>
          </a:p>
          <a:p>
            <a:pPr marL="0" indent="0">
              <a:buNone/>
            </a:pPr>
            <a:r>
              <a:rPr lang="en-IN" dirty="0">
                <a:solidFill>
                  <a:schemeClr val="tx1"/>
                </a:solidFill>
              </a:rPr>
              <a:t>dryness fraction, x = 1 – 0.22 = 0.78, </a:t>
            </a:r>
            <a:r>
              <a:rPr lang="en-IN" dirty="0" err="1">
                <a:solidFill>
                  <a:schemeClr val="tx1"/>
                </a:solidFill>
              </a:rPr>
              <a:t>T</a:t>
            </a:r>
            <a:r>
              <a:rPr lang="en-IN" baseline="-25000" dirty="0" err="1">
                <a:solidFill>
                  <a:schemeClr val="tx1"/>
                </a:solidFill>
              </a:rPr>
              <a:t>sup</a:t>
            </a:r>
            <a:r>
              <a:rPr lang="en-IN" dirty="0">
                <a:solidFill>
                  <a:schemeClr val="tx1"/>
                </a:solidFill>
              </a:rPr>
              <a:t> = 250</a:t>
            </a:r>
            <a:r>
              <a:rPr lang="en-IN" baseline="30000" dirty="0">
                <a:solidFill>
                  <a:schemeClr val="tx1"/>
                </a:solidFill>
              </a:rPr>
              <a:t>o</a:t>
            </a:r>
            <a:r>
              <a:rPr lang="en-IN" dirty="0">
                <a:solidFill>
                  <a:schemeClr val="tx1"/>
                </a:solidFill>
              </a:rPr>
              <a:t> C, </a:t>
            </a:r>
          </a:p>
          <a:p>
            <a:pPr marL="0" indent="0">
              <a:buNone/>
            </a:pPr>
            <a:r>
              <a:rPr lang="en-IN" dirty="0">
                <a:solidFill>
                  <a:schemeClr val="tx1"/>
                </a:solidFill>
              </a:rPr>
              <a:t>Enthalpy of steam, h = ?</a:t>
            </a:r>
            <a:endParaRPr lang="en-US" sz="1800" dirty="0">
              <a:solidFill>
                <a:schemeClr val="tx1"/>
              </a:solidFill>
            </a:endParaRPr>
          </a:p>
        </p:txBody>
      </p:sp>
    </p:spTree>
    <p:extLst>
      <p:ext uri="{BB962C8B-B14F-4D97-AF65-F5344CB8AC3E}">
        <p14:creationId xmlns:p14="http://schemas.microsoft.com/office/powerpoint/2010/main" val="144284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1</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12 bar, the following values are noted.</a:t>
            </a:r>
          </a:p>
          <a:p>
            <a:pPr marL="1789113" indent="0">
              <a:lnSpc>
                <a:spcPct val="150000"/>
              </a:lnSpc>
              <a:buNone/>
            </a:pPr>
            <a:r>
              <a:rPr lang="en-US" dirty="0" err="1">
                <a:solidFill>
                  <a:schemeClr val="tx1"/>
                </a:solidFill>
              </a:rPr>
              <a:t>Ts</a:t>
            </a:r>
            <a:r>
              <a:rPr lang="en-US" dirty="0">
                <a:solidFill>
                  <a:schemeClr val="tx1"/>
                </a:solidFill>
              </a:rPr>
              <a:t> = 188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hf</a:t>
            </a:r>
            <a:r>
              <a:rPr lang="en-US" dirty="0">
                <a:solidFill>
                  <a:schemeClr val="tx1"/>
                </a:solidFill>
              </a:rPr>
              <a:t> = 798.43 kJ/kg</a:t>
            </a:r>
          </a:p>
          <a:p>
            <a:pPr marL="1789113" indent="0">
              <a:lnSpc>
                <a:spcPct val="150000"/>
              </a:lnSpc>
              <a:buNone/>
            </a:pPr>
            <a:r>
              <a:rPr lang="en-US" dirty="0" err="1">
                <a:solidFill>
                  <a:schemeClr val="tx1"/>
                </a:solidFill>
              </a:rPr>
              <a:t>hfg</a:t>
            </a:r>
            <a:r>
              <a:rPr lang="en-US" dirty="0">
                <a:solidFill>
                  <a:schemeClr val="tx1"/>
                </a:solidFill>
              </a:rPr>
              <a:t> = 1984.3 kJ/kg</a:t>
            </a:r>
          </a:p>
          <a:p>
            <a:pPr marL="0" indent="0">
              <a:lnSpc>
                <a:spcPct val="150000"/>
              </a:lnSpc>
              <a:buNone/>
            </a:pPr>
            <a:r>
              <a:rPr lang="en-US" dirty="0">
                <a:solidFill>
                  <a:schemeClr val="tx1"/>
                </a:solidFill>
              </a:rPr>
              <a:t>(</a:t>
            </a:r>
            <a:r>
              <a:rPr lang="en-US" dirty="0" err="1">
                <a:solidFill>
                  <a:schemeClr val="tx1"/>
                </a:solidFill>
              </a:rPr>
              <a:t>i</a:t>
            </a:r>
            <a:r>
              <a:rPr lang="en-US" dirty="0">
                <a:solidFill>
                  <a:schemeClr val="tx1"/>
                </a:solidFill>
              </a:rPr>
              <a:t>) Enthalpy of dry saturated steam:</a:t>
            </a:r>
          </a:p>
          <a:p>
            <a:pPr marL="538163" indent="0">
              <a:lnSpc>
                <a:spcPct val="150000"/>
              </a:lnSpc>
              <a:buNone/>
            </a:pPr>
            <a:r>
              <a:rPr lang="en-US" dirty="0">
                <a:solidFill>
                  <a:schemeClr val="tx1"/>
                </a:solidFill>
              </a:rPr>
              <a:t>h = </a:t>
            </a:r>
            <a:r>
              <a:rPr lang="en-US" dirty="0" err="1">
                <a:solidFill>
                  <a:schemeClr val="tx1"/>
                </a:solidFill>
              </a:rPr>
              <a:t>hf</a:t>
            </a:r>
            <a:r>
              <a:rPr lang="en-US" dirty="0">
                <a:solidFill>
                  <a:schemeClr val="tx1"/>
                </a:solidFill>
              </a:rPr>
              <a:t> + </a:t>
            </a:r>
            <a:r>
              <a:rPr lang="en-US" dirty="0" err="1">
                <a:solidFill>
                  <a:schemeClr val="tx1"/>
                </a:solidFill>
              </a:rPr>
              <a:t>hfg</a:t>
            </a:r>
            <a:r>
              <a:rPr lang="en-US" dirty="0">
                <a:solidFill>
                  <a:schemeClr val="tx1"/>
                </a:solidFill>
              </a:rPr>
              <a:t> = 798.43 + 1984.3 = 2782.73 kJ/kg</a:t>
            </a:r>
          </a:p>
          <a:p>
            <a:pPr marL="0" indent="0">
              <a:lnSpc>
                <a:spcPct val="150000"/>
              </a:lnSpc>
              <a:buNone/>
            </a:pPr>
            <a:r>
              <a:rPr lang="en-US" dirty="0">
                <a:solidFill>
                  <a:schemeClr val="tx1"/>
                </a:solidFill>
              </a:rPr>
              <a:t>(ii) Enthalpy of wet steam, </a:t>
            </a:r>
          </a:p>
          <a:p>
            <a:pPr marL="538163" indent="0">
              <a:lnSpc>
                <a:spcPct val="150000"/>
              </a:lnSpc>
              <a:buNone/>
            </a:pPr>
            <a:r>
              <a:rPr lang="en-US" dirty="0">
                <a:solidFill>
                  <a:schemeClr val="tx1"/>
                </a:solidFill>
              </a:rPr>
              <a:t>h = </a:t>
            </a:r>
            <a:r>
              <a:rPr lang="en-US" dirty="0" err="1">
                <a:solidFill>
                  <a:schemeClr val="tx1"/>
                </a:solidFill>
              </a:rPr>
              <a:t>hf</a:t>
            </a:r>
            <a:r>
              <a:rPr lang="en-US" dirty="0">
                <a:solidFill>
                  <a:schemeClr val="tx1"/>
                </a:solidFill>
              </a:rPr>
              <a:t> + (x) x </a:t>
            </a:r>
            <a:r>
              <a:rPr lang="en-US" dirty="0" err="1">
                <a:solidFill>
                  <a:schemeClr val="tx1"/>
                </a:solidFill>
              </a:rPr>
              <a:t>hfg</a:t>
            </a:r>
            <a:r>
              <a:rPr lang="en-US" dirty="0">
                <a:solidFill>
                  <a:schemeClr val="tx1"/>
                </a:solidFill>
              </a:rPr>
              <a:t> = 798.43 + (0.78 x 1984.3) = 2346.18 kJ/kg</a:t>
            </a:r>
          </a:p>
          <a:p>
            <a:pPr marL="0" indent="0">
              <a:lnSpc>
                <a:spcPct val="150000"/>
              </a:lnSpc>
              <a:buNone/>
            </a:pPr>
            <a:r>
              <a:rPr lang="en-US" dirty="0">
                <a:solidFill>
                  <a:schemeClr val="tx1"/>
                </a:solidFill>
              </a:rPr>
              <a:t>(iii) Enthalpy of superheated steam, </a:t>
            </a:r>
          </a:p>
          <a:p>
            <a:pPr marL="538163" indent="0">
              <a:lnSpc>
                <a:spcPct val="150000"/>
              </a:lnSpc>
              <a:buNone/>
            </a:pPr>
            <a:r>
              <a:rPr lang="en-US" dirty="0">
                <a:solidFill>
                  <a:schemeClr val="tx1"/>
                </a:solidFill>
              </a:rPr>
              <a:t>h = </a:t>
            </a:r>
            <a:r>
              <a:rPr lang="en-US" dirty="0" err="1">
                <a:solidFill>
                  <a:schemeClr val="tx1"/>
                </a:solidFill>
              </a:rPr>
              <a:t>hf</a:t>
            </a:r>
            <a:r>
              <a:rPr lang="en-US" dirty="0">
                <a:solidFill>
                  <a:schemeClr val="tx1"/>
                </a:solidFill>
              </a:rPr>
              <a:t> + </a:t>
            </a:r>
            <a:r>
              <a:rPr lang="en-US" dirty="0" err="1">
                <a:solidFill>
                  <a:schemeClr val="tx1"/>
                </a:solidFill>
              </a:rPr>
              <a:t>hfg</a:t>
            </a:r>
            <a:r>
              <a:rPr lang="en-US" dirty="0">
                <a:solidFill>
                  <a:schemeClr val="tx1"/>
                </a:solidFill>
              </a:rPr>
              <a:t> + Cps (</a:t>
            </a:r>
            <a:r>
              <a:rPr lang="en-US" dirty="0" err="1">
                <a:solidFill>
                  <a:schemeClr val="tx1"/>
                </a:solidFill>
              </a:rPr>
              <a:t>Tsup</a:t>
            </a:r>
            <a:r>
              <a:rPr lang="en-US" dirty="0">
                <a:solidFill>
                  <a:schemeClr val="tx1"/>
                </a:solidFill>
              </a:rPr>
              <a:t> - </a:t>
            </a:r>
            <a:r>
              <a:rPr lang="en-US" dirty="0" err="1">
                <a:solidFill>
                  <a:schemeClr val="tx1"/>
                </a:solidFill>
              </a:rPr>
              <a:t>Ts</a:t>
            </a:r>
            <a:r>
              <a:rPr lang="en-US" dirty="0">
                <a:solidFill>
                  <a:schemeClr val="tx1"/>
                </a:solidFill>
              </a:rPr>
              <a:t>)</a:t>
            </a:r>
          </a:p>
          <a:p>
            <a:pPr marL="538163" indent="0">
              <a:lnSpc>
                <a:spcPct val="150000"/>
              </a:lnSpc>
              <a:buNone/>
            </a:pPr>
            <a:r>
              <a:rPr lang="en-US" dirty="0">
                <a:solidFill>
                  <a:schemeClr val="tx1"/>
                </a:solidFill>
              </a:rPr>
              <a:t>h = 798.43 + 1984.3 + 2.1 (250 – 188) = 2912.93 kJ/kg</a:t>
            </a:r>
          </a:p>
          <a:p>
            <a:endParaRPr lang="en-US" dirty="0">
              <a:solidFill>
                <a:schemeClr val="tx1"/>
              </a:solidFill>
            </a:endParaRPr>
          </a:p>
        </p:txBody>
      </p:sp>
    </p:spTree>
    <p:extLst>
      <p:ext uri="{BB962C8B-B14F-4D97-AF65-F5344CB8AC3E}">
        <p14:creationId xmlns:p14="http://schemas.microsoft.com/office/powerpoint/2010/main" val="4730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500"/>
                                        <p:tgtEl>
                                          <p:spTgt spid="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2</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IN" b="1" dirty="0">
                <a:solidFill>
                  <a:schemeClr val="tx1"/>
                </a:solidFill>
              </a:rPr>
              <a:t>Determine enthalpy &amp; internal energy of 1 kg of steam at pressure 12 bar when (</a:t>
            </a:r>
            <a:r>
              <a:rPr lang="en-IN" b="1" dirty="0" err="1">
                <a:solidFill>
                  <a:schemeClr val="tx1"/>
                </a:solidFill>
              </a:rPr>
              <a:t>i</a:t>
            </a:r>
            <a:r>
              <a:rPr lang="en-IN" b="1" dirty="0">
                <a:solidFill>
                  <a:schemeClr val="tx1"/>
                </a:solidFill>
              </a:rPr>
              <a:t>) dryness  fraction of steam is 0.8 (ii) steam is dry &amp; saturated (iii) steam is superheated to 280</a:t>
            </a:r>
            <a:r>
              <a:rPr lang="en-IN" b="1" dirty="0">
                <a:solidFill>
                  <a:schemeClr val="tx1"/>
                </a:solidFill>
                <a:sym typeface="Symbol" panose="05050102010706020507" pitchFamily="18" charset="2"/>
              </a:rPr>
              <a:t></a:t>
            </a:r>
            <a:r>
              <a:rPr lang="en-IN" b="1" dirty="0">
                <a:solidFill>
                  <a:schemeClr val="tx1"/>
                </a:solidFill>
              </a:rPr>
              <a:t>C. Take C</a:t>
            </a:r>
            <a:r>
              <a:rPr lang="en-IN" b="1" baseline="-25000" dirty="0">
                <a:solidFill>
                  <a:schemeClr val="tx1"/>
                </a:solidFill>
              </a:rPr>
              <a:t>ps </a:t>
            </a:r>
            <a:r>
              <a:rPr lang="en-IN" b="1" dirty="0">
                <a:solidFill>
                  <a:schemeClr val="tx1"/>
                </a:solidFill>
              </a:rPr>
              <a:t> = 2.1KJ/kg K.</a:t>
            </a:r>
          </a:p>
          <a:p>
            <a:pPr mar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nSpc>
                <a:spcPct val="150000"/>
              </a:lnSpc>
              <a:buNone/>
            </a:pPr>
            <a:r>
              <a:rPr lang="en-IN" dirty="0">
                <a:solidFill>
                  <a:schemeClr val="tx1"/>
                </a:solidFill>
              </a:rPr>
              <a:t>P = 12 bar, x= 0.8, </a:t>
            </a:r>
            <a:r>
              <a:rPr lang="en-IN" dirty="0" err="1">
                <a:solidFill>
                  <a:schemeClr val="tx1"/>
                </a:solidFill>
              </a:rPr>
              <a:t>T</a:t>
            </a:r>
            <a:r>
              <a:rPr lang="en-IN" baseline="-25000" dirty="0" err="1">
                <a:solidFill>
                  <a:schemeClr val="tx1"/>
                </a:solidFill>
              </a:rPr>
              <a:t>sup</a:t>
            </a:r>
            <a:r>
              <a:rPr lang="en-IN" dirty="0">
                <a:solidFill>
                  <a:schemeClr val="tx1"/>
                </a:solidFill>
              </a:rPr>
              <a:t>  = 280</a:t>
            </a:r>
            <a:r>
              <a:rPr lang="en-IN" baseline="30000" dirty="0">
                <a:solidFill>
                  <a:schemeClr val="tx1"/>
                </a:solidFill>
              </a:rPr>
              <a:t>0</a:t>
            </a:r>
            <a:r>
              <a:rPr lang="en-IN" dirty="0">
                <a:solidFill>
                  <a:schemeClr val="tx1"/>
                </a:solidFill>
              </a:rPr>
              <a:t>C, C</a:t>
            </a:r>
            <a:r>
              <a:rPr lang="en-IN" baseline="-25000" dirty="0">
                <a:solidFill>
                  <a:schemeClr val="tx1"/>
                </a:solidFill>
              </a:rPr>
              <a:t>ps</a:t>
            </a:r>
            <a:r>
              <a:rPr lang="en-IN" dirty="0">
                <a:solidFill>
                  <a:schemeClr val="tx1"/>
                </a:solidFill>
              </a:rPr>
              <a:t> = 2.1 KJ/kg, h= ?, u = ?, h</a:t>
            </a:r>
            <a:r>
              <a:rPr lang="en-IN" baseline="-25000" dirty="0">
                <a:solidFill>
                  <a:schemeClr val="tx1"/>
                </a:solidFill>
              </a:rPr>
              <a:t>g</a:t>
            </a:r>
            <a:r>
              <a:rPr lang="en-IN" dirty="0">
                <a:solidFill>
                  <a:schemeClr val="tx1"/>
                </a:solidFill>
              </a:rPr>
              <a:t> = ?, </a:t>
            </a:r>
            <a:r>
              <a:rPr lang="en-IN" dirty="0" err="1">
                <a:solidFill>
                  <a:schemeClr val="tx1"/>
                </a:solidFill>
              </a:rPr>
              <a:t>h</a:t>
            </a:r>
            <a:r>
              <a:rPr lang="en-IN" baseline="-25000" dirty="0" err="1">
                <a:solidFill>
                  <a:schemeClr val="tx1"/>
                </a:solidFill>
              </a:rPr>
              <a:t>sup</a:t>
            </a:r>
            <a:r>
              <a:rPr lang="en-IN" dirty="0">
                <a:solidFill>
                  <a:schemeClr val="tx1"/>
                </a:solidFill>
              </a:rPr>
              <a:t> = ?</a:t>
            </a:r>
          </a:p>
        </p:txBody>
      </p:sp>
    </p:spTree>
    <p:extLst>
      <p:ext uri="{BB962C8B-B14F-4D97-AF65-F5344CB8AC3E}">
        <p14:creationId xmlns:p14="http://schemas.microsoft.com/office/powerpoint/2010/main" val="411106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2</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12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187.96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798.43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1984.3 kJ/kg</a:t>
            </a:r>
          </a:p>
          <a:p>
            <a:pPr marL="1789113" indent="0">
              <a:lnSpc>
                <a:spcPct val="150000"/>
              </a:lnSpc>
              <a:buNone/>
            </a:pPr>
            <a:r>
              <a:rPr lang="en-US" dirty="0">
                <a:solidFill>
                  <a:schemeClr val="tx1"/>
                </a:solidFill>
              </a:rPr>
              <a:t>v</a:t>
            </a:r>
            <a:r>
              <a:rPr lang="en-US" baseline="-25000" dirty="0">
                <a:solidFill>
                  <a:schemeClr val="tx1"/>
                </a:solidFill>
              </a:rPr>
              <a:t>g</a:t>
            </a:r>
            <a:r>
              <a:rPr lang="en-US" dirty="0">
                <a:solidFill>
                  <a:schemeClr val="tx1"/>
                </a:solidFill>
              </a:rPr>
              <a:t> = 0.1632 m</a:t>
            </a:r>
            <a:r>
              <a:rPr lang="en-US" baseline="30000" dirty="0">
                <a:solidFill>
                  <a:schemeClr val="tx1"/>
                </a:solidFill>
              </a:rPr>
              <a:t>3</a:t>
            </a:r>
            <a:r>
              <a:rPr lang="en-US" dirty="0">
                <a:solidFill>
                  <a:schemeClr val="tx1"/>
                </a:solidFill>
              </a:rPr>
              <a:t>/kg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03220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2</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58058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3 </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IN" b="1" dirty="0">
                <a:solidFill>
                  <a:schemeClr val="tx1"/>
                </a:solidFill>
              </a:rPr>
              <a:t>Determine enthalpy &amp; internal energy of 1 kg of steam at pressure 15 bar when (</a:t>
            </a:r>
            <a:r>
              <a:rPr lang="en-IN" b="1" dirty="0" err="1">
                <a:solidFill>
                  <a:schemeClr val="tx1"/>
                </a:solidFill>
              </a:rPr>
              <a:t>i</a:t>
            </a:r>
            <a:r>
              <a:rPr lang="en-IN" b="1" dirty="0">
                <a:solidFill>
                  <a:schemeClr val="tx1"/>
                </a:solidFill>
              </a:rPr>
              <a:t>) dryness  fraction of steam is 0.9 (ii) steam is superheated to 400 </a:t>
            </a:r>
            <a:r>
              <a:rPr lang="en-IN" b="1" dirty="0">
                <a:solidFill>
                  <a:schemeClr val="tx1"/>
                </a:solidFill>
                <a:sym typeface="Symbol" panose="05050102010706020507" pitchFamily="18" charset="2"/>
              </a:rPr>
              <a:t></a:t>
            </a:r>
            <a:r>
              <a:rPr lang="en-IN" b="1" dirty="0">
                <a:solidFill>
                  <a:schemeClr val="tx1"/>
                </a:solidFill>
              </a:rPr>
              <a:t>C. Take C</a:t>
            </a:r>
            <a:r>
              <a:rPr lang="en-IN" b="1" baseline="-25000" dirty="0">
                <a:solidFill>
                  <a:schemeClr val="tx1"/>
                </a:solidFill>
              </a:rPr>
              <a:t>ps </a:t>
            </a:r>
            <a:r>
              <a:rPr lang="en-IN" b="1" dirty="0">
                <a:solidFill>
                  <a:schemeClr val="tx1"/>
                </a:solidFill>
              </a:rPr>
              <a:t> = 2.1KJ/kg K.</a:t>
            </a:r>
          </a:p>
          <a:p>
            <a:pPr mar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nSpc>
                <a:spcPct val="150000"/>
              </a:lnSpc>
              <a:buNone/>
            </a:pPr>
            <a:r>
              <a:rPr lang="en-IN" dirty="0">
                <a:solidFill>
                  <a:schemeClr val="tx1"/>
                </a:solidFill>
              </a:rPr>
              <a:t>P = 15 bar, x= 0.9, </a:t>
            </a:r>
            <a:r>
              <a:rPr lang="en-IN" dirty="0" err="1">
                <a:solidFill>
                  <a:schemeClr val="tx1"/>
                </a:solidFill>
              </a:rPr>
              <a:t>T</a:t>
            </a:r>
            <a:r>
              <a:rPr lang="en-IN" baseline="-25000" dirty="0" err="1">
                <a:solidFill>
                  <a:schemeClr val="tx1"/>
                </a:solidFill>
              </a:rPr>
              <a:t>sup</a:t>
            </a:r>
            <a:r>
              <a:rPr lang="en-IN" dirty="0">
                <a:solidFill>
                  <a:schemeClr val="tx1"/>
                </a:solidFill>
              </a:rPr>
              <a:t>  = 400 </a:t>
            </a:r>
            <a:r>
              <a:rPr lang="en-IN" baseline="30000" dirty="0">
                <a:solidFill>
                  <a:schemeClr val="tx1"/>
                </a:solidFill>
              </a:rPr>
              <a:t>0</a:t>
            </a:r>
            <a:r>
              <a:rPr lang="en-IN" dirty="0">
                <a:solidFill>
                  <a:schemeClr val="tx1"/>
                </a:solidFill>
              </a:rPr>
              <a:t>C, C</a:t>
            </a:r>
            <a:r>
              <a:rPr lang="en-IN" baseline="-25000" dirty="0">
                <a:solidFill>
                  <a:schemeClr val="tx1"/>
                </a:solidFill>
              </a:rPr>
              <a:t>ps</a:t>
            </a:r>
            <a:r>
              <a:rPr lang="en-IN" dirty="0">
                <a:solidFill>
                  <a:schemeClr val="tx1"/>
                </a:solidFill>
              </a:rPr>
              <a:t> = 2.1 KJ/kg, h= ?, </a:t>
            </a:r>
            <a:r>
              <a:rPr lang="en-IN" dirty="0" err="1">
                <a:solidFill>
                  <a:schemeClr val="tx1"/>
                </a:solidFill>
              </a:rPr>
              <a:t>u</a:t>
            </a:r>
            <a:r>
              <a:rPr lang="en-IN" baseline="-25000" dirty="0" err="1">
                <a:solidFill>
                  <a:schemeClr val="tx1"/>
                </a:solidFill>
              </a:rPr>
              <a:t>sup</a:t>
            </a:r>
            <a:r>
              <a:rPr lang="en-IN" dirty="0">
                <a:solidFill>
                  <a:schemeClr val="tx1"/>
                </a:solidFill>
              </a:rPr>
              <a:t> = ?, </a:t>
            </a:r>
            <a:r>
              <a:rPr lang="en-IN" dirty="0" err="1">
                <a:solidFill>
                  <a:schemeClr val="tx1"/>
                </a:solidFill>
              </a:rPr>
              <a:t>h</a:t>
            </a:r>
            <a:r>
              <a:rPr lang="en-IN" baseline="-25000" dirty="0" err="1">
                <a:solidFill>
                  <a:schemeClr val="tx1"/>
                </a:solidFill>
              </a:rPr>
              <a:t>sup</a:t>
            </a:r>
            <a:r>
              <a:rPr lang="en-IN" dirty="0">
                <a:solidFill>
                  <a:schemeClr val="tx1"/>
                </a:solidFill>
              </a:rPr>
              <a:t> = ?, h = ?, u = ?</a:t>
            </a:r>
          </a:p>
        </p:txBody>
      </p:sp>
    </p:spTree>
    <p:extLst>
      <p:ext uri="{BB962C8B-B14F-4D97-AF65-F5344CB8AC3E}">
        <p14:creationId xmlns:p14="http://schemas.microsoft.com/office/powerpoint/2010/main" val="259408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3</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15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198.3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844.7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1945.2 kJ/kg</a:t>
            </a:r>
          </a:p>
          <a:p>
            <a:pPr marL="1789113" indent="0">
              <a:lnSpc>
                <a:spcPct val="150000"/>
              </a:lnSpc>
              <a:buNone/>
            </a:pPr>
            <a:r>
              <a:rPr lang="en-US" dirty="0">
                <a:solidFill>
                  <a:schemeClr val="tx1"/>
                </a:solidFill>
              </a:rPr>
              <a:t>v</a:t>
            </a:r>
            <a:r>
              <a:rPr lang="en-US" baseline="-25000" dirty="0">
                <a:solidFill>
                  <a:schemeClr val="tx1"/>
                </a:solidFill>
              </a:rPr>
              <a:t>g</a:t>
            </a:r>
            <a:r>
              <a:rPr lang="en-US" dirty="0">
                <a:solidFill>
                  <a:schemeClr val="tx1"/>
                </a:solidFill>
              </a:rPr>
              <a:t> = 0.1317 m</a:t>
            </a:r>
            <a:r>
              <a:rPr lang="en-US" baseline="30000" dirty="0">
                <a:solidFill>
                  <a:schemeClr val="tx1"/>
                </a:solidFill>
              </a:rPr>
              <a:t>3</a:t>
            </a:r>
            <a:r>
              <a:rPr lang="en-US" dirty="0">
                <a:solidFill>
                  <a:schemeClr val="tx1"/>
                </a:solidFill>
              </a:rPr>
              <a:t>/kg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9564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4</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IN" b="1" dirty="0">
                <a:solidFill>
                  <a:schemeClr val="tx1"/>
                </a:solidFill>
              </a:rPr>
              <a:t>Determine amount of heat is required to produce 7 kg of steam at a pressure of 6 bar and temperature of 250 </a:t>
            </a:r>
            <a:r>
              <a:rPr lang="en-IN" b="1" baseline="30000" dirty="0" err="1">
                <a:solidFill>
                  <a:schemeClr val="tx1"/>
                </a:solidFill>
              </a:rPr>
              <a:t>o</a:t>
            </a:r>
            <a:r>
              <a:rPr lang="en-IN" b="1" dirty="0" err="1">
                <a:solidFill>
                  <a:schemeClr val="tx1"/>
                </a:solidFill>
              </a:rPr>
              <a:t>C</a:t>
            </a:r>
            <a:r>
              <a:rPr lang="en-IN" b="1" dirty="0">
                <a:solidFill>
                  <a:schemeClr val="tx1"/>
                </a:solidFill>
              </a:rPr>
              <a:t> from water at 35 </a:t>
            </a:r>
            <a:r>
              <a:rPr lang="en-IN" b="1" baseline="30000" dirty="0" err="1">
                <a:solidFill>
                  <a:schemeClr val="tx1"/>
                </a:solidFill>
              </a:rPr>
              <a:t>o</a:t>
            </a:r>
            <a:r>
              <a:rPr lang="en-IN" b="1" dirty="0" err="1">
                <a:solidFill>
                  <a:schemeClr val="tx1"/>
                </a:solidFill>
              </a:rPr>
              <a:t>C</a:t>
            </a:r>
            <a:r>
              <a:rPr lang="en-IN" b="1" dirty="0">
                <a:solidFill>
                  <a:schemeClr val="tx1"/>
                </a:solidFill>
              </a:rPr>
              <a:t>, take Cps = 2.1 kJ/kg K.</a:t>
            </a:r>
          </a:p>
          <a:p>
            <a:pPr marL="0" lv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nSpc>
                <a:spcPct val="150000"/>
              </a:lnSpc>
              <a:buNone/>
            </a:pPr>
            <a:r>
              <a:rPr lang="en-IN" dirty="0">
                <a:solidFill>
                  <a:schemeClr val="tx1"/>
                </a:solidFill>
              </a:rPr>
              <a:t>m = 7 kg, p = 6 bar = 6 x 10</a:t>
            </a:r>
            <a:r>
              <a:rPr lang="en-IN" baseline="30000" dirty="0">
                <a:solidFill>
                  <a:schemeClr val="tx1"/>
                </a:solidFill>
              </a:rPr>
              <a:t>5</a:t>
            </a:r>
            <a:r>
              <a:rPr lang="en-IN" dirty="0">
                <a:solidFill>
                  <a:schemeClr val="tx1"/>
                </a:solidFill>
              </a:rPr>
              <a:t> N/m</a:t>
            </a:r>
            <a:r>
              <a:rPr lang="en-IN" baseline="30000" dirty="0">
                <a:solidFill>
                  <a:schemeClr val="tx1"/>
                </a:solidFill>
              </a:rPr>
              <a:t>2</a:t>
            </a:r>
            <a:r>
              <a:rPr lang="en-IN" dirty="0">
                <a:solidFill>
                  <a:schemeClr val="tx1"/>
                </a:solidFill>
              </a:rPr>
              <a:t>, Temp. of steam = 250 </a:t>
            </a:r>
            <a:r>
              <a:rPr lang="en-IN" baseline="30000" dirty="0">
                <a:solidFill>
                  <a:schemeClr val="tx1"/>
                </a:solidFill>
              </a:rPr>
              <a:t>0</a:t>
            </a:r>
            <a:r>
              <a:rPr lang="en-IN" dirty="0">
                <a:solidFill>
                  <a:schemeClr val="tx1"/>
                </a:solidFill>
              </a:rPr>
              <a:t>C, Temp. of water = 35 </a:t>
            </a:r>
            <a:r>
              <a:rPr lang="en-IN" baseline="30000" dirty="0">
                <a:solidFill>
                  <a:schemeClr val="tx1"/>
                </a:solidFill>
              </a:rPr>
              <a:t>0</a:t>
            </a:r>
            <a:r>
              <a:rPr lang="en-IN" dirty="0">
                <a:solidFill>
                  <a:schemeClr val="tx1"/>
                </a:solidFill>
              </a:rPr>
              <a:t>C, C</a:t>
            </a:r>
            <a:r>
              <a:rPr lang="en-IN" baseline="-25000" dirty="0">
                <a:solidFill>
                  <a:schemeClr val="tx1"/>
                </a:solidFill>
              </a:rPr>
              <a:t>ps</a:t>
            </a:r>
            <a:r>
              <a:rPr lang="en-IN" dirty="0">
                <a:solidFill>
                  <a:schemeClr val="tx1"/>
                </a:solidFill>
              </a:rPr>
              <a:t> = 2.1 kJ / kg K</a:t>
            </a:r>
          </a:p>
        </p:txBody>
      </p:sp>
    </p:spTree>
    <p:extLst>
      <p:ext uri="{BB962C8B-B14F-4D97-AF65-F5344CB8AC3E}">
        <p14:creationId xmlns:p14="http://schemas.microsoft.com/office/powerpoint/2010/main" val="191519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4</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5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158.8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670.4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2085 kJ/kg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2612042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4</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6893165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5</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IN" b="1" dirty="0">
                <a:solidFill>
                  <a:schemeClr val="tx1"/>
                </a:solidFill>
              </a:rPr>
              <a:t>What amount of heat is required to produce 5 kg of steam at a pressure of 5 bar and temperature of 250 </a:t>
            </a:r>
            <a:r>
              <a:rPr lang="en-IN" b="1" baseline="30000" dirty="0" err="1">
                <a:solidFill>
                  <a:schemeClr val="tx1"/>
                </a:solidFill>
              </a:rPr>
              <a:t>o</a:t>
            </a:r>
            <a:r>
              <a:rPr lang="en-IN" b="1" dirty="0" err="1">
                <a:solidFill>
                  <a:schemeClr val="tx1"/>
                </a:solidFill>
              </a:rPr>
              <a:t>C</a:t>
            </a:r>
            <a:r>
              <a:rPr lang="en-IN" b="1" dirty="0">
                <a:solidFill>
                  <a:schemeClr val="tx1"/>
                </a:solidFill>
              </a:rPr>
              <a:t> from water at 30 </a:t>
            </a:r>
            <a:r>
              <a:rPr lang="en-IN" b="1" baseline="30000" dirty="0" err="1">
                <a:solidFill>
                  <a:schemeClr val="tx1"/>
                </a:solidFill>
              </a:rPr>
              <a:t>o</a:t>
            </a:r>
            <a:r>
              <a:rPr lang="en-IN" b="1" dirty="0" err="1">
                <a:solidFill>
                  <a:schemeClr val="tx1"/>
                </a:solidFill>
              </a:rPr>
              <a:t>C</a:t>
            </a:r>
            <a:r>
              <a:rPr lang="en-IN" b="1" dirty="0">
                <a:solidFill>
                  <a:schemeClr val="tx1"/>
                </a:solidFill>
              </a:rPr>
              <a:t>, take Cps = 2.1 kJ/kg K.</a:t>
            </a:r>
          </a:p>
          <a:p>
            <a:pPr marL="0" lv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nSpc>
                <a:spcPct val="150000"/>
              </a:lnSpc>
              <a:buNone/>
            </a:pPr>
            <a:r>
              <a:rPr lang="en-IN" dirty="0">
                <a:solidFill>
                  <a:schemeClr val="tx1"/>
                </a:solidFill>
              </a:rPr>
              <a:t>m = 5 kg, p = 5 bar = 5 x 10</a:t>
            </a:r>
            <a:r>
              <a:rPr lang="en-IN" baseline="30000" dirty="0">
                <a:solidFill>
                  <a:schemeClr val="tx1"/>
                </a:solidFill>
              </a:rPr>
              <a:t>5</a:t>
            </a:r>
            <a:r>
              <a:rPr lang="en-IN" dirty="0">
                <a:solidFill>
                  <a:schemeClr val="tx1"/>
                </a:solidFill>
              </a:rPr>
              <a:t> N/m</a:t>
            </a:r>
            <a:r>
              <a:rPr lang="en-IN" baseline="30000" dirty="0">
                <a:solidFill>
                  <a:schemeClr val="tx1"/>
                </a:solidFill>
              </a:rPr>
              <a:t>2</a:t>
            </a:r>
            <a:r>
              <a:rPr lang="en-IN" dirty="0">
                <a:solidFill>
                  <a:schemeClr val="tx1"/>
                </a:solidFill>
              </a:rPr>
              <a:t>, Temp. of steam = 250 </a:t>
            </a:r>
            <a:r>
              <a:rPr lang="en-IN" baseline="30000" dirty="0">
                <a:solidFill>
                  <a:schemeClr val="tx1"/>
                </a:solidFill>
              </a:rPr>
              <a:t>0</a:t>
            </a:r>
            <a:r>
              <a:rPr lang="en-IN" dirty="0">
                <a:solidFill>
                  <a:schemeClr val="tx1"/>
                </a:solidFill>
              </a:rPr>
              <a:t>C, Temp. of water = 30 </a:t>
            </a:r>
            <a:r>
              <a:rPr lang="en-IN" baseline="30000" dirty="0">
                <a:solidFill>
                  <a:schemeClr val="tx1"/>
                </a:solidFill>
              </a:rPr>
              <a:t>0</a:t>
            </a:r>
            <a:r>
              <a:rPr lang="en-IN" dirty="0">
                <a:solidFill>
                  <a:schemeClr val="tx1"/>
                </a:solidFill>
              </a:rPr>
              <a:t>C, C</a:t>
            </a:r>
            <a:r>
              <a:rPr lang="en-IN" baseline="-25000" dirty="0">
                <a:solidFill>
                  <a:schemeClr val="tx1"/>
                </a:solidFill>
              </a:rPr>
              <a:t>ps</a:t>
            </a:r>
            <a:r>
              <a:rPr lang="en-IN" dirty="0">
                <a:solidFill>
                  <a:schemeClr val="tx1"/>
                </a:solidFill>
              </a:rPr>
              <a:t> = 2.1 kJ / kg K</a:t>
            </a:r>
          </a:p>
        </p:txBody>
      </p:sp>
    </p:spTree>
    <p:extLst>
      <p:ext uri="{BB962C8B-B14F-4D97-AF65-F5344CB8AC3E}">
        <p14:creationId xmlns:p14="http://schemas.microsoft.com/office/powerpoint/2010/main" val="367476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5</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5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151.84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640.1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2107.4 kJ/kg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593680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6</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IN" b="1" dirty="0">
                <a:solidFill>
                  <a:schemeClr val="tx1"/>
                </a:solidFill>
              </a:rPr>
              <a:t>Determine the mass of 0.15 m</a:t>
            </a:r>
            <a:r>
              <a:rPr lang="en-IN" b="1" baseline="30000" dirty="0">
                <a:solidFill>
                  <a:schemeClr val="tx1"/>
                </a:solidFill>
              </a:rPr>
              <a:t>3 </a:t>
            </a:r>
            <a:r>
              <a:rPr lang="en-IN" b="1" dirty="0">
                <a:solidFill>
                  <a:schemeClr val="tx1"/>
                </a:solidFill>
              </a:rPr>
              <a:t>of wet steam at a pressure of 4 bar and dryness fraction 0.8. Also calculate the heat of 1 m</a:t>
            </a:r>
            <a:r>
              <a:rPr lang="en-IN" b="1" baseline="30000" dirty="0">
                <a:solidFill>
                  <a:schemeClr val="tx1"/>
                </a:solidFill>
              </a:rPr>
              <a:t>3</a:t>
            </a:r>
            <a:r>
              <a:rPr lang="en-IN" b="1" dirty="0">
                <a:solidFill>
                  <a:schemeClr val="tx1"/>
                </a:solidFill>
              </a:rPr>
              <a:t> of steam.</a:t>
            </a:r>
          </a:p>
          <a:p>
            <a:pPr mar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nSpc>
                <a:spcPct val="150000"/>
              </a:lnSpc>
              <a:buNone/>
            </a:pPr>
            <a:r>
              <a:rPr lang="en-IN" dirty="0">
                <a:solidFill>
                  <a:schemeClr val="tx1"/>
                </a:solidFill>
              </a:rPr>
              <a:t>V = total volume = 0.15 m</a:t>
            </a:r>
            <a:r>
              <a:rPr lang="en-IN" baseline="30000" dirty="0">
                <a:solidFill>
                  <a:schemeClr val="tx1"/>
                </a:solidFill>
              </a:rPr>
              <a:t>3</a:t>
            </a:r>
            <a:r>
              <a:rPr lang="en-IN" dirty="0">
                <a:solidFill>
                  <a:schemeClr val="tx1"/>
                </a:solidFill>
              </a:rPr>
              <a:t>, p = 4 bar, x = 0.8, </a:t>
            </a:r>
            <a:r>
              <a:rPr lang="en-IN" dirty="0" err="1">
                <a:solidFill>
                  <a:schemeClr val="tx1"/>
                </a:solidFill>
              </a:rPr>
              <a:t>m</a:t>
            </a:r>
            <a:r>
              <a:rPr lang="en-IN" baseline="-25000" dirty="0" err="1">
                <a:solidFill>
                  <a:schemeClr val="tx1"/>
                </a:solidFill>
              </a:rPr>
              <a:t>s</a:t>
            </a:r>
            <a:r>
              <a:rPr lang="en-IN" dirty="0">
                <a:solidFill>
                  <a:schemeClr val="tx1"/>
                </a:solidFill>
              </a:rPr>
              <a:t> = ?</a:t>
            </a:r>
          </a:p>
        </p:txBody>
      </p:sp>
    </p:spTree>
    <p:extLst>
      <p:ext uri="{BB962C8B-B14F-4D97-AF65-F5344CB8AC3E}">
        <p14:creationId xmlns:p14="http://schemas.microsoft.com/office/powerpoint/2010/main" val="321670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6</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4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143.6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604.7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2133 kJ/kg</a:t>
            </a:r>
          </a:p>
          <a:p>
            <a:pPr marL="1789113" indent="0">
              <a:lnSpc>
                <a:spcPct val="150000"/>
              </a:lnSpc>
              <a:buNone/>
            </a:pPr>
            <a:r>
              <a:rPr lang="en-US" dirty="0">
                <a:solidFill>
                  <a:schemeClr val="tx1"/>
                </a:solidFill>
              </a:rPr>
              <a:t>h</a:t>
            </a:r>
            <a:r>
              <a:rPr lang="en-US" baseline="-25000" dirty="0">
                <a:solidFill>
                  <a:schemeClr val="tx1"/>
                </a:solidFill>
              </a:rPr>
              <a:t>g</a:t>
            </a:r>
            <a:r>
              <a:rPr lang="en-US" dirty="0">
                <a:solidFill>
                  <a:schemeClr val="tx1"/>
                </a:solidFill>
              </a:rPr>
              <a:t> = 2737.6 kJ/kg</a:t>
            </a:r>
          </a:p>
          <a:p>
            <a:pPr marL="1789113" indent="0">
              <a:lnSpc>
                <a:spcPct val="150000"/>
              </a:lnSpc>
              <a:buNone/>
            </a:pPr>
            <a:r>
              <a:rPr lang="en-US" dirty="0" err="1">
                <a:solidFill>
                  <a:schemeClr val="tx1"/>
                </a:solidFill>
              </a:rPr>
              <a:t>v</a:t>
            </a:r>
            <a:r>
              <a:rPr lang="en-US" baseline="-25000" dirty="0" err="1">
                <a:solidFill>
                  <a:schemeClr val="tx1"/>
                </a:solidFill>
              </a:rPr>
              <a:t>f</a:t>
            </a:r>
            <a:r>
              <a:rPr lang="en-US" dirty="0">
                <a:solidFill>
                  <a:schemeClr val="tx1"/>
                </a:solidFill>
              </a:rPr>
              <a:t> = 0.001084 m</a:t>
            </a:r>
            <a:r>
              <a:rPr lang="en-US" baseline="30000" dirty="0">
                <a:solidFill>
                  <a:schemeClr val="tx1"/>
                </a:solidFill>
              </a:rPr>
              <a:t>3</a:t>
            </a:r>
            <a:r>
              <a:rPr lang="en-US" dirty="0">
                <a:solidFill>
                  <a:schemeClr val="tx1"/>
                </a:solidFill>
              </a:rPr>
              <a:t>/kg</a:t>
            </a:r>
          </a:p>
          <a:p>
            <a:pPr marL="1789113" indent="0">
              <a:lnSpc>
                <a:spcPct val="150000"/>
              </a:lnSpc>
              <a:buNone/>
            </a:pPr>
            <a:r>
              <a:rPr lang="en-US" dirty="0">
                <a:solidFill>
                  <a:schemeClr val="tx1"/>
                </a:solidFill>
              </a:rPr>
              <a:t>v</a:t>
            </a:r>
            <a:r>
              <a:rPr lang="en-US" baseline="-25000" dirty="0">
                <a:solidFill>
                  <a:schemeClr val="tx1"/>
                </a:solidFill>
              </a:rPr>
              <a:t>g</a:t>
            </a:r>
            <a:r>
              <a:rPr lang="en-US" dirty="0">
                <a:solidFill>
                  <a:schemeClr val="tx1"/>
                </a:solidFill>
              </a:rPr>
              <a:t> = 0.462 m</a:t>
            </a:r>
            <a:r>
              <a:rPr lang="en-US" baseline="30000" dirty="0">
                <a:solidFill>
                  <a:schemeClr val="tx1"/>
                </a:solidFill>
              </a:rPr>
              <a:t>3</a:t>
            </a:r>
            <a:r>
              <a:rPr lang="en-US" dirty="0">
                <a:solidFill>
                  <a:schemeClr val="tx1"/>
                </a:solidFill>
              </a:rPr>
              <a:t>/kg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25969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6</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84873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7</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US" b="1" dirty="0">
                <a:solidFill>
                  <a:schemeClr val="tx1"/>
                </a:solidFill>
              </a:rPr>
              <a:t>Calculate internal energy per kg of superheated steam at 10 bar and temperature of 300 </a:t>
            </a:r>
            <a:r>
              <a:rPr lang="en-US" b="1" baseline="30000" dirty="0" err="1">
                <a:solidFill>
                  <a:schemeClr val="tx1"/>
                </a:solidFill>
              </a:rPr>
              <a:t>o</a:t>
            </a:r>
            <a:r>
              <a:rPr lang="en-US" b="1" dirty="0" err="1">
                <a:solidFill>
                  <a:schemeClr val="tx1"/>
                </a:solidFill>
              </a:rPr>
              <a:t>C.</a:t>
            </a:r>
            <a:r>
              <a:rPr lang="en-US" b="1" dirty="0">
                <a:solidFill>
                  <a:schemeClr val="tx1"/>
                </a:solidFill>
              </a:rPr>
              <a:t> Find also change in internal energy if this steam is expanded to 1.4 bar and dryness fraction 0.8. Take C</a:t>
            </a:r>
            <a:r>
              <a:rPr lang="en-US" b="1" baseline="-25000" dirty="0">
                <a:solidFill>
                  <a:schemeClr val="tx1"/>
                </a:solidFill>
              </a:rPr>
              <a:t>ps </a:t>
            </a:r>
            <a:r>
              <a:rPr lang="en-US" b="1" dirty="0">
                <a:solidFill>
                  <a:schemeClr val="tx1"/>
                </a:solidFill>
              </a:rPr>
              <a:t>= 2.1 kJ/kg.</a:t>
            </a:r>
            <a:endParaRPr lang="en-IN" dirty="0">
              <a:solidFill>
                <a:schemeClr val="tx1"/>
              </a:solidFill>
            </a:endParaRPr>
          </a:p>
          <a:p>
            <a:pPr mar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gn="just">
              <a:buNone/>
            </a:pPr>
            <a:r>
              <a:rPr lang="en-US" dirty="0">
                <a:solidFill>
                  <a:schemeClr val="tx1"/>
                </a:solidFill>
              </a:rPr>
              <a:t>p</a:t>
            </a:r>
            <a:r>
              <a:rPr lang="en-US" baseline="-25000" dirty="0">
                <a:solidFill>
                  <a:schemeClr val="tx1"/>
                </a:solidFill>
              </a:rPr>
              <a:t>1</a:t>
            </a:r>
            <a:r>
              <a:rPr lang="en-US" dirty="0">
                <a:solidFill>
                  <a:schemeClr val="tx1"/>
                </a:solidFill>
              </a:rPr>
              <a:t> = 10 bar, T</a:t>
            </a:r>
            <a:r>
              <a:rPr lang="en-US" baseline="-25000" dirty="0">
                <a:solidFill>
                  <a:schemeClr val="tx1"/>
                </a:solidFill>
              </a:rPr>
              <a:t>1</a:t>
            </a:r>
            <a:r>
              <a:rPr lang="en-US" dirty="0">
                <a:solidFill>
                  <a:schemeClr val="tx1"/>
                </a:solidFill>
              </a:rPr>
              <a:t> = 300 </a:t>
            </a:r>
            <a:r>
              <a:rPr lang="en-US" baseline="30000" dirty="0" err="1">
                <a:solidFill>
                  <a:schemeClr val="tx1"/>
                </a:solidFill>
              </a:rPr>
              <a:t>o</a:t>
            </a:r>
            <a:r>
              <a:rPr lang="en-US" dirty="0" err="1">
                <a:solidFill>
                  <a:schemeClr val="tx1"/>
                </a:solidFill>
              </a:rPr>
              <a:t>C</a:t>
            </a:r>
            <a:r>
              <a:rPr lang="en-US" dirty="0">
                <a:solidFill>
                  <a:schemeClr val="tx1"/>
                </a:solidFill>
              </a:rPr>
              <a:t> , p</a:t>
            </a:r>
            <a:r>
              <a:rPr lang="en-US" baseline="-25000" dirty="0">
                <a:solidFill>
                  <a:schemeClr val="tx1"/>
                </a:solidFill>
              </a:rPr>
              <a:t>2</a:t>
            </a:r>
            <a:r>
              <a:rPr lang="en-US" dirty="0">
                <a:solidFill>
                  <a:schemeClr val="tx1"/>
                </a:solidFill>
              </a:rPr>
              <a:t> = 1.4 bar, x</a:t>
            </a:r>
            <a:r>
              <a:rPr lang="en-US" baseline="-25000" dirty="0">
                <a:solidFill>
                  <a:schemeClr val="tx1"/>
                </a:solidFill>
              </a:rPr>
              <a:t>2</a:t>
            </a:r>
            <a:r>
              <a:rPr lang="en-US" dirty="0">
                <a:solidFill>
                  <a:schemeClr val="tx1"/>
                </a:solidFill>
              </a:rPr>
              <a:t> = 0.8, u1 = ?, u1 – u2 = ?</a:t>
            </a:r>
            <a:endParaRPr lang="en-IN" dirty="0">
              <a:solidFill>
                <a:schemeClr val="tx1"/>
              </a:solidFill>
            </a:endParaRPr>
          </a:p>
        </p:txBody>
      </p:sp>
    </p:spTree>
    <p:extLst>
      <p:ext uri="{BB962C8B-B14F-4D97-AF65-F5344CB8AC3E}">
        <p14:creationId xmlns:p14="http://schemas.microsoft.com/office/powerpoint/2010/main" val="22522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7</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a:lnSpc>
                <a:spcPct val="150000"/>
              </a:lnSpc>
            </a:pPr>
            <a:r>
              <a:rPr lang="en-US" dirty="0">
                <a:solidFill>
                  <a:schemeClr val="tx1"/>
                </a:solidFill>
              </a:rPr>
              <a:t>From the steam tables at 10 bar, the following values are noted.</a:t>
            </a:r>
          </a:p>
          <a:p>
            <a:pPr marL="1789113" indent="0">
              <a:lnSpc>
                <a:spcPct val="150000"/>
              </a:lnSpc>
              <a:buNone/>
            </a:pPr>
            <a:r>
              <a:rPr lang="en-US" dirty="0" err="1">
                <a:solidFill>
                  <a:schemeClr val="tx1"/>
                </a:solidFill>
              </a:rPr>
              <a:t>T</a:t>
            </a:r>
            <a:r>
              <a:rPr lang="en-US" baseline="-25000" dirty="0" err="1">
                <a:solidFill>
                  <a:schemeClr val="tx1"/>
                </a:solidFill>
              </a:rPr>
              <a:t>s</a:t>
            </a:r>
            <a:r>
              <a:rPr lang="en-US" dirty="0">
                <a:solidFill>
                  <a:schemeClr val="tx1"/>
                </a:solidFill>
              </a:rPr>
              <a:t> = 179.9 </a:t>
            </a:r>
            <a:r>
              <a:rPr lang="en-US" baseline="30000" dirty="0" err="1">
                <a:solidFill>
                  <a:schemeClr val="tx1"/>
                </a:solidFill>
              </a:rPr>
              <a:t>o</a:t>
            </a:r>
            <a:r>
              <a:rPr lang="en-US" dirty="0" err="1">
                <a:solidFill>
                  <a:schemeClr val="tx1"/>
                </a:solidFill>
              </a:rPr>
              <a:t>C</a:t>
            </a:r>
            <a:r>
              <a:rPr lang="en-US" dirty="0">
                <a:solidFill>
                  <a:schemeClr val="tx1"/>
                </a:solidFill>
              </a:rPr>
              <a:t>, </a:t>
            </a:r>
          </a:p>
          <a:p>
            <a:pPr marL="1789113" indent="0">
              <a:lnSpc>
                <a:spcPct val="150000"/>
              </a:lnSpc>
              <a:buNone/>
            </a:pPr>
            <a:r>
              <a:rPr lang="en-US" dirty="0" err="1">
                <a:solidFill>
                  <a:schemeClr val="tx1"/>
                </a:solidFill>
              </a:rPr>
              <a:t>h</a:t>
            </a:r>
            <a:r>
              <a:rPr lang="en-US" baseline="-25000" dirty="0" err="1">
                <a:solidFill>
                  <a:schemeClr val="tx1"/>
                </a:solidFill>
              </a:rPr>
              <a:t>f</a:t>
            </a:r>
            <a:r>
              <a:rPr lang="en-US" dirty="0">
                <a:solidFill>
                  <a:schemeClr val="tx1"/>
                </a:solidFill>
              </a:rPr>
              <a:t> = 762.6 kJ/kg</a:t>
            </a:r>
          </a:p>
          <a:p>
            <a:pPr marL="1789113" indent="0">
              <a:lnSpc>
                <a:spcPct val="150000"/>
              </a:lnSpc>
              <a:buNone/>
            </a:pPr>
            <a:r>
              <a:rPr lang="en-US" dirty="0" err="1">
                <a:solidFill>
                  <a:schemeClr val="tx1"/>
                </a:solidFill>
              </a:rPr>
              <a:t>h</a:t>
            </a:r>
            <a:r>
              <a:rPr lang="en-US" baseline="-25000" dirty="0" err="1">
                <a:solidFill>
                  <a:schemeClr val="tx1"/>
                </a:solidFill>
              </a:rPr>
              <a:t>fg</a:t>
            </a:r>
            <a:r>
              <a:rPr lang="en-US" dirty="0">
                <a:solidFill>
                  <a:schemeClr val="tx1"/>
                </a:solidFill>
              </a:rPr>
              <a:t> = 2013.6 kJ/kg</a:t>
            </a:r>
          </a:p>
          <a:p>
            <a:pPr marL="1789113" indent="0">
              <a:lnSpc>
                <a:spcPct val="150000"/>
              </a:lnSpc>
              <a:buNone/>
            </a:pPr>
            <a:r>
              <a:rPr lang="en-US" dirty="0">
                <a:solidFill>
                  <a:schemeClr val="tx1"/>
                </a:solidFill>
              </a:rPr>
              <a:t>h</a:t>
            </a:r>
            <a:r>
              <a:rPr lang="en-US" baseline="-25000" dirty="0">
                <a:solidFill>
                  <a:schemeClr val="tx1"/>
                </a:solidFill>
              </a:rPr>
              <a:t>g</a:t>
            </a:r>
            <a:r>
              <a:rPr lang="en-US" dirty="0">
                <a:solidFill>
                  <a:schemeClr val="tx1"/>
                </a:solidFill>
              </a:rPr>
              <a:t> = 2776.2 kJ/kg</a:t>
            </a:r>
          </a:p>
          <a:p>
            <a:pPr marL="1789113" indent="0">
              <a:lnSpc>
                <a:spcPct val="150000"/>
              </a:lnSpc>
              <a:buNone/>
            </a:pPr>
            <a:r>
              <a:rPr lang="en-US" dirty="0" err="1">
                <a:solidFill>
                  <a:schemeClr val="tx1"/>
                </a:solidFill>
              </a:rPr>
              <a:t>v</a:t>
            </a:r>
            <a:r>
              <a:rPr lang="en-US" baseline="-25000" dirty="0" err="1">
                <a:solidFill>
                  <a:schemeClr val="tx1"/>
                </a:solidFill>
              </a:rPr>
              <a:t>f</a:t>
            </a:r>
            <a:r>
              <a:rPr lang="en-US" dirty="0">
                <a:solidFill>
                  <a:schemeClr val="tx1"/>
                </a:solidFill>
              </a:rPr>
              <a:t> = 0.001127 m</a:t>
            </a:r>
            <a:r>
              <a:rPr lang="en-US" baseline="30000" dirty="0">
                <a:solidFill>
                  <a:schemeClr val="tx1"/>
                </a:solidFill>
              </a:rPr>
              <a:t>3</a:t>
            </a:r>
            <a:r>
              <a:rPr lang="en-US" dirty="0">
                <a:solidFill>
                  <a:schemeClr val="tx1"/>
                </a:solidFill>
              </a:rPr>
              <a:t>/kg</a:t>
            </a:r>
          </a:p>
          <a:p>
            <a:pPr marL="1789113" indent="0">
              <a:lnSpc>
                <a:spcPct val="150000"/>
              </a:lnSpc>
              <a:buNone/>
            </a:pPr>
            <a:r>
              <a:rPr lang="en-US" dirty="0">
                <a:solidFill>
                  <a:schemeClr val="tx1"/>
                </a:solidFill>
              </a:rPr>
              <a:t>v</a:t>
            </a:r>
            <a:r>
              <a:rPr lang="en-US" baseline="-25000" dirty="0">
                <a:solidFill>
                  <a:schemeClr val="tx1"/>
                </a:solidFill>
              </a:rPr>
              <a:t>g</a:t>
            </a:r>
            <a:r>
              <a:rPr lang="en-US" dirty="0">
                <a:solidFill>
                  <a:schemeClr val="tx1"/>
                </a:solidFill>
              </a:rPr>
              <a:t> = 0.194 m</a:t>
            </a:r>
            <a:r>
              <a:rPr lang="en-US" baseline="30000" dirty="0">
                <a:solidFill>
                  <a:schemeClr val="tx1"/>
                </a:solidFill>
              </a:rPr>
              <a:t>3</a:t>
            </a:r>
            <a:r>
              <a:rPr lang="en-US" dirty="0">
                <a:solidFill>
                  <a:schemeClr val="tx1"/>
                </a:solidFill>
              </a:rPr>
              <a:t>/kg</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279846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7</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6505776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8</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nSpc>
                <a:spcPct val="150000"/>
              </a:lnSpc>
              <a:buNone/>
            </a:pPr>
            <a:r>
              <a:rPr lang="en-IN" b="1" dirty="0">
                <a:solidFill>
                  <a:schemeClr val="tx1"/>
                </a:solidFill>
              </a:rPr>
              <a:t>Determine the quality of steam for the following cases: </a:t>
            </a:r>
            <a:endParaRPr lang="en-IN" dirty="0">
              <a:solidFill>
                <a:schemeClr val="tx1"/>
              </a:solidFill>
            </a:endParaRPr>
          </a:p>
          <a:p>
            <a:pPr marL="0" indent="0">
              <a:lnSpc>
                <a:spcPct val="150000"/>
              </a:lnSpc>
              <a:buNone/>
            </a:pPr>
            <a:r>
              <a:rPr lang="en-IN" b="1" dirty="0">
                <a:solidFill>
                  <a:schemeClr val="tx1"/>
                </a:solidFill>
              </a:rPr>
              <a:t>(</a:t>
            </a:r>
            <a:r>
              <a:rPr lang="en-IN" b="1" dirty="0" err="1">
                <a:solidFill>
                  <a:schemeClr val="tx1"/>
                </a:solidFill>
              </a:rPr>
              <a:t>i</a:t>
            </a:r>
            <a:r>
              <a:rPr lang="en-IN" b="1" dirty="0">
                <a:solidFill>
                  <a:schemeClr val="tx1"/>
                </a:solidFill>
              </a:rPr>
              <a:t>) p = 10 bar, v = 0.180 m</a:t>
            </a:r>
            <a:r>
              <a:rPr lang="en-IN" b="1" baseline="30000" dirty="0">
                <a:solidFill>
                  <a:schemeClr val="tx1"/>
                </a:solidFill>
              </a:rPr>
              <a:t>3</a:t>
            </a:r>
            <a:r>
              <a:rPr lang="en-IN" b="1" dirty="0">
                <a:solidFill>
                  <a:schemeClr val="tx1"/>
                </a:solidFill>
              </a:rPr>
              <a:t>/kg, (ii) p = 10 bar, t = 200</a:t>
            </a:r>
            <a:r>
              <a:rPr lang="en-IN" b="1" baseline="30000" dirty="0">
                <a:solidFill>
                  <a:schemeClr val="tx1"/>
                </a:solidFill>
              </a:rPr>
              <a:t>o </a:t>
            </a:r>
            <a:r>
              <a:rPr lang="en-IN" b="1" dirty="0">
                <a:solidFill>
                  <a:schemeClr val="tx1"/>
                </a:solidFill>
              </a:rPr>
              <a:t>C, (iii) p = 25 bar, h = 2750 kJ/kg</a:t>
            </a:r>
            <a:endParaRPr lang="en-IN" dirty="0">
              <a:solidFill>
                <a:schemeClr val="tx1"/>
              </a:solidFill>
            </a:endParaRPr>
          </a:p>
        </p:txBody>
      </p:sp>
    </p:spTree>
    <p:extLst>
      <p:ext uri="{BB962C8B-B14F-4D97-AF65-F5344CB8AC3E}">
        <p14:creationId xmlns:p14="http://schemas.microsoft.com/office/powerpoint/2010/main" val="18423931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a:t>Numerical 8</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7639659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dirty="0"/>
              <a:t>Numerical 9</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Content Placeholder 2">
            <a:extLst>
              <a:ext uri="{FF2B5EF4-FFF2-40B4-BE49-F238E27FC236}">
                <a16:creationId xmlns:a16="http://schemas.microsoft.com/office/drawing/2014/main" id="{16C28F71-07C5-40BF-BF43-4D386C21DE9B}"/>
              </a:ext>
            </a:extLst>
          </p:cNvPr>
          <p:cNvSpPr>
            <a:spLocks noGrp="1"/>
          </p:cNvSpPr>
          <p:nvPr>
            <p:ph idx="1"/>
          </p:nvPr>
        </p:nvSpPr>
        <p:spPr>
          <a:xfrm>
            <a:off x="3556001" y="0"/>
            <a:ext cx="8200570" cy="6858000"/>
          </a:xfrm>
        </p:spPr>
        <p:txBody>
          <a:bodyPr>
            <a:normAutofit/>
          </a:bodyPr>
          <a:lstStyle/>
          <a:p>
            <a:pPr marL="0" indent="0" algn="just">
              <a:lnSpc>
                <a:spcPct val="150000"/>
              </a:lnSpc>
              <a:buNone/>
            </a:pPr>
            <a:r>
              <a:rPr lang="en-US" b="1" dirty="0">
                <a:solidFill>
                  <a:schemeClr val="tx1"/>
                </a:solidFill>
              </a:rPr>
              <a:t>During the test with separating calorimeter, amount of moisture collected in a given period is two kg and mass of steam leaving the calorimeter is 15 kg. Calculate dryness fraction of steam.</a:t>
            </a:r>
            <a:endParaRPr lang="en-IN" dirty="0">
              <a:solidFill>
                <a:schemeClr val="tx1"/>
              </a:solidFill>
            </a:endParaRPr>
          </a:p>
          <a:p>
            <a:pPr marL="0" indent="0" algn="just">
              <a:lnSpc>
                <a:spcPct val="150000"/>
              </a:lnSpc>
              <a:buNone/>
            </a:pPr>
            <a:endParaRPr lang="en-US" b="1" dirty="0">
              <a:solidFill>
                <a:schemeClr val="tx1"/>
              </a:solidFill>
            </a:endParaRPr>
          </a:p>
          <a:p>
            <a:pPr marL="0" lvl="0" indent="0">
              <a:lnSpc>
                <a:spcPct val="150000"/>
              </a:lnSpc>
              <a:buNone/>
            </a:pPr>
            <a:r>
              <a:rPr lang="en-US" sz="1800" b="1" u="sng" dirty="0">
                <a:solidFill>
                  <a:schemeClr val="tx1"/>
                </a:solidFill>
              </a:rPr>
              <a:t>Given data:</a:t>
            </a:r>
          </a:p>
          <a:p>
            <a:pPr marL="0" indent="0" algn="just">
              <a:buNone/>
            </a:pPr>
            <a:r>
              <a:rPr lang="en-US" dirty="0">
                <a:solidFill>
                  <a:schemeClr val="tx1"/>
                </a:solidFill>
              </a:rPr>
              <a:t>m</a:t>
            </a:r>
            <a:r>
              <a:rPr lang="en-US" baseline="-25000" dirty="0">
                <a:solidFill>
                  <a:schemeClr val="tx1"/>
                </a:solidFill>
              </a:rPr>
              <a:t>w</a:t>
            </a:r>
            <a:r>
              <a:rPr lang="en-US" dirty="0">
                <a:solidFill>
                  <a:schemeClr val="tx1"/>
                </a:solidFill>
              </a:rPr>
              <a:t> = 2 kg, </a:t>
            </a:r>
            <a:r>
              <a:rPr lang="en-US" dirty="0" err="1">
                <a:solidFill>
                  <a:schemeClr val="tx1"/>
                </a:solidFill>
              </a:rPr>
              <a:t>m</a:t>
            </a:r>
            <a:r>
              <a:rPr lang="en-US" baseline="-25000" dirty="0" err="1">
                <a:solidFill>
                  <a:schemeClr val="tx1"/>
                </a:solidFill>
              </a:rPr>
              <a:t>s</a:t>
            </a:r>
            <a:r>
              <a:rPr lang="en-US" dirty="0">
                <a:solidFill>
                  <a:schemeClr val="tx1"/>
                </a:solidFill>
              </a:rPr>
              <a:t> = 15 kg, x = ?</a:t>
            </a:r>
            <a:endParaRPr lang="en-IN" dirty="0">
              <a:solidFill>
                <a:schemeClr val="tx1"/>
              </a:solidFill>
            </a:endParaRPr>
          </a:p>
        </p:txBody>
      </p:sp>
    </p:spTree>
    <p:extLst>
      <p:ext uri="{BB962C8B-B14F-4D97-AF65-F5344CB8AC3E}">
        <p14:creationId xmlns:p14="http://schemas.microsoft.com/office/powerpoint/2010/main" val="348814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9C447D-4BF2-41D7-9819-8D88EA61138A}"/>
              </a:ext>
            </a:extLst>
          </p:cNvPr>
          <p:cNvSpPr>
            <a:spLocks noGrp="1"/>
          </p:cNvSpPr>
          <p:nvPr>
            <p:ph type="title"/>
          </p:nvPr>
        </p:nvSpPr>
        <p:spPr>
          <a:xfrm>
            <a:off x="155575" y="1123837"/>
            <a:ext cx="3030538" cy="4601183"/>
          </a:xfrm>
        </p:spPr>
        <p:txBody>
          <a:bodyPr>
            <a:normAutofit/>
          </a:bodyPr>
          <a:lstStyle/>
          <a:p>
            <a:pPr algn="ctr"/>
            <a:r>
              <a:rPr lang="en-US"/>
              <a:t>Numerical 9</a:t>
            </a:r>
            <a:endParaRPr lang="en-IN" dirty="0"/>
          </a:p>
        </p:txBody>
      </p:sp>
      <p:sp>
        <p:nvSpPr>
          <p:cNvPr id="2" name="AutoShape 2" descr="Scientists harness renewable energy using water vapour in the air | The  Optimist Daily: Making Solutions the News"/>
          <p:cNvSpPr>
            <a:spLocks noChangeAspect="1" noChangeArrowheads="1"/>
          </p:cNvSpPr>
          <p:nvPr/>
        </p:nvSpPr>
        <p:spPr bwMode="auto">
          <a:xfrm>
            <a:off x="155575" y="-144463"/>
            <a:ext cx="4044950" cy="40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Scientists harness renewable energy using water vapour in the air | The  Optimist Daily: Making Solutions the New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1572136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6038</TotalTime>
  <Words>3053</Words>
  <Application>Microsoft Office PowerPoint</Application>
  <PresentationFormat>Widescreen</PresentationFormat>
  <Paragraphs>354</Paragraphs>
  <Slides>63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1" baseType="lpstr">
      <vt:lpstr>Calibri</vt:lpstr>
      <vt:lpstr>Cambria Math</vt:lpstr>
      <vt:lpstr>Corbel</vt:lpstr>
      <vt:lpstr>DejaVu Sans</vt:lpstr>
      <vt:lpstr>Symbol</vt:lpstr>
      <vt:lpstr>Wingdings 2</vt:lpstr>
      <vt:lpstr>Frame</vt:lpstr>
      <vt:lpstr>Equation</vt:lpstr>
      <vt:lpstr>Basic Mechanical Engineering </vt:lpstr>
      <vt:lpstr>Pure substance</vt:lpstr>
      <vt:lpstr>Vapour</vt:lpstr>
      <vt:lpstr>Steam</vt:lpstr>
      <vt:lpstr>Difference between Steam and Gas</vt:lpstr>
      <vt:lpstr>Steam Formation</vt:lpstr>
      <vt:lpstr>Steam Formation</vt:lpstr>
      <vt:lpstr>Steam Formation</vt:lpstr>
      <vt:lpstr>Steam Formation</vt:lpstr>
      <vt:lpstr>Types of steam</vt:lpstr>
      <vt:lpstr>Types of steam (Wet steam)</vt:lpstr>
      <vt:lpstr>Types of steam (Wet steam)</vt:lpstr>
      <vt:lpstr>Types of steam (Wet steam)</vt:lpstr>
      <vt:lpstr>Types of steam (Dry saturated steam)</vt:lpstr>
      <vt:lpstr>Types of steam (Superheated steam)</vt:lpstr>
      <vt:lpstr>Enthalpy of steam</vt:lpstr>
      <vt:lpstr>Enthalpy of Liquid</vt:lpstr>
      <vt:lpstr>Enthalpy of dry saturated steam</vt:lpstr>
      <vt:lpstr>Enthalpy of Wet steam</vt:lpstr>
      <vt:lpstr>Enthalpy of Superheated steam</vt:lpstr>
      <vt:lpstr>Degree of superheat</vt:lpstr>
      <vt:lpstr>Amount of superheat</vt:lpstr>
      <vt:lpstr>Specific Volume of steam</vt:lpstr>
      <vt:lpstr>Specific Volume of saturated water</vt:lpstr>
      <vt:lpstr>Specific Volume of dry saturated steam</vt:lpstr>
      <vt:lpstr>Specific Volume of wet steam</vt:lpstr>
      <vt:lpstr>Specific Volume of superheated steam</vt:lpstr>
      <vt:lpstr>Internal energy of steam</vt:lpstr>
      <vt:lpstr>Throttling Process</vt:lpstr>
      <vt:lpstr>Throttling Process</vt:lpstr>
      <vt:lpstr>Measurement of dryness fraction</vt:lpstr>
      <vt:lpstr>Bucket or Barrel calorimeter</vt:lpstr>
      <vt:lpstr>Bucket or Barrel calorimeter</vt:lpstr>
      <vt:lpstr>Bucket or Barrel calorimeter</vt:lpstr>
      <vt:lpstr>Throttling calorimeter</vt:lpstr>
      <vt:lpstr>Throttling calorimeter</vt:lpstr>
      <vt:lpstr>Separating calorimeter</vt:lpstr>
      <vt:lpstr>Separating calorimeter</vt:lpstr>
      <vt:lpstr>Combined separating and throttling calorimeter</vt:lpstr>
      <vt:lpstr>Combined separating and throttling calorimeter</vt:lpstr>
      <vt:lpstr>Steam Table</vt:lpstr>
      <vt:lpstr>Numerical 1</vt:lpstr>
      <vt:lpstr>Numerical 1</vt:lpstr>
      <vt:lpstr>Numerical 2</vt:lpstr>
      <vt:lpstr>Numerical 2</vt:lpstr>
      <vt:lpstr>Numerical 2</vt:lpstr>
      <vt:lpstr>Numerical 3 </vt:lpstr>
      <vt:lpstr>Numerical 3</vt:lpstr>
      <vt:lpstr>Numerical 4</vt:lpstr>
      <vt:lpstr>Numerical 4</vt:lpstr>
      <vt:lpstr>Numerical 4</vt:lpstr>
      <vt:lpstr>Numerical 5</vt:lpstr>
      <vt:lpstr>Numerical 5</vt:lpstr>
      <vt:lpstr>Numerical 6</vt:lpstr>
      <vt:lpstr>Numerical 6</vt:lpstr>
      <vt:lpstr>Numerical 6</vt:lpstr>
      <vt:lpstr>Numerical 7</vt:lpstr>
      <vt:lpstr>Numerical 7</vt:lpstr>
      <vt:lpstr>Numerical 7</vt:lpstr>
      <vt:lpstr>Numerical 8</vt:lpstr>
      <vt:lpstr>Numerical 8</vt:lpstr>
      <vt:lpstr>Numerical 9</vt:lpstr>
      <vt:lpstr>Numerical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DigitBrew</cp:lastModifiedBy>
  <cp:revision>470</cp:revision>
  <dcterms:created xsi:type="dcterms:W3CDTF">2019-05-12T04:30:40Z</dcterms:created>
  <dcterms:modified xsi:type="dcterms:W3CDTF">2024-04-04T17:22:01Z</dcterms:modified>
</cp:coreProperties>
</file>