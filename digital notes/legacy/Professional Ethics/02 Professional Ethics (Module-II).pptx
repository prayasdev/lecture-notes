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8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91" r:id="rId34"/>
    <p:sldId id="290" r:id="rId35"/>
    <p:sldId id="28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umi Ray" userId="aabc61b048ecfdaf" providerId="LiveId" clId="{7185254F-939A-47CB-957E-AF975C3F3800}"/>
    <pc:docChg chg="undo custSel addSld modSld">
      <pc:chgData name="Mousumi Ray" userId="aabc61b048ecfdaf" providerId="LiveId" clId="{7185254F-939A-47CB-957E-AF975C3F3800}" dt="2026-03-06T04:23:51.126" v="318" actId="207"/>
      <pc:docMkLst>
        <pc:docMk/>
      </pc:docMkLst>
      <pc:sldChg chg="modSp new mod">
        <pc:chgData name="Mousumi Ray" userId="aabc61b048ecfdaf" providerId="LiveId" clId="{7185254F-939A-47CB-957E-AF975C3F3800}" dt="2026-03-05T11:27:38.258" v="4" actId="20577"/>
        <pc:sldMkLst>
          <pc:docMk/>
          <pc:sldMk cId="1711524265" sldId="256"/>
        </pc:sldMkLst>
        <pc:spChg chg="mod">
          <ac:chgData name="Mousumi Ray" userId="aabc61b048ecfdaf" providerId="LiveId" clId="{7185254F-939A-47CB-957E-AF975C3F3800}" dt="2026-03-05T11:27:36.118" v="2" actId="21"/>
          <ac:spMkLst>
            <pc:docMk/>
            <pc:sldMk cId="1711524265" sldId="256"/>
            <ac:spMk id="2" creationId="{FB8C3E4C-40AC-D57B-061D-D308D59407DD}"/>
          </ac:spMkLst>
        </pc:spChg>
        <pc:spChg chg="mod">
          <ac:chgData name="Mousumi Ray" userId="aabc61b048ecfdaf" providerId="LiveId" clId="{7185254F-939A-47CB-957E-AF975C3F3800}" dt="2026-03-05T11:27:38.258" v="4" actId="20577"/>
          <ac:spMkLst>
            <pc:docMk/>
            <pc:sldMk cId="1711524265" sldId="256"/>
            <ac:spMk id="3" creationId="{F26804D3-8831-CD31-A2F6-2BEC6093C677}"/>
          </ac:spMkLst>
        </pc:spChg>
      </pc:sldChg>
      <pc:sldChg chg="addSp delSp modSp new mod">
        <pc:chgData name="Mousumi Ray" userId="aabc61b048ecfdaf" providerId="LiveId" clId="{7185254F-939A-47CB-957E-AF975C3F3800}" dt="2026-03-05T11:40:08.691" v="176" actId="14100"/>
        <pc:sldMkLst>
          <pc:docMk/>
          <pc:sldMk cId="1374332036" sldId="257"/>
        </pc:sldMkLst>
        <pc:spChg chg="mod">
          <ac:chgData name="Mousumi Ray" userId="aabc61b048ecfdaf" providerId="LiveId" clId="{7185254F-939A-47CB-957E-AF975C3F3800}" dt="2026-03-05T11:30:00.495" v="56" actId="27636"/>
          <ac:spMkLst>
            <pc:docMk/>
            <pc:sldMk cId="1374332036" sldId="257"/>
            <ac:spMk id="2" creationId="{806C7A62-CB87-F020-D0C9-BEFCEA19635C}"/>
          </ac:spMkLst>
        </pc:spChg>
        <pc:spChg chg="mod">
          <ac:chgData name="Mousumi Ray" userId="aabc61b048ecfdaf" providerId="LiveId" clId="{7185254F-939A-47CB-957E-AF975C3F3800}" dt="2026-03-05T11:40:08.691" v="176" actId="14100"/>
          <ac:spMkLst>
            <pc:docMk/>
            <pc:sldMk cId="1374332036" sldId="257"/>
            <ac:spMk id="3" creationId="{04118176-253A-2A8F-6098-925385BCBDAD}"/>
          </ac:spMkLst>
        </pc:spChg>
        <pc:spChg chg="add mod">
          <ac:chgData name="Mousumi Ray" userId="aabc61b048ecfdaf" providerId="LiveId" clId="{7185254F-939A-47CB-957E-AF975C3F3800}" dt="2026-03-05T11:35:53.063" v="114" actId="255"/>
          <ac:spMkLst>
            <pc:docMk/>
            <pc:sldMk cId="1374332036" sldId="257"/>
            <ac:spMk id="4" creationId="{0DB46FE0-1FAB-2BF1-FF82-7B4886B38967}"/>
          </ac:spMkLst>
        </pc:spChg>
        <pc:spChg chg="add del mod">
          <ac:chgData name="Mousumi Ray" userId="aabc61b048ecfdaf" providerId="LiveId" clId="{7185254F-939A-47CB-957E-AF975C3F3800}" dt="2026-03-05T11:35:54.933" v="116"/>
          <ac:spMkLst>
            <pc:docMk/>
            <pc:sldMk cId="1374332036" sldId="257"/>
            <ac:spMk id="5" creationId="{D86D30D4-EFC4-044B-F54E-E851A9A81B17}"/>
          </ac:spMkLst>
        </pc:spChg>
      </pc:sldChg>
      <pc:sldChg chg="addSp modSp new mod">
        <pc:chgData name="Mousumi Ray" userId="aabc61b048ecfdaf" providerId="LiveId" clId="{7185254F-939A-47CB-957E-AF975C3F3800}" dt="2026-03-06T04:23:51.126" v="318" actId="207"/>
        <pc:sldMkLst>
          <pc:docMk/>
          <pc:sldMk cId="826465135" sldId="258"/>
        </pc:sldMkLst>
        <pc:spChg chg="add mod">
          <ac:chgData name="Mousumi Ray" userId="aabc61b048ecfdaf" providerId="LiveId" clId="{7185254F-939A-47CB-957E-AF975C3F3800}" dt="2026-03-06T04:23:51.126" v="318" actId="207"/>
          <ac:spMkLst>
            <pc:docMk/>
            <pc:sldMk cId="826465135" sldId="258"/>
            <ac:spMk id="2" creationId="{16854D11-A42F-6B64-A26B-ABA6702E186F}"/>
          </ac:spMkLst>
        </pc:spChg>
        <pc:graphicFrameChg chg="add mod modGraphic">
          <ac:chgData name="Mousumi Ray" userId="aabc61b048ecfdaf" providerId="LiveId" clId="{7185254F-939A-47CB-957E-AF975C3F3800}" dt="2026-03-06T04:23:39.064" v="314" actId="1076"/>
          <ac:graphicFrameMkLst>
            <pc:docMk/>
            <pc:sldMk cId="826465135" sldId="258"/>
            <ac:graphicFrameMk id="3" creationId="{FF966205-B5F8-973C-498B-8706C6EB7E68}"/>
          </ac:graphicFrameMkLst>
        </pc:graphicFrameChg>
      </pc:sldChg>
      <pc:sldChg chg="addSp delSp modSp new mod">
        <pc:chgData name="Mousumi Ray" userId="aabc61b048ecfdaf" providerId="LiveId" clId="{7185254F-939A-47CB-957E-AF975C3F3800}" dt="2026-03-05T11:38:20.924" v="141"/>
        <pc:sldMkLst>
          <pc:docMk/>
          <pc:sldMk cId="1841288143" sldId="259"/>
        </pc:sldMkLst>
        <pc:spChg chg="add mod">
          <ac:chgData name="Mousumi Ray" userId="aabc61b048ecfdaf" providerId="LiveId" clId="{7185254F-939A-47CB-957E-AF975C3F3800}" dt="2026-03-05T11:38:19.780" v="139" actId="1035"/>
          <ac:spMkLst>
            <pc:docMk/>
            <pc:sldMk cId="1841288143" sldId="259"/>
            <ac:spMk id="2" creationId="{606B7AAD-73D7-A69D-C812-13A39F3D9C44}"/>
          </ac:spMkLst>
        </pc:spChg>
        <pc:spChg chg="add mod">
          <ac:chgData name="Mousumi Ray" userId="aabc61b048ecfdaf" providerId="LiveId" clId="{7185254F-939A-47CB-957E-AF975C3F3800}" dt="2026-03-05T11:37:51.967" v="138"/>
          <ac:spMkLst>
            <pc:docMk/>
            <pc:sldMk cId="1841288143" sldId="259"/>
            <ac:spMk id="3" creationId="{ADD452C8-33AA-BBC8-6E77-7421925D9E7B}"/>
          </ac:spMkLst>
        </pc:spChg>
        <pc:spChg chg="add del mod">
          <ac:chgData name="Mousumi Ray" userId="aabc61b048ecfdaf" providerId="LiveId" clId="{7185254F-939A-47CB-957E-AF975C3F3800}" dt="2026-03-05T11:38:20.924" v="141"/>
          <ac:spMkLst>
            <pc:docMk/>
            <pc:sldMk cId="1841288143" sldId="259"/>
            <ac:spMk id="4" creationId="{F1AF8238-70EB-3B71-0762-A8310A1A09A6}"/>
          </ac:spMkLst>
        </pc:spChg>
      </pc:sldChg>
      <pc:sldChg chg="addSp modSp new mod">
        <pc:chgData name="Mousumi Ray" userId="aabc61b048ecfdaf" providerId="LiveId" clId="{7185254F-939A-47CB-957E-AF975C3F3800}" dt="2026-03-05T11:42:32.828" v="200" actId="1076"/>
        <pc:sldMkLst>
          <pc:docMk/>
          <pc:sldMk cId="2827199065" sldId="260"/>
        </pc:sldMkLst>
        <pc:spChg chg="mod">
          <ac:chgData name="Mousumi Ray" userId="aabc61b048ecfdaf" providerId="LiveId" clId="{7185254F-939A-47CB-957E-AF975C3F3800}" dt="2026-03-05T11:40:38.293" v="180" actId="27636"/>
          <ac:spMkLst>
            <pc:docMk/>
            <pc:sldMk cId="2827199065" sldId="260"/>
            <ac:spMk id="2" creationId="{18651147-43A7-2017-BC20-8C0F1F606892}"/>
          </ac:spMkLst>
        </pc:spChg>
        <pc:spChg chg="mod">
          <ac:chgData name="Mousumi Ray" userId="aabc61b048ecfdaf" providerId="LiveId" clId="{7185254F-939A-47CB-957E-AF975C3F3800}" dt="2026-03-05T11:41:08.548" v="185"/>
          <ac:spMkLst>
            <pc:docMk/>
            <pc:sldMk cId="2827199065" sldId="260"/>
            <ac:spMk id="3" creationId="{D387BCA8-788A-9C3E-AE66-C9E52FA0BCE9}"/>
          </ac:spMkLst>
        </pc:spChg>
        <pc:spChg chg="add mod">
          <ac:chgData name="Mousumi Ray" userId="aabc61b048ecfdaf" providerId="LiveId" clId="{7185254F-939A-47CB-957E-AF975C3F3800}" dt="2026-03-05T11:42:32.828" v="200" actId="1076"/>
          <ac:spMkLst>
            <pc:docMk/>
            <pc:sldMk cId="2827199065" sldId="260"/>
            <ac:spMk id="4" creationId="{F1AD4B6A-80F7-6737-3F58-D265938BA1E4}"/>
          </ac:spMkLst>
        </pc:spChg>
      </pc:sldChg>
      <pc:sldChg chg="addSp modSp new mod">
        <pc:chgData name="Mousumi Ray" userId="aabc61b048ecfdaf" providerId="LiveId" clId="{7185254F-939A-47CB-957E-AF975C3F3800}" dt="2026-03-05T11:45:53.444" v="268" actId="20577"/>
        <pc:sldMkLst>
          <pc:docMk/>
          <pc:sldMk cId="3583368001" sldId="261"/>
        </pc:sldMkLst>
        <pc:spChg chg="add mod">
          <ac:chgData name="Mousumi Ray" userId="aabc61b048ecfdaf" providerId="LiveId" clId="{7185254F-939A-47CB-957E-AF975C3F3800}" dt="2026-03-05T11:45:53.444" v="268" actId="20577"/>
          <ac:spMkLst>
            <pc:docMk/>
            <pc:sldMk cId="3583368001" sldId="261"/>
            <ac:spMk id="2" creationId="{4159DFA0-AFF6-F93C-AACC-6565D452B404}"/>
          </ac:spMkLst>
        </pc:spChg>
      </pc:sldChg>
      <pc:sldChg chg="addSp modSp new mod">
        <pc:chgData name="Mousumi Ray" userId="aabc61b048ecfdaf" providerId="LiveId" clId="{7185254F-939A-47CB-957E-AF975C3F3800}" dt="2026-03-05T11:49:40.682" v="304" actId="207"/>
        <pc:sldMkLst>
          <pc:docMk/>
          <pc:sldMk cId="3161619072" sldId="262"/>
        </pc:sldMkLst>
        <pc:spChg chg="add mod">
          <ac:chgData name="Mousumi Ray" userId="aabc61b048ecfdaf" providerId="LiveId" clId="{7185254F-939A-47CB-957E-AF975C3F3800}" dt="2026-03-05T11:48:48.444" v="297" actId="20577"/>
          <ac:spMkLst>
            <pc:docMk/>
            <pc:sldMk cId="3161619072" sldId="262"/>
            <ac:spMk id="2" creationId="{86D6BD2D-8945-32C0-2567-DBBE30C92463}"/>
          </ac:spMkLst>
        </pc:spChg>
        <pc:spChg chg="add mod">
          <ac:chgData name="Mousumi Ray" userId="aabc61b048ecfdaf" providerId="LiveId" clId="{7185254F-939A-47CB-957E-AF975C3F3800}" dt="2026-03-05T11:48:55.744" v="299" actId="1076"/>
          <ac:spMkLst>
            <pc:docMk/>
            <pc:sldMk cId="3161619072" sldId="262"/>
            <ac:spMk id="3" creationId="{D626FC39-0C7F-5297-7E53-86EB81A87892}"/>
          </ac:spMkLst>
        </pc:spChg>
        <pc:graphicFrameChg chg="add mod modGraphic">
          <ac:chgData name="Mousumi Ray" userId="aabc61b048ecfdaf" providerId="LiveId" clId="{7185254F-939A-47CB-957E-AF975C3F3800}" dt="2026-03-05T11:49:40.682" v="304" actId="207"/>
          <ac:graphicFrameMkLst>
            <pc:docMk/>
            <pc:sldMk cId="3161619072" sldId="262"/>
            <ac:graphicFrameMk id="4" creationId="{F32AD1D9-0F7A-94AC-072F-76DD97503D44}"/>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7C27E2-D3AA-4B9B-8DDF-E96ED4DB36F9}"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84CE6-390C-4119-9821-9359428BD237}" type="slidenum">
              <a:rPr lang="en-US" smtClean="0"/>
              <a:t>‹#›</a:t>
            </a:fld>
            <a:endParaRPr lang="en-US"/>
          </a:p>
        </p:txBody>
      </p:sp>
    </p:spTree>
    <p:extLst>
      <p:ext uri="{BB962C8B-B14F-4D97-AF65-F5344CB8AC3E}">
        <p14:creationId xmlns:p14="http://schemas.microsoft.com/office/powerpoint/2010/main" val="1795965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A84CE6-390C-4119-9821-9359428BD237}" type="slidenum">
              <a:rPr lang="en-US" smtClean="0"/>
              <a:t>1</a:t>
            </a:fld>
            <a:endParaRPr lang="en-US"/>
          </a:p>
        </p:txBody>
      </p:sp>
    </p:spTree>
    <p:extLst>
      <p:ext uri="{BB962C8B-B14F-4D97-AF65-F5344CB8AC3E}">
        <p14:creationId xmlns:p14="http://schemas.microsoft.com/office/powerpoint/2010/main" val="1868745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F967F-59A1-AECF-1B74-F0E43ACCC9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5D581F-1E74-24F9-1A5E-E4DB52129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ED189C3-3005-7809-F17C-40864894DAF7}"/>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5" name="Footer Placeholder 4">
            <a:extLst>
              <a:ext uri="{FF2B5EF4-FFF2-40B4-BE49-F238E27FC236}">
                <a16:creationId xmlns:a16="http://schemas.microsoft.com/office/drawing/2014/main" id="{A4F63B76-C0CB-6C5A-3D8E-6841B25032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869A2E-B6E7-EBEA-69B1-9A40BFBC0264}"/>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2448096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BDB5-787C-8AEA-2D11-EE2AAED71C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1A03D4-18AF-E282-81C6-283B2F4546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1BF1E-BDB9-F6DA-B5A5-36534FE8CA5A}"/>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5" name="Footer Placeholder 4">
            <a:extLst>
              <a:ext uri="{FF2B5EF4-FFF2-40B4-BE49-F238E27FC236}">
                <a16:creationId xmlns:a16="http://schemas.microsoft.com/office/drawing/2014/main" id="{58B9F1DD-AF8C-3C15-61E7-056263817D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6BFE8C-2E7F-5EE7-7ED1-5E5368EF1FB9}"/>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1259105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2D7D0-FE81-ADA9-5D39-26CC1B8828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5D8643-4BFE-005A-F436-3706617277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303005-5DF1-841B-38DF-74EC384856EE}"/>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5" name="Footer Placeholder 4">
            <a:extLst>
              <a:ext uri="{FF2B5EF4-FFF2-40B4-BE49-F238E27FC236}">
                <a16:creationId xmlns:a16="http://schemas.microsoft.com/office/drawing/2014/main" id="{3A318ADC-B541-5E4F-2F46-F687BAADC1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456C2-9580-8AB1-3528-7F6D54F8A354}"/>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2737350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9A1BE-A9A6-2E61-6E42-56B77EF375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C33B15-5F07-C0FB-970E-FAF47ACA8F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7FFB9E-245D-4DB1-35AF-4D204E3C79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74474-DB7B-26D6-7CE1-EFE95E6BC9EA}"/>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6" name="Footer Placeholder 5">
            <a:extLst>
              <a:ext uri="{FF2B5EF4-FFF2-40B4-BE49-F238E27FC236}">
                <a16:creationId xmlns:a16="http://schemas.microsoft.com/office/drawing/2014/main" id="{B02BFA04-D82D-40ED-E3F4-14AFAC4D32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24651-76E0-CB04-86A9-D92994D1B870}"/>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332833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7744E-56BB-0D56-9A09-2A6664F244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51EC83-BC68-0799-D169-8446A3048F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FBC7A-A37E-A4FC-0C39-9EE02B660C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4CD380-7521-B5B4-9C28-517AE21967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6F0AA4-F659-D8A3-EAD7-2A2D4E728B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34ABE7-0046-0E35-3759-6F8ADCBC9564}"/>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8" name="Footer Placeholder 7">
            <a:extLst>
              <a:ext uri="{FF2B5EF4-FFF2-40B4-BE49-F238E27FC236}">
                <a16:creationId xmlns:a16="http://schemas.microsoft.com/office/drawing/2014/main" id="{501E9AF2-343A-6572-A427-A4561C331D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7E786D-D3E9-9C08-2075-E3E9AE9C93ED}"/>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4113428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0C14E-845B-EDF8-07FB-1505E533F80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1E5151-57F0-7E34-BE7F-301D887DABCF}"/>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4" name="Footer Placeholder 3">
            <a:extLst>
              <a:ext uri="{FF2B5EF4-FFF2-40B4-BE49-F238E27FC236}">
                <a16:creationId xmlns:a16="http://schemas.microsoft.com/office/drawing/2014/main" id="{FEE3322C-F649-996C-F8B0-B22FB4BE0E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5CC3B3-7050-6145-BE2C-7DF2473594C2}"/>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3348733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601F94-87CC-5571-2337-AC2D3835F3CE}"/>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3" name="Footer Placeholder 2">
            <a:extLst>
              <a:ext uri="{FF2B5EF4-FFF2-40B4-BE49-F238E27FC236}">
                <a16:creationId xmlns:a16="http://schemas.microsoft.com/office/drawing/2014/main" id="{D220E0FF-0905-D9FB-6CF0-959769D064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C936302-D339-095D-CF39-DD229C0577B3}"/>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304451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22F1D-86FE-D579-5936-43345322C4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9C31B9-C631-8177-FC78-80A7A346E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198947-D62E-5558-8E11-D8DB924E1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46DF93-EF80-64DC-05FB-CCC3156A329E}"/>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6" name="Footer Placeholder 5">
            <a:extLst>
              <a:ext uri="{FF2B5EF4-FFF2-40B4-BE49-F238E27FC236}">
                <a16:creationId xmlns:a16="http://schemas.microsoft.com/office/drawing/2014/main" id="{70EC083C-140D-FBF0-2B29-A6EE1F05E9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DC5052-245C-7349-5696-81436DF03F00}"/>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3597382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01C7F-5BAE-3E9A-0769-F969F2B10C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C72E61-5A65-8618-1B25-4118E02CF5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A48242-359D-758B-1587-F37FAACAAB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F8FC0F-28CB-BFA4-5617-C529B9BBE6C4}"/>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6" name="Footer Placeholder 5">
            <a:extLst>
              <a:ext uri="{FF2B5EF4-FFF2-40B4-BE49-F238E27FC236}">
                <a16:creationId xmlns:a16="http://schemas.microsoft.com/office/drawing/2014/main" id="{D25FBA48-77C5-723E-19B7-A5AB3B928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979DD5-AA34-93FC-AEBD-54FEFCB6335B}"/>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3336645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EF56D-B353-8B3B-4DD3-4D8A34ED0A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E42DD7-AB54-E7CB-3B13-0E4A7CCB1D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D4129D-B1B3-B6AA-3D55-9AE153BED38A}"/>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5" name="Footer Placeholder 4">
            <a:extLst>
              <a:ext uri="{FF2B5EF4-FFF2-40B4-BE49-F238E27FC236}">
                <a16:creationId xmlns:a16="http://schemas.microsoft.com/office/drawing/2014/main" id="{4CEA0696-82AF-B5EB-8F1A-136581FDA5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BC212B-1BAD-FE56-9ACB-27E4E6BF45AE}"/>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850202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9578FD-EBB4-4788-C944-6826DF0ECA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C7C195-3D5A-4A37-EF16-FBCEFF0349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C62B42-08ED-57F9-0823-82397CF59616}"/>
              </a:ext>
            </a:extLst>
          </p:cNvPr>
          <p:cNvSpPr>
            <a:spLocks noGrp="1"/>
          </p:cNvSpPr>
          <p:nvPr>
            <p:ph type="dt" sz="half" idx="10"/>
          </p:nvPr>
        </p:nvSpPr>
        <p:spPr/>
        <p:txBody>
          <a:bodyPr/>
          <a:lstStyle/>
          <a:p>
            <a:fld id="{7547EF7E-11BE-436B-8819-4E3787D5A4BD}" type="datetimeFigureOut">
              <a:rPr lang="en-US" smtClean="0"/>
              <a:t>4/14/2026</a:t>
            </a:fld>
            <a:endParaRPr lang="en-US"/>
          </a:p>
        </p:txBody>
      </p:sp>
      <p:sp>
        <p:nvSpPr>
          <p:cNvPr id="5" name="Footer Placeholder 4">
            <a:extLst>
              <a:ext uri="{FF2B5EF4-FFF2-40B4-BE49-F238E27FC236}">
                <a16:creationId xmlns:a16="http://schemas.microsoft.com/office/drawing/2014/main" id="{A206A9B8-92AB-D43E-2145-96AAF620EA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437E92-46BD-B588-6A4B-EB9CA954F139}"/>
              </a:ext>
            </a:extLst>
          </p:cNvPr>
          <p:cNvSpPr>
            <a:spLocks noGrp="1"/>
          </p:cNvSpPr>
          <p:nvPr>
            <p:ph type="sldNum" sz="quarter" idx="12"/>
          </p:nvPr>
        </p:nvSpPr>
        <p:spPr/>
        <p:txBody>
          <a:bodyPr/>
          <a:lstStyle/>
          <a:p>
            <a:fld id="{D6961762-EFF4-4AC4-949C-63380F7A8E2D}" type="slidenum">
              <a:rPr lang="en-US" smtClean="0"/>
              <a:t>‹#›</a:t>
            </a:fld>
            <a:endParaRPr lang="en-US"/>
          </a:p>
        </p:txBody>
      </p:sp>
    </p:spTree>
    <p:extLst>
      <p:ext uri="{BB962C8B-B14F-4D97-AF65-F5344CB8AC3E}">
        <p14:creationId xmlns:p14="http://schemas.microsoft.com/office/powerpoint/2010/main" val="316264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DFB068-81DE-A63D-BFFA-3F4953A830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C1B7E6-86CF-9034-B5FE-9DF4489122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C39C2-5E4E-4855-755F-2CD0CF7BD4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47EF7E-11BE-436B-8819-4E3787D5A4BD}" type="datetimeFigureOut">
              <a:rPr lang="en-US" smtClean="0"/>
              <a:t>4/14/2026</a:t>
            </a:fld>
            <a:endParaRPr lang="en-US"/>
          </a:p>
        </p:txBody>
      </p:sp>
      <p:sp>
        <p:nvSpPr>
          <p:cNvPr id="5" name="Footer Placeholder 4">
            <a:extLst>
              <a:ext uri="{FF2B5EF4-FFF2-40B4-BE49-F238E27FC236}">
                <a16:creationId xmlns:a16="http://schemas.microsoft.com/office/drawing/2014/main" id="{1A398D8B-78EC-202A-3599-B83FC449A1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DE9D6C-31FF-8749-096C-BDFBC7C817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961762-EFF4-4AC4-949C-63380F7A8E2D}" type="slidenum">
              <a:rPr lang="en-US" smtClean="0"/>
              <a:t>‹#›</a:t>
            </a:fld>
            <a:endParaRPr lang="en-US"/>
          </a:p>
        </p:txBody>
      </p:sp>
    </p:spTree>
    <p:extLst>
      <p:ext uri="{BB962C8B-B14F-4D97-AF65-F5344CB8AC3E}">
        <p14:creationId xmlns:p14="http://schemas.microsoft.com/office/powerpoint/2010/main" val="521688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8000" r="-8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3E4C-40AC-D57B-061D-D308D59407DD}"/>
              </a:ext>
            </a:extLst>
          </p:cNvPr>
          <p:cNvSpPr>
            <a:spLocks noGrp="1"/>
          </p:cNvSpPr>
          <p:nvPr>
            <p:ph type="ctrTitle"/>
          </p:nvPr>
        </p:nvSpPr>
        <p:spPr>
          <a:xfrm>
            <a:off x="1042987" y="285750"/>
            <a:ext cx="10106026" cy="806450"/>
          </a:xfrm>
          <a:solidFill>
            <a:schemeClr val="bg2"/>
          </a:solidFill>
        </p:spPr>
        <p:txBody>
          <a:bodyPr>
            <a:noAutofit/>
          </a:bodyPr>
          <a:lstStyle/>
          <a:p>
            <a:r>
              <a:rPr lang="en-US" sz="4000" dirty="0">
                <a:solidFill>
                  <a:srgbClr val="FF0000"/>
                </a:solidFill>
                <a:latin typeface="Arial Black" panose="020B0A04020102020204" pitchFamily="34" charset="0"/>
              </a:rPr>
              <a:t>PROFESSION AND PROFESSALISM</a:t>
            </a:r>
          </a:p>
        </p:txBody>
      </p:sp>
      <p:sp>
        <p:nvSpPr>
          <p:cNvPr id="3" name="Subtitle 2">
            <a:extLst>
              <a:ext uri="{FF2B5EF4-FFF2-40B4-BE49-F238E27FC236}">
                <a16:creationId xmlns:a16="http://schemas.microsoft.com/office/drawing/2014/main" id="{F26804D3-8831-CD31-A2F6-2BEC6093C677}"/>
              </a:ext>
            </a:extLst>
          </p:cNvPr>
          <p:cNvSpPr>
            <a:spLocks noGrp="1"/>
          </p:cNvSpPr>
          <p:nvPr>
            <p:ph type="subTitle" idx="1"/>
          </p:nvPr>
        </p:nvSpPr>
        <p:spPr>
          <a:xfrm>
            <a:off x="9272588" y="6157912"/>
            <a:ext cx="2824162" cy="585788"/>
          </a:xfrm>
          <a:solidFill>
            <a:schemeClr val="accent2"/>
          </a:solidFill>
        </p:spPr>
        <p:txBody>
          <a:bodyPr>
            <a:normAutofit/>
          </a:bodyPr>
          <a:lstStyle/>
          <a:p>
            <a:r>
              <a:rPr lang="en-US" sz="3200" dirty="0">
                <a:latin typeface="Arial Black" panose="020B0A04020102020204" pitchFamily="34" charset="0"/>
              </a:rPr>
              <a:t>MODULE–II</a:t>
            </a:r>
          </a:p>
        </p:txBody>
      </p:sp>
    </p:spTree>
    <p:extLst>
      <p:ext uri="{BB962C8B-B14F-4D97-AF65-F5344CB8AC3E}">
        <p14:creationId xmlns:p14="http://schemas.microsoft.com/office/powerpoint/2010/main" val="1711524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BE66-F5D2-D370-0374-85D0192FA9E9}"/>
              </a:ext>
            </a:extLst>
          </p:cNvPr>
          <p:cNvSpPr>
            <a:spLocks noGrp="1"/>
          </p:cNvSpPr>
          <p:nvPr>
            <p:ph type="title"/>
          </p:nvPr>
        </p:nvSpPr>
        <p:spPr>
          <a:xfrm>
            <a:off x="838200" y="365125"/>
            <a:ext cx="10515600" cy="677863"/>
          </a:xfrm>
        </p:spPr>
        <p:txBody>
          <a:bodyPr>
            <a:normAutofit/>
          </a:bodyPr>
          <a:lstStyle/>
          <a:p>
            <a:pPr algn="ctr"/>
            <a:r>
              <a:rPr lang="en-US" sz="4000" dirty="0">
                <a:solidFill>
                  <a:srgbClr val="FF0000"/>
                </a:solidFill>
                <a:latin typeface="Arial Black" panose="020B0A04020102020204" pitchFamily="34" charset="0"/>
              </a:rPr>
              <a:t>CONTENTS</a:t>
            </a:r>
          </a:p>
        </p:txBody>
      </p:sp>
      <p:sp>
        <p:nvSpPr>
          <p:cNvPr id="3" name="Content Placeholder 2">
            <a:extLst>
              <a:ext uri="{FF2B5EF4-FFF2-40B4-BE49-F238E27FC236}">
                <a16:creationId xmlns:a16="http://schemas.microsoft.com/office/drawing/2014/main" id="{57506EB7-7CC1-E6F0-3B15-E9F83EBDAE32}"/>
              </a:ext>
            </a:extLst>
          </p:cNvPr>
          <p:cNvSpPr>
            <a:spLocks noGrp="1"/>
          </p:cNvSpPr>
          <p:nvPr>
            <p:ph idx="1"/>
          </p:nvPr>
        </p:nvSpPr>
        <p:spPr>
          <a:xfrm>
            <a:off x="838200" y="1463675"/>
            <a:ext cx="10515600" cy="5029200"/>
          </a:xfrm>
        </p:spPr>
        <p:txBody>
          <a:bodyPr>
            <a:normAutofit fontScale="92500" lnSpcReduction="10000"/>
          </a:bodyPr>
          <a:lstStyle/>
          <a:p>
            <a:pPr>
              <a:buFont typeface="Wingdings" panose="05000000000000000000" pitchFamily="2" charset="2"/>
              <a:buChar char="v"/>
            </a:pPr>
            <a:r>
              <a:rPr lang="en-US" b="1" dirty="0"/>
              <a:t>  Profession, Professional &amp; Professionalism</a:t>
            </a:r>
          </a:p>
          <a:p>
            <a:pPr>
              <a:buFont typeface="Wingdings" panose="05000000000000000000" pitchFamily="2" charset="2"/>
              <a:buChar char="v"/>
            </a:pPr>
            <a:r>
              <a:rPr lang="en-US" b="1" dirty="0"/>
              <a:t>  Professional Accountability</a:t>
            </a:r>
          </a:p>
          <a:p>
            <a:pPr>
              <a:buFont typeface="Wingdings" panose="05000000000000000000" pitchFamily="2" charset="2"/>
              <a:buChar char="v"/>
            </a:pPr>
            <a:r>
              <a:rPr lang="en-US" b="1" dirty="0"/>
              <a:t>  Professional Risks</a:t>
            </a:r>
          </a:p>
          <a:p>
            <a:pPr>
              <a:buFont typeface="Wingdings" panose="05000000000000000000" pitchFamily="2" charset="2"/>
              <a:buChar char="v"/>
            </a:pPr>
            <a:r>
              <a:rPr lang="en-US" b="1" dirty="0"/>
              <a:t>  Profession and Craftsmanship</a:t>
            </a:r>
          </a:p>
          <a:p>
            <a:pPr>
              <a:buFont typeface="Wingdings" panose="05000000000000000000" pitchFamily="2" charset="2"/>
              <a:buChar char="v"/>
            </a:pPr>
            <a:r>
              <a:rPr lang="en-US" b="1" dirty="0"/>
              <a:t>  Conflict of Interest</a:t>
            </a:r>
          </a:p>
          <a:p>
            <a:pPr>
              <a:buFont typeface="Wingdings" panose="05000000000000000000" pitchFamily="2" charset="2"/>
              <a:buChar char="v"/>
            </a:pPr>
            <a:r>
              <a:rPr lang="en-US" b="1" dirty="0"/>
              <a:t>  Distinguishing Features of a Professional</a:t>
            </a:r>
          </a:p>
          <a:p>
            <a:pPr>
              <a:buFont typeface="Wingdings" panose="05000000000000000000" pitchFamily="2" charset="2"/>
              <a:buChar char="v"/>
            </a:pPr>
            <a:r>
              <a:rPr lang="en-US" b="1" dirty="0"/>
              <a:t>  Roles and Responsibilities of Professionals</a:t>
            </a:r>
          </a:p>
          <a:p>
            <a:pPr>
              <a:buFont typeface="Wingdings" panose="05000000000000000000" pitchFamily="2" charset="2"/>
              <a:buChar char="v"/>
            </a:pPr>
            <a:r>
              <a:rPr lang="en-US" b="1" dirty="0"/>
              <a:t>  Professional Duties Towards Organization and Vice-Versa</a:t>
            </a:r>
          </a:p>
          <a:p>
            <a:pPr>
              <a:buFont typeface="Wingdings" panose="05000000000000000000" pitchFamily="2" charset="2"/>
              <a:buChar char="v"/>
            </a:pPr>
            <a:r>
              <a:rPr lang="en-US" b="1" dirty="0"/>
              <a:t>  Ethical Theories</a:t>
            </a:r>
          </a:p>
          <a:p>
            <a:pPr>
              <a:buFont typeface="Wingdings" panose="05000000000000000000" pitchFamily="2" charset="2"/>
              <a:buChar char="v"/>
            </a:pPr>
            <a:r>
              <a:rPr lang="en-US" b="1" dirty="0"/>
              <a:t>  Ethical Terms</a:t>
            </a:r>
          </a:p>
          <a:p>
            <a:pPr>
              <a:buFont typeface="Wingdings" panose="05000000000000000000" pitchFamily="2" charset="2"/>
              <a:buChar char="v"/>
            </a:pPr>
            <a:r>
              <a:rPr lang="en-US" b="1" dirty="0"/>
              <a:t>  Resolving Ethical Dilemma</a:t>
            </a:r>
          </a:p>
        </p:txBody>
      </p:sp>
    </p:spTree>
    <p:extLst>
      <p:ext uri="{BB962C8B-B14F-4D97-AF65-F5344CB8AC3E}">
        <p14:creationId xmlns:p14="http://schemas.microsoft.com/office/powerpoint/2010/main" val="1111290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C7A62-CB87-F020-D0C9-BEFCEA19635C}"/>
              </a:ext>
            </a:extLst>
          </p:cNvPr>
          <p:cNvSpPr>
            <a:spLocks noGrp="1"/>
          </p:cNvSpPr>
          <p:nvPr>
            <p:ph type="title"/>
          </p:nvPr>
        </p:nvSpPr>
        <p:spPr>
          <a:xfrm>
            <a:off x="838199" y="365126"/>
            <a:ext cx="10515600" cy="585788"/>
          </a:xfrm>
        </p:spPr>
        <p:txBody>
          <a:bodyPr>
            <a:noAutofit/>
          </a:bodyPr>
          <a:lstStyle/>
          <a:p>
            <a:pPr algn="ctr"/>
            <a:r>
              <a:rPr lang="en-US" sz="4000" dirty="0">
                <a:solidFill>
                  <a:srgbClr val="FF0000"/>
                </a:solidFill>
                <a:latin typeface="Arial Black" panose="020B0A04020102020204" pitchFamily="34" charset="0"/>
              </a:rPr>
              <a:t>PROFESSION</a:t>
            </a:r>
          </a:p>
        </p:txBody>
      </p:sp>
      <p:sp>
        <p:nvSpPr>
          <p:cNvPr id="3" name="Content Placeholder 2">
            <a:extLst>
              <a:ext uri="{FF2B5EF4-FFF2-40B4-BE49-F238E27FC236}">
                <a16:creationId xmlns:a16="http://schemas.microsoft.com/office/drawing/2014/main" id="{04118176-253A-2A8F-6098-925385BCBDAD}"/>
              </a:ext>
            </a:extLst>
          </p:cNvPr>
          <p:cNvSpPr>
            <a:spLocks noGrp="1"/>
          </p:cNvSpPr>
          <p:nvPr>
            <p:ph idx="1"/>
          </p:nvPr>
        </p:nvSpPr>
        <p:spPr>
          <a:xfrm>
            <a:off x="502443" y="950914"/>
            <a:ext cx="11187113" cy="5764210"/>
          </a:xfrm>
        </p:spPr>
        <p:txBody>
          <a:bodyPr>
            <a:normAutofit/>
          </a:bodyPr>
          <a:lstStyle/>
          <a:p>
            <a:pPr marL="0" indent="0" algn="just">
              <a:buNone/>
            </a:pPr>
            <a:endParaRPr lang="en-US" sz="2400" dirty="0"/>
          </a:p>
          <a:p>
            <a:pPr marL="0" indent="0" algn="just">
              <a:buNone/>
            </a:pPr>
            <a:r>
              <a:rPr lang="en-US" sz="2400" dirty="0"/>
              <a:t>A profession is a specialized occupation that requires formal education, expertise, and adherence to ethical standards while serving society. </a:t>
            </a:r>
          </a:p>
          <a:p>
            <a:pPr marL="0" indent="0">
              <a:buNone/>
            </a:pPr>
            <a:r>
              <a:rPr lang="en-US" sz="2400" b="1" u="sng" dirty="0"/>
              <a:t>A profession is an occupation that requires:</a:t>
            </a:r>
          </a:p>
          <a:p>
            <a:pPr>
              <a:spcBef>
                <a:spcPts val="0"/>
              </a:spcBef>
              <a:buFont typeface="Wingdings" panose="05000000000000000000" pitchFamily="2" charset="2"/>
              <a:buChar char="§"/>
            </a:pPr>
            <a:r>
              <a:rPr lang="en-US" sz="2200" b="1" dirty="0">
                <a:solidFill>
                  <a:schemeClr val="accent6">
                    <a:lumMod val="50000"/>
                  </a:schemeClr>
                </a:solidFill>
              </a:rPr>
              <a:t>Specialized knowledge</a:t>
            </a:r>
          </a:p>
          <a:p>
            <a:pPr>
              <a:spcBef>
                <a:spcPts val="0"/>
              </a:spcBef>
              <a:buFont typeface="Wingdings" panose="05000000000000000000" pitchFamily="2" charset="2"/>
              <a:buChar char="§"/>
            </a:pPr>
            <a:r>
              <a:rPr lang="en-US" sz="2200" b="1" dirty="0">
                <a:solidFill>
                  <a:schemeClr val="accent6">
                    <a:lumMod val="50000"/>
                  </a:schemeClr>
                </a:solidFill>
              </a:rPr>
              <a:t>Formal education and training</a:t>
            </a:r>
          </a:p>
          <a:p>
            <a:pPr>
              <a:spcBef>
                <a:spcPts val="0"/>
              </a:spcBef>
              <a:buFont typeface="Wingdings" panose="05000000000000000000" pitchFamily="2" charset="2"/>
              <a:buChar char="§"/>
            </a:pPr>
            <a:r>
              <a:rPr lang="en-US" sz="2200" b="1" dirty="0">
                <a:solidFill>
                  <a:schemeClr val="accent6">
                    <a:lumMod val="50000"/>
                  </a:schemeClr>
                </a:solidFill>
              </a:rPr>
              <a:t>Skill development</a:t>
            </a:r>
          </a:p>
          <a:p>
            <a:pPr>
              <a:spcBef>
                <a:spcPts val="0"/>
              </a:spcBef>
              <a:buFont typeface="Wingdings" panose="05000000000000000000" pitchFamily="2" charset="2"/>
              <a:buChar char="§"/>
            </a:pPr>
            <a:r>
              <a:rPr lang="en-US" sz="2200" b="1" dirty="0">
                <a:solidFill>
                  <a:schemeClr val="accent6">
                    <a:lumMod val="50000"/>
                  </a:schemeClr>
                </a:solidFill>
              </a:rPr>
              <a:t>Ethical standards</a:t>
            </a:r>
          </a:p>
          <a:p>
            <a:pPr>
              <a:spcBef>
                <a:spcPts val="0"/>
              </a:spcBef>
              <a:buFont typeface="Wingdings" panose="05000000000000000000" pitchFamily="2" charset="2"/>
              <a:buChar char="§"/>
            </a:pPr>
            <a:r>
              <a:rPr lang="en-US" sz="2200" b="1" dirty="0">
                <a:solidFill>
                  <a:schemeClr val="accent6">
                    <a:lumMod val="50000"/>
                  </a:schemeClr>
                </a:solidFill>
              </a:rPr>
              <a:t>Responsibility towards society</a:t>
            </a:r>
          </a:p>
          <a:p>
            <a:pPr marL="0" indent="0">
              <a:buNone/>
            </a:pPr>
            <a:endParaRPr lang="en-US" sz="2400" b="1" u="sng" dirty="0"/>
          </a:p>
          <a:p>
            <a:pPr marL="0" indent="0">
              <a:buNone/>
            </a:pPr>
            <a:r>
              <a:rPr lang="en-US" sz="2400" b="1" u="sng" dirty="0"/>
              <a:t>For Example:</a:t>
            </a:r>
            <a:r>
              <a:rPr lang="en-US" sz="2400" dirty="0"/>
              <a:t> </a:t>
            </a:r>
            <a:r>
              <a:rPr lang="en-US" sz="2200" dirty="0"/>
              <a:t>Engineering, Medicine, Law, Chartered Accountancy, Architect</a:t>
            </a:r>
          </a:p>
          <a:p>
            <a:pPr marL="0" indent="0" algn="just">
              <a:buNone/>
            </a:pPr>
            <a:r>
              <a:rPr lang="en-US" sz="2200" dirty="0"/>
              <a:t>It is not just a way of earning money, but a commitment to serve society using expert knowledge.</a:t>
            </a:r>
          </a:p>
          <a:p>
            <a:pPr marL="0" indent="0" algn="just">
              <a:buNone/>
            </a:pPr>
            <a:endParaRPr lang="en-US" dirty="0"/>
          </a:p>
        </p:txBody>
      </p:sp>
      <p:sp>
        <p:nvSpPr>
          <p:cNvPr id="5" name="Cloud 4">
            <a:extLst>
              <a:ext uri="{FF2B5EF4-FFF2-40B4-BE49-F238E27FC236}">
                <a16:creationId xmlns:a16="http://schemas.microsoft.com/office/drawing/2014/main" id="{90C6138A-426B-2C82-6BFC-058E5D0E65BD}"/>
              </a:ext>
            </a:extLst>
          </p:cNvPr>
          <p:cNvSpPr/>
          <p:nvPr/>
        </p:nvSpPr>
        <p:spPr>
          <a:xfrm>
            <a:off x="7058025" y="2276870"/>
            <a:ext cx="4631531" cy="2196306"/>
          </a:xfrm>
          <a:prstGeom prst="cloud">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just"/>
            <a:r>
              <a:rPr lang="en-US" sz="2100" b="1" dirty="0"/>
              <a:t>Every profession is a job,</a:t>
            </a:r>
            <a:br>
              <a:rPr lang="en-US" sz="2100" b="1" dirty="0"/>
            </a:br>
            <a:r>
              <a:rPr lang="en-US" sz="2100" b="1" dirty="0"/>
              <a:t>but every job is not a profession.</a:t>
            </a:r>
          </a:p>
        </p:txBody>
      </p:sp>
      <p:sp>
        <p:nvSpPr>
          <p:cNvPr id="6" name="Rectangle: Rounded Corners 5">
            <a:extLst>
              <a:ext uri="{FF2B5EF4-FFF2-40B4-BE49-F238E27FC236}">
                <a16:creationId xmlns:a16="http://schemas.microsoft.com/office/drawing/2014/main" id="{8A5AED48-AD91-33EF-5EE2-1B543238BEFE}"/>
              </a:ext>
            </a:extLst>
          </p:cNvPr>
          <p:cNvSpPr/>
          <p:nvPr/>
        </p:nvSpPr>
        <p:spPr>
          <a:xfrm>
            <a:off x="2128836" y="5864223"/>
            <a:ext cx="7658101" cy="62865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b="1" dirty="0"/>
              <a:t>Profession = Knowledge + Skill + Training + Ethics + Service</a:t>
            </a:r>
          </a:p>
        </p:txBody>
      </p:sp>
    </p:spTree>
    <p:extLst>
      <p:ext uri="{BB962C8B-B14F-4D97-AF65-F5344CB8AC3E}">
        <p14:creationId xmlns:p14="http://schemas.microsoft.com/office/powerpoint/2010/main" val="1374332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854D11-A42F-6B64-A26B-ABA6702E186F}"/>
              </a:ext>
            </a:extLst>
          </p:cNvPr>
          <p:cNvSpPr txBox="1"/>
          <p:nvPr/>
        </p:nvSpPr>
        <p:spPr>
          <a:xfrm>
            <a:off x="385763" y="342900"/>
            <a:ext cx="11329987" cy="5201424"/>
          </a:xfrm>
          <a:prstGeom prst="rect">
            <a:avLst/>
          </a:prstGeom>
          <a:noFill/>
        </p:spPr>
        <p:txBody>
          <a:bodyPr wrap="square" rtlCol="0">
            <a:spAutoFit/>
          </a:bodyPr>
          <a:lstStyle/>
          <a:p>
            <a:pPr algn="ctr"/>
            <a:r>
              <a:rPr lang="en-US" sz="2800" u="sng" dirty="0">
                <a:solidFill>
                  <a:schemeClr val="accent2">
                    <a:lumMod val="50000"/>
                  </a:schemeClr>
                </a:solidFill>
                <a:latin typeface="Arial Black" panose="020B0A04020102020204" pitchFamily="34" charset="0"/>
              </a:rPr>
              <a:t>Essential Characteristics of a Profession</a:t>
            </a:r>
          </a:p>
          <a:p>
            <a:endParaRPr lang="en-US" dirty="0"/>
          </a:p>
          <a:p>
            <a:r>
              <a:rPr lang="en-US" sz="2200" b="1" dirty="0">
                <a:solidFill>
                  <a:schemeClr val="accent6">
                    <a:lumMod val="50000"/>
                  </a:schemeClr>
                </a:solidFill>
              </a:rPr>
              <a:t>1. Specialized Knowledge: </a:t>
            </a:r>
            <a:r>
              <a:rPr lang="en-US" sz="2200" dirty="0"/>
              <a:t>A profession is based on deep theoretical and practical knowledge.</a:t>
            </a:r>
          </a:p>
          <a:p>
            <a:r>
              <a:rPr lang="en-US" sz="2200" b="1" dirty="0">
                <a:solidFill>
                  <a:schemeClr val="accent6">
                    <a:lumMod val="50000"/>
                  </a:schemeClr>
                </a:solidFill>
              </a:rPr>
              <a:t>2. Formal Education and Training: </a:t>
            </a:r>
            <a:r>
              <a:rPr lang="en-US" sz="2200" dirty="0"/>
              <a:t>Professionals undergo systematic education and certification.</a:t>
            </a:r>
          </a:p>
          <a:p>
            <a:r>
              <a:rPr lang="en-US" sz="2200" b="1" dirty="0">
                <a:solidFill>
                  <a:schemeClr val="accent6">
                    <a:lumMod val="50000"/>
                  </a:schemeClr>
                </a:solidFill>
              </a:rPr>
              <a:t>3. Intellectual Skill: </a:t>
            </a:r>
            <a:r>
              <a:rPr lang="en-US" sz="2200" dirty="0"/>
              <a:t>Work involves mental ability and decision-making, not just manual labor.</a:t>
            </a:r>
          </a:p>
          <a:p>
            <a:r>
              <a:rPr lang="en-US" sz="2200" b="1" dirty="0">
                <a:solidFill>
                  <a:schemeClr val="accent6">
                    <a:lumMod val="50000"/>
                  </a:schemeClr>
                </a:solidFill>
              </a:rPr>
              <a:t>4. Code of Ethics: </a:t>
            </a:r>
            <a:r>
              <a:rPr lang="en-US" sz="2200" dirty="0"/>
              <a:t>Every profession follows ethical guidelines.</a:t>
            </a:r>
          </a:p>
          <a:p>
            <a:r>
              <a:rPr lang="en-US" sz="2200" b="1" dirty="0">
                <a:solidFill>
                  <a:schemeClr val="accent6">
                    <a:lumMod val="50000"/>
                  </a:schemeClr>
                </a:solidFill>
              </a:rPr>
              <a:t>5. Service to Society: </a:t>
            </a:r>
            <a:r>
              <a:rPr lang="en-US" sz="2200" dirty="0"/>
              <a:t>The primary aim is public welfare, not just personal income.</a:t>
            </a:r>
          </a:p>
          <a:p>
            <a:r>
              <a:rPr lang="en-US" sz="2200" b="1" dirty="0">
                <a:solidFill>
                  <a:schemeClr val="accent6">
                    <a:lumMod val="50000"/>
                  </a:schemeClr>
                </a:solidFill>
              </a:rPr>
              <a:t>6. Autonomy: </a:t>
            </a:r>
            <a:r>
              <a:rPr lang="en-US" sz="2200" dirty="0"/>
              <a:t>Professionals have the authority to make decisions based on expertise.</a:t>
            </a:r>
          </a:p>
          <a:p>
            <a:r>
              <a:rPr lang="en-US" sz="2200" b="1" dirty="0">
                <a:solidFill>
                  <a:schemeClr val="accent6">
                    <a:lumMod val="50000"/>
                  </a:schemeClr>
                </a:solidFill>
              </a:rPr>
              <a:t>7. Accountability: </a:t>
            </a:r>
            <a:r>
              <a:rPr lang="en-US" sz="2200" dirty="0"/>
              <a:t>Professionals are legally and morally responsible for their work.</a:t>
            </a:r>
          </a:p>
          <a:p>
            <a:endParaRPr lang="en-US" dirty="0"/>
          </a:p>
          <a:p>
            <a:pPr algn="ctr"/>
            <a:r>
              <a:rPr lang="en-US" sz="2400" u="sng" dirty="0">
                <a:solidFill>
                  <a:schemeClr val="accent6">
                    <a:lumMod val="50000"/>
                  </a:schemeClr>
                </a:solidFill>
                <a:latin typeface="Arial Black" panose="020B0A04020102020204" pitchFamily="34" charset="0"/>
              </a:rPr>
              <a:t>Profession vs Job vs Occupation</a:t>
            </a:r>
          </a:p>
          <a:p>
            <a:endParaRPr lang="en-US" dirty="0"/>
          </a:p>
          <a:p>
            <a:endParaRPr lang="en-US" dirty="0"/>
          </a:p>
          <a:p>
            <a:endParaRPr lang="en-US" dirty="0"/>
          </a:p>
          <a:p>
            <a:endParaRPr lang="en-US" dirty="0"/>
          </a:p>
          <a:p>
            <a:pPr marL="342900" indent="-342900">
              <a:buAutoNum type="arabicPeriod"/>
            </a:pPr>
            <a:endParaRPr lang="en-US" dirty="0"/>
          </a:p>
        </p:txBody>
      </p:sp>
      <p:graphicFrame>
        <p:nvGraphicFramePr>
          <p:cNvPr id="3" name="Table 2">
            <a:extLst>
              <a:ext uri="{FF2B5EF4-FFF2-40B4-BE49-F238E27FC236}">
                <a16:creationId xmlns:a16="http://schemas.microsoft.com/office/drawing/2014/main" id="{FF966205-B5F8-973C-498B-8706C6EB7E68}"/>
              </a:ext>
            </a:extLst>
          </p:cNvPr>
          <p:cNvGraphicFramePr>
            <a:graphicFrameLocks noGrp="1"/>
          </p:cNvGraphicFramePr>
          <p:nvPr>
            <p:extLst>
              <p:ext uri="{D42A27DB-BD31-4B8C-83A1-F6EECF244321}">
                <p14:modId xmlns:p14="http://schemas.microsoft.com/office/powerpoint/2010/main" val="1855027830"/>
              </p:ext>
            </p:extLst>
          </p:nvPr>
        </p:nvGraphicFramePr>
        <p:xfrm>
          <a:off x="476251" y="4256901"/>
          <a:ext cx="11239500" cy="2451735"/>
        </p:xfrm>
        <a:graphic>
          <a:graphicData uri="http://schemas.openxmlformats.org/drawingml/2006/table">
            <a:tbl>
              <a:tblPr>
                <a:tableStyleId>{775DCB02-9BB8-47FD-8907-85C794F793BA}</a:tableStyleId>
              </a:tblPr>
              <a:tblGrid>
                <a:gridCol w="2809875">
                  <a:extLst>
                    <a:ext uri="{9D8B030D-6E8A-4147-A177-3AD203B41FA5}">
                      <a16:colId xmlns:a16="http://schemas.microsoft.com/office/drawing/2014/main" val="2313976010"/>
                    </a:ext>
                  </a:extLst>
                </a:gridCol>
                <a:gridCol w="2809875">
                  <a:extLst>
                    <a:ext uri="{9D8B030D-6E8A-4147-A177-3AD203B41FA5}">
                      <a16:colId xmlns:a16="http://schemas.microsoft.com/office/drawing/2014/main" val="1540514630"/>
                    </a:ext>
                  </a:extLst>
                </a:gridCol>
                <a:gridCol w="3395266">
                  <a:extLst>
                    <a:ext uri="{9D8B030D-6E8A-4147-A177-3AD203B41FA5}">
                      <a16:colId xmlns:a16="http://schemas.microsoft.com/office/drawing/2014/main" val="1120019258"/>
                    </a:ext>
                  </a:extLst>
                </a:gridCol>
                <a:gridCol w="2224484">
                  <a:extLst>
                    <a:ext uri="{9D8B030D-6E8A-4147-A177-3AD203B41FA5}">
                      <a16:colId xmlns:a16="http://schemas.microsoft.com/office/drawing/2014/main" val="356965370"/>
                    </a:ext>
                  </a:extLst>
                </a:gridCol>
              </a:tblGrid>
              <a:tr h="342900">
                <a:tc>
                  <a:txBody>
                    <a:bodyPr/>
                    <a:lstStyle/>
                    <a:p>
                      <a:pPr>
                        <a:buNone/>
                      </a:pPr>
                      <a:r>
                        <a:rPr lang="en-US" sz="2400">
                          <a:latin typeface="Arial Black" panose="020B0A04020102020204" pitchFamily="34" charset="0"/>
                        </a:rPr>
                        <a:t>Basis</a:t>
                      </a:r>
                    </a:p>
                  </a:txBody>
                  <a:tcPr anchor="ctr">
                    <a:solidFill>
                      <a:schemeClr val="accent2"/>
                    </a:solidFill>
                  </a:tcPr>
                </a:tc>
                <a:tc>
                  <a:txBody>
                    <a:bodyPr/>
                    <a:lstStyle/>
                    <a:p>
                      <a:pPr>
                        <a:buNone/>
                      </a:pPr>
                      <a:r>
                        <a:rPr lang="en-US" sz="2400">
                          <a:latin typeface="Arial Black" panose="020B0A04020102020204" pitchFamily="34" charset="0"/>
                        </a:rPr>
                        <a:t>Profession</a:t>
                      </a:r>
                    </a:p>
                  </a:txBody>
                  <a:tcPr anchor="ctr">
                    <a:solidFill>
                      <a:schemeClr val="accent2"/>
                    </a:solidFill>
                  </a:tcPr>
                </a:tc>
                <a:tc>
                  <a:txBody>
                    <a:bodyPr/>
                    <a:lstStyle/>
                    <a:p>
                      <a:pPr>
                        <a:buNone/>
                      </a:pPr>
                      <a:r>
                        <a:rPr lang="en-US" sz="2400">
                          <a:latin typeface="Arial Black" panose="020B0A04020102020204" pitchFamily="34" charset="0"/>
                        </a:rPr>
                        <a:t>Job</a:t>
                      </a:r>
                    </a:p>
                  </a:txBody>
                  <a:tcPr anchor="ctr">
                    <a:solidFill>
                      <a:schemeClr val="accent2"/>
                    </a:solidFill>
                  </a:tcPr>
                </a:tc>
                <a:tc>
                  <a:txBody>
                    <a:bodyPr/>
                    <a:lstStyle/>
                    <a:p>
                      <a:pPr>
                        <a:buNone/>
                      </a:pPr>
                      <a:r>
                        <a:rPr lang="en-US" sz="2400" dirty="0">
                          <a:latin typeface="Arial Black" panose="020B0A04020102020204" pitchFamily="34" charset="0"/>
                        </a:rPr>
                        <a:t>Occupation</a:t>
                      </a:r>
                    </a:p>
                  </a:txBody>
                  <a:tcPr anchor="ctr">
                    <a:solidFill>
                      <a:schemeClr val="accent2"/>
                    </a:solidFill>
                  </a:tcPr>
                </a:tc>
                <a:extLst>
                  <a:ext uri="{0D108BD9-81ED-4DB2-BD59-A6C34878D82A}">
                    <a16:rowId xmlns:a16="http://schemas.microsoft.com/office/drawing/2014/main" val="3424889870"/>
                  </a:ext>
                </a:extLst>
              </a:tr>
              <a:tr h="714375">
                <a:tc>
                  <a:txBody>
                    <a:bodyPr/>
                    <a:lstStyle/>
                    <a:p>
                      <a:pPr>
                        <a:buNone/>
                      </a:pPr>
                      <a:r>
                        <a:rPr lang="en-US" sz="2200" b="1">
                          <a:solidFill>
                            <a:srgbClr val="002060"/>
                          </a:solidFill>
                        </a:rPr>
                        <a:t>Education</a:t>
                      </a:r>
                    </a:p>
                  </a:txBody>
                  <a:tcPr anchor="ctr"/>
                </a:tc>
                <a:tc>
                  <a:txBody>
                    <a:bodyPr/>
                    <a:lstStyle/>
                    <a:p>
                      <a:pPr>
                        <a:buNone/>
                      </a:pPr>
                      <a:r>
                        <a:rPr lang="en-US" sz="2200" b="1">
                          <a:solidFill>
                            <a:srgbClr val="002060"/>
                          </a:solidFill>
                        </a:rPr>
                        <a:t>High</a:t>
                      </a:r>
                    </a:p>
                  </a:txBody>
                  <a:tcPr anchor="ctr"/>
                </a:tc>
                <a:tc>
                  <a:txBody>
                    <a:bodyPr/>
                    <a:lstStyle/>
                    <a:p>
                      <a:pPr>
                        <a:buNone/>
                      </a:pPr>
                      <a:r>
                        <a:rPr lang="en-US" sz="2200" b="1" dirty="0">
                          <a:solidFill>
                            <a:srgbClr val="002060"/>
                          </a:solidFill>
                        </a:rPr>
                        <a:t>May or may not require</a:t>
                      </a:r>
                    </a:p>
                  </a:txBody>
                  <a:tcPr anchor="ctr"/>
                </a:tc>
                <a:tc>
                  <a:txBody>
                    <a:bodyPr/>
                    <a:lstStyle/>
                    <a:p>
                      <a:pPr>
                        <a:buNone/>
                      </a:pPr>
                      <a:r>
                        <a:rPr lang="en-US" sz="2200" b="1">
                          <a:solidFill>
                            <a:srgbClr val="002060"/>
                          </a:solidFill>
                        </a:rPr>
                        <a:t>May not require</a:t>
                      </a:r>
                    </a:p>
                  </a:txBody>
                  <a:tcPr anchor="ctr"/>
                </a:tc>
                <a:extLst>
                  <a:ext uri="{0D108BD9-81ED-4DB2-BD59-A6C34878D82A}">
                    <a16:rowId xmlns:a16="http://schemas.microsoft.com/office/drawing/2014/main" val="1061157835"/>
                  </a:ext>
                </a:extLst>
              </a:tr>
              <a:tr h="400050">
                <a:tc>
                  <a:txBody>
                    <a:bodyPr/>
                    <a:lstStyle/>
                    <a:p>
                      <a:pPr>
                        <a:buNone/>
                      </a:pPr>
                      <a:r>
                        <a:rPr lang="en-US" sz="2200" b="1">
                          <a:solidFill>
                            <a:srgbClr val="002060"/>
                          </a:solidFill>
                        </a:rPr>
                        <a:t>Ethics</a:t>
                      </a:r>
                    </a:p>
                  </a:txBody>
                  <a:tcPr anchor="ctr"/>
                </a:tc>
                <a:tc>
                  <a:txBody>
                    <a:bodyPr/>
                    <a:lstStyle/>
                    <a:p>
                      <a:pPr>
                        <a:buNone/>
                      </a:pPr>
                      <a:r>
                        <a:rPr lang="en-US" sz="2200" b="1">
                          <a:solidFill>
                            <a:srgbClr val="002060"/>
                          </a:solidFill>
                        </a:rPr>
                        <a:t>Compulsory</a:t>
                      </a:r>
                    </a:p>
                  </a:txBody>
                  <a:tcPr anchor="ctr"/>
                </a:tc>
                <a:tc>
                  <a:txBody>
                    <a:bodyPr/>
                    <a:lstStyle/>
                    <a:p>
                      <a:pPr>
                        <a:buNone/>
                      </a:pPr>
                      <a:r>
                        <a:rPr lang="en-US" sz="2200" b="1">
                          <a:solidFill>
                            <a:srgbClr val="002060"/>
                          </a:solidFill>
                        </a:rPr>
                        <a:t>Not always</a:t>
                      </a:r>
                    </a:p>
                  </a:txBody>
                  <a:tcPr anchor="ctr"/>
                </a:tc>
                <a:tc>
                  <a:txBody>
                    <a:bodyPr/>
                    <a:lstStyle/>
                    <a:p>
                      <a:pPr>
                        <a:buNone/>
                      </a:pPr>
                      <a:r>
                        <a:rPr lang="en-US" sz="2200" b="1">
                          <a:solidFill>
                            <a:srgbClr val="002060"/>
                          </a:solidFill>
                        </a:rPr>
                        <a:t>Not structured</a:t>
                      </a:r>
                    </a:p>
                  </a:txBody>
                  <a:tcPr anchor="ctr"/>
                </a:tc>
                <a:extLst>
                  <a:ext uri="{0D108BD9-81ED-4DB2-BD59-A6C34878D82A}">
                    <a16:rowId xmlns:a16="http://schemas.microsoft.com/office/drawing/2014/main" val="2974948149"/>
                  </a:ext>
                </a:extLst>
              </a:tr>
              <a:tr h="400050">
                <a:tc>
                  <a:txBody>
                    <a:bodyPr/>
                    <a:lstStyle/>
                    <a:p>
                      <a:pPr>
                        <a:buNone/>
                      </a:pPr>
                      <a:r>
                        <a:rPr lang="en-US" sz="2200" b="1">
                          <a:solidFill>
                            <a:srgbClr val="002060"/>
                          </a:solidFill>
                        </a:rPr>
                        <a:t>Social Responsibility</a:t>
                      </a:r>
                    </a:p>
                  </a:txBody>
                  <a:tcPr anchor="ctr"/>
                </a:tc>
                <a:tc>
                  <a:txBody>
                    <a:bodyPr/>
                    <a:lstStyle/>
                    <a:p>
                      <a:pPr>
                        <a:buNone/>
                      </a:pPr>
                      <a:r>
                        <a:rPr lang="en-US" sz="2200" b="1" dirty="0">
                          <a:solidFill>
                            <a:srgbClr val="002060"/>
                          </a:solidFill>
                        </a:rPr>
                        <a:t>High</a:t>
                      </a:r>
                    </a:p>
                  </a:txBody>
                  <a:tcPr anchor="ctr"/>
                </a:tc>
                <a:tc>
                  <a:txBody>
                    <a:bodyPr/>
                    <a:lstStyle/>
                    <a:p>
                      <a:pPr>
                        <a:buNone/>
                      </a:pPr>
                      <a:r>
                        <a:rPr lang="en-US" sz="2200" b="1">
                          <a:solidFill>
                            <a:srgbClr val="002060"/>
                          </a:solidFill>
                        </a:rPr>
                        <a:t>Moderate</a:t>
                      </a:r>
                    </a:p>
                  </a:txBody>
                  <a:tcPr anchor="ctr"/>
                </a:tc>
                <a:tc>
                  <a:txBody>
                    <a:bodyPr/>
                    <a:lstStyle/>
                    <a:p>
                      <a:pPr>
                        <a:buNone/>
                      </a:pPr>
                      <a:r>
                        <a:rPr lang="en-US" sz="2200" b="1">
                          <a:solidFill>
                            <a:srgbClr val="002060"/>
                          </a:solidFill>
                        </a:rPr>
                        <a:t>Low</a:t>
                      </a:r>
                    </a:p>
                  </a:txBody>
                  <a:tcPr anchor="ctr"/>
                </a:tc>
                <a:extLst>
                  <a:ext uri="{0D108BD9-81ED-4DB2-BD59-A6C34878D82A}">
                    <a16:rowId xmlns:a16="http://schemas.microsoft.com/office/drawing/2014/main" val="2690981789"/>
                  </a:ext>
                </a:extLst>
              </a:tr>
              <a:tr h="400050">
                <a:tc>
                  <a:txBody>
                    <a:bodyPr/>
                    <a:lstStyle/>
                    <a:p>
                      <a:pPr>
                        <a:buNone/>
                      </a:pPr>
                      <a:r>
                        <a:rPr lang="en-US" sz="2200" b="1">
                          <a:solidFill>
                            <a:srgbClr val="002060"/>
                          </a:solidFill>
                        </a:rPr>
                        <a:t>Example</a:t>
                      </a:r>
                    </a:p>
                  </a:txBody>
                  <a:tcPr anchor="ctr"/>
                </a:tc>
                <a:tc>
                  <a:txBody>
                    <a:bodyPr/>
                    <a:lstStyle/>
                    <a:p>
                      <a:pPr>
                        <a:buNone/>
                      </a:pPr>
                      <a:r>
                        <a:rPr lang="en-US" sz="2200" b="1">
                          <a:solidFill>
                            <a:srgbClr val="002060"/>
                          </a:solidFill>
                        </a:rPr>
                        <a:t>Engineer, Doctor</a:t>
                      </a:r>
                    </a:p>
                  </a:txBody>
                  <a:tcPr anchor="ctr"/>
                </a:tc>
                <a:tc>
                  <a:txBody>
                    <a:bodyPr/>
                    <a:lstStyle/>
                    <a:p>
                      <a:pPr>
                        <a:buNone/>
                      </a:pPr>
                      <a:r>
                        <a:rPr lang="en-US" sz="2200" b="1">
                          <a:solidFill>
                            <a:srgbClr val="002060"/>
                          </a:solidFill>
                        </a:rPr>
                        <a:t>Clerk</a:t>
                      </a:r>
                    </a:p>
                  </a:txBody>
                  <a:tcPr anchor="ctr"/>
                </a:tc>
                <a:tc>
                  <a:txBody>
                    <a:bodyPr/>
                    <a:lstStyle/>
                    <a:p>
                      <a:pPr>
                        <a:buNone/>
                      </a:pPr>
                      <a:r>
                        <a:rPr lang="en-US" sz="2200" b="1" dirty="0">
                          <a:solidFill>
                            <a:srgbClr val="002060"/>
                          </a:solidFill>
                        </a:rPr>
                        <a:t>Shopkeeper</a:t>
                      </a:r>
                    </a:p>
                  </a:txBody>
                  <a:tcPr anchor="ctr"/>
                </a:tc>
                <a:extLst>
                  <a:ext uri="{0D108BD9-81ED-4DB2-BD59-A6C34878D82A}">
                    <a16:rowId xmlns:a16="http://schemas.microsoft.com/office/drawing/2014/main" val="2314903618"/>
                  </a:ext>
                </a:extLst>
              </a:tr>
            </a:tbl>
          </a:graphicData>
        </a:graphic>
      </p:graphicFrame>
    </p:spTree>
    <p:extLst>
      <p:ext uri="{BB962C8B-B14F-4D97-AF65-F5344CB8AC3E}">
        <p14:creationId xmlns:p14="http://schemas.microsoft.com/office/powerpoint/2010/main" val="826465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6B7AAD-73D7-A69D-C812-13A39F3D9C44}"/>
              </a:ext>
            </a:extLst>
          </p:cNvPr>
          <p:cNvSpPr txBox="1"/>
          <p:nvPr/>
        </p:nvSpPr>
        <p:spPr>
          <a:xfrm>
            <a:off x="485775" y="166568"/>
            <a:ext cx="11358563" cy="6524863"/>
          </a:xfrm>
          <a:prstGeom prst="rect">
            <a:avLst/>
          </a:prstGeom>
          <a:noFill/>
        </p:spPr>
        <p:txBody>
          <a:bodyPr wrap="square" rtlCol="0">
            <a:spAutoFit/>
          </a:bodyPr>
          <a:lstStyle/>
          <a:p>
            <a:pPr algn="ctr"/>
            <a:r>
              <a:rPr lang="en-US" sz="3200" u="sng" dirty="0">
                <a:solidFill>
                  <a:schemeClr val="accent2">
                    <a:lumMod val="50000"/>
                  </a:schemeClr>
                </a:solidFill>
                <a:latin typeface="Arial Black" panose="020B0A04020102020204" pitchFamily="34" charset="0"/>
              </a:rPr>
              <a:t>Engineering as a Profession</a:t>
            </a:r>
            <a:endParaRPr lang="en-US" sz="2800" b="1" dirty="0"/>
          </a:p>
          <a:p>
            <a:endParaRPr lang="en-US" sz="2400" b="1" dirty="0"/>
          </a:p>
          <a:p>
            <a:r>
              <a:rPr lang="en-US" sz="2400" b="1" dirty="0">
                <a:solidFill>
                  <a:srgbClr val="002060"/>
                </a:solidFill>
              </a:rPr>
              <a:t>Engineering considered as a profession because: </a:t>
            </a:r>
          </a:p>
          <a:p>
            <a:pPr marL="342900" indent="-342900">
              <a:buFont typeface="Wingdings" panose="05000000000000000000" pitchFamily="2" charset="2"/>
              <a:buChar char="§"/>
            </a:pPr>
            <a:r>
              <a:rPr lang="en-US" sz="2200" b="1" dirty="0"/>
              <a:t>It requires formal education.</a:t>
            </a:r>
          </a:p>
          <a:p>
            <a:pPr marL="342900" indent="-342900">
              <a:buFont typeface="Wingdings" panose="05000000000000000000" pitchFamily="2" charset="2"/>
              <a:buChar char="§"/>
            </a:pPr>
            <a:r>
              <a:rPr lang="en-US" sz="2200" b="1" dirty="0"/>
              <a:t>It involves public safety.</a:t>
            </a:r>
          </a:p>
          <a:p>
            <a:pPr marL="342900" indent="-342900">
              <a:buFont typeface="Wingdings" panose="05000000000000000000" pitchFamily="2" charset="2"/>
              <a:buChar char="§"/>
            </a:pPr>
            <a:r>
              <a:rPr lang="en-US" sz="2200" b="1" dirty="0"/>
              <a:t>It follows ethical standards.</a:t>
            </a:r>
          </a:p>
          <a:p>
            <a:pPr marL="342900" indent="-342900">
              <a:buFont typeface="Wingdings" panose="05000000000000000000" pitchFamily="2" charset="2"/>
              <a:buChar char="§"/>
            </a:pPr>
            <a:r>
              <a:rPr lang="en-US" sz="2200" b="1" dirty="0"/>
              <a:t>Engineers are accountable to society.</a:t>
            </a:r>
          </a:p>
          <a:p>
            <a:endParaRPr lang="en-US" dirty="0"/>
          </a:p>
          <a:p>
            <a:r>
              <a:rPr lang="en-US" sz="2400" b="1" dirty="0">
                <a:solidFill>
                  <a:schemeClr val="accent6">
                    <a:lumMod val="50000"/>
                  </a:schemeClr>
                </a:solidFill>
              </a:rPr>
              <a:t>Engineering decisions affect:</a:t>
            </a:r>
          </a:p>
          <a:p>
            <a:pPr marL="285750" indent="-285750">
              <a:buFont typeface="Wingdings" panose="05000000000000000000" pitchFamily="2" charset="2"/>
              <a:buChar char="§"/>
            </a:pPr>
            <a:r>
              <a:rPr lang="en-US" sz="2000" b="1" dirty="0"/>
              <a:t>Human lives</a:t>
            </a:r>
          </a:p>
          <a:p>
            <a:pPr marL="285750" indent="-285750">
              <a:buFont typeface="Wingdings" panose="05000000000000000000" pitchFamily="2" charset="2"/>
              <a:buChar char="§"/>
            </a:pPr>
            <a:r>
              <a:rPr lang="en-US" sz="2000" b="1" dirty="0"/>
              <a:t>Environment</a:t>
            </a:r>
          </a:p>
          <a:p>
            <a:pPr marL="285750" indent="-285750">
              <a:buFont typeface="Wingdings" panose="05000000000000000000" pitchFamily="2" charset="2"/>
              <a:buChar char="§"/>
            </a:pPr>
            <a:r>
              <a:rPr lang="en-US" sz="2000" b="1" dirty="0"/>
              <a:t>National development</a:t>
            </a:r>
          </a:p>
          <a:p>
            <a:endParaRPr lang="en-US" dirty="0"/>
          </a:p>
          <a:p>
            <a:r>
              <a:rPr lang="en-US" sz="2400" b="1" u="sng" dirty="0">
                <a:solidFill>
                  <a:srgbClr val="002060"/>
                </a:solidFill>
              </a:rPr>
              <a:t>Professional Commitment:</a:t>
            </a:r>
          </a:p>
          <a:p>
            <a:r>
              <a:rPr lang="en-US" sz="2200" b="1" u="sng" dirty="0"/>
              <a:t>A profession requires:</a:t>
            </a:r>
          </a:p>
          <a:p>
            <a:pPr marL="342900" indent="-342900">
              <a:buFont typeface="Wingdings" panose="05000000000000000000" pitchFamily="2" charset="2"/>
              <a:buChar char="§"/>
            </a:pPr>
            <a:r>
              <a:rPr lang="en-US" sz="2200" b="1" dirty="0"/>
              <a:t>Lifelong learning</a:t>
            </a:r>
          </a:p>
          <a:p>
            <a:pPr marL="342900" indent="-342900">
              <a:buFont typeface="Wingdings" panose="05000000000000000000" pitchFamily="2" charset="2"/>
              <a:buChar char="§"/>
            </a:pPr>
            <a:r>
              <a:rPr lang="en-US" sz="2200" b="1" dirty="0"/>
              <a:t>Continuous skill improvement</a:t>
            </a:r>
          </a:p>
          <a:p>
            <a:pPr marL="342900" indent="-342900">
              <a:buFont typeface="Wingdings" panose="05000000000000000000" pitchFamily="2" charset="2"/>
              <a:buChar char="§"/>
            </a:pPr>
            <a:r>
              <a:rPr lang="en-US" sz="2200" b="1" dirty="0"/>
              <a:t>Updating with new technology</a:t>
            </a:r>
          </a:p>
          <a:p>
            <a:pPr marL="342900" indent="-342900">
              <a:buFont typeface="Wingdings" panose="05000000000000000000" pitchFamily="2" charset="2"/>
              <a:buChar char="§"/>
            </a:pPr>
            <a:r>
              <a:rPr lang="en-US" sz="2200" b="1" dirty="0"/>
              <a:t>Maintaining integrity</a:t>
            </a:r>
          </a:p>
        </p:txBody>
      </p:sp>
      <p:sp>
        <p:nvSpPr>
          <p:cNvPr id="3" name="TextBox 2">
            <a:extLst>
              <a:ext uri="{FF2B5EF4-FFF2-40B4-BE49-F238E27FC236}">
                <a16:creationId xmlns:a16="http://schemas.microsoft.com/office/drawing/2014/main" id="{ADD452C8-33AA-BBC8-6E77-7421925D9E7B}"/>
              </a:ext>
            </a:extLst>
          </p:cNvPr>
          <p:cNvSpPr txBox="1"/>
          <p:nvPr/>
        </p:nvSpPr>
        <p:spPr>
          <a:xfrm>
            <a:off x="6334126" y="2339042"/>
            <a:ext cx="5372099" cy="2769989"/>
          </a:xfrm>
          <a:prstGeom prst="rect">
            <a:avLst/>
          </a:prstGeom>
          <a:noFill/>
        </p:spPr>
        <p:txBody>
          <a:bodyPr wrap="square" rtlCol="0">
            <a:spAutoFit/>
          </a:bodyPr>
          <a:lstStyle/>
          <a:p>
            <a:pPr algn="just"/>
            <a:r>
              <a:rPr lang="en-US" sz="2400" b="1" u="sng" dirty="0">
                <a:solidFill>
                  <a:srgbClr val="002060"/>
                </a:solidFill>
              </a:rPr>
              <a:t>Professions Requires Ethics because: </a:t>
            </a:r>
          </a:p>
          <a:p>
            <a:pPr algn="just"/>
            <a:endParaRPr lang="en-US" sz="2200" b="1" dirty="0"/>
          </a:p>
          <a:p>
            <a:pPr marL="342900" indent="-342900" algn="just">
              <a:buFont typeface="Wingdings" panose="05000000000000000000" pitchFamily="2" charset="2"/>
              <a:buChar char="§"/>
            </a:pPr>
            <a:r>
              <a:rPr lang="en-US" sz="2200" b="1" dirty="0">
                <a:solidFill>
                  <a:schemeClr val="accent6">
                    <a:lumMod val="50000"/>
                  </a:schemeClr>
                </a:solidFill>
              </a:rPr>
              <a:t>Professionals have expert power.</a:t>
            </a:r>
          </a:p>
          <a:p>
            <a:pPr marL="342900" indent="-342900" algn="just">
              <a:buFont typeface="Wingdings" panose="05000000000000000000" pitchFamily="2" charset="2"/>
              <a:buChar char="§"/>
            </a:pPr>
            <a:r>
              <a:rPr lang="en-US" sz="2200" b="1" dirty="0">
                <a:solidFill>
                  <a:schemeClr val="accent6">
                    <a:lumMod val="50000"/>
                  </a:schemeClr>
                </a:solidFill>
              </a:rPr>
              <a:t>Society trusts them.</a:t>
            </a:r>
          </a:p>
          <a:p>
            <a:pPr marL="342900" indent="-342900" algn="just">
              <a:buFont typeface="Wingdings" panose="05000000000000000000" pitchFamily="2" charset="2"/>
              <a:buChar char="§"/>
            </a:pPr>
            <a:r>
              <a:rPr lang="en-US" sz="2200" b="1" dirty="0">
                <a:solidFill>
                  <a:schemeClr val="accent6">
                    <a:lumMod val="50000"/>
                  </a:schemeClr>
                </a:solidFill>
              </a:rPr>
              <a:t>Their decisions impact lives.</a:t>
            </a:r>
          </a:p>
          <a:p>
            <a:pPr marL="342900" indent="-342900" algn="just">
              <a:buFont typeface="Wingdings" panose="05000000000000000000" pitchFamily="2" charset="2"/>
              <a:buChar char="§"/>
            </a:pPr>
            <a:r>
              <a:rPr lang="en-US" sz="2200" b="1" dirty="0">
                <a:solidFill>
                  <a:schemeClr val="accent6">
                    <a:lumMod val="50000"/>
                  </a:schemeClr>
                </a:solidFill>
              </a:rPr>
              <a:t>Without ethics, professional knowledge can become dangerous.</a:t>
            </a:r>
          </a:p>
          <a:p>
            <a:endParaRPr lang="en-US" dirty="0"/>
          </a:p>
        </p:txBody>
      </p:sp>
    </p:spTree>
    <p:extLst>
      <p:ext uri="{BB962C8B-B14F-4D97-AF65-F5344CB8AC3E}">
        <p14:creationId xmlns:p14="http://schemas.microsoft.com/office/powerpoint/2010/main" val="1841288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51147-43A7-2017-BC20-8C0F1F606892}"/>
              </a:ext>
            </a:extLst>
          </p:cNvPr>
          <p:cNvSpPr>
            <a:spLocks noGrp="1"/>
          </p:cNvSpPr>
          <p:nvPr>
            <p:ph type="title"/>
          </p:nvPr>
        </p:nvSpPr>
        <p:spPr>
          <a:xfrm>
            <a:off x="838200" y="178594"/>
            <a:ext cx="10515600" cy="642938"/>
          </a:xfrm>
        </p:spPr>
        <p:txBody>
          <a:bodyPr>
            <a:normAutofit fontScale="90000"/>
          </a:bodyPr>
          <a:lstStyle/>
          <a:p>
            <a:pPr algn="ctr"/>
            <a:r>
              <a:rPr lang="en-US" dirty="0">
                <a:solidFill>
                  <a:srgbClr val="FF0000"/>
                </a:solidFill>
                <a:latin typeface="Arial Black" panose="020B0A04020102020204" pitchFamily="34" charset="0"/>
              </a:rPr>
              <a:t>PROFESSIONAL</a:t>
            </a:r>
          </a:p>
        </p:txBody>
      </p:sp>
      <p:sp>
        <p:nvSpPr>
          <p:cNvPr id="3" name="Content Placeholder 2">
            <a:extLst>
              <a:ext uri="{FF2B5EF4-FFF2-40B4-BE49-F238E27FC236}">
                <a16:creationId xmlns:a16="http://schemas.microsoft.com/office/drawing/2014/main" id="{D387BCA8-788A-9C3E-AE66-C9E52FA0BCE9}"/>
              </a:ext>
            </a:extLst>
          </p:cNvPr>
          <p:cNvSpPr>
            <a:spLocks noGrp="1"/>
          </p:cNvSpPr>
          <p:nvPr>
            <p:ph idx="1"/>
          </p:nvPr>
        </p:nvSpPr>
        <p:spPr>
          <a:xfrm>
            <a:off x="533400" y="821532"/>
            <a:ext cx="11296650" cy="6036468"/>
          </a:xfrm>
        </p:spPr>
        <p:txBody>
          <a:bodyPr>
            <a:normAutofit fontScale="92500" lnSpcReduction="20000"/>
          </a:bodyPr>
          <a:lstStyle/>
          <a:p>
            <a:pPr marL="0" indent="0">
              <a:buNone/>
            </a:pPr>
            <a:r>
              <a:rPr lang="en-US" sz="2400" b="1" u="sng" dirty="0"/>
              <a:t>A professional is a person who:</a:t>
            </a:r>
          </a:p>
          <a:p>
            <a:pPr>
              <a:spcBef>
                <a:spcPts val="300"/>
              </a:spcBef>
              <a:spcAft>
                <a:spcPts val="300"/>
              </a:spcAft>
              <a:buFont typeface="Wingdings" panose="05000000000000000000" pitchFamily="2" charset="2"/>
              <a:buChar char="§"/>
            </a:pPr>
            <a:r>
              <a:rPr lang="en-US" sz="2600" dirty="0">
                <a:solidFill>
                  <a:schemeClr val="accent6">
                    <a:lumMod val="50000"/>
                  </a:schemeClr>
                </a:solidFill>
              </a:rPr>
              <a:t>Possesses specialized knowledge and skills</a:t>
            </a:r>
          </a:p>
          <a:p>
            <a:pPr>
              <a:spcBef>
                <a:spcPts val="300"/>
              </a:spcBef>
              <a:spcAft>
                <a:spcPts val="300"/>
              </a:spcAft>
              <a:buFont typeface="Wingdings" panose="05000000000000000000" pitchFamily="2" charset="2"/>
              <a:buChar char="§"/>
            </a:pPr>
            <a:r>
              <a:rPr lang="en-US" sz="2600" dirty="0">
                <a:solidFill>
                  <a:schemeClr val="accent6">
                    <a:lumMod val="50000"/>
                  </a:schemeClr>
                </a:solidFill>
              </a:rPr>
              <a:t>Has formal education and training</a:t>
            </a:r>
          </a:p>
          <a:p>
            <a:pPr>
              <a:spcBef>
                <a:spcPts val="300"/>
              </a:spcBef>
              <a:spcAft>
                <a:spcPts val="300"/>
              </a:spcAft>
              <a:buFont typeface="Wingdings" panose="05000000000000000000" pitchFamily="2" charset="2"/>
              <a:buChar char="§"/>
            </a:pPr>
            <a:r>
              <a:rPr lang="en-US" sz="2600" dirty="0">
                <a:solidFill>
                  <a:schemeClr val="accent6">
                    <a:lumMod val="50000"/>
                  </a:schemeClr>
                </a:solidFill>
              </a:rPr>
              <a:t>Follows ethical standards</a:t>
            </a:r>
          </a:p>
          <a:p>
            <a:pPr>
              <a:spcBef>
                <a:spcPts val="300"/>
              </a:spcBef>
              <a:spcAft>
                <a:spcPts val="300"/>
              </a:spcAft>
              <a:buFont typeface="Wingdings" panose="05000000000000000000" pitchFamily="2" charset="2"/>
              <a:buChar char="§"/>
            </a:pPr>
            <a:r>
              <a:rPr lang="en-US" sz="2600" dirty="0">
                <a:solidFill>
                  <a:schemeClr val="accent6">
                    <a:lumMod val="50000"/>
                  </a:schemeClr>
                </a:solidFill>
              </a:rPr>
              <a:t>Takes responsibility for their actions</a:t>
            </a:r>
          </a:p>
          <a:p>
            <a:pPr>
              <a:spcBef>
                <a:spcPts val="300"/>
              </a:spcBef>
              <a:spcAft>
                <a:spcPts val="300"/>
              </a:spcAft>
              <a:buFont typeface="Wingdings" panose="05000000000000000000" pitchFamily="2" charset="2"/>
              <a:buChar char="§"/>
            </a:pPr>
            <a:r>
              <a:rPr lang="en-US" sz="2600" dirty="0">
                <a:solidFill>
                  <a:schemeClr val="accent6">
                    <a:lumMod val="50000"/>
                  </a:schemeClr>
                </a:solidFill>
              </a:rPr>
              <a:t>Works with competence and integrity</a:t>
            </a:r>
          </a:p>
          <a:p>
            <a:pPr algn="just">
              <a:buFont typeface="Wingdings" panose="05000000000000000000" pitchFamily="2" charset="2"/>
              <a:buChar char="ü"/>
            </a:pPr>
            <a:r>
              <a:rPr lang="en-US" sz="2600" b="1" dirty="0"/>
              <a:t> A professional is a qualified and responsible person who applies knowledge ethically for the benefit of society.</a:t>
            </a:r>
          </a:p>
          <a:p>
            <a:pPr marL="0" indent="0" algn="just">
              <a:buNone/>
            </a:pPr>
            <a:endParaRPr lang="en-US" sz="2200" u="sng" dirty="0">
              <a:solidFill>
                <a:schemeClr val="accent2">
                  <a:lumMod val="50000"/>
                </a:schemeClr>
              </a:solidFill>
              <a:latin typeface="Arial Black" panose="020B0A04020102020204" pitchFamily="34" charset="0"/>
            </a:endParaRPr>
          </a:p>
          <a:p>
            <a:pPr marL="0" indent="0" algn="just">
              <a:buNone/>
            </a:pPr>
            <a:r>
              <a:rPr lang="en-US" sz="2200" u="sng" dirty="0">
                <a:solidFill>
                  <a:schemeClr val="accent2">
                    <a:lumMod val="50000"/>
                  </a:schemeClr>
                </a:solidFill>
                <a:latin typeface="Arial Black" panose="020B0A04020102020204" pitchFamily="34" charset="0"/>
              </a:rPr>
              <a:t>Key Characteristics of a Professional</a:t>
            </a:r>
          </a:p>
          <a:p>
            <a:pPr marL="0" indent="0" algn="just">
              <a:spcBef>
                <a:spcPts val="400"/>
              </a:spcBef>
              <a:spcAft>
                <a:spcPts val="400"/>
              </a:spcAft>
              <a:buNone/>
            </a:pPr>
            <a:r>
              <a:rPr lang="en-US" sz="2500" b="1" dirty="0">
                <a:solidFill>
                  <a:schemeClr val="accent6">
                    <a:lumMod val="50000"/>
                  </a:schemeClr>
                </a:solidFill>
              </a:rPr>
              <a:t>1. Specialized Knowledge: </a:t>
            </a:r>
            <a:r>
              <a:rPr lang="en-US" sz="2500" dirty="0"/>
              <a:t>A professional has expert knowledge in a specific field.</a:t>
            </a:r>
          </a:p>
          <a:p>
            <a:pPr marL="0" indent="0" algn="just">
              <a:spcBef>
                <a:spcPts val="400"/>
              </a:spcBef>
              <a:spcAft>
                <a:spcPts val="400"/>
              </a:spcAft>
              <a:buNone/>
            </a:pPr>
            <a:r>
              <a:rPr lang="en-US" sz="2500" b="1" dirty="0">
                <a:solidFill>
                  <a:schemeClr val="accent6">
                    <a:lumMod val="50000"/>
                  </a:schemeClr>
                </a:solidFill>
              </a:rPr>
              <a:t>2. Competence (Skill + Ability): </a:t>
            </a:r>
            <a:r>
              <a:rPr lang="en-US" sz="2500" dirty="0"/>
              <a:t>A professional can apply knowledge practically.</a:t>
            </a:r>
          </a:p>
          <a:p>
            <a:pPr marL="0" indent="0" algn="just">
              <a:spcBef>
                <a:spcPts val="400"/>
              </a:spcBef>
              <a:spcAft>
                <a:spcPts val="400"/>
              </a:spcAft>
              <a:buNone/>
            </a:pPr>
            <a:r>
              <a:rPr lang="en-US" sz="2500" b="1" dirty="0">
                <a:solidFill>
                  <a:schemeClr val="accent6">
                    <a:lumMod val="50000"/>
                  </a:schemeClr>
                </a:solidFill>
              </a:rPr>
              <a:t>3. Ethical Behavior: </a:t>
            </a:r>
            <a:r>
              <a:rPr lang="en-US" sz="2500" dirty="0"/>
              <a:t>A professional follows moral principles even under pressure.</a:t>
            </a:r>
          </a:p>
          <a:p>
            <a:pPr marL="0" indent="0" algn="just">
              <a:spcBef>
                <a:spcPts val="400"/>
              </a:spcBef>
              <a:spcAft>
                <a:spcPts val="400"/>
              </a:spcAft>
              <a:buNone/>
            </a:pPr>
            <a:r>
              <a:rPr lang="en-US" sz="2500" b="1" dirty="0">
                <a:solidFill>
                  <a:schemeClr val="accent6">
                    <a:lumMod val="50000"/>
                  </a:schemeClr>
                </a:solidFill>
              </a:rPr>
              <a:t>4. Accountability: </a:t>
            </a:r>
            <a:r>
              <a:rPr lang="en-US" sz="2500" dirty="0"/>
              <a:t>A professional accepts responsibility for decisions and outcomes.</a:t>
            </a:r>
          </a:p>
          <a:p>
            <a:pPr marL="0" indent="0" algn="just">
              <a:spcBef>
                <a:spcPts val="400"/>
              </a:spcBef>
              <a:spcAft>
                <a:spcPts val="400"/>
              </a:spcAft>
              <a:buNone/>
            </a:pPr>
            <a:r>
              <a:rPr lang="en-US" sz="2500" b="1" dirty="0">
                <a:solidFill>
                  <a:schemeClr val="accent6">
                    <a:lumMod val="50000"/>
                  </a:schemeClr>
                </a:solidFill>
              </a:rPr>
              <a:t>5. Integrity: </a:t>
            </a:r>
            <a:r>
              <a:rPr lang="en-US" sz="2500" dirty="0"/>
              <a:t>Honesty and strong moral principles</a:t>
            </a:r>
            <a:r>
              <a:rPr lang="en-US" sz="2500" b="1" dirty="0"/>
              <a:t>.</a:t>
            </a:r>
          </a:p>
          <a:p>
            <a:pPr marL="0" indent="0" algn="just">
              <a:spcBef>
                <a:spcPts val="400"/>
              </a:spcBef>
              <a:spcAft>
                <a:spcPts val="400"/>
              </a:spcAft>
              <a:buNone/>
            </a:pPr>
            <a:r>
              <a:rPr lang="en-US" sz="2500" b="1" dirty="0">
                <a:solidFill>
                  <a:schemeClr val="accent6">
                    <a:lumMod val="50000"/>
                  </a:schemeClr>
                </a:solidFill>
              </a:rPr>
              <a:t>6. Commitment to Continuous Learning: </a:t>
            </a:r>
            <a:r>
              <a:rPr lang="en-US" sz="2500" dirty="0"/>
              <a:t>Professionals update their knowledge regularly.</a:t>
            </a:r>
          </a:p>
          <a:p>
            <a:pPr marL="0" indent="0" algn="just">
              <a:spcBef>
                <a:spcPts val="400"/>
              </a:spcBef>
              <a:spcAft>
                <a:spcPts val="400"/>
              </a:spcAft>
              <a:buNone/>
            </a:pPr>
            <a:r>
              <a:rPr lang="en-US" sz="2500" b="1" dirty="0">
                <a:solidFill>
                  <a:schemeClr val="accent6">
                    <a:lumMod val="50000"/>
                  </a:schemeClr>
                </a:solidFill>
              </a:rPr>
              <a:t>7. Respectful Conduct: </a:t>
            </a:r>
            <a:r>
              <a:rPr lang="en-US" sz="2500" dirty="0"/>
              <a:t>Maintains discipline, punctuality, and professional communication.</a:t>
            </a:r>
          </a:p>
          <a:p>
            <a:pPr marL="0" indent="0" algn="just">
              <a:buNone/>
            </a:pPr>
            <a:endParaRPr lang="en-US" sz="2200" b="1" dirty="0"/>
          </a:p>
        </p:txBody>
      </p:sp>
      <p:sp>
        <p:nvSpPr>
          <p:cNvPr id="4" name="Cloud 3">
            <a:extLst>
              <a:ext uri="{FF2B5EF4-FFF2-40B4-BE49-F238E27FC236}">
                <a16:creationId xmlns:a16="http://schemas.microsoft.com/office/drawing/2014/main" id="{F1AD4B6A-80F7-6737-3F58-D265938BA1E4}"/>
              </a:ext>
            </a:extLst>
          </p:cNvPr>
          <p:cNvSpPr/>
          <p:nvPr/>
        </p:nvSpPr>
        <p:spPr>
          <a:xfrm>
            <a:off x="7048500" y="695326"/>
            <a:ext cx="5086350" cy="2096293"/>
          </a:xfrm>
          <a:prstGeom prst="cloud">
            <a:avLst/>
          </a:prstGeom>
          <a:solidFill>
            <a:schemeClr val="accent2">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just"/>
            <a:r>
              <a:rPr lang="en-US" sz="2200" b="1" dirty="0">
                <a:solidFill>
                  <a:schemeClr val="tx1"/>
                </a:solidFill>
              </a:rPr>
              <a:t>Not everyone who works is a professional.</a:t>
            </a:r>
            <a:br>
              <a:rPr lang="en-US" sz="2200" b="1" dirty="0">
                <a:solidFill>
                  <a:schemeClr val="tx1"/>
                </a:solidFill>
              </a:rPr>
            </a:br>
            <a:r>
              <a:rPr lang="en-US" sz="2200" b="1" dirty="0">
                <a:solidFill>
                  <a:schemeClr val="tx1"/>
                </a:solidFill>
              </a:rPr>
              <a:t>A professional is someone who is qualified, skilled, ethical, and accountable.</a:t>
            </a:r>
          </a:p>
        </p:txBody>
      </p:sp>
    </p:spTree>
    <p:extLst>
      <p:ext uri="{BB962C8B-B14F-4D97-AF65-F5344CB8AC3E}">
        <p14:creationId xmlns:p14="http://schemas.microsoft.com/office/powerpoint/2010/main" val="2827199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59DFA0-AFF6-F93C-AACC-6565D452B404}"/>
              </a:ext>
            </a:extLst>
          </p:cNvPr>
          <p:cNvSpPr txBox="1"/>
          <p:nvPr/>
        </p:nvSpPr>
        <p:spPr>
          <a:xfrm>
            <a:off x="595310" y="454640"/>
            <a:ext cx="11001375" cy="4893647"/>
          </a:xfrm>
          <a:prstGeom prst="rect">
            <a:avLst/>
          </a:prstGeom>
          <a:noFill/>
        </p:spPr>
        <p:txBody>
          <a:bodyPr wrap="square" rtlCol="0">
            <a:spAutoFit/>
          </a:bodyPr>
          <a:lstStyle/>
          <a:p>
            <a:pPr algn="just"/>
            <a:r>
              <a:rPr lang="en-US" sz="2800" u="sng" dirty="0">
                <a:solidFill>
                  <a:schemeClr val="accent2">
                    <a:lumMod val="50000"/>
                  </a:schemeClr>
                </a:solidFill>
                <a:latin typeface="Arial Black" panose="020B0A04020102020204" pitchFamily="34" charset="0"/>
              </a:rPr>
              <a:t>Role of a Professional Engineer: </a:t>
            </a:r>
          </a:p>
          <a:p>
            <a:pPr algn="just"/>
            <a:endParaRPr lang="en-US" sz="2200" b="1" u="sng" dirty="0"/>
          </a:p>
          <a:p>
            <a:pPr algn="just"/>
            <a:r>
              <a:rPr lang="en-US" sz="2200" b="1" u="sng" dirty="0"/>
              <a:t>A professional engineer has responsibilities towards</a:t>
            </a:r>
          </a:p>
          <a:p>
            <a:pPr algn="just">
              <a:spcBef>
                <a:spcPts val="300"/>
              </a:spcBef>
              <a:spcAft>
                <a:spcPts val="300"/>
              </a:spcAft>
            </a:pPr>
            <a:r>
              <a:rPr lang="en-US" sz="2200" b="1" dirty="0">
                <a:solidFill>
                  <a:schemeClr val="accent6">
                    <a:lumMod val="50000"/>
                  </a:schemeClr>
                </a:solidFill>
              </a:rPr>
              <a:t>1. Society: </a:t>
            </a:r>
            <a:r>
              <a:rPr lang="en-US" sz="2200" dirty="0"/>
              <a:t>Ensure public safety and welfare.</a:t>
            </a:r>
          </a:p>
          <a:p>
            <a:pPr algn="just">
              <a:spcBef>
                <a:spcPts val="300"/>
              </a:spcBef>
              <a:spcAft>
                <a:spcPts val="300"/>
              </a:spcAft>
            </a:pPr>
            <a:r>
              <a:rPr lang="en-US" sz="2200" b="1" dirty="0">
                <a:solidFill>
                  <a:schemeClr val="accent6">
                    <a:lumMod val="50000"/>
                  </a:schemeClr>
                </a:solidFill>
              </a:rPr>
              <a:t>2. Organization: </a:t>
            </a:r>
            <a:r>
              <a:rPr lang="en-US" sz="2200" dirty="0"/>
              <a:t>Work sincerely and protect company interests.</a:t>
            </a:r>
          </a:p>
          <a:p>
            <a:pPr algn="just">
              <a:spcBef>
                <a:spcPts val="300"/>
              </a:spcBef>
              <a:spcAft>
                <a:spcPts val="300"/>
              </a:spcAft>
            </a:pPr>
            <a:r>
              <a:rPr lang="en-US" sz="2200" b="1" dirty="0">
                <a:solidFill>
                  <a:schemeClr val="accent6">
                    <a:lumMod val="50000"/>
                  </a:schemeClr>
                </a:solidFill>
              </a:rPr>
              <a:t>3. Clients: </a:t>
            </a:r>
            <a:r>
              <a:rPr lang="en-US" sz="2200" dirty="0"/>
              <a:t>Provide quality service and honest advice.</a:t>
            </a:r>
          </a:p>
          <a:p>
            <a:pPr algn="just">
              <a:spcBef>
                <a:spcPts val="300"/>
              </a:spcBef>
              <a:spcAft>
                <a:spcPts val="300"/>
              </a:spcAft>
            </a:pPr>
            <a:r>
              <a:rPr lang="en-US" sz="2200" b="1" dirty="0">
                <a:solidFill>
                  <a:schemeClr val="accent6">
                    <a:lumMod val="50000"/>
                  </a:schemeClr>
                </a:solidFill>
              </a:rPr>
              <a:t>4. Profession: </a:t>
            </a:r>
            <a:r>
              <a:rPr lang="en-US" sz="2200" dirty="0"/>
              <a:t>Maintain standards and dignity of engineering.</a:t>
            </a:r>
          </a:p>
          <a:p>
            <a:endParaRPr lang="en-US" dirty="0"/>
          </a:p>
          <a:p>
            <a:pPr algn="ctr"/>
            <a:r>
              <a:rPr lang="en-US" sz="2400" u="sng" dirty="0">
                <a:solidFill>
                  <a:schemeClr val="accent2">
                    <a:lumMod val="50000"/>
                  </a:schemeClr>
                </a:solidFill>
                <a:latin typeface="Arial Black" panose="020B0A04020102020204" pitchFamily="34" charset="0"/>
              </a:rPr>
              <a:t>Professional vs Non-Professional Behavior</a:t>
            </a:r>
          </a:p>
          <a:p>
            <a:endParaRPr lang="en-US" dirty="0"/>
          </a:p>
          <a:p>
            <a:endParaRPr lang="en-US" dirty="0"/>
          </a:p>
          <a:p>
            <a:endParaRPr lang="en-US" dirty="0"/>
          </a:p>
          <a:p>
            <a:pPr marL="342900" indent="-342900">
              <a:buAutoNum type="arabicPeriod"/>
            </a:pPr>
            <a:endParaRPr lang="en-US" dirty="0"/>
          </a:p>
          <a:p>
            <a:endParaRPr lang="en-US" dirty="0"/>
          </a:p>
        </p:txBody>
      </p:sp>
      <p:graphicFrame>
        <p:nvGraphicFramePr>
          <p:cNvPr id="4" name="Table 3">
            <a:extLst>
              <a:ext uri="{FF2B5EF4-FFF2-40B4-BE49-F238E27FC236}">
                <a16:creationId xmlns:a16="http://schemas.microsoft.com/office/drawing/2014/main" id="{F32AD1D9-0F7A-94AC-072F-76DD97503D44}"/>
              </a:ext>
            </a:extLst>
          </p:cNvPr>
          <p:cNvGraphicFramePr>
            <a:graphicFrameLocks noGrp="1"/>
          </p:cNvGraphicFramePr>
          <p:nvPr>
            <p:extLst>
              <p:ext uri="{D42A27DB-BD31-4B8C-83A1-F6EECF244321}">
                <p14:modId xmlns:p14="http://schemas.microsoft.com/office/powerpoint/2010/main" val="314160064"/>
              </p:ext>
            </p:extLst>
          </p:nvPr>
        </p:nvGraphicFramePr>
        <p:xfrm>
          <a:off x="1656656" y="3939676"/>
          <a:ext cx="8878681" cy="2817222"/>
        </p:xfrm>
        <a:graphic>
          <a:graphicData uri="http://schemas.openxmlformats.org/drawingml/2006/table">
            <a:tbl>
              <a:tblPr>
                <a:tableStyleId>{08FB837D-C827-4EFA-A057-4D05807E0F7C}</a:tableStyleId>
              </a:tblPr>
              <a:tblGrid>
                <a:gridCol w="4086225">
                  <a:extLst>
                    <a:ext uri="{9D8B030D-6E8A-4147-A177-3AD203B41FA5}">
                      <a16:colId xmlns:a16="http://schemas.microsoft.com/office/drawing/2014/main" val="3067368807"/>
                    </a:ext>
                  </a:extLst>
                </a:gridCol>
                <a:gridCol w="4792456">
                  <a:extLst>
                    <a:ext uri="{9D8B030D-6E8A-4147-A177-3AD203B41FA5}">
                      <a16:colId xmlns:a16="http://schemas.microsoft.com/office/drawing/2014/main" val="3506705105"/>
                    </a:ext>
                  </a:extLst>
                </a:gridCol>
              </a:tblGrid>
              <a:tr h="415062">
                <a:tc>
                  <a:txBody>
                    <a:bodyPr/>
                    <a:lstStyle/>
                    <a:p>
                      <a:pPr algn="ctr">
                        <a:buNone/>
                      </a:pPr>
                      <a:r>
                        <a:rPr lang="en-US" sz="2400" dirty="0">
                          <a:solidFill>
                            <a:schemeClr val="bg2"/>
                          </a:solidFill>
                          <a:latin typeface="Arial Black" panose="020B0A04020102020204" pitchFamily="34" charset="0"/>
                        </a:rPr>
                        <a:t>Professional Behavior</a:t>
                      </a:r>
                    </a:p>
                  </a:txBody>
                  <a:tcPr anchor="ctr">
                    <a:solidFill>
                      <a:schemeClr val="accent6">
                        <a:lumMod val="50000"/>
                      </a:schemeClr>
                    </a:solidFill>
                  </a:tcPr>
                </a:tc>
                <a:tc>
                  <a:txBody>
                    <a:bodyPr/>
                    <a:lstStyle/>
                    <a:p>
                      <a:pPr algn="ctr">
                        <a:buNone/>
                      </a:pPr>
                      <a:r>
                        <a:rPr lang="en-US" sz="2400" dirty="0">
                          <a:solidFill>
                            <a:schemeClr val="bg2"/>
                          </a:solidFill>
                          <a:latin typeface="Arial Black" panose="020B0A04020102020204" pitchFamily="34" charset="0"/>
                        </a:rPr>
                        <a:t>Non-Professional Behavior</a:t>
                      </a:r>
                    </a:p>
                  </a:txBody>
                  <a:tcPr anchor="ctr">
                    <a:solidFill>
                      <a:schemeClr val="accent6">
                        <a:lumMod val="50000"/>
                      </a:schemeClr>
                    </a:solidFill>
                  </a:tcPr>
                </a:tc>
                <a:extLst>
                  <a:ext uri="{0D108BD9-81ED-4DB2-BD59-A6C34878D82A}">
                    <a16:rowId xmlns:a16="http://schemas.microsoft.com/office/drawing/2014/main" val="496630733"/>
                  </a:ext>
                </a:extLst>
              </a:tr>
              <a:tr h="415062">
                <a:tc>
                  <a:txBody>
                    <a:bodyPr/>
                    <a:lstStyle/>
                    <a:p>
                      <a:pPr marL="342900" indent="-342900">
                        <a:buFont typeface="Wingdings" panose="05000000000000000000" pitchFamily="2" charset="2"/>
                        <a:buChar char="§"/>
                      </a:pPr>
                      <a:r>
                        <a:rPr lang="en-US" sz="2200" b="1" dirty="0"/>
                        <a:t>Honest work</a:t>
                      </a:r>
                    </a:p>
                  </a:txBody>
                  <a:tcPr anchor="ctr"/>
                </a:tc>
                <a:tc>
                  <a:txBody>
                    <a:bodyPr/>
                    <a:lstStyle/>
                    <a:p>
                      <a:pPr>
                        <a:buNone/>
                      </a:pPr>
                      <a:r>
                        <a:rPr lang="en-US" sz="2200" b="1" dirty="0"/>
                        <a:t>Cheating or plagiarism</a:t>
                      </a:r>
                    </a:p>
                  </a:txBody>
                  <a:tcPr anchor="ctr"/>
                </a:tc>
                <a:extLst>
                  <a:ext uri="{0D108BD9-81ED-4DB2-BD59-A6C34878D82A}">
                    <a16:rowId xmlns:a16="http://schemas.microsoft.com/office/drawing/2014/main" val="2371064091"/>
                  </a:ext>
                </a:extLst>
              </a:tr>
              <a:tr h="415062">
                <a:tc>
                  <a:txBody>
                    <a:bodyPr/>
                    <a:lstStyle/>
                    <a:p>
                      <a:pPr marL="342900" indent="-342900">
                        <a:buFont typeface="Wingdings" panose="05000000000000000000" pitchFamily="2" charset="2"/>
                        <a:buChar char="§"/>
                      </a:pPr>
                      <a:r>
                        <a:rPr lang="en-US" sz="2200" b="1" dirty="0"/>
                        <a:t>Meeting deadlines</a:t>
                      </a:r>
                    </a:p>
                  </a:txBody>
                  <a:tcPr anchor="ctr"/>
                </a:tc>
                <a:tc>
                  <a:txBody>
                    <a:bodyPr/>
                    <a:lstStyle/>
                    <a:p>
                      <a:pPr>
                        <a:buNone/>
                      </a:pPr>
                      <a:r>
                        <a:rPr lang="en-US" sz="2200" b="1"/>
                        <a:t>Delaying without reason</a:t>
                      </a:r>
                    </a:p>
                  </a:txBody>
                  <a:tcPr anchor="ctr"/>
                </a:tc>
                <a:extLst>
                  <a:ext uri="{0D108BD9-81ED-4DB2-BD59-A6C34878D82A}">
                    <a16:rowId xmlns:a16="http://schemas.microsoft.com/office/drawing/2014/main" val="3186392671"/>
                  </a:ext>
                </a:extLst>
              </a:tr>
              <a:tr h="653142">
                <a:tc>
                  <a:txBody>
                    <a:bodyPr/>
                    <a:lstStyle/>
                    <a:p>
                      <a:pPr marL="342900" indent="-342900">
                        <a:buFont typeface="Wingdings" panose="05000000000000000000" pitchFamily="2" charset="2"/>
                        <a:buChar char="§"/>
                      </a:pPr>
                      <a:r>
                        <a:rPr lang="en-US" sz="2200" b="1"/>
                        <a:t>Respectful communication</a:t>
                      </a:r>
                    </a:p>
                  </a:txBody>
                  <a:tcPr anchor="ctr"/>
                </a:tc>
                <a:tc>
                  <a:txBody>
                    <a:bodyPr/>
                    <a:lstStyle/>
                    <a:p>
                      <a:pPr>
                        <a:buNone/>
                      </a:pPr>
                      <a:r>
                        <a:rPr lang="en-US" sz="2200" b="1" dirty="0"/>
                        <a:t>Using rude language</a:t>
                      </a:r>
                    </a:p>
                  </a:txBody>
                  <a:tcPr anchor="ctr"/>
                </a:tc>
                <a:extLst>
                  <a:ext uri="{0D108BD9-81ED-4DB2-BD59-A6C34878D82A}">
                    <a16:rowId xmlns:a16="http://schemas.microsoft.com/office/drawing/2014/main" val="819031912"/>
                  </a:ext>
                </a:extLst>
              </a:tr>
              <a:tr h="415062">
                <a:tc>
                  <a:txBody>
                    <a:bodyPr/>
                    <a:lstStyle/>
                    <a:p>
                      <a:pPr marL="342900" indent="-342900">
                        <a:buFont typeface="Wingdings" panose="05000000000000000000" pitchFamily="2" charset="2"/>
                        <a:buChar char="§"/>
                      </a:pPr>
                      <a:r>
                        <a:rPr lang="en-US" sz="2200" b="1" dirty="0"/>
                        <a:t>Taking responsibility</a:t>
                      </a:r>
                    </a:p>
                  </a:txBody>
                  <a:tcPr anchor="ctr"/>
                </a:tc>
                <a:tc>
                  <a:txBody>
                    <a:bodyPr/>
                    <a:lstStyle/>
                    <a:p>
                      <a:pPr>
                        <a:buNone/>
                      </a:pPr>
                      <a:r>
                        <a:rPr lang="en-US" sz="2200" b="1"/>
                        <a:t>Blaming others</a:t>
                      </a:r>
                    </a:p>
                  </a:txBody>
                  <a:tcPr anchor="ctr"/>
                </a:tc>
                <a:extLst>
                  <a:ext uri="{0D108BD9-81ED-4DB2-BD59-A6C34878D82A}">
                    <a16:rowId xmlns:a16="http://schemas.microsoft.com/office/drawing/2014/main" val="3806221531"/>
                  </a:ext>
                </a:extLst>
              </a:tr>
              <a:tr h="415062">
                <a:tc>
                  <a:txBody>
                    <a:bodyPr/>
                    <a:lstStyle/>
                    <a:p>
                      <a:pPr marL="342900" indent="-342900">
                        <a:buFont typeface="Wingdings" panose="05000000000000000000" pitchFamily="2" charset="2"/>
                        <a:buChar char="§"/>
                      </a:pPr>
                      <a:r>
                        <a:rPr lang="en-US" sz="2200" b="1" dirty="0"/>
                        <a:t>Following safety rules</a:t>
                      </a:r>
                    </a:p>
                  </a:txBody>
                  <a:tcPr anchor="ctr"/>
                </a:tc>
                <a:tc>
                  <a:txBody>
                    <a:bodyPr/>
                    <a:lstStyle/>
                    <a:p>
                      <a:pPr>
                        <a:buNone/>
                      </a:pPr>
                      <a:r>
                        <a:rPr lang="en-US" sz="2200" b="1" dirty="0"/>
                        <a:t>Ignoring safety</a:t>
                      </a:r>
                    </a:p>
                  </a:txBody>
                  <a:tcPr anchor="ctr"/>
                </a:tc>
                <a:extLst>
                  <a:ext uri="{0D108BD9-81ED-4DB2-BD59-A6C34878D82A}">
                    <a16:rowId xmlns:a16="http://schemas.microsoft.com/office/drawing/2014/main" val="3208697099"/>
                  </a:ext>
                </a:extLst>
              </a:tr>
            </a:tbl>
          </a:graphicData>
        </a:graphic>
      </p:graphicFrame>
      <p:sp>
        <p:nvSpPr>
          <p:cNvPr id="3" name="Flowchart: Sequential Access Storage 2">
            <a:extLst>
              <a:ext uri="{FF2B5EF4-FFF2-40B4-BE49-F238E27FC236}">
                <a16:creationId xmlns:a16="http://schemas.microsoft.com/office/drawing/2014/main" id="{D626FC39-0C7F-5297-7E53-86EB81A87892}"/>
              </a:ext>
            </a:extLst>
          </p:cNvPr>
          <p:cNvSpPr/>
          <p:nvPr/>
        </p:nvSpPr>
        <p:spPr>
          <a:xfrm>
            <a:off x="7943850" y="454640"/>
            <a:ext cx="4075779" cy="2463684"/>
          </a:xfrm>
          <a:prstGeom prst="flowChartMagneticTape">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just"/>
            <a:r>
              <a:rPr lang="en-US" sz="2200" b="1" dirty="0"/>
              <a:t>Your </a:t>
            </a:r>
            <a:r>
              <a:rPr lang="en-US" sz="2200" b="1" dirty="0" err="1"/>
              <a:t>B.Tech</a:t>
            </a:r>
            <a:r>
              <a:rPr lang="en-US" sz="2200" b="1" dirty="0"/>
              <a:t> degree makes you qualified,</a:t>
            </a:r>
            <a:br>
              <a:rPr lang="en-US" sz="2200" b="1" dirty="0"/>
            </a:br>
            <a:r>
              <a:rPr lang="en-US" sz="2200" b="1" dirty="0"/>
              <a:t>but your behavior makes you a professional.</a:t>
            </a:r>
          </a:p>
        </p:txBody>
      </p:sp>
    </p:spTree>
    <p:extLst>
      <p:ext uri="{BB962C8B-B14F-4D97-AF65-F5344CB8AC3E}">
        <p14:creationId xmlns:p14="http://schemas.microsoft.com/office/powerpoint/2010/main" val="3583368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D6BD2D-8945-32C0-2567-DBBE30C92463}"/>
              </a:ext>
            </a:extLst>
          </p:cNvPr>
          <p:cNvSpPr txBox="1"/>
          <p:nvPr/>
        </p:nvSpPr>
        <p:spPr>
          <a:xfrm>
            <a:off x="488156" y="1042987"/>
            <a:ext cx="11215688" cy="4431983"/>
          </a:xfrm>
          <a:prstGeom prst="rect">
            <a:avLst/>
          </a:prstGeom>
          <a:noFill/>
        </p:spPr>
        <p:txBody>
          <a:bodyPr wrap="square" rtlCol="0">
            <a:spAutoFit/>
          </a:bodyPr>
          <a:lstStyle/>
          <a:p>
            <a:r>
              <a:rPr lang="en-US" sz="2800" b="1" u="sng" dirty="0">
                <a:solidFill>
                  <a:schemeClr val="accent2">
                    <a:lumMod val="50000"/>
                  </a:schemeClr>
                </a:solidFill>
                <a:latin typeface="Arial Black" panose="020B0A04020102020204" pitchFamily="34" charset="0"/>
              </a:rPr>
              <a:t>Professional Attitude</a:t>
            </a:r>
          </a:p>
          <a:p>
            <a:endParaRPr lang="en-US" sz="2400" b="1" u="sng" dirty="0"/>
          </a:p>
          <a:p>
            <a:r>
              <a:rPr lang="en-US" sz="2400" b="1" u="sng" dirty="0"/>
              <a:t>Being a professional is not only about degree; it is about attitude:</a:t>
            </a:r>
          </a:p>
          <a:p>
            <a:pPr marL="342900" indent="-342900">
              <a:spcBef>
                <a:spcPts val="300"/>
              </a:spcBef>
              <a:spcAft>
                <a:spcPts val="300"/>
              </a:spcAft>
              <a:buFont typeface="Courier New" panose="02070309020205020404" pitchFamily="49" charset="0"/>
              <a:buChar char="o"/>
            </a:pPr>
            <a:r>
              <a:rPr lang="en-US" sz="2200" b="1" dirty="0">
                <a:solidFill>
                  <a:schemeClr val="accent6">
                    <a:lumMod val="50000"/>
                  </a:schemeClr>
                </a:solidFill>
              </a:rPr>
              <a:t>Responsibility</a:t>
            </a:r>
          </a:p>
          <a:p>
            <a:pPr marL="342900" indent="-342900">
              <a:spcBef>
                <a:spcPts val="300"/>
              </a:spcBef>
              <a:spcAft>
                <a:spcPts val="300"/>
              </a:spcAft>
              <a:buFont typeface="Courier New" panose="02070309020205020404" pitchFamily="49" charset="0"/>
              <a:buChar char="o"/>
            </a:pPr>
            <a:r>
              <a:rPr lang="en-US" sz="2200" b="1" dirty="0">
                <a:solidFill>
                  <a:schemeClr val="accent6">
                    <a:lumMod val="50000"/>
                  </a:schemeClr>
                </a:solidFill>
              </a:rPr>
              <a:t>Reliability</a:t>
            </a:r>
          </a:p>
          <a:p>
            <a:pPr marL="342900" indent="-342900">
              <a:spcBef>
                <a:spcPts val="300"/>
              </a:spcBef>
              <a:spcAft>
                <a:spcPts val="300"/>
              </a:spcAft>
              <a:buFont typeface="Courier New" panose="02070309020205020404" pitchFamily="49" charset="0"/>
              <a:buChar char="o"/>
            </a:pPr>
            <a:r>
              <a:rPr lang="en-US" sz="2200" b="1" dirty="0">
                <a:solidFill>
                  <a:schemeClr val="accent6">
                    <a:lumMod val="50000"/>
                  </a:schemeClr>
                </a:solidFill>
              </a:rPr>
              <a:t>Discipline</a:t>
            </a:r>
          </a:p>
          <a:p>
            <a:pPr marL="342900" indent="-342900">
              <a:spcBef>
                <a:spcPts val="300"/>
              </a:spcBef>
              <a:spcAft>
                <a:spcPts val="300"/>
              </a:spcAft>
              <a:buFont typeface="Courier New" panose="02070309020205020404" pitchFamily="49" charset="0"/>
              <a:buChar char="o"/>
            </a:pPr>
            <a:r>
              <a:rPr lang="en-US" sz="2200" b="1" dirty="0">
                <a:solidFill>
                  <a:schemeClr val="accent6">
                    <a:lumMod val="50000"/>
                  </a:schemeClr>
                </a:solidFill>
              </a:rPr>
              <a:t>Ethical judgment</a:t>
            </a:r>
          </a:p>
          <a:p>
            <a:pPr marL="342900" indent="-342900">
              <a:spcBef>
                <a:spcPts val="300"/>
              </a:spcBef>
              <a:spcAft>
                <a:spcPts val="300"/>
              </a:spcAft>
              <a:buFont typeface="Courier New" panose="02070309020205020404" pitchFamily="49" charset="0"/>
              <a:buChar char="o"/>
            </a:pPr>
            <a:r>
              <a:rPr lang="en-US" sz="2200" b="1" dirty="0">
                <a:solidFill>
                  <a:schemeClr val="accent6">
                    <a:lumMod val="50000"/>
                  </a:schemeClr>
                </a:solidFill>
              </a:rPr>
              <a:t>Confidence</a:t>
            </a:r>
          </a:p>
          <a:p>
            <a:pPr>
              <a:spcBef>
                <a:spcPts val="300"/>
              </a:spcBef>
              <a:spcAft>
                <a:spcPts val="300"/>
              </a:spcAft>
            </a:pPr>
            <a:endParaRPr lang="en-US" sz="2200" dirty="0">
              <a:solidFill>
                <a:schemeClr val="accent6">
                  <a:lumMod val="50000"/>
                </a:schemeClr>
              </a:solidFill>
            </a:endParaRPr>
          </a:p>
          <a:p>
            <a:pPr marL="342900" indent="-342900" algn="just">
              <a:buFont typeface="Wingdings" panose="05000000000000000000" pitchFamily="2" charset="2"/>
              <a:buChar char="ü"/>
            </a:pPr>
            <a:r>
              <a:rPr lang="en-US" sz="2200" b="1" dirty="0"/>
              <a:t>A professional is not defined only by qualification, but by responsibility, integrity, and commitment to ethical practice</a:t>
            </a:r>
            <a:r>
              <a:rPr lang="en-US" dirty="0"/>
              <a:t>.</a:t>
            </a:r>
          </a:p>
        </p:txBody>
      </p:sp>
    </p:spTree>
    <p:extLst>
      <p:ext uri="{BB962C8B-B14F-4D97-AF65-F5344CB8AC3E}">
        <p14:creationId xmlns:p14="http://schemas.microsoft.com/office/powerpoint/2010/main" val="3161619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A2002-CA2D-3C02-48BA-3E15CB42E995}"/>
              </a:ext>
            </a:extLst>
          </p:cNvPr>
          <p:cNvSpPr>
            <a:spLocks noGrp="1"/>
          </p:cNvSpPr>
          <p:nvPr>
            <p:ph type="title"/>
          </p:nvPr>
        </p:nvSpPr>
        <p:spPr>
          <a:xfrm>
            <a:off x="838199" y="71438"/>
            <a:ext cx="10515600" cy="663575"/>
          </a:xfrm>
        </p:spPr>
        <p:txBody>
          <a:bodyPr>
            <a:normAutofit fontScale="90000"/>
          </a:bodyPr>
          <a:lstStyle/>
          <a:p>
            <a:pPr algn="ctr"/>
            <a:r>
              <a:rPr lang="en-US" dirty="0">
                <a:solidFill>
                  <a:srgbClr val="FF0000"/>
                </a:solidFill>
                <a:latin typeface="Arial Black" panose="020B0A04020102020204" pitchFamily="34" charset="0"/>
              </a:rPr>
              <a:t>PROFESSIONALISM</a:t>
            </a:r>
          </a:p>
        </p:txBody>
      </p:sp>
      <p:sp>
        <p:nvSpPr>
          <p:cNvPr id="3" name="Content Placeholder 2">
            <a:extLst>
              <a:ext uri="{FF2B5EF4-FFF2-40B4-BE49-F238E27FC236}">
                <a16:creationId xmlns:a16="http://schemas.microsoft.com/office/drawing/2014/main" id="{0B1A9E44-1D6A-7EBB-CF13-23A83686F770}"/>
              </a:ext>
            </a:extLst>
          </p:cNvPr>
          <p:cNvSpPr>
            <a:spLocks noGrp="1"/>
          </p:cNvSpPr>
          <p:nvPr>
            <p:ph idx="1"/>
          </p:nvPr>
        </p:nvSpPr>
        <p:spPr>
          <a:xfrm>
            <a:off x="1" y="677863"/>
            <a:ext cx="12191999" cy="6108699"/>
          </a:xfrm>
        </p:spPr>
        <p:txBody>
          <a:bodyPr>
            <a:normAutofit fontScale="40000" lnSpcReduction="20000"/>
          </a:bodyPr>
          <a:lstStyle/>
          <a:p>
            <a:pPr algn="just">
              <a:buFont typeface="Wingdings" panose="05000000000000000000" pitchFamily="2" charset="2"/>
              <a:buChar char="§"/>
            </a:pPr>
            <a:r>
              <a:rPr lang="en-US" sz="5300" b="1" dirty="0"/>
              <a:t>Professionalism refers to the attitude, behavior, and ethical conduct expected from a professional while performing their duties.</a:t>
            </a:r>
          </a:p>
          <a:p>
            <a:pPr algn="just">
              <a:buFont typeface="Wingdings" panose="05000000000000000000" pitchFamily="2" charset="2"/>
              <a:buChar char="§"/>
            </a:pPr>
            <a:r>
              <a:rPr lang="en-US" sz="5300" b="1" dirty="0"/>
              <a:t>It shows how a professional uses knowledge, skills, and ethics responsibly in the workplace and society.</a:t>
            </a:r>
          </a:p>
          <a:p>
            <a:pPr algn="just">
              <a:buFont typeface="Wingdings" panose="05000000000000000000" pitchFamily="2" charset="2"/>
              <a:buChar char="§"/>
            </a:pPr>
            <a:r>
              <a:rPr lang="en-US" sz="5300" b="1" dirty="0"/>
              <a:t>Professionalism is the practice of applying knowledge, skills, discipline, and ethical behavior in one’s profession.</a:t>
            </a: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4400" dirty="0">
              <a:latin typeface="Arial Black" panose="020B0A04020102020204" pitchFamily="34" charset="0"/>
            </a:endParaRPr>
          </a:p>
          <a:p>
            <a:pPr marL="0" indent="0">
              <a:buNone/>
            </a:pPr>
            <a:r>
              <a:rPr lang="en-US" sz="6000" u="sng" dirty="0">
                <a:solidFill>
                  <a:schemeClr val="accent2">
                    <a:lumMod val="50000"/>
                  </a:schemeClr>
                </a:solidFill>
                <a:latin typeface="Arial Black" panose="020B0A04020102020204" pitchFamily="34" charset="0"/>
              </a:rPr>
              <a:t>Key Elements of Professionalism</a:t>
            </a:r>
          </a:p>
          <a:p>
            <a:pPr algn="just">
              <a:buFont typeface="Wingdings" panose="05000000000000000000" pitchFamily="2" charset="2"/>
              <a:buChar char="§"/>
            </a:pPr>
            <a:r>
              <a:rPr lang="en-US" sz="5300" b="1" dirty="0">
                <a:solidFill>
                  <a:schemeClr val="accent6">
                    <a:lumMod val="50000"/>
                  </a:schemeClr>
                </a:solidFill>
              </a:rPr>
              <a:t>Competence (Knowledge and Skill): </a:t>
            </a:r>
            <a:r>
              <a:rPr lang="en-US" sz="5300" dirty="0"/>
              <a:t>A professional must be capable of performing tasks effectively.</a:t>
            </a:r>
          </a:p>
          <a:p>
            <a:pPr algn="just">
              <a:buFont typeface="Wingdings" panose="05000000000000000000" pitchFamily="2" charset="2"/>
              <a:buChar char="§"/>
            </a:pPr>
            <a:r>
              <a:rPr lang="en-US" sz="5300" b="1" dirty="0">
                <a:solidFill>
                  <a:schemeClr val="accent6">
                    <a:lumMod val="50000"/>
                  </a:schemeClr>
                </a:solidFill>
              </a:rPr>
              <a:t>Integrity (Honesty): </a:t>
            </a:r>
            <a:r>
              <a:rPr lang="en-US" sz="5300" dirty="0"/>
              <a:t>Integrity means being honest and having strong moral principles.</a:t>
            </a:r>
          </a:p>
          <a:p>
            <a:pPr algn="just">
              <a:buFont typeface="Wingdings" panose="05000000000000000000" pitchFamily="2" charset="2"/>
              <a:buChar char="§"/>
            </a:pPr>
            <a:r>
              <a:rPr lang="en-US" sz="5300" b="1" dirty="0">
                <a:solidFill>
                  <a:schemeClr val="accent6">
                    <a:lumMod val="50000"/>
                  </a:schemeClr>
                </a:solidFill>
              </a:rPr>
              <a:t>Accountability (Responsibility): </a:t>
            </a:r>
            <a:r>
              <a:rPr lang="en-US" sz="5300" dirty="0"/>
              <a:t>Professionals must take responsibility for their actions and decisions.</a:t>
            </a:r>
          </a:p>
          <a:p>
            <a:pPr algn="just">
              <a:buFont typeface="Wingdings" panose="05000000000000000000" pitchFamily="2" charset="2"/>
              <a:buChar char="§"/>
            </a:pPr>
            <a:r>
              <a:rPr lang="en-US" sz="5300" b="1" dirty="0">
                <a:solidFill>
                  <a:schemeClr val="accent6">
                    <a:lumMod val="50000"/>
                  </a:schemeClr>
                </a:solidFill>
              </a:rPr>
              <a:t>Respect and Ethical Behavior: </a:t>
            </a:r>
            <a:r>
              <a:rPr lang="en-US" sz="5300" dirty="0"/>
              <a:t>Professionals must respect colleagues, clients, and society.</a:t>
            </a:r>
          </a:p>
          <a:p>
            <a:pPr algn="just">
              <a:buFont typeface="Wingdings" panose="05000000000000000000" pitchFamily="2" charset="2"/>
              <a:buChar char="§"/>
            </a:pPr>
            <a:r>
              <a:rPr lang="en-US" sz="5300" b="1" dirty="0">
                <a:solidFill>
                  <a:schemeClr val="accent6">
                    <a:lumMod val="50000"/>
                  </a:schemeClr>
                </a:solidFill>
              </a:rPr>
              <a:t>Commitment and Dedication: </a:t>
            </a:r>
            <a:r>
              <a:rPr lang="en-US" sz="5300" dirty="0"/>
              <a:t>Professionals show seriousness toward their work.</a:t>
            </a:r>
          </a:p>
          <a:p>
            <a:pPr algn="just">
              <a:buFont typeface="Wingdings" panose="05000000000000000000" pitchFamily="2" charset="2"/>
              <a:buChar char="§"/>
            </a:pPr>
            <a:r>
              <a:rPr lang="en-US" sz="5300" b="1" dirty="0">
                <a:solidFill>
                  <a:schemeClr val="accent6">
                    <a:lumMod val="50000"/>
                  </a:schemeClr>
                </a:solidFill>
              </a:rPr>
              <a:t>Continuous Learning: </a:t>
            </a:r>
            <a:r>
              <a:rPr lang="en-US" sz="5300" dirty="0"/>
              <a:t>Technology and knowledge constantly evolve, especially in engineering.</a:t>
            </a:r>
          </a:p>
          <a:p>
            <a:pPr algn="just">
              <a:buFont typeface="Wingdings" panose="05000000000000000000" pitchFamily="2" charset="2"/>
              <a:buChar char="§"/>
            </a:pPr>
            <a:r>
              <a:rPr lang="en-US" sz="5300" b="1" dirty="0">
                <a:solidFill>
                  <a:schemeClr val="accent6">
                    <a:lumMod val="50000"/>
                  </a:schemeClr>
                </a:solidFill>
              </a:rPr>
              <a:t>Discipline and Work Ethics: </a:t>
            </a:r>
            <a:r>
              <a:rPr lang="en-US" sz="5300" dirty="0"/>
              <a:t>Professionalism includes maintaining punctuality, meeting deadlines, and following organizational rules.</a:t>
            </a:r>
            <a:endParaRPr lang="en-US" dirty="0"/>
          </a:p>
        </p:txBody>
      </p:sp>
      <p:sp>
        <p:nvSpPr>
          <p:cNvPr id="6" name="Rectangle: Rounded Corners 5">
            <a:extLst>
              <a:ext uri="{FF2B5EF4-FFF2-40B4-BE49-F238E27FC236}">
                <a16:creationId xmlns:a16="http://schemas.microsoft.com/office/drawing/2014/main" id="{7392B228-1C75-2A83-EDE5-2EE58DD1F8AB}"/>
              </a:ext>
            </a:extLst>
          </p:cNvPr>
          <p:cNvSpPr/>
          <p:nvPr/>
        </p:nvSpPr>
        <p:spPr>
          <a:xfrm>
            <a:off x="1771651" y="2505076"/>
            <a:ext cx="9334500" cy="66357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b="1" dirty="0"/>
              <a:t>Professionalism = Right Work + Right Attitude + Right Behavior</a:t>
            </a:r>
            <a:endParaRPr lang="en-US" sz="2400" b="1" dirty="0">
              <a:ln w="22225">
                <a:solidFill>
                  <a:schemeClr val="accent2"/>
                </a:solidFill>
                <a:prstDash val="solid"/>
              </a:ln>
              <a:solidFill>
                <a:schemeClr val="accent4">
                  <a:lumMod val="40000"/>
                  <a:lumOff val="60000"/>
                </a:schemeClr>
              </a:solidFill>
            </a:endParaRPr>
          </a:p>
        </p:txBody>
      </p:sp>
    </p:spTree>
    <p:extLst>
      <p:ext uri="{BB962C8B-B14F-4D97-AF65-F5344CB8AC3E}">
        <p14:creationId xmlns:p14="http://schemas.microsoft.com/office/powerpoint/2010/main" val="897230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D046BA-B8AC-3402-E553-E4EB23408FD7}"/>
              </a:ext>
            </a:extLst>
          </p:cNvPr>
          <p:cNvSpPr txBox="1"/>
          <p:nvPr/>
        </p:nvSpPr>
        <p:spPr>
          <a:xfrm>
            <a:off x="385763" y="300038"/>
            <a:ext cx="11472862" cy="6432530"/>
          </a:xfrm>
          <a:prstGeom prst="rect">
            <a:avLst/>
          </a:prstGeom>
          <a:noFill/>
        </p:spPr>
        <p:txBody>
          <a:bodyPr wrap="square" rtlCol="0">
            <a:spAutoFit/>
          </a:bodyPr>
          <a:lstStyle/>
          <a:p>
            <a:r>
              <a:rPr lang="en-US" sz="2800" u="sng" dirty="0">
                <a:solidFill>
                  <a:schemeClr val="accent2">
                    <a:lumMod val="50000"/>
                  </a:schemeClr>
                </a:solidFill>
                <a:latin typeface="Arial Black" panose="020B0A04020102020204" pitchFamily="34" charset="0"/>
              </a:rPr>
              <a:t>Importance of Professionalism</a:t>
            </a:r>
          </a:p>
          <a:p>
            <a:pPr marL="342900" indent="-342900" algn="just">
              <a:buFont typeface="Wingdings" panose="05000000000000000000" pitchFamily="2" charset="2"/>
              <a:buChar char="§"/>
            </a:pPr>
            <a:r>
              <a:rPr lang="en-US" sz="2200" b="1" dirty="0">
                <a:solidFill>
                  <a:schemeClr val="accent6">
                    <a:lumMod val="50000"/>
                  </a:schemeClr>
                </a:solidFill>
              </a:rPr>
              <a:t>Builds Trust: </a:t>
            </a:r>
            <a:r>
              <a:rPr lang="en-US" sz="2200" dirty="0"/>
              <a:t>Clients and society trust professionals who behave ethically.</a:t>
            </a:r>
          </a:p>
          <a:p>
            <a:pPr marL="342900" indent="-342900" algn="just">
              <a:buFont typeface="Wingdings" panose="05000000000000000000" pitchFamily="2" charset="2"/>
              <a:buChar char="§"/>
            </a:pPr>
            <a:r>
              <a:rPr lang="en-US" sz="2200" b="1" dirty="0">
                <a:solidFill>
                  <a:schemeClr val="accent6">
                    <a:lumMod val="50000"/>
                  </a:schemeClr>
                </a:solidFill>
              </a:rPr>
              <a:t>Maintains Reputation: </a:t>
            </a:r>
            <a:r>
              <a:rPr lang="en-US" sz="2200" dirty="0"/>
              <a:t>Professional behavior enhances the reputation of both the individual and the organization.</a:t>
            </a:r>
          </a:p>
          <a:p>
            <a:pPr marL="342900" indent="-342900" algn="just">
              <a:buFont typeface="Wingdings" panose="05000000000000000000" pitchFamily="2" charset="2"/>
              <a:buChar char="§"/>
            </a:pPr>
            <a:r>
              <a:rPr lang="en-US" sz="2200" b="1" dirty="0">
                <a:solidFill>
                  <a:schemeClr val="accent6">
                    <a:lumMod val="50000"/>
                  </a:schemeClr>
                </a:solidFill>
              </a:rPr>
              <a:t>Ensures Quality Work: </a:t>
            </a:r>
            <a:r>
              <a:rPr lang="en-US" sz="2200" dirty="0"/>
              <a:t>Professionalism leads to careful and responsible decision-making.</a:t>
            </a:r>
          </a:p>
          <a:p>
            <a:pPr marL="342900" indent="-342900" algn="just">
              <a:buFont typeface="Wingdings" panose="05000000000000000000" pitchFamily="2" charset="2"/>
              <a:buChar char="§"/>
            </a:pPr>
            <a:r>
              <a:rPr lang="en-US" sz="2200" b="1" dirty="0">
                <a:solidFill>
                  <a:schemeClr val="accent6">
                    <a:lumMod val="50000"/>
                  </a:schemeClr>
                </a:solidFill>
              </a:rPr>
              <a:t>Protects Public Safety: </a:t>
            </a:r>
            <a:r>
              <a:rPr lang="en-US" sz="2200" dirty="0"/>
              <a:t>In engineering professions, professionalism prevents accidents and disasters.</a:t>
            </a:r>
          </a:p>
          <a:p>
            <a:endParaRPr lang="en-US" dirty="0"/>
          </a:p>
          <a:p>
            <a:endParaRPr lang="en-US" sz="2400" u="sng" dirty="0">
              <a:solidFill>
                <a:schemeClr val="accent2">
                  <a:lumMod val="50000"/>
                </a:schemeClr>
              </a:solidFill>
              <a:latin typeface="Arial Black" panose="020B0A04020102020204" pitchFamily="34" charset="0"/>
            </a:endParaRPr>
          </a:p>
          <a:p>
            <a:endParaRPr lang="en-US" sz="2400" u="sng" dirty="0">
              <a:solidFill>
                <a:schemeClr val="accent2">
                  <a:lumMod val="50000"/>
                </a:schemeClr>
              </a:solidFill>
              <a:latin typeface="Arial Black" panose="020B0A04020102020204" pitchFamily="34" charset="0"/>
            </a:endParaRPr>
          </a:p>
          <a:p>
            <a:endParaRPr lang="en-US" sz="2400" u="sng" dirty="0">
              <a:solidFill>
                <a:schemeClr val="accent2">
                  <a:lumMod val="50000"/>
                </a:schemeClr>
              </a:solidFill>
              <a:latin typeface="Arial Black" panose="020B0A04020102020204" pitchFamily="34" charset="0"/>
            </a:endParaRPr>
          </a:p>
          <a:p>
            <a:r>
              <a:rPr lang="en-US" sz="2400" u="sng" dirty="0">
                <a:solidFill>
                  <a:schemeClr val="accent2">
                    <a:lumMod val="50000"/>
                  </a:schemeClr>
                </a:solidFill>
                <a:latin typeface="Arial Black" panose="020B0A04020102020204" pitchFamily="34" charset="0"/>
              </a:rPr>
              <a:t>Professionalism in Engineering</a:t>
            </a:r>
          </a:p>
          <a:p>
            <a:r>
              <a:rPr lang="en-US" sz="2400" b="1" u="sng" dirty="0"/>
              <a:t>Engineering professionalism includes:</a:t>
            </a:r>
          </a:p>
          <a:p>
            <a:pPr marL="342900" indent="-342900">
              <a:buFont typeface="Courier New" panose="02070309020205020404" pitchFamily="49" charset="0"/>
              <a:buChar char="o"/>
            </a:pPr>
            <a:r>
              <a:rPr lang="en-US" sz="2000" b="1" dirty="0">
                <a:solidFill>
                  <a:schemeClr val="accent6">
                    <a:lumMod val="50000"/>
                  </a:schemeClr>
                </a:solidFill>
              </a:rPr>
              <a:t>Following safety standards</a:t>
            </a:r>
          </a:p>
          <a:p>
            <a:pPr marL="342900" indent="-342900">
              <a:buFont typeface="Courier New" panose="02070309020205020404" pitchFamily="49" charset="0"/>
              <a:buChar char="o"/>
            </a:pPr>
            <a:r>
              <a:rPr lang="en-US" sz="2000" b="1" dirty="0">
                <a:solidFill>
                  <a:schemeClr val="accent6">
                    <a:lumMod val="50000"/>
                  </a:schemeClr>
                </a:solidFill>
              </a:rPr>
              <a:t>Ensuring quality design</a:t>
            </a:r>
          </a:p>
          <a:p>
            <a:pPr marL="342900" indent="-342900">
              <a:buFont typeface="Courier New" panose="02070309020205020404" pitchFamily="49" charset="0"/>
              <a:buChar char="o"/>
            </a:pPr>
            <a:r>
              <a:rPr lang="en-US" sz="2000" b="1" dirty="0">
                <a:solidFill>
                  <a:schemeClr val="accent6">
                    <a:lumMod val="50000"/>
                  </a:schemeClr>
                </a:solidFill>
              </a:rPr>
              <a:t>Protecting the environment</a:t>
            </a:r>
          </a:p>
          <a:p>
            <a:pPr marL="342900" indent="-342900">
              <a:buFont typeface="Courier New" panose="02070309020205020404" pitchFamily="49" charset="0"/>
              <a:buChar char="o"/>
            </a:pPr>
            <a:r>
              <a:rPr lang="en-US" sz="2000" b="1" dirty="0">
                <a:solidFill>
                  <a:schemeClr val="accent6">
                    <a:lumMod val="50000"/>
                  </a:schemeClr>
                </a:solidFill>
              </a:rPr>
              <a:t>Maintaining confidentiality</a:t>
            </a:r>
          </a:p>
          <a:p>
            <a:pPr marL="342900" indent="-342900">
              <a:buFont typeface="Courier New" panose="02070309020205020404" pitchFamily="49" charset="0"/>
              <a:buChar char="o"/>
            </a:pPr>
            <a:r>
              <a:rPr lang="en-US" sz="2000" b="1" dirty="0">
                <a:solidFill>
                  <a:schemeClr val="accent6">
                    <a:lumMod val="50000"/>
                  </a:schemeClr>
                </a:solidFill>
              </a:rPr>
              <a:t>Avoiding corruption or unethical practices</a:t>
            </a:r>
          </a:p>
          <a:p>
            <a:endParaRPr lang="en-US" dirty="0"/>
          </a:p>
        </p:txBody>
      </p:sp>
      <p:graphicFrame>
        <p:nvGraphicFramePr>
          <p:cNvPr id="4" name="Table 3">
            <a:extLst>
              <a:ext uri="{FF2B5EF4-FFF2-40B4-BE49-F238E27FC236}">
                <a16:creationId xmlns:a16="http://schemas.microsoft.com/office/drawing/2014/main" id="{A9A92349-99E1-CC37-A46B-972FCF556D2B}"/>
              </a:ext>
            </a:extLst>
          </p:cNvPr>
          <p:cNvGraphicFramePr>
            <a:graphicFrameLocks noGrp="1"/>
          </p:cNvGraphicFramePr>
          <p:nvPr>
            <p:extLst>
              <p:ext uri="{D42A27DB-BD31-4B8C-83A1-F6EECF244321}">
                <p14:modId xmlns:p14="http://schemas.microsoft.com/office/powerpoint/2010/main" val="921655401"/>
              </p:ext>
            </p:extLst>
          </p:nvPr>
        </p:nvGraphicFramePr>
        <p:xfrm>
          <a:off x="5857875" y="3163252"/>
          <a:ext cx="6334126" cy="3694749"/>
        </p:xfrm>
        <a:graphic>
          <a:graphicData uri="http://schemas.openxmlformats.org/drawingml/2006/table">
            <a:tbl>
              <a:tblPr/>
              <a:tblGrid>
                <a:gridCol w="3167063">
                  <a:extLst>
                    <a:ext uri="{9D8B030D-6E8A-4147-A177-3AD203B41FA5}">
                      <a16:colId xmlns:a16="http://schemas.microsoft.com/office/drawing/2014/main" val="3101842499"/>
                    </a:ext>
                  </a:extLst>
                </a:gridCol>
                <a:gridCol w="3167063">
                  <a:extLst>
                    <a:ext uri="{9D8B030D-6E8A-4147-A177-3AD203B41FA5}">
                      <a16:colId xmlns:a16="http://schemas.microsoft.com/office/drawing/2014/main" val="4278336148"/>
                    </a:ext>
                  </a:extLst>
                </a:gridCol>
              </a:tblGrid>
              <a:tr h="817391">
                <a:tc>
                  <a:txBody>
                    <a:bodyPr/>
                    <a:lstStyle/>
                    <a:p>
                      <a:pPr algn="ctr">
                        <a:buNone/>
                      </a:pPr>
                      <a:r>
                        <a:rPr lang="en-US" sz="2000" dirty="0">
                          <a:solidFill>
                            <a:schemeClr val="tx1"/>
                          </a:solidFill>
                          <a:latin typeface="Arial Black" panose="020B0A04020102020204" pitchFamily="34" charset="0"/>
                        </a:rPr>
                        <a:t>Professional Behavior</a:t>
                      </a:r>
                    </a:p>
                  </a:txBody>
                  <a:tcPr anchor="ctr">
                    <a:lnL>
                      <a:noFill/>
                    </a:lnL>
                    <a:lnR>
                      <a:noFill/>
                    </a:lnR>
                    <a:lnT>
                      <a:noFill/>
                    </a:lnT>
                    <a:lnB>
                      <a:noFill/>
                    </a:lnB>
                    <a:solidFill>
                      <a:schemeClr val="accent2">
                        <a:lumMod val="60000"/>
                        <a:lumOff val="40000"/>
                      </a:schemeClr>
                    </a:solidFill>
                  </a:tcPr>
                </a:tc>
                <a:tc>
                  <a:txBody>
                    <a:bodyPr/>
                    <a:lstStyle/>
                    <a:p>
                      <a:pPr algn="ctr">
                        <a:buNone/>
                      </a:pPr>
                      <a:r>
                        <a:rPr lang="en-US" sz="2000" dirty="0">
                          <a:solidFill>
                            <a:schemeClr val="tx1"/>
                          </a:solidFill>
                          <a:latin typeface="Arial Black" panose="020B0A04020102020204" pitchFamily="34" charset="0"/>
                        </a:rPr>
                        <a:t>Unprofessional Behavior</a:t>
                      </a:r>
                    </a:p>
                  </a:txBody>
                  <a:tcPr anchor="ctr">
                    <a:lnL>
                      <a:noFill/>
                    </a:lnL>
                    <a:lnR>
                      <a:noFill/>
                    </a:lnR>
                    <a:lnT>
                      <a:noFill/>
                    </a:lnT>
                    <a:lnB>
                      <a:noFill/>
                    </a:lnB>
                    <a:solidFill>
                      <a:schemeClr val="accent2">
                        <a:lumMod val="60000"/>
                        <a:lumOff val="40000"/>
                      </a:schemeClr>
                    </a:solidFill>
                  </a:tcPr>
                </a:tc>
                <a:extLst>
                  <a:ext uri="{0D108BD9-81ED-4DB2-BD59-A6C34878D82A}">
                    <a16:rowId xmlns:a16="http://schemas.microsoft.com/office/drawing/2014/main" val="227987148"/>
                  </a:ext>
                </a:extLst>
              </a:tr>
              <a:tr h="467080">
                <a:tc>
                  <a:txBody>
                    <a:bodyPr/>
                    <a:lstStyle/>
                    <a:p>
                      <a:pPr marL="342900" indent="-342900" algn="l">
                        <a:buFont typeface="Courier New" panose="02070309020205020404" pitchFamily="49" charset="0"/>
                        <a:buChar char="o"/>
                      </a:pPr>
                      <a:r>
                        <a:rPr lang="en-US" sz="2000" b="1"/>
                        <a:t>Honest work</a:t>
                      </a:r>
                    </a:p>
                  </a:txBody>
                  <a:tcPr anchor="ctr">
                    <a:lnL>
                      <a:noFill/>
                    </a:lnL>
                    <a:lnR>
                      <a:noFill/>
                    </a:lnR>
                    <a:lnT>
                      <a:noFill/>
                    </a:lnT>
                    <a:lnB>
                      <a:noFill/>
                    </a:lnB>
                    <a:solidFill>
                      <a:schemeClr val="bg1">
                        <a:lumMod val="95000"/>
                      </a:schemeClr>
                    </a:solidFill>
                  </a:tcPr>
                </a:tc>
                <a:tc>
                  <a:txBody>
                    <a:bodyPr/>
                    <a:lstStyle/>
                    <a:p>
                      <a:pPr marL="342900" indent="-342900" algn="l">
                        <a:buFont typeface="Courier New" panose="02070309020205020404" pitchFamily="49" charset="0"/>
                        <a:buChar char="o"/>
                      </a:pPr>
                      <a:r>
                        <a:rPr lang="en-US" sz="2000" b="1" dirty="0"/>
                        <a:t>Cheating or plagiarism</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396593178"/>
                  </a:ext>
                </a:extLst>
              </a:tr>
              <a:tr h="467080">
                <a:tc>
                  <a:txBody>
                    <a:bodyPr/>
                    <a:lstStyle/>
                    <a:p>
                      <a:pPr marL="342900" indent="-342900" algn="l">
                        <a:buFont typeface="Courier New" panose="02070309020205020404" pitchFamily="49" charset="0"/>
                        <a:buChar char="o"/>
                      </a:pPr>
                      <a:r>
                        <a:rPr lang="en-US" sz="2000" b="1"/>
                        <a:t>Meeting deadlines</a:t>
                      </a:r>
                    </a:p>
                  </a:txBody>
                  <a:tcPr anchor="ctr">
                    <a:lnL>
                      <a:noFill/>
                    </a:lnL>
                    <a:lnR>
                      <a:noFill/>
                    </a:lnR>
                    <a:lnT>
                      <a:noFill/>
                    </a:lnT>
                    <a:lnB>
                      <a:noFill/>
                    </a:lnB>
                    <a:solidFill>
                      <a:schemeClr val="bg1">
                        <a:lumMod val="95000"/>
                      </a:schemeClr>
                    </a:solidFill>
                  </a:tcPr>
                </a:tc>
                <a:tc>
                  <a:txBody>
                    <a:bodyPr/>
                    <a:lstStyle/>
                    <a:p>
                      <a:pPr marL="342900" indent="-342900" algn="l">
                        <a:buFont typeface="Courier New" panose="02070309020205020404" pitchFamily="49" charset="0"/>
                        <a:buChar char="o"/>
                      </a:pPr>
                      <a:r>
                        <a:rPr lang="en-US" sz="2000" b="1" dirty="0"/>
                        <a:t>Careless delays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156443814"/>
                  </a:ext>
                </a:extLst>
              </a:tr>
              <a:tr h="738059">
                <a:tc>
                  <a:txBody>
                    <a:bodyPr/>
                    <a:lstStyle/>
                    <a:p>
                      <a:pPr marL="342900" indent="-342900" algn="l">
                        <a:buFont typeface="Courier New" panose="02070309020205020404" pitchFamily="49" charset="0"/>
                        <a:buChar char="o"/>
                      </a:pPr>
                      <a:r>
                        <a:rPr lang="en-US" sz="2000" b="1"/>
                        <a:t>Respectful communication</a:t>
                      </a:r>
                    </a:p>
                  </a:txBody>
                  <a:tcPr anchor="ctr">
                    <a:lnL>
                      <a:noFill/>
                    </a:lnL>
                    <a:lnR>
                      <a:noFill/>
                    </a:lnR>
                    <a:lnT>
                      <a:noFill/>
                    </a:lnT>
                    <a:lnB>
                      <a:noFill/>
                    </a:lnB>
                    <a:solidFill>
                      <a:schemeClr val="bg1">
                        <a:lumMod val="95000"/>
                      </a:schemeClr>
                    </a:solidFill>
                  </a:tcPr>
                </a:tc>
                <a:tc>
                  <a:txBody>
                    <a:bodyPr/>
                    <a:lstStyle/>
                    <a:p>
                      <a:pPr marL="342900" indent="-342900" algn="l">
                        <a:buFont typeface="Courier New" panose="02070309020205020404" pitchFamily="49" charset="0"/>
                        <a:buChar char="o"/>
                      </a:pPr>
                      <a:r>
                        <a:rPr lang="en-US" sz="2000" b="1" dirty="0"/>
                        <a:t>Arrogant behavior</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315081634"/>
                  </a:ext>
                </a:extLst>
              </a:tr>
              <a:tr h="467080">
                <a:tc>
                  <a:txBody>
                    <a:bodyPr/>
                    <a:lstStyle/>
                    <a:p>
                      <a:pPr marL="342900" indent="-342900" algn="l">
                        <a:buFont typeface="Courier New" panose="02070309020205020404" pitchFamily="49" charset="0"/>
                        <a:buChar char="o"/>
                      </a:pPr>
                      <a:r>
                        <a:rPr lang="en-US" sz="2000" b="1"/>
                        <a:t>Accepting responsibility</a:t>
                      </a:r>
                    </a:p>
                  </a:txBody>
                  <a:tcPr anchor="ctr">
                    <a:lnL>
                      <a:noFill/>
                    </a:lnL>
                    <a:lnR>
                      <a:noFill/>
                    </a:lnR>
                    <a:lnT>
                      <a:noFill/>
                    </a:lnT>
                    <a:lnB>
                      <a:noFill/>
                    </a:lnB>
                    <a:solidFill>
                      <a:schemeClr val="bg1">
                        <a:lumMod val="95000"/>
                      </a:schemeClr>
                    </a:solidFill>
                  </a:tcPr>
                </a:tc>
                <a:tc>
                  <a:txBody>
                    <a:bodyPr/>
                    <a:lstStyle/>
                    <a:p>
                      <a:pPr marL="342900" indent="-342900" algn="l">
                        <a:buFont typeface="Courier New" panose="02070309020205020404" pitchFamily="49" charset="0"/>
                        <a:buChar char="o"/>
                      </a:pPr>
                      <a:r>
                        <a:rPr lang="en-US" sz="2000" b="1"/>
                        <a:t>Blaming others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3630668570"/>
                  </a:ext>
                </a:extLst>
              </a:tr>
              <a:tr h="738059">
                <a:tc>
                  <a:txBody>
                    <a:bodyPr/>
                    <a:lstStyle/>
                    <a:p>
                      <a:pPr marL="342900" indent="-342900" algn="l">
                        <a:buFont typeface="Courier New" panose="02070309020205020404" pitchFamily="49" charset="0"/>
                        <a:buChar char="o"/>
                      </a:pPr>
                      <a:r>
                        <a:rPr lang="en-US" sz="2000" b="1" dirty="0"/>
                        <a:t>Following ethical standards</a:t>
                      </a:r>
                    </a:p>
                  </a:txBody>
                  <a:tcPr anchor="ctr">
                    <a:lnL>
                      <a:noFill/>
                    </a:lnL>
                    <a:lnR>
                      <a:noFill/>
                    </a:lnR>
                    <a:lnT>
                      <a:noFill/>
                    </a:lnT>
                    <a:lnB>
                      <a:noFill/>
                    </a:lnB>
                    <a:solidFill>
                      <a:schemeClr val="bg1">
                        <a:lumMod val="95000"/>
                      </a:schemeClr>
                    </a:solidFill>
                  </a:tcPr>
                </a:tc>
                <a:tc>
                  <a:txBody>
                    <a:bodyPr/>
                    <a:lstStyle/>
                    <a:p>
                      <a:pPr marL="342900" indent="-342900" algn="l">
                        <a:buFont typeface="Courier New" panose="02070309020205020404" pitchFamily="49" charset="0"/>
                        <a:buChar char="o"/>
                      </a:pPr>
                      <a:r>
                        <a:rPr lang="en-US" sz="2000" b="1" dirty="0"/>
                        <a:t>Ignoring safety rules</a:t>
                      </a:r>
                    </a:p>
                  </a:txBody>
                  <a:tcPr anchor="ctr">
                    <a:lnL>
                      <a:noFill/>
                    </a:lnL>
                    <a:lnR>
                      <a:noFill/>
                    </a:lnR>
                    <a:lnT>
                      <a:noFill/>
                    </a:lnT>
                    <a:lnB>
                      <a:noFill/>
                    </a:lnB>
                    <a:solidFill>
                      <a:schemeClr val="bg1">
                        <a:lumMod val="95000"/>
                      </a:schemeClr>
                    </a:solidFill>
                  </a:tcPr>
                </a:tc>
                <a:extLst>
                  <a:ext uri="{0D108BD9-81ED-4DB2-BD59-A6C34878D82A}">
                    <a16:rowId xmlns:a16="http://schemas.microsoft.com/office/drawing/2014/main" val="2817279501"/>
                  </a:ext>
                </a:extLst>
              </a:tr>
            </a:tbl>
          </a:graphicData>
        </a:graphic>
      </p:graphicFrame>
    </p:spTree>
    <p:extLst>
      <p:ext uri="{BB962C8B-B14F-4D97-AF65-F5344CB8AC3E}">
        <p14:creationId xmlns:p14="http://schemas.microsoft.com/office/powerpoint/2010/main" val="3475766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D1F42-878D-E161-9496-87DF32350EAA}"/>
              </a:ext>
            </a:extLst>
          </p:cNvPr>
          <p:cNvSpPr>
            <a:spLocks noGrp="1"/>
          </p:cNvSpPr>
          <p:nvPr>
            <p:ph type="title"/>
          </p:nvPr>
        </p:nvSpPr>
        <p:spPr>
          <a:xfrm>
            <a:off x="838200" y="365125"/>
            <a:ext cx="10515600" cy="563563"/>
          </a:xfrm>
        </p:spPr>
        <p:txBody>
          <a:bodyPr>
            <a:normAutofit fontScale="90000"/>
          </a:bodyPr>
          <a:lstStyle/>
          <a:p>
            <a:pPr algn="ctr"/>
            <a:r>
              <a:rPr lang="en-US" dirty="0">
                <a:solidFill>
                  <a:srgbClr val="FF0000"/>
                </a:solidFill>
                <a:latin typeface="Arial Black" panose="020B0A04020102020204" pitchFamily="34" charset="0"/>
              </a:rPr>
              <a:t>PROFESSIONAL</a:t>
            </a:r>
            <a:r>
              <a:rPr lang="en-US" dirty="0">
                <a:solidFill>
                  <a:srgbClr val="C00000"/>
                </a:solidFill>
                <a:latin typeface="Arial Black" panose="020B0A04020102020204" pitchFamily="34" charset="0"/>
              </a:rPr>
              <a:t> </a:t>
            </a:r>
            <a:r>
              <a:rPr lang="en-US" dirty="0">
                <a:solidFill>
                  <a:srgbClr val="FF0000"/>
                </a:solidFill>
                <a:latin typeface="Arial Black" panose="020B0A04020102020204" pitchFamily="34" charset="0"/>
              </a:rPr>
              <a:t>ACCOUNTABILITY</a:t>
            </a:r>
          </a:p>
        </p:txBody>
      </p:sp>
      <p:sp>
        <p:nvSpPr>
          <p:cNvPr id="3" name="Content Placeholder 2">
            <a:extLst>
              <a:ext uri="{FF2B5EF4-FFF2-40B4-BE49-F238E27FC236}">
                <a16:creationId xmlns:a16="http://schemas.microsoft.com/office/drawing/2014/main" id="{899E5FFE-C536-F169-3CCF-E667A11C4755}"/>
              </a:ext>
            </a:extLst>
          </p:cNvPr>
          <p:cNvSpPr>
            <a:spLocks noGrp="1"/>
          </p:cNvSpPr>
          <p:nvPr>
            <p:ph idx="1"/>
          </p:nvPr>
        </p:nvSpPr>
        <p:spPr>
          <a:xfrm>
            <a:off x="838200" y="1285876"/>
            <a:ext cx="10515600" cy="5207000"/>
          </a:xfrm>
        </p:spPr>
        <p:txBody>
          <a:bodyPr>
            <a:normAutofit lnSpcReduction="10000"/>
          </a:bodyPr>
          <a:lstStyle/>
          <a:p>
            <a:pPr marL="0" indent="0" algn="just">
              <a:lnSpc>
                <a:spcPct val="150000"/>
              </a:lnSpc>
              <a:buNone/>
            </a:pPr>
            <a:r>
              <a:rPr lang="en-US" sz="2400" b="1" dirty="0"/>
              <a:t>Professional accountability refers to the obligation of professionals to take responsibility for their decisions, actions, and the results of their work. It means that a professional must be answerable for the quality, safety, and consequences of the work performed.</a:t>
            </a:r>
          </a:p>
          <a:p>
            <a:pPr marL="0" indent="0" algn="just">
              <a:lnSpc>
                <a:spcPct val="150000"/>
              </a:lnSpc>
              <a:buNone/>
            </a:pPr>
            <a:r>
              <a:rPr lang="en-US" sz="2400" b="1" dirty="0"/>
              <a:t>Professional accountability is the duty of a professional to accept responsibility for their actions, decisions, and outcomes in their professional work.</a:t>
            </a:r>
          </a:p>
          <a:p>
            <a:pPr marL="0" indent="0" algn="ctr">
              <a:lnSpc>
                <a:spcPct val="150000"/>
              </a:lnSpc>
              <a:buNone/>
            </a:pPr>
            <a:r>
              <a:rPr lang="en-US" sz="2400" b="1" dirty="0">
                <a:solidFill>
                  <a:srgbClr val="002060"/>
                </a:solidFill>
              </a:rPr>
              <a:t>Accountability is known as Responsibility + Answerability</a:t>
            </a:r>
          </a:p>
          <a:p>
            <a:pPr marL="0" indent="0" algn="just">
              <a:lnSpc>
                <a:spcPct val="150000"/>
              </a:lnSpc>
              <a:buNone/>
            </a:pPr>
            <a:r>
              <a:rPr lang="en-US" sz="2400" b="1" dirty="0"/>
              <a:t>A professional must not only perform the task but also justify and stand by the decisions taken.</a:t>
            </a:r>
          </a:p>
        </p:txBody>
      </p:sp>
    </p:spTree>
    <p:extLst>
      <p:ext uri="{BB962C8B-B14F-4D97-AF65-F5344CB8AC3E}">
        <p14:creationId xmlns:p14="http://schemas.microsoft.com/office/powerpoint/2010/main" val="2962826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71F444-304C-9D87-D57A-64BEE1D8F4A0}"/>
              </a:ext>
            </a:extLst>
          </p:cNvPr>
          <p:cNvSpPr txBox="1"/>
          <p:nvPr/>
        </p:nvSpPr>
        <p:spPr>
          <a:xfrm>
            <a:off x="557213" y="243512"/>
            <a:ext cx="11229975" cy="6447919"/>
          </a:xfrm>
          <a:prstGeom prst="rect">
            <a:avLst/>
          </a:prstGeom>
          <a:noFill/>
        </p:spPr>
        <p:txBody>
          <a:bodyPr wrap="square" rtlCol="0">
            <a:spAutoFit/>
          </a:bodyPr>
          <a:lstStyle/>
          <a:p>
            <a:r>
              <a:rPr lang="en-US" sz="2400" u="sng" dirty="0">
                <a:solidFill>
                  <a:schemeClr val="accent2">
                    <a:lumMod val="50000"/>
                  </a:schemeClr>
                </a:solidFill>
                <a:latin typeface="Arial Black" panose="020B0A04020102020204" pitchFamily="34" charset="0"/>
              </a:rPr>
              <a:t>Importance of Professional Accountability</a:t>
            </a:r>
          </a:p>
          <a:p>
            <a:pPr algn="just"/>
            <a:r>
              <a:rPr lang="en-US" sz="2200" b="1" dirty="0">
                <a:solidFill>
                  <a:schemeClr val="accent5">
                    <a:lumMod val="50000"/>
                  </a:schemeClr>
                </a:solidFill>
              </a:rPr>
              <a:t>accountability is necessary because professional work often affects people, organizations, and society.</a:t>
            </a:r>
          </a:p>
          <a:p>
            <a:pPr algn="just"/>
            <a:endParaRPr lang="en-US" sz="2200" b="1" dirty="0">
              <a:solidFill>
                <a:schemeClr val="accent5">
                  <a:lumMod val="50000"/>
                </a:schemeClr>
              </a:solidFill>
            </a:endParaRPr>
          </a:p>
          <a:p>
            <a:pPr marL="285750" indent="-285750">
              <a:buFont typeface="Wingdings" panose="05000000000000000000" pitchFamily="2" charset="2"/>
              <a:buChar char="v"/>
            </a:pPr>
            <a:r>
              <a:rPr lang="en-US" sz="2100" b="1" dirty="0">
                <a:solidFill>
                  <a:schemeClr val="accent6">
                    <a:lumMod val="50000"/>
                  </a:schemeClr>
                </a:solidFill>
              </a:rPr>
              <a:t>Ensures Public Safety: </a:t>
            </a:r>
            <a:r>
              <a:rPr lang="en-US" sz="2100" dirty="0"/>
              <a:t>Professionals must ensure their work does not harm people.</a:t>
            </a:r>
          </a:p>
          <a:p>
            <a:pPr marL="285750" indent="-285750">
              <a:buFont typeface="Wingdings" panose="05000000000000000000" pitchFamily="2" charset="2"/>
              <a:buChar char="v"/>
            </a:pPr>
            <a:r>
              <a:rPr lang="en-US" sz="2100" b="1" dirty="0">
                <a:solidFill>
                  <a:schemeClr val="accent6">
                    <a:lumMod val="50000"/>
                  </a:schemeClr>
                </a:solidFill>
              </a:rPr>
              <a:t>Maintains Trust: </a:t>
            </a:r>
            <a:r>
              <a:rPr lang="en-US" sz="2100" dirty="0"/>
              <a:t>Society trusts professionals because they are trained experts.</a:t>
            </a:r>
          </a:p>
          <a:p>
            <a:pPr marL="285750" indent="-285750">
              <a:buFont typeface="Wingdings" panose="05000000000000000000" pitchFamily="2" charset="2"/>
              <a:buChar char="v"/>
            </a:pPr>
            <a:r>
              <a:rPr lang="en-US" sz="2100" b="1" dirty="0">
                <a:solidFill>
                  <a:schemeClr val="accent6">
                    <a:lumMod val="50000"/>
                  </a:schemeClr>
                </a:solidFill>
              </a:rPr>
              <a:t>Improves Work Quality: </a:t>
            </a:r>
            <a:r>
              <a:rPr lang="en-US" sz="2100" dirty="0"/>
              <a:t>When professionals know they are accountable, they work more carefully.</a:t>
            </a:r>
          </a:p>
          <a:p>
            <a:pPr marL="285750" indent="-285750">
              <a:buFont typeface="Wingdings" panose="05000000000000000000" pitchFamily="2" charset="2"/>
              <a:buChar char="v"/>
            </a:pPr>
            <a:r>
              <a:rPr lang="en-US" sz="2100" b="1" dirty="0">
                <a:solidFill>
                  <a:schemeClr val="accent6">
                    <a:lumMod val="50000"/>
                  </a:schemeClr>
                </a:solidFill>
              </a:rPr>
              <a:t>Prevents Negligence: </a:t>
            </a:r>
            <a:r>
              <a:rPr lang="en-US" sz="2100" dirty="0"/>
              <a:t>Accountability discourages careless behavior and unethical decisions.</a:t>
            </a:r>
          </a:p>
          <a:p>
            <a:endParaRPr lang="en-US" sz="2400" dirty="0">
              <a:solidFill>
                <a:schemeClr val="accent2">
                  <a:lumMod val="50000"/>
                </a:schemeClr>
              </a:solidFill>
              <a:latin typeface="Arial Black" panose="020B0A04020102020204" pitchFamily="34" charset="0"/>
            </a:endParaRPr>
          </a:p>
          <a:p>
            <a:r>
              <a:rPr lang="en-US" sz="2400" u="sng" dirty="0">
                <a:solidFill>
                  <a:schemeClr val="accent2">
                    <a:lumMod val="50000"/>
                  </a:schemeClr>
                </a:solidFill>
                <a:latin typeface="Arial Black" panose="020B0A04020102020204" pitchFamily="34" charset="0"/>
              </a:rPr>
              <a:t>Types of Professional Accountability</a:t>
            </a:r>
          </a:p>
          <a:p>
            <a:pPr algn="just"/>
            <a:r>
              <a:rPr lang="en-US" sz="2200" b="1" dirty="0">
                <a:solidFill>
                  <a:schemeClr val="accent5">
                    <a:lumMod val="50000"/>
                  </a:schemeClr>
                </a:solidFill>
              </a:rPr>
              <a:t>Professionals are accountable to different stakeholders.</a:t>
            </a:r>
          </a:p>
          <a:p>
            <a:pPr algn="just"/>
            <a:endParaRPr lang="en-US" sz="2200" b="1" dirty="0">
              <a:solidFill>
                <a:schemeClr val="accent5">
                  <a:lumMod val="50000"/>
                </a:schemeClr>
              </a:solidFill>
            </a:endParaRPr>
          </a:p>
          <a:p>
            <a:pPr marL="342900" indent="-342900" algn="just">
              <a:buFont typeface="Wingdings" panose="05000000000000000000" pitchFamily="2" charset="2"/>
              <a:buChar char="v"/>
            </a:pPr>
            <a:r>
              <a:rPr lang="en-US" sz="2100" b="1" dirty="0">
                <a:solidFill>
                  <a:schemeClr val="accent6">
                    <a:lumMod val="50000"/>
                  </a:schemeClr>
                </a:solidFill>
              </a:rPr>
              <a:t>Accountability to Society: </a:t>
            </a:r>
            <a:r>
              <a:rPr lang="en-US" sz="2100" dirty="0"/>
              <a:t>Professionals must protect public safety and welfare.</a:t>
            </a:r>
          </a:p>
          <a:p>
            <a:pPr marL="342900" indent="-342900" algn="just">
              <a:buFont typeface="Wingdings" panose="05000000000000000000" pitchFamily="2" charset="2"/>
              <a:buChar char="v"/>
            </a:pPr>
            <a:r>
              <a:rPr lang="en-US" sz="2100" b="1" dirty="0">
                <a:solidFill>
                  <a:schemeClr val="accent6">
                    <a:lumMod val="50000"/>
                  </a:schemeClr>
                </a:solidFill>
              </a:rPr>
              <a:t>Accountability to the Organization: </a:t>
            </a:r>
            <a:r>
              <a:rPr lang="en-US" sz="2100" dirty="0"/>
              <a:t>Professionals must perform their duties honestly and follow organizational rules.</a:t>
            </a:r>
          </a:p>
          <a:p>
            <a:pPr marL="342900" indent="-342900" algn="just">
              <a:buFont typeface="Wingdings" panose="05000000000000000000" pitchFamily="2" charset="2"/>
              <a:buChar char="v"/>
            </a:pPr>
            <a:r>
              <a:rPr lang="en-US" sz="2100" b="1" dirty="0">
                <a:solidFill>
                  <a:schemeClr val="accent6">
                    <a:lumMod val="50000"/>
                  </a:schemeClr>
                </a:solidFill>
              </a:rPr>
              <a:t>Accountability to Clients or Customers: </a:t>
            </a:r>
            <a:r>
              <a:rPr lang="en-US" sz="2100" dirty="0"/>
              <a:t>Professionals must provide quality service and truthful information.</a:t>
            </a:r>
          </a:p>
          <a:p>
            <a:pPr marL="342900" indent="-342900" algn="just">
              <a:buFont typeface="Wingdings" panose="05000000000000000000" pitchFamily="2" charset="2"/>
              <a:buChar char="v"/>
            </a:pPr>
            <a:r>
              <a:rPr lang="en-US" sz="2100" b="1" dirty="0">
                <a:solidFill>
                  <a:schemeClr val="accent6">
                    <a:lumMod val="50000"/>
                  </a:schemeClr>
                </a:solidFill>
              </a:rPr>
              <a:t>Accountability to the Profession: </a:t>
            </a:r>
            <a:r>
              <a:rPr lang="en-US" sz="2100" dirty="0"/>
              <a:t>Professionals must maintain the dignity and standards of their profession.</a:t>
            </a:r>
          </a:p>
        </p:txBody>
      </p:sp>
    </p:spTree>
    <p:extLst>
      <p:ext uri="{BB962C8B-B14F-4D97-AF65-F5344CB8AC3E}">
        <p14:creationId xmlns:p14="http://schemas.microsoft.com/office/powerpoint/2010/main" val="2595489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FAA4D-8D87-573A-B854-27F6614A2451}"/>
              </a:ext>
            </a:extLst>
          </p:cNvPr>
          <p:cNvSpPr>
            <a:spLocks noGrp="1"/>
          </p:cNvSpPr>
          <p:nvPr>
            <p:ph type="title"/>
          </p:nvPr>
        </p:nvSpPr>
        <p:spPr>
          <a:xfrm>
            <a:off x="995362" y="314325"/>
            <a:ext cx="10515600" cy="649288"/>
          </a:xfrm>
        </p:spPr>
        <p:txBody>
          <a:bodyPr>
            <a:normAutofit fontScale="90000"/>
          </a:bodyPr>
          <a:lstStyle/>
          <a:p>
            <a:pPr algn="ctr"/>
            <a:r>
              <a:rPr lang="en-US" dirty="0">
                <a:solidFill>
                  <a:srgbClr val="FF0000"/>
                </a:solidFill>
                <a:latin typeface="Arial Black" panose="020B0A04020102020204" pitchFamily="34" charset="0"/>
              </a:rPr>
              <a:t>PROFESSIONAL</a:t>
            </a:r>
            <a:r>
              <a:rPr lang="en-US" dirty="0">
                <a:solidFill>
                  <a:srgbClr val="C00000"/>
                </a:solidFill>
                <a:latin typeface="Arial Black" panose="020B0A04020102020204" pitchFamily="34" charset="0"/>
              </a:rPr>
              <a:t> </a:t>
            </a:r>
            <a:r>
              <a:rPr lang="en-US" dirty="0">
                <a:solidFill>
                  <a:srgbClr val="FF0000"/>
                </a:solidFill>
                <a:latin typeface="Arial Black" panose="020B0A04020102020204" pitchFamily="34" charset="0"/>
              </a:rPr>
              <a:t>RISKS</a:t>
            </a:r>
          </a:p>
        </p:txBody>
      </p:sp>
      <p:sp>
        <p:nvSpPr>
          <p:cNvPr id="3" name="Content Placeholder 2">
            <a:extLst>
              <a:ext uri="{FF2B5EF4-FFF2-40B4-BE49-F238E27FC236}">
                <a16:creationId xmlns:a16="http://schemas.microsoft.com/office/drawing/2014/main" id="{4F4326D2-296B-1112-E67C-DD6B9A77C0E0}"/>
              </a:ext>
            </a:extLst>
          </p:cNvPr>
          <p:cNvSpPr>
            <a:spLocks noGrp="1"/>
          </p:cNvSpPr>
          <p:nvPr>
            <p:ph idx="1"/>
          </p:nvPr>
        </p:nvSpPr>
        <p:spPr>
          <a:xfrm>
            <a:off x="557213" y="1005681"/>
            <a:ext cx="10953749" cy="5537994"/>
          </a:xfrm>
        </p:spPr>
        <p:txBody>
          <a:bodyPr>
            <a:normAutofit fontScale="85000" lnSpcReduction="20000"/>
          </a:bodyPr>
          <a:lstStyle/>
          <a:p>
            <a:pPr algn="just">
              <a:buFont typeface="Wingdings" panose="05000000000000000000" pitchFamily="2" charset="2"/>
              <a:buChar char="§"/>
            </a:pPr>
            <a:endParaRPr lang="en-US" sz="2600" b="1" dirty="0"/>
          </a:p>
          <a:p>
            <a:pPr marL="0" indent="0" algn="just">
              <a:lnSpc>
                <a:spcPct val="110000"/>
              </a:lnSpc>
              <a:buNone/>
            </a:pPr>
            <a:r>
              <a:rPr lang="en-US" sz="2600" b="1" dirty="0"/>
              <a:t>Professional risks refer to the possibility of negative consequences or dangers that professionals may face while performing their duties and making decisions in their profession. These risks arise because professionals often deal with complex situations, technical decisions, and ethical responsibilities that can affect organizations, society, and human lives.</a:t>
            </a:r>
          </a:p>
          <a:p>
            <a:pPr marL="0" indent="0" algn="just">
              <a:lnSpc>
                <a:spcPct val="110000"/>
              </a:lnSpc>
              <a:buNone/>
            </a:pPr>
            <a:r>
              <a:rPr lang="en-US" sz="2600" b="1" dirty="0"/>
              <a:t>Professional risk is the possibility that a professional’s decisions, actions, or judgments may lead to harm, loss, failure, or legal consequences. It is known as chance of loss or harm while performing professional duties</a:t>
            </a:r>
            <a:r>
              <a:rPr lang="en-US" sz="2600" dirty="0"/>
              <a:t>.</a:t>
            </a:r>
          </a:p>
          <a:p>
            <a:pPr marL="0" indent="0">
              <a:buNone/>
            </a:pPr>
            <a:endParaRPr lang="en-US" b="1" u="sng" dirty="0">
              <a:solidFill>
                <a:schemeClr val="accent5">
                  <a:lumMod val="50000"/>
                </a:schemeClr>
              </a:solidFill>
              <a:latin typeface="Arial Black" panose="020B0A04020102020204" pitchFamily="34" charset="0"/>
            </a:endParaRPr>
          </a:p>
          <a:p>
            <a:pPr marL="0" indent="0">
              <a:buNone/>
            </a:pPr>
            <a:r>
              <a:rPr lang="en-US" b="1" u="sng" dirty="0">
                <a:solidFill>
                  <a:schemeClr val="accent5">
                    <a:lumMod val="50000"/>
                  </a:schemeClr>
                </a:solidFill>
                <a:latin typeface="Arial Black" panose="020B0A04020102020204" pitchFamily="34" charset="0"/>
              </a:rPr>
              <a:t>Professional Risks Occur because:</a:t>
            </a:r>
          </a:p>
          <a:p>
            <a:pPr marL="0" indent="0">
              <a:buNone/>
            </a:pPr>
            <a:endParaRPr lang="en-US" b="1" u="sng" dirty="0">
              <a:solidFill>
                <a:schemeClr val="accent5">
                  <a:lumMod val="50000"/>
                </a:schemeClr>
              </a:solidFill>
              <a:latin typeface="Arial Black" panose="020B0A04020102020204" pitchFamily="34" charset="0"/>
            </a:endParaRPr>
          </a:p>
          <a:p>
            <a:pPr lvl="0" eaLnBrk="0" fontAlgn="base" hangingPunct="0">
              <a:lnSpc>
                <a:spcPct val="100000"/>
              </a:lnSpc>
              <a:spcBef>
                <a:spcPts val="300"/>
              </a:spcBef>
              <a:spcAft>
                <a:spcPts val="300"/>
              </a:spcAft>
              <a:buFont typeface="Courier New" panose="02070309020205020404" pitchFamily="49" charset="0"/>
              <a:buChar char="o"/>
            </a:pPr>
            <a:r>
              <a:rPr lang="en-US" altLang="en-US" sz="2600" dirty="0"/>
              <a:t>Professionals must make important decisions.</a:t>
            </a:r>
          </a:p>
          <a:p>
            <a:pPr lvl="0" eaLnBrk="0" fontAlgn="base" hangingPunct="0">
              <a:lnSpc>
                <a:spcPct val="100000"/>
              </a:lnSpc>
              <a:spcBef>
                <a:spcPts val="300"/>
              </a:spcBef>
              <a:spcAft>
                <a:spcPts val="300"/>
              </a:spcAft>
              <a:buFont typeface="Courier New" panose="02070309020205020404" pitchFamily="49" charset="0"/>
              <a:buChar char="o"/>
            </a:pPr>
            <a:r>
              <a:rPr lang="en-US" altLang="en-US" sz="2600" dirty="0"/>
              <a:t>Their work involves complex technology and systems.</a:t>
            </a:r>
          </a:p>
          <a:p>
            <a:pPr lvl="0" eaLnBrk="0" fontAlgn="base" hangingPunct="0">
              <a:lnSpc>
                <a:spcPct val="100000"/>
              </a:lnSpc>
              <a:spcBef>
                <a:spcPts val="300"/>
              </a:spcBef>
              <a:spcAft>
                <a:spcPts val="300"/>
              </a:spcAft>
              <a:buFont typeface="Courier New" panose="02070309020205020404" pitchFamily="49" charset="0"/>
              <a:buChar char="o"/>
            </a:pPr>
            <a:r>
              <a:rPr lang="en-US" altLang="en-US" sz="2600" dirty="0"/>
              <a:t>Mistakes or negligence may lead to serious consequences.</a:t>
            </a:r>
          </a:p>
          <a:p>
            <a:pPr lvl="0" eaLnBrk="0" fontAlgn="base" hangingPunct="0">
              <a:lnSpc>
                <a:spcPct val="100000"/>
              </a:lnSpc>
              <a:spcBef>
                <a:spcPts val="300"/>
              </a:spcBef>
              <a:spcAft>
                <a:spcPts val="300"/>
              </a:spcAft>
              <a:buFont typeface="Courier New" panose="02070309020205020404" pitchFamily="49" charset="0"/>
              <a:buChar char="o"/>
            </a:pPr>
            <a:r>
              <a:rPr lang="en-US" altLang="en-US" sz="2600" dirty="0"/>
              <a:t>External pressures (management, deadlines, financial issues) may influence decisions.</a:t>
            </a:r>
          </a:p>
          <a:p>
            <a:endParaRPr lang="en-US" dirty="0"/>
          </a:p>
        </p:txBody>
      </p:sp>
    </p:spTree>
    <p:extLst>
      <p:ext uri="{BB962C8B-B14F-4D97-AF65-F5344CB8AC3E}">
        <p14:creationId xmlns:p14="http://schemas.microsoft.com/office/powerpoint/2010/main" val="2146440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F3F25-3882-5E3E-5EF7-3BCC35B33A40}"/>
              </a:ext>
            </a:extLst>
          </p:cNvPr>
          <p:cNvSpPr txBox="1"/>
          <p:nvPr/>
        </p:nvSpPr>
        <p:spPr>
          <a:xfrm>
            <a:off x="516730" y="133082"/>
            <a:ext cx="11158539" cy="6494085"/>
          </a:xfrm>
          <a:prstGeom prst="rect">
            <a:avLst/>
          </a:prstGeom>
          <a:noFill/>
        </p:spPr>
        <p:txBody>
          <a:bodyPr wrap="square" rtlCol="0">
            <a:spAutoFit/>
          </a:bodyPr>
          <a:lstStyle/>
          <a:p>
            <a:r>
              <a:rPr lang="en-US" sz="2800" b="1" u="sng" dirty="0">
                <a:solidFill>
                  <a:schemeClr val="accent2">
                    <a:lumMod val="50000"/>
                  </a:schemeClr>
                </a:solidFill>
                <a:latin typeface="Arial Black" panose="020B0A04020102020204" pitchFamily="34" charset="0"/>
              </a:rPr>
              <a:t>Types of Professional Risks</a:t>
            </a:r>
            <a:endParaRPr lang="en-US" sz="2200" b="1" dirty="0"/>
          </a:p>
          <a:p>
            <a:pPr algn="just"/>
            <a:endParaRPr lang="en-US" sz="2100" b="1" dirty="0">
              <a:solidFill>
                <a:schemeClr val="accent6">
                  <a:lumMod val="50000"/>
                </a:schemeClr>
              </a:solidFill>
            </a:endParaRPr>
          </a:p>
          <a:p>
            <a:pPr marL="342900" indent="-342900" algn="just">
              <a:buFont typeface="Wingdings" panose="05000000000000000000" pitchFamily="2" charset="2"/>
              <a:buChar char="§"/>
            </a:pPr>
            <a:r>
              <a:rPr lang="en-US" sz="2400" b="1" dirty="0">
                <a:solidFill>
                  <a:schemeClr val="accent6">
                    <a:lumMod val="50000"/>
                  </a:schemeClr>
                </a:solidFill>
              </a:rPr>
              <a:t>Technical Risk: </a:t>
            </a:r>
            <a:r>
              <a:rPr lang="en-US" sz="2100" dirty="0"/>
              <a:t>Risk arising from technical errors, design flaws, or system failures.</a:t>
            </a:r>
          </a:p>
          <a:p>
            <a:pPr marL="342900" indent="-342900" algn="just">
              <a:buFont typeface="Wingdings" panose="05000000000000000000" pitchFamily="2" charset="2"/>
              <a:buChar char="§"/>
            </a:pPr>
            <a:r>
              <a:rPr lang="en-US" sz="2400" b="1" dirty="0">
                <a:solidFill>
                  <a:schemeClr val="accent6">
                    <a:lumMod val="50000"/>
                  </a:schemeClr>
                </a:solidFill>
              </a:rPr>
              <a:t>Safety Risk: </a:t>
            </a:r>
            <a:r>
              <a:rPr lang="en-US" sz="2100" dirty="0"/>
              <a:t>Risk that may cause injury, accidents, or harm to people.</a:t>
            </a:r>
          </a:p>
          <a:p>
            <a:pPr marL="342900" indent="-342900" algn="just">
              <a:buFont typeface="Wingdings" panose="05000000000000000000" pitchFamily="2" charset="2"/>
              <a:buChar char="§"/>
            </a:pPr>
            <a:r>
              <a:rPr lang="en-US" sz="2400" b="1" dirty="0">
                <a:solidFill>
                  <a:schemeClr val="accent6">
                    <a:lumMod val="50000"/>
                  </a:schemeClr>
                </a:solidFill>
              </a:rPr>
              <a:t>Legal Risk: </a:t>
            </a:r>
            <a:r>
              <a:rPr lang="en-US" sz="2100" dirty="0"/>
              <a:t>Professionals may face legal action if their work violates laws or safety standards.</a:t>
            </a:r>
          </a:p>
          <a:p>
            <a:pPr marL="342900" indent="-342900" algn="just">
              <a:buFont typeface="Wingdings" panose="05000000000000000000" pitchFamily="2" charset="2"/>
              <a:buChar char="§"/>
            </a:pPr>
            <a:r>
              <a:rPr lang="en-US" sz="2400" b="1" dirty="0">
                <a:solidFill>
                  <a:schemeClr val="accent6">
                    <a:lumMod val="50000"/>
                  </a:schemeClr>
                </a:solidFill>
              </a:rPr>
              <a:t>Financial Risk: </a:t>
            </a:r>
            <a:r>
              <a:rPr lang="en-US" sz="2100" dirty="0"/>
              <a:t>Poor professional decisions can lead to financial losses for organizations or clients.</a:t>
            </a:r>
          </a:p>
          <a:p>
            <a:pPr marL="342900" indent="-342900" algn="just">
              <a:buFont typeface="Wingdings" panose="05000000000000000000" pitchFamily="2" charset="2"/>
              <a:buChar char="§"/>
            </a:pPr>
            <a:r>
              <a:rPr lang="en-US" sz="2400" b="1" dirty="0">
                <a:solidFill>
                  <a:schemeClr val="accent6">
                    <a:lumMod val="50000"/>
                  </a:schemeClr>
                </a:solidFill>
              </a:rPr>
              <a:t>Reputation Risk: </a:t>
            </a:r>
            <a:r>
              <a:rPr lang="en-US" sz="2100" dirty="0"/>
              <a:t>A professional's mistake can damage personal and organizational reputation.</a:t>
            </a:r>
          </a:p>
          <a:p>
            <a:endParaRPr lang="en-US" dirty="0"/>
          </a:p>
          <a:p>
            <a:pPr algn="just"/>
            <a:endParaRPr lang="en-US" sz="2200" b="1" dirty="0"/>
          </a:p>
          <a:p>
            <a:pPr algn="just"/>
            <a:r>
              <a:rPr lang="en-US" sz="2200" b="1" dirty="0"/>
              <a:t>Engineering involves high responsibility because engineering projects directly affect public safety, infrastructure, and environment.</a:t>
            </a:r>
          </a:p>
          <a:p>
            <a:endParaRPr lang="en-US" dirty="0"/>
          </a:p>
          <a:p>
            <a:r>
              <a:rPr lang="en-US" sz="2400" b="1" u="sng" dirty="0">
                <a:solidFill>
                  <a:schemeClr val="accent4">
                    <a:lumMod val="50000"/>
                  </a:schemeClr>
                </a:solidFill>
              </a:rPr>
              <a:t>For Example: </a:t>
            </a:r>
          </a:p>
          <a:p>
            <a:pPr marL="285750" indent="-285750">
              <a:buFont typeface="Courier New" panose="02070309020205020404" pitchFamily="49" charset="0"/>
              <a:buChar char="o"/>
            </a:pPr>
            <a:r>
              <a:rPr lang="en-US" sz="2000" b="1" dirty="0"/>
              <a:t>Bridge or building collapse</a:t>
            </a:r>
          </a:p>
          <a:p>
            <a:pPr marL="285750" indent="-285750">
              <a:buFont typeface="Courier New" panose="02070309020205020404" pitchFamily="49" charset="0"/>
              <a:buChar char="o"/>
            </a:pPr>
            <a:r>
              <a:rPr lang="en-US" sz="2000" b="1" dirty="0"/>
              <a:t>Industrial accidents</a:t>
            </a:r>
          </a:p>
          <a:p>
            <a:pPr marL="285750" indent="-285750">
              <a:buFont typeface="Courier New" panose="02070309020205020404" pitchFamily="49" charset="0"/>
              <a:buChar char="o"/>
            </a:pPr>
            <a:r>
              <a:rPr lang="en-US" sz="2000" b="1" dirty="0"/>
              <a:t>Software security breaches</a:t>
            </a:r>
          </a:p>
          <a:p>
            <a:pPr marL="285750" indent="-285750">
              <a:buFont typeface="Courier New" panose="02070309020205020404" pitchFamily="49" charset="0"/>
              <a:buChar char="o"/>
            </a:pPr>
            <a:r>
              <a:rPr lang="en-US" sz="2000" b="1" dirty="0"/>
              <a:t>Environmental pollution</a:t>
            </a:r>
          </a:p>
          <a:p>
            <a:pPr marL="285750" indent="-285750">
              <a:buFont typeface="Courier New" panose="02070309020205020404" pitchFamily="49" charset="0"/>
              <a:buChar char="o"/>
            </a:pPr>
            <a:r>
              <a:rPr lang="en-US" sz="2000" b="1" dirty="0"/>
              <a:t>Machine failure</a:t>
            </a:r>
          </a:p>
        </p:txBody>
      </p:sp>
    </p:spTree>
    <p:extLst>
      <p:ext uri="{BB962C8B-B14F-4D97-AF65-F5344CB8AC3E}">
        <p14:creationId xmlns:p14="http://schemas.microsoft.com/office/powerpoint/2010/main" val="3378733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0568C8-FF48-567E-1592-D026A9B2D4A8}"/>
              </a:ext>
            </a:extLst>
          </p:cNvPr>
          <p:cNvSpPr txBox="1"/>
          <p:nvPr/>
        </p:nvSpPr>
        <p:spPr>
          <a:xfrm>
            <a:off x="442913" y="385763"/>
            <a:ext cx="11258550" cy="6170920"/>
          </a:xfrm>
          <a:prstGeom prst="rect">
            <a:avLst/>
          </a:prstGeom>
          <a:noFill/>
        </p:spPr>
        <p:txBody>
          <a:bodyPr wrap="square" rtlCol="0">
            <a:spAutoFit/>
          </a:bodyPr>
          <a:lstStyle/>
          <a:p>
            <a:pPr algn="ctr"/>
            <a:r>
              <a:rPr lang="en-US" sz="2800" b="1" u="sng" dirty="0">
                <a:solidFill>
                  <a:schemeClr val="accent2">
                    <a:lumMod val="50000"/>
                  </a:schemeClr>
                </a:solidFill>
                <a:latin typeface="Arial Black" panose="020B0A04020102020204" pitchFamily="34" charset="0"/>
              </a:rPr>
              <a:t>Managing Professional Risks</a:t>
            </a:r>
            <a:endParaRPr lang="en-US" sz="2800" b="1" dirty="0">
              <a:solidFill>
                <a:schemeClr val="accent2">
                  <a:lumMod val="50000"/>
                </a:schemeClr>
              </a:solidFill>
              <a:latin typeface="Arial Black" panose="020B0A04020102020204" pitchFamily="34" charset="0"/>
            </a:endParaRPr>
          </a:p>
          <a:p>
            <a:pPr algn="ctr"/>
            <a:endParaRPr lang="en-US" sz="2400" b="1" dirty="0"/>
          </a:p>
          <a:p>
            <a:pPr marL="342900" indent="-342900" algn="just">
              <a:buFont typeface="Wingdings" panose="05000000000000000000" pitchFamily="2" charset="2"/>
              <a:buChar char="§"/>
            </a:pPr>
            <a:r>
              <a:rPr lang="en-US" sz="2200" b="1" dirty="0">
                <a:solidFill>
                  <a:schemeClr val="accent6">
                    <a:lumMod val="50000"/>
                  </a:schemeClr>
                </a:solidFill>
              </a:rPr>
              <a:t>Proper Knowledge and Training: </a:t>
            </a:r>
            <a:r>
              <a:rPr lang="en-US" sz="2100" dirty="0"/>
              <a:t>Professionals should be well-trained and technically competent.</a:t>
            </a:r>
          </a:p>
          <a:p>
            <a:pPr marL="342900" indent="-342900" algn="just">
              <a:buFont typeface="Wingdings" panose="05000000000000000000" pitchFamily="2" charset="2"/>
              <a:buChar char="§"/>
            </a:pPr>
            <a:r>
              <a:rPr lang="en-US" sz="2200" b="1" dirty="0">
                <a:solidFill>
                  <a:schemeClr val="accent6">
                    <a:lumMod val="50000"/>
                  </a:schemeClr>
                </a:solidFill>
              </a:rPr>
              <a:t>Following Safety Standards: </a:t>
            </a:r>
            <a:r>
              <a:rPr lang="en-US" sz="2100" dirty="0"/>
              <a:t>Engineering standards and guidelines must be strictly followed.</a:t>
            </a:r>
          </a:p>
          <a:p>
            <a:pPr marL="342900" indent="-342900" algn="just">
              <a:buFont typeface="Wingdings" panose="05000000000000000000" pitchFamily="2" charset="2"/>
              <a:buChar char="§"/>
            </a:pPr>
            <a:r>
              <a:rPr lang="en-US" sz="2200" b="1" dirty="0">
                <a:solidFill>
                  <a:schemeClr val="accent6">
                    <a:lumMod val="50000"/>
                  </a:schemeClr>
                </a:solidFill>
              </a:rPr>
              <a:t>Ethical Decision-Making: </a:t>
            </a:r>
            <a:r>
              <a:rPr lang="en-US" sz="2100" dirty="0"/>
              <a:t>Professionals must prioritize safety and ethics over profit or pressure.</a:t>
            </a:r>
          </a:p>
          <a:p>
            <a:pPr marL="342900" indent="-342900" algn="just">
              <a:buFont typeface="Wingdings" panose="05000000000000000000" pitchFamily="2" charset="2"/>
              <a:buChar char="§"/>
            </a:pPr>
            <a:r>
              <a:rPr lang="en-US" sz="2200" b="1" dirty="0">
                <a:solidFill>
                  <a:schemeClr val="accent6">
                    <a:lumMod val="50000"/>
                  </a:schemeClr>
                </a:solidFill>
              </a:rPr>
              <a:t>Careful Planning and Testing</a:t>
            </a:r>
            <a:r>
              <a:rPr lang="en-US" sz="2100" b="1" dirty="0">
                <a:solidFill>
                  <a:schemeClr val="accent6">
                    <a:lumMod val="50000"/>
                  </a:schemeClr>
                </a:solidFill>
              </a:rPr>
              <a:t>: </a:t>
            </a:r>
            <a:r>
              <a:rPr lang="en-US" sz="2100" dirty="0"/>
              <a:t>Systems and designs should be thoroughly tested before implementation.</a:t>
            </a:r>
          </a:p>
          <a:p>
            <a:pPr marL="342900" indent="-342900" algn="just">
              <a:buFont typeface="Wingdings" panose="05000000000000000000" pitchFamily="2" charset="2"/>
              <a:buChar char="§"/>
            </a:pPr>
            <a:r>
              <a:rPr lang="en-US" sz="2200" b="1" dirty="0">
                <a:solidFill>
                  <a:schemeClr val="accent6">
                    <a:lumMod val="50000"/>
                  </a:schemeClr>
                </a:solidFill>
              </a:rPr>
              <a:t>Continuous Learning: </a:t>
            </a:r>
            <a:r>
              <a:rPr lang="en-US" sz="2100" dirty="0"/>
              <a:t>Professionals must stay updated with new technologies and safety practices.</a:t>
            </a:r>
          </a:p>
          <a:p>
            <a:endParaRPr lang="en-US" sz="2400" b="1" u="sng" dirty="0">
              <a:solidFill>
                <a:schemeClr val="accent2">
                  <a:lumMod val="50000"/>
                </a:schemeClr>
              </a:solidFill>
              <a:latin typeface="Arial Black" panose="020B0A04020102020204" pitchFamily="34" charset="0"/>
            </a:endParaRPr>
          </a:p>
          <a:p>
            <a:pPr algn="ctr"/>
            <a:r>
              <a:rPr lang="en-US" sz="2800" b="1" u="sng" dirty="0">
                <a:solidFill>
                  <a:schemeClr val="accent2">
                    <a:lumMod val="50000"/>
                  </a:schemeClr>
                </a:solidFill>
                <a:latin typeface="Arial Black" panose="020B0A04020102020204" pitchFamily="34" charset="0"/>
              </a:rPr>
              <a:t>Importance of Understanding Professional Risks</a:t>
            </a:r>
            <a:endParaRPr lang="en-US" sz="2800" b="1" dirty="0">
              <a:solidFill>
                <a:schemeClr val="accent2">
                  <a:lumMod val="50000"/>
                </a:schemeClr>
              </a:solidFill>
              <a:latin typeface="Arial Black" panose="020B0A04020102020204" pitchFamily="34" charset="0"/>
            </a:endParaRPr>
          </a:p>
          <a:p>
            <a:endParaRPr lang="en-US" dirty="0"/>
          </a:p>
          <a:p>
            <a:pPr marL="342900" indent="-342900">
              <a:buFont typeface="Courier New" panose="02070309020205020404" pitchFamily="49" charset="0"/>
              <a:buChar char="o"/>
            </a:pPr>
            <a:r>
              <a:rPr lang="en-US" sz="2100" b="1" dirty="0">
                <a:solidFill>
                  <a:schemeClr val="accent6">
                    <a:lumMod val="50000"/>
                  </a:schemeClr>
                </a:solidFill>
              </a:rPr>
              <a:t>Make careful decisions</a:t>
            </a:r>
          </a:p>
          <a:p>
            <a:pPr marL="342900" indent="-342900">
              <a:buFont typeface="Courier New" panose="02070309020205020404" pitchFamily="49" charset="0"/>
              <a:buChar char="o"/>
            </a:pPr>
            <a:r>
              <a:rPr lang="en-US" sz="2100" b="1" dirty="0">
                <a:solidFill>
                  <a:schemeClr val="accent6">
                    <a:lumMod val="50000"/>
                  </a:schemeClr>
                </a:solidFill>
              </a:rPr>
              <a:t>Protect public safety</a:t>
            </a:r>
          </a:p>
          <a:p>
            <a:pPr marL="342900" indent="-342900">
              <a:buFont typeface="Courier New" panose="02070309020205020404" pitchFamily="49" charset="0"/>
              <a:buChar char="o"/>
            </a:pPr>
            <a:r>
              <a:rPr lang="en-US" sz="2100" b="1" dirty="0">
                <a:solidFill>
                  <a:schemeClr val="accent6">
                    <a:lumMod val="50000"/>
                  </a:schemeClr>
                </a:solidFill>
              </a:rPr>
              <a:t>Avoid legal problems</a:t>
            </a:r>
          </a:p>
          <a:p>
            <a:pPr marL="342900" indent="-342900">
              <a:buFont typeface="Courier New" panose="02070309020205020404" pitchFamily="49" charset="0"/>
              <a:buChar char="o"/>
            </a:pPr>
            <a:r>
              <a:rPr lang="en-US" sz="2100" b="1" dirty="0">
                <a:solidFill>
                  <a:schemeClr val="accent6">
                    <a:lumMod val="50000"/>
                  </a:schemeClr>
                </a:solidFill>
              </a:rPr>
              <a:t>Maintain professional reputation</a:t>
            </a:r>
          </a:p>
          <a:p>
            <a:pPr marL="342900" indent="-342900">
              <a:buFont typeface="Courier New" panose="02070309020205020404" pitchFamily="49" charset="0"/>
              <a:buChar char="o"/>
            </a:pPr>
            <a:r>
              <a:rPr lang="en-US" sz="2100" b="1" dirty="0">
                <a:solidFill>
                  <a:schemeClr val="accent6">
                    <a:lumMod val="50000"/>
                  </a:schemeClr>
                </a:solidFill>
              </a:rPr>
              <a:t>Improve quality of work</a:t>
            </a:r>
          </a:p>
          <a:p>
            <a:endParaRPr lang="en-US" dirty="0"/>
          </a:p>
        </p:txBody>
      </p:sp>
    </p:spTree>
    <p:extLst>
      <p:ext uri="{BB962C8B-B14F-4D97-AF65-F5344CB8AC3E}">
        <p14:creationId xmlns:p14="http://schemas.microsoft.com/office/powerpoint/2010/main" val="4130502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882DC6-BF5A-EED4-530C-553880DFCC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71524"/>
            <a:ext cx="12192000" cy="6086475"/>
          </a:xfrm>
          <a:prstGeom prst="rect">
            <a:avLst/>
          </a:prstGeom>
        </p:spPr>
      </p:pic>
      <p:sp>
        <p:nvSpPr>
          <p:cNvPr id="5" name="TextBox 4">
            <a:extLst>
              <a:ext uri="{FF2B5EF4-FFF2-40B4-BE49-F238E27FC236}">
                <a16:creationId xmlns:a16="http://schemas.microsoft.com/office/drawing/2014/main" id="{9FEABFEA-1F63-80CC-A406-1DB4467C4A11}"/>
              </a:ext>
            </a:extLst>
          </p:cNvPr>
          <p:cNvSpPr txBox="1"/>
          <p:nvPr/>
        </p:nvSpPr>
        <p:spPr>
          <a:xfrm>
            <a:off x="2043114" y="0"/>
            <a:ext cx="7643812" cy="646331"/>
          </a:xfrm>
          <a:prstGeom prst="rect">
            <a:avLst/>
          </a:prstGeom>
          <a:noFill/>
        </p:spPr>
        <p:txBody>
          <a:bodyPr wrap="square" rtlCol="0">
            <a:spAutoFit/>
          </a:bodyPr>
          <a:lstStyle/>
          <a:p>
            <a:pPr algn="ctr"/>
            <a:r>
              <a:rPr lang="en-US" sz="3600" dirty="0">
                <a:solidFill>
                  <a:srgbClr val="FF0000"/>
                </a:solidFill>
                <a:latin typeface="Arial Black" panose="020B0A04020102020204" pitchFamily="34" charset="0"/>
              </a:rPr>
              <a:t>CASE STUDY</a:t>
            </a:r>
          </a:p>
        </p:txBody>
      </p:sp>
    </p:spTree>
    <p:extLst>
      <p:ext uri="{BB962C8B-B14F-4D97-AF65-F5344CB8AC3E}">
        <p14:creationId xmlns:p14="http://schemas.microsoft.com/office/powerpoint/2010/main" val="3204810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C8AF3-33B5-CFD0-741F-63A167F21827}"/>
              </a:ext>
            </a:extLst>
          </p:cNvPr>
          <p:cNvSpPr>
            <a:spLocks noGrp="1"/>
          </p:cNvSpPr>
          <p:nvPr>
            <p:ph type="title"/>
          </p:nvPr>
        </p:nvSpPr>
        <p:spPr>
          <a:xfrm>
            <a:off x="838199" y="222251"/>
            <a:ext cx="10515600" cy="634999"/>
          </a:xfrm>
        </p:spPr>
        <p:txBody>
          <a:bodyPr>
            <a:normAutofit fontScale="90000"/>
          </a:bodyPr>
          <a:lstStyle/>
          <a:p>
            <a:pPr algn="ctr"/>
            <a:r>
              <a:rPr lang="en-US" dirty="0">
                <a:solidFill>
                  <a:srgbClr val="FF0000"/>
                </a:solidFill>
                <a:latin typeface="Arial Black" panose="020B0A04020102020204" pitchFamily="34" charset="0"/>
              </a:rPr>
              <a:t>Profession and Craftsmanship</a:t>
            </a:r>
          </a:p>
        </p:txBody>
      </p:sp>
      <p:sp>
        <p:nvSpPr>
          <p:cNvPr id="3" name="Content Placeholder 2">
            <a:extLst>
              <a:ext uri="{FF2B5EF4-FFF2-40B4-BE49-F238E27FC236}">
                <a16:creationId xmlns:a16="http://schemas.microsoft.com/office/drawing/2014/main" id="{72BA4E6D-8D7D-C05C-0B9B-10351D5E452A}"/>
              </a:ext>
            </a:extLst>
          </p:cNvPr>
          <p:cNvSpPr>
            <a:spLocks noGrp="1"/>
          </p:cNvSpPr>
          <p:nvPr>
            <p:ph idx="1"/>
          </p:nvPr>
        </p:nvSpPr>
        <p:spPr>
          <a:xfrm>
            <a:off x="631031" y="1249361"/>
            <a:ext cx="10929937" cy="5243513"/>
          </a:xfrm>
        </p:spPr>
        <p:txBody>
          <a:bodyPr>
            <a:normAutofit fontScale="85000" lnSpcReduction="20000"/>
          </a:bodyPr>
          <a:lstStyle/>
          <a:p>
            <a:pPr marL="0" indent="0" algn="just">
              <a:buNone/>
            </a:pPr>
            <a:r>
              <a:rPr lang="en-US" b="1" dirty="0"/>
              <a:t>A profession is an occupation that requires:</a:t>
            </a:r>
          </a:p>
          <a:p>
            <a:pPr algn="just">
              <a:buFont typeface="Wingdings" panose="05000000000000000000" pitchFamily="2" charset="2"/>
              <a:buChar char="§"/>
            </a:pPr>
            <a:r>
              <a:rPr lang="en-US" dirty="0">
                <a:solidFill>
                  <a:schemeClr val="accent6">
                    <a:lumMod val="50000"/>
                  </a:schemeClr>
                </a:solidFill>
              </a:rPr>
              <a:t>Specialized education and training</a:t>
            </a:r>
          </a:p>
          <a:p>
            <a:pPr algn="just">
              <a:buFont typeface="Wingdings" panose="05000000000000000000" pitchFamily="2" charset="2"/>
              <a:buChar char="§"/>
            </a:pPr>
            <a:r>
              <a:rPr lang="en-US" dirty="0">
                <a:solidFill>
                  <a:schemeClr val="accent6">
                    <a:lumMod val="50000"/>
                  </a:schemeClr>
                </a:solidFill>
              </a:rPr>
              <a:t>Technical knowledge and skills</a:t>
            </a:r>
          </a:p>
          <a:p>
            <a:pPr algn="just">
              <a:buFont typeface="Wingdings" panose="05000000000000000000" pitchFamily="2" charset="2"/>
              <a:buChar char="§"/>
            </a:pPr>
            <a:r>
              <a:rPr lang="en-US" dirty="0">
                <a:solidFill>
                  <a:schemeClr val="accent6">
                    <a:lumMod val="50000"/>
                  </a:schemeClr>
                </a:solidFill>
              </a:rPr>
              <a:t>Ethical standards</a:t>
            </a:r>
          </a:p>
          <a:p>
            <a:pPr algn="just">
              <a:buFont typeface="Wingdings" panose="05000000000000000000" pitchFamily="2" charset="2"/>
              <a:buChar char="§"/>
            </a:pPr>
            <a:r>
              <a:rPr lang="en-US" dirty="0">
                <a:solidFill>
                  <a:schemeClr val="accent6">
                    <a:lumMod val="50000"/>
                  </a:schemeClr>
                </a:solidFill>
              </a:rPr>
              <a:t>Responsibility toward society</a:t>
            </a:r>
          </a:p>
          <a:p>
            <a:pPr marL="0" indent="0" algn="just">
              <a:buNone/>
            </a:pPr>
            <a:endParaRPr lang="en-US" dirty="0"/>
          </a:p>
          <a:p>
            <a:pPr algn="just">
              <a:buFont typeface="Wingdings" panose="05000000000000000000" pitchFamily="2" charset="2"/>
              <a:buChar char="ü"/>
            </a:pPr>
            <a:endParaRPr lang="en-US" b="1" dirty="0"/>
          </a:p>
          <a:p>
            <a:pPr algn="just">
              <a:buFont typeface="Wingdings" panose="05000000000000000000" pitchFamily="2" charset="2"/>
              <a:buChar char="ü"/>
            </a:pPr>
            <a:r>
              <a:rPr lang="en-US" b="1" dirty="0"/>
              <a:t>Craftsmanship refers to the skill, dedication, and care with which a person performs a task or creates something. It focuses on quality, precision, and excellence in work.</a:t>
            </a:r>
          </a:p>
          <a:p>
            <a:pPr algn="just">
              <a:buFont typeface="Wingdings" panose="05000000000000000000" pitchFamily="2" charset="2"/>
              <a:buChar char="ü"/>
            </a:pPr>
            <a:r>
              <a:rPr lang="en-US" b="1" dirty="0"/>
              <a:t>It is the ability and dedication to perform work with high skill, care, and attention to quality.</a:t>
            </a:r>
          </a:p>
          <a:p>
            <a:pPr algn="just"/>
            <a:endParaRPr lang="en-US" dirty="0"/>
          </a:p>
          <a:p>
            <a:pPr marL="0" indent="0" algn="just">
              <a:buNone/>
            </a:pPr>
            <a:r>
              <a:rPr lang="en-US" b="1" dirty="0"/>
              <a:t>For Example: </a:t>
            </a:r>
            <a:r>
              <a:rPr lang="en-US" dirty="0"/>
              <a:t>A software engineer who carefully writes efficient, well-structured code demonstrates craftsmanship.</a:t>
            </a:r>
          </a:p>
        </p:txBody>
      </p:sp>
      <p:pic>
        <p:nvPicPr>
          <p:cNvPr id="4" name="Picture 3">
            <a:extLst>
              <a:ext uri="{FF2B5EF4-FFF2-40B4-BE49-F238E27FC236}">
                <a16:creationId xmlns:a16="http://schemas.microsoft.com/office/drawing/2014/main" id="{EF3F3DD6-1244-AFB2-91D6-BB70BAE5D2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9162" y="1249361"/>
            <a:ext cx="3621806" cy="2314575"/>
          </a:xfrm>
          <a:prstGeom prst="rect">
            <a:avLst/>
          </a:prstGeom>
        </p:spPr>
      </p:pic>
    </p:spTree>
    <p:extLst>
      <p:ext uri="{BB962C8B-B14F-4D97-AF65-F5344CB8AC3E}">
        <p14:creationId xmlns:p14="http://schemas.microsoft.com/office/powerpoint/2010/main" val="857603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F6FBC1-FD55-1CF0-74BA-4A965779D2A6}"/>
              </a:ext>
            </a:extLst>
          </p:cNvPr>
          <p:cNvSpPr txBox="1"/>
          <p:nvPr/>
        </p:nvSpPr>
        <p:spPr>
          <a:xfrm>
            <a:off x="371475" y="285750"/>
            <a:ext cx="11329988" cy="6294031"/>
          </a:xfrm>
          <a:prstGeom prst="rect">
            <a:avLst/>
          </a:prstGeom>
          <a:noFill/>
        </p:spPr>
        <p:txBody>
          <a:bodyPr wrap="square" rtlCol="0">
            <a:spAutoFit/>
          </a:bodyPr>
          <a:lstStyle/>
          <a:p>
            <a:r>
              <a:rPr lang="en-US" sz="2400" u="sng" dirty="0">
                <a:solidFill>
                  <a:schemeClr val="accent2">
                    <a:lumMod val="50000"/>
                  </a:schemeClr>
                </a:solidFill>
                <a:latin typeface="Arial Black" panose="020B0A04020102020204" pitchFamily="34" charset="0"/>
              </a:rPr>
              <a:t>Relationship Between Profession and Craftsmanship</a:t>
            </a:r>
          </a:p>
          <a:p>
            <a:r>
              <a:rPr lang="en-US" sz="2200" b="1" dirty="0"/>
              <a:t>Profession and craftsmanship are closely connected.</a:t>
            </a:r>
          </a:p>
          <a:p>
            <a:pPr marL="285750" indent="-285750">
              <a:buFont typeface="Wingdings" panose="05000000000000000000" pitchFamily="2" charset="2"/>
              <a:buChar char="§"/>
            </a:pPr>
            <a:r>
              <a:rPr lang="en-US" sz="2200" dirty="0"/>
              <a:t>Profession provides knowledge and responsibility.</a:t>
            </a:r>
          </a:p>
          <a:p>
            <a:pPr marL="285750" indent="-285750">
              <a:buFont typeface="Wingdings" panose="05000000000000000000" pitchFamily="2" charset="2"/>
              <a:buChar char="§"/>
            </a:pPr>
            <a:r>
              <a:rPr lang="en-US" sz="2200" dirty="0"/>
              <a:t>Craftsmanship ensures excellence in performing that work.</a:t>
            </a:r>
          </a:p>
          <a:p>
            <a:endParaRPr lang="en-US" b="1" dirty="0"/>
          </a:p>
          <a:p>
            <a:endParaRPr lang="en-US" dirty="0"/>
          </a:p>
          <a:p>
            <a:endParaRPr lang="en-US" dirty="0"/>
          </a:p>
          <a:p>
            <a:endParaRPr lang="en-US" sz="2400" dirty="0">
              <a:solidFill>
                <a:schemeClr val="accent2">
                  <a:lumMod val="50000"/>
                </a:schemeClr>
              </a:solidFill>
              <a:latin typeface="Arial Black" panose="020B0A04020102020204" pitchFamily="34" charset="0"/>
            </a:endParaRPr>
          </a:p>
          <a:p>
            <a:endParaRPr lang="en-US" sz="2400" dirty="0">
              <a:solidFill>
                <a:schemeClr val="accent2">
                  <a:lumMod val="50000"/>
                </a:schemeClr>
              </a:solidFill>
              <a:latin typeface="Arial Black" panose="020B0A04020102020204" pitchFamily="34" charset="0"/>
            </a:endParaRPr>
          </a:p>
          <a:p>
            <a:r>
              <a:rPr lang="en-US" sz="2400" u="sng" dirty="0">
                <a:solidFill>
                  <a:schemeClr val="accent2">
                    <a:lumMod val="50000"/>
                  </a:schemeClr>
                </a:solidFill>
                <a:latin typeface="Arial Black" panose="020B0A04020102020204" pitchFamily="34" charset="0"/>
              </a:rPr>
              <a:t>Importance of Craftsmanship in a Profession</a:t>
            </a:r>
          </a:p>
          <a:p>
            <a:r>
              <a:rPr lang="en-US" sz="2200" b="1" dirty="0"/>
              <a:t>Craftsmanship improves the quality of professional work.</a:t>
            </a:r>
          </a:p>
          <a:p>
            <a:endParaRPr lang="en-US" b="1" dirty="0"/>
          </a:p>
          <a:p>
            <a:pPr marL="342900" indent="-342900" algn="just">
              <a:buFont typeface="Courier New" panose="02070309020205020404" pitchFamily="49" charset="0"/>
              <a:buChar char="o"/>
            </a:pPr>
            <a:r>
              <a:rPr lang="en-US" sz="2100" b="1" dirty="0">
                <a:solidFill>
                  <a:schemeClr val="accent6">
                    <a:lumMod val="50000"/>
                  </a:schemeClr>
                </a:solidFill>
              </a:rPr>
              <a:t>Ensures High Quality: </a:t>
            </a:r>
            <a:r>
              <a:rPr lang="en-US" sz="2100" dirty="0"/>
              <a:t>Professionals with craftsmanship focus on doing their work carefully and accurately.</a:t>
            </a:r>
          </a:p>
          <a:p>
            <a:pPr marL="342900" indent="-342900" algn="just">
              <a:buFont typeface="Courier New" panose="02070309020205020404" pitchFamily="49" charset="0"/>
              <a:buChar char="o"/>
            </a:pPr>
            <a:r>
              <a:rPr lang="en-US" sz="2100" b="1" dirty="0">
                <a:solidFill>
                  <a:schemeClr val="accent6">
                    <a:lumMod val="50000"/>
                  </a:schemeClr>
                </a:solidFill>
              </a:rPr>
              <a:t>Promotes Excellence: </a:t>
            </a:r>
            <a:r>
              <a:rPr lang="en-US" sz="2100" dirty="0"/>
              <a:t>Craftsmanship encourages professionals to perform their tasks to the best possible standard.</a:t>
            </a:r>
          </a:p>
          <a:p>
            <a:pPr marL="342900" indent="-342900" algn="just">
              <a:buFont typeface="Courier New" panose="02070309020205020404" pitchFamily="49" charset="0"/>
              <a:buChar char="o"/>
            </a:pPr>
            <a:r>
              <a:rPr lang="en-US" sz="2100" b="1" dirty="0">
                <a:solidFill>
                  <a:schemeClr val="accent6">
                    <a:lumMod val="50000"/>
                  </a:schemeClr>
                </a:solidFill>
              </a:rPr>
              <a:t>Builds Professional Reputation: </a:t>
            </a:r>
            <a:r>
              <a:rPr lang="en-US" sz="2100" dirty="0"/>
              <a:t>High-quality work enhances the reputation of professionals and organizations.</a:t>
            </a:r>
          </a:p>
          <a:p>
            <a:pPr marL="342900" indent="-342900" algn="just">
              <a:buFont typeface="Courier New" panose="02070309020205020404" pitchFamily="49" charset="0"/>
              <a:buChar char="o"/>
            </a:pPr>
            <a:r>
              <a:rPr lang="en-US" sz="2100" b="1" dirty="0">
                <a:solidFill>
                  <a:schemeClr val="accent6">
                    <a:lumMod val="50000"/>
                  </a:schemeClr>
                </a:solidFill>
              </a:rPr>
              <a:t>Prevents Errors and Failures: </a:t>
            </a:r>
            <a:r>
              <a:rPr lang="en-US" sz="2100" dirty="0"/>
              <a:t>Attention to detail reduces mistakes and accidents.</a:t>
            </a:r>
          </a:p>
        </p:txBody>
      </p:sp>
      <p:sp>
        <p:nvSpPr>
          <p:cNvPr id="3" name="Rectangle: Diagonal Corners Rounded 2">
            <a:extLst>
              <a:ext uri="{FF2B5EF4-FFF2-40B4-BE49-F238E27FC236}">
                <a16:creationId xmlns:a16="http://schemas.microsoft.com/office/drawing/2014/main" id="{58EF9357-294A-3485-A669-B0BD4834C409}"/>
              </a:ext>
            </a:extLst>
          </p:cNvPr>
          <p:cNvSpPr/>
          <p:nvPr/>
        </p:nvSpPr>
        <p:spPr>
          <a:xfrm>
            <a:off x="2386013" y="1943100"/>
            <a:ext cx="7515225" cy="1042988"/>
          </a:xfrm>
          <a:prstGeom prst="round2DiagRect">
            <a:avLst/>
          </a:prstGeom>
          <a:solidFill>
            <a:schemeClr val="accent2">
              <a:lumMod val="40000"/>
              <a:lumOff val="6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200" b="1" dirty="0">
                <a:solidFill>
                  <a:schemeClr val="tx1"/>
                </a:solidFill>
                <a:latin typeface="Arial Black" panose="020B0A04020102020204" pitchFamily="34" charset="0"/>
              </a:rPr>
              <a:t>Profession = Knowledge + Ethics</a:t>
            </a:r>
            <a:br>
              <a:rPr lang="en-US" sz="2200" b="1" dirty="0">
                <a:solidFill>
                  <a:schemeClr val="tx1"/>
                </a:solidFill>
                <a:latin typeface="Arial Black" panose="020B0A04020102020204" pitchFamily="34" charset="0"/>
              </a:rPr>
            </a:br>
            <a:r>
              <a:rPr lang="en-US" sz="2200" b="1" dirty="0">
                <a:solidFill>
                  <a:schemeClr val="tx1"/>
                </a:solidFill>
                <a:latin typeface="Arial Black" panose="020B0A04020102020204" pitchFamily="34" charset="0"/>
              </a:rPr>
              <a:t>Craftsmanship = Skill + Quality</a:t>
            </a:r>
          </a:p>
        </p:txBody>
      </p:sp>
    </p:spTree>
    <p:extLst>
      <p:ext uri="{BB962C8B-B14F-4D97-AF65-F5344CB8AC3E}">
        <p14:creationId xmlns:p14="http://schemas.microsoft.com/office/powerpoint/2010/main" val="3764554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FA3047-385A-8399-BF2D-00B5D21F94D3}"/>
              </a:ext>
            </a:extLst>
          </p:cNvPr>
          <p:cNvSpPr txBox="1"/>
          <p:nvPr/>
        </p:nvSpPr>
        <p:spPr>
          <a:xfrm>
            <a:off x="373856" y="335845"/>
            <a:ext cx="11444287" cy="6186309"/>
          </a:xfrm>
          <a:prstGeom prst="rect">
            <a:avLst/>
          </a:prstGeom>
          <a:noFill/>
        </p:spPr>
        <p:txBody>
          <a:bodyPr wrap="square" rtlCol="0">
            <a:spAutoFit/>
          </a:bodyPr>
          <a:lstStyle/>
          <a:p>
            <a:pPr algn="ctr"/>
            <a:r>
              <a:rPr lang="en-US" sz="3000" u="sng" dirty="0">
                <a:solidFill>
                  <a:schemeClr val="accent2">
                    <a:lumMod val="50000"/>
                  </a:schemeClr>
                </a:solidFill>
                <a:latin typeface="Arial Black" panose="020B0A04020102020204" pitchFamily="34" charset="0"/>
              </a:rPr>
              <a:t>Differences Between Profession and Craftsmanship</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endParaRPr lang="en-US" sz="2200" b="1" dirty="0"/>
          </a:p>
          <a:p>
            <a:pPr algn="just"/>
            <a:endParaRPr lang="en-US" sz="2200" b="1" dirty="0"/>
          </a:p>
          <a:p>
            <a:pPr algn="just"/>
            <a:endParaRPr lang="en-US" sz="2200" b="1" dirty="0"/>
          </a:p>
          <a:p>
            <a:pPr algn="just"/>
            <a:endParaRPr lang="en-US" sz="2200" b="1" dirty="0"/>
          </a:p>
          <a:p>
            <a:pPr algn="just"/>
            <a:r>
              <a:rPr lang="en-US" sz="2200" b="1" dirty="0"/>
              <a:t>A profession provides the knowledge and responsibility required for a job, while craftsmanship ensures that the work is performed with skill, dedication, and excellence.</a:t>
            </a:r>
          </a:p>
        </p:txBody>
      </p:sp>
      <p:graphicFrame>
        <p:nvGraphicFramePr>
          <p:cNvPr id="3" name="Table 2">
            <a:extLst>
              <a:ext uri="{FF2B5EF4-FFF2-40B4-BE49-F238E27FC236}">
                <a16:creationId xmlns:a16="http://schemas.microsoft.com/office/drawing/2014/main" id="{5B6EF120-D19F-C783-3901-45C4EBB41A44}"/>
              </a:ext>
            </a:extLst>
          </p:cNvPr>
          <p:cNvGraphicFramePr>
            <a:graphicFrameLocks noGrp="1"/>
          </p:cNvGraphicFramePr>
          <p:nvPr>
            <p:extLst>
              <p:ext uri="{D42A27DB-BD31-4B8C-83A1-F6EECF244321}">
                <p14:modId xmlns:p14="http://schemas.microsoft.com/office/powerpoint/2010/main" val="1654712224"/>
              </p:ext>
            </p:extLst>
          </p:nvPr>
        </p:nvGraphicFramePr>
        <p:xfrm>
          <a:off x="216694" y="1244441"/>
          <a:ext cx="11758612" cy="3999072"/>
        </p:xfrm>
        <a:graphic>
          <a:graphicData uri="http://schemas.openxmlformats.org/drawingml/2006/table">
            <a:tbl>
              <a:tblPr>
                <a:tableStyleId>{306799F8-075E-4A3A-A7F6-7FBC6576F1A4}</a:tableStyleId>
              </a:tblPr>
              <a:tblGrid>
                <a:gridCol w="2336148">
                  <a:extLst>
                    <a:ext uri="{9D8B030D-6E8A-4147-A177-3AD203B41FA5}">
                      <a16:colId xmlns:a16="http://schemas.microsoft.com/office/drawing/2014/main" val="3184098642"/>
                    </a:ext>
                  </a:extLst>
                </a:gridCol>
                <a:gridCol w="4703847">
                  <a:extLst>
                    <a:ext uri="{9D8B030D-6E8A-4147-A177-3AD203B41FA5}">
                      <a16:colId xmlns:a16="http://schemas.microsoft.com/office/drawing/2014/main" val="135655768"/>
                    </a:ext>
                  </a:extLst>
                </a:gridCol>
                <a:gridCol w="4718617">
                  <a:extLst>
                    <a:ext uri="{9D8B030D-6E8A-4147-A177-3AD203B41FA5}">
                      <a16:colId xmlns:a16="http://schemas.microsoft.com/office/drawing/2014/main" val="3472837235"/>
                    </a:ext>
                  </a:extLst>
                </a:gridCol>
              </a:tblGrid>
              <a:tr h="666512">
                <a:tc>
                  <a:txBody>
                    <a:bodyPr/>
                    <a:lstStyle/>
                    <a:p>
                      <a:pPr algn="ctr">
                        <a:buNone/>
                      </a:pPr>
                      <a:r>
                        <a:rPr lang="en-US" sz="2400" b="1" dirty="0">
                          <a:solidFill>
                            <a:schemeClr val="tx1"/>
                          </a:solidFill>
                          <a:latin typeface="Arial Black" panose="020B0A04020102020204" pitchFamily="34" charset="0"/>
                        </a:rPr>
                        <a:t>Basis</a:t>
                      </a:r>
                    </a:p>
                  </a:txBody>
                  <a:tcPr anchor="ctr">
                    <a:solidFill>
                      <a:schemeClr val="accent2"/>
                    </a:solidFill>
                  </a:tcPr>
                </a:tc>
                <a:tc>
                  <a:txBody>
                    <a:bodyPr/>
                    <a:lstStyle/>
                    <a:p>
                      <a:pPr algn="ctr">
                        <a:buNone/>
                      </a:pPr>
                      <a:r>
                        <a:rPr lang="en-US" sz="2400" b="1">
                          <a:solidFill>
                            <a:schemeClr val="tx1"/>
                          </a:solidFill>
                          <a:latin typeface="Arial Black" panose="020B0A04020102020204" pitchFamily="34" charset="0"/>
                        </a:rPr>
                        <a:t>Profession</a:t>
                      </a:r>
                    </a:p>
                  </a:txBody>
                  <a:tcPr anchor="ctr">
                    <a:solidFill>
                      <a:schemeClr val="accent2"/>
                    </a:solidFill>
                  </a:tcPr>
                </a:tc>
                <a:tc>
                  <a:txBody>
                    <a:bodyPr/>
                    <a:lstStyle/>
                    <a:p>
                      <a:pPr algn="ctr">
                        <a:buNone/>
                      </a:pPr>
                      <a:r>
                        <a:rPr lang="en-US" sz="2400" b="1" dirty="0">
                          <a:solidFill>
                            <a:schemeClr val="tx1"/>
                          </a:solidFill>
                          <a:latin typeface="Arial Black" panose="020B0A04020102020204" pitchFamily="34" charset="0"/>
                        </a:rPr>
                        <a:t>Craftsmanship</a:t>
                      </a:r>
                    </a:p>
                  </a:txBody>
                  <a:tcPr anchor="ctr">
                    <a:solidFill>
                      <a:schemeClr val="accent2"/>
                    </a:solidFill>
                  </a:tcPr>
                </a:tc>
                <a:extLst>
                  <a:ext uri="{0D108BD9-81ED-4DB2-BD59-A6C34878D82A}">
                    <a16:rowId xmlns:a16="http://schemas.microsoft.com/office/drawing/2014/main" val="3834140957"/>
                  </a:ext>
                </a:extLst>
              </a:tr>
              <a:tr h="1066419">
                <a:tc>
                  <a:txBody>
                    <a:bodyPr/>
                    <a:lstStyle/>
                    <a:p>
                      <a:pPr>
                        <a:buNone/>
                      </a:pPr>
                      <a:r>
                        <a:rPr lang="en-US" sz="2200" b="1" dirty="0">
                          <a:solidFill>
                            <a:schemeClr val="accent6">
                              <a:lumMod val="50000"/>
                            </a:schemeClr>
                          </a:solidFill>
                          <a:latin typeface="Arial Black" panose="020B0A04020102020204" pitchFamily="34" charset="0"/>
                        </a:rPr>
                        <a:t>Meaning</a:t>
                      </a:r>
                    </a:p>
                  </a:txBody>
                  <a:tcPr anchor="ctr">
                    <a:solidFill>
                      <a:schemeClr val="accent2">
                        <a:lumMod val="60000"/>
                        <a:lumOff val="40000"/>
                      </a:schemeClr>
                    </a:solidFill>
                  </a:tcPr>
                </a:tc>
                <a:tc>
                  <a:txBody>
                    <a:bodyPr/>
                    <a:lstStyle/>
                    <a:p>
                      <a:pPr algn="just">
                        <a:buNone/>
                      </a:pPr>
                      <a:r>
                        <a:rPr lang="en-US" sz="2200" b="1" dirty="0"/>
                        <a:t>Occupation requiring specialized knowledge</a:t>
                      </a:r>
                    </a:p>
                  </a:txBody>
                  <a:tcPr anchor="ctr"/>
                </a:tc>
                <a:tc>
                  <a:txBody>
                    <a:bodyPr/>
                    <a:lstStyle/>
                    <a:p>
                      <a:pPr algn="just">
                        <a:buNone/>
                      </a:pPr>
                      <a:r>
                        <a:rPr lang="en-US" sz="2200" b="1" dirty="0"/>
                        <a:t>Skill and dedication in performing work</a:t>
                      </a:r>
                    </a:p>
                  </a:txBody>
                  <a:tcPr anchor="ctr"/>
                </a:tc>
                <a:extLst>
                  <a:ext uri="{0D108BD9-81ED-4DB2-BD59-A6C34878D82A}">
                    <a16:rowId xmlns:a16="http://schemas.microsoft.com/office/drawing/2014/main" val="174243446"/>
                  </a:ext>
                </a:extLst>
              </a:tr>
              <a:tr h="599861">
                <a:tc>
                  <a:txBody>
                    <a:bodyPr/>
                    <a:lstStyle/>
                    <a:p>
                      <a:pPr>
                        <a:buNone/>
                      </a:pPr>
                      <a:r>
                        <a:rPr lang="en-US" sz="2200" b="1" dirty="0">
                          <a:solidFill>
                            <a:schemeClr val="accent6">
                              <a:lumMod val="50000"/>
                            </a:schemeClr>
                          </a:solidFill>
                          <a:latin typeface="Arial Black" panose="020B0A04020102020204" pitchFamily="34" charset="0"/>
                        </a:rPr>
                        <a:t>Focus</a:t>
                      </a:r>
                    </a:p>
                  </a:txBody>
                  <a:tcPr anchor="ctr">
                    <a:solidFill>
                      <a:schemeClr val="accent2">
                        <a:lumMod val="60000"/>
                        <a:lumOff val="40000"/>
                      </a:schemeClr>
                    </a:solidFill>
                  </a:tcPr>
                </a:tc>
                <a:tc>
                  <a:txBody>
                    <a:bodyPr/>
                    <a:lstStyle/>
                    <a:p>
                      <a:pPr algn="just">
                        <a:buNone/>
                      </a:pPr>
                      <a:r>
                        <a:rPr lang="en-US" sz="2200" b="1" dirty="0"/>
                        <a:t>Knowledge, training, and responsibility</a:t>
                      </a:r>
                    </a:p>
                  </a:txBody>
                  <a:tcPr anchor="ctr"/>
                </a:tc>
                <a:tc>
                  <a:txBody>
                    <a:bodyPr/>
                    <a:lstStyle/>
                    <a:p>
                      <a:pPr algn="just">
                        <a:buNone/>
                      </a:pPr>
                      <a:r>
                        <a:rPr lang="en-US" sz="2200" b="1" dirty="0"/>
                        <a:t>Quality and perfection of work</a:t>
                      </a:r>
                    </a:p>
                  </a:txBody>
                  <a:tcPr anchor="ctr"/>
                </a:tc>
                <a:extLst>
                  <a:ext uri="{0D108BD9-81ED-4DB2-BD59-A6C34878D82A}">
                    <a16:rowId xmlns:a16="http://schemas.microsoft.com/office/drawing/2014/main" val="678500762"/>
                  </a:ext>
                </a:extLst>
              </a:tr>
              <a:tr h="599861">
                <a:tc>
                  <a:txBody>
                    <a:bodyPr/>
                    <a:lstStyle/>
                    <a:p>
                      <a:pPr>
                        <a:buNone/>
                      </a:pPr>
                      <a:r>
                        <a:rPr lang="en-US" sz="2200" b="1" dirty="0">
                          <a:solidFill>
                            <a:schemeClr val="accent6">
                              <a:lumMod val="50000"/>
                            </a:schemeClr>
                          </a:solidFill>
                          <a:latin typeface="Arial Black" panose="020B0A04020102020204" pitchFamily="34" charset="0"/>
                        </a:rPr>
                        <a:t>Requirement</a:t>
                      </a:r>
                    </a:p>
                  </a:txBody>
                  <a:tcPr anchor="ctr">
                    <a:solidFill>
                      <a:schemeClr val="accent2">
                        <a:lumMod val="60000"/>
                        <a:lumOff val="40000"/>
                      </a:schemeClr>
                    </a:solidFill>
                  </a:tcPr>
                </a:tc>
                <a:tc>
                  <a:txBody>
                    <a:bodyPr/>
                    <a:lstStyle/>
                    <a:p>
                      <a:pPr algn="just">
                        <a:buNone/>
                      </a:pPr>
                      <a:r>
                        <a:rPr lang="en-US" sz="2200" b="1"/>
                        <a:t>Education and qualification</a:t>
                      </a:r>
                    </a:p>
                  </a:txBody>
                  <a:tcPr anchor="ctr"/>
                </a:tc>
                <a:tc>
                  <a:txBody>
                    <a:bodyPr/>
                    <a:lstStyle/>
                    <a:p>
                      <a:pPr algn="just">
                        <a:buNone/>
                      </a:pPr>
                      <a:r>
                        <a:rPr lang="en-US" sz="2200" b="1" dirty="0"/>
                        <a:t>Practice and skill development</a:t>
                      </a:r>
                    </a:p>
                  </a:txBody>
                  <a:tcPr anchor="ctr"/>
                </a:tc>
                <a:extLst>
                  <a:ext uri="{0D108BD9-81ED-4DB2-BD59-A6C34878D82A}">
                    <a16:rowId xmlns:a16="http://schemas.microsoft.com/office/drawing/2014/main" val="3323426929"/>
                  </a:ext>
                </a:extLst>
              </a:tr>
              <a:tr h="1066419">
                <a:tc>
                  <a:txBody>
                    <a:bodyPr/>
                    <a:lstStyle/>
                    <a:p>
                      <a:pPr>
                        <a:buNone/>
                      </a:pPr>
                      <a:r>
                        <a:rPr lang="en-US" sz="2200" b="1" dirty="0">
                          <a:solidFill>
                            <a:schemeClr val="accent6">
                              <a:lumMod val="50000"/>
                            </a:schemeClr>
                          </a:solidFill>
                          <a:latin typeface="Arial Black" panose="020B0A04020102020204" pitchFamily="34" charset="0"/>
                        </a:rPr>
                        <a:t>Example</a:t>
                      </a:r>
                    </a:p>
                  </a:txBody>
                  <a:tcPr anchor="ctr">
                    <a:solidFill>
                      <a:schemeClr val="accent2">
                        <a:lumMod val="60000"/>
                        <a:lumOff val="40000"/>
                      </a:schemeClr>
                    </a:solidFill>
                  </a:tcPr>
                </a:tc>
                <a:tc>
                  <a:txBody>
                    <a:bodyPr/>
                    <a:lstStyle/>
                    <a:p>
                      <a:pPr algn="just">
                        <a:buNone/>
                      </a:pPr>
                      <a:r>
                        <a:rPr lang="en-US" sz="2200" b="1" dirty="0"/>
                        <a:t>Engineer designing a system</a:t>
                      </a:r>
                    </a:p>
                  </a:txBody>
                  <a:tcPr anchor="ctr"/>
                </a:tc>
                <a:tc>
                  <a:txBody>
                    <a:bodyPr/>
                    <a:lstStyle/>
                    <a:p>
                      <a:pPr algn="just">
                        <a:buNone/>
                      </a:pPr>
                      <a:r>
                        <a:rPr lang="en-US" sz="2200" b="1" dirty="0"/>
                        <a:t>Engineer ensuring high-quality design and execution</a:t>
                      </a:r>
                    </a:p>
                  </a:txBody>
                  <a:tcPr anchor="ctr"/>
                </a:tc>
                <a:extLst>
                  <a:ext uri="{0D108BD9-81ED-4DB2-BD59-A6C34878D82A}">
                    <a16:rowId xmlns:a16="http://schemas.microsoft.com/office/drawing/2014/main" val="4204566273"/>
                  </a:ext>
                </a:extLst>
              </a:tr>
            </a:tbl>
          </a:graphicData>
        </a:graphic>
      </p:graphicFrame>
    </p:spTree>
    <p:extLst>
      <p:ext uri="{BB962C8B-B14F-4D97-AF65-F5344CB8AC3E}">
        <p14:creationId xmlns:p14="http://schemas.microsoft.com/office/powerpoint/2010/main" val="2556140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33C8-AC4F-6DEC-13C1-68FEC0AA58F6}"/>
              </a:ext>
            </a:extLst>
          </p:cNvPr>
          <p:cNvSpPr>
            <a:spLocks noGrp="1"/>
          </p:cNvSpPr>
          <p:nvPr>
            <p:ph type="title"/>
          </p:nvPr>
        </p:nvSpPr>
        <p:spPr>
          <a:xfrm>
            <a:off x="838200" y="214313"/>
            <a:ext cx="10515600" cy="534988"/>
          </a:xfrm>
        </p:spPr>
        <p:txBody>
          <a:bodyPr>
            <a:normAutofit fontScale="90000"/>
          </a:bodyPr>
          <a:lstStyle/>
          <a:p>
            <a:pPr algn="ctr"/>
            <a:r>
              <a:rPr lang="en-US" dirty="0">
                <a:solidFill>
                  <a:srgbClr val="FF0000"/>
                </a:solidFill>
                <a:latin typeface="Arial Black" panose="020B0A04020102020204" pitchFamily="34" charset="0"/>
              </a:rPr>
              <a:t>CONFLICT OF INTEREST</a:t>
            </a:r>
          </a:p>
        </p:txBody>
      </p:sp>
      <p:sp>
        <p:nvSpPr>
          <p:cNvPr id="3" name="Content Placeholder 2">
            <a:extLst>
              <a:ext uri="{FF2B5EF4-FFF2-40B4-BE49-F238E27FC236}">
                <a16:creationId xmlns:a16="http://schemas.microsoft.com/office/drawing/2014/main" id="{3CDD58B6-0C7B-7E24-A812-4AADFE875E5C}"/>
              </a:ext>
            </a:extLst>
          </p:cNvPr>
          <p:cNvSpPr>
            <a:spLocks noGrp="1"/>
          </p:cNvSpPr>
          <p:nvPr>
            <p:ph idx="1"/>
          </p:nvPr>
        </p:nvSpPr>
        <p:spPr>
          <a:xfrm>
            <a:off x="509587" y="1114427"/>
            <a:ext cx="11172825" cy="5743573"/>
          </a:xfrm>
        </p:spPr>
        <p:txBody>
          <a:bodyPr>
            <a:normAutofit fontScale="92500" lnSpcReduction="20000"/>
          </a:bodyPr>
          <a:lstStyle/>
          <a:p>
            <a:pPr marL="0" indent="0" algn="just">
              <a:lnSpc>
                <a:spcPct val="110000"/>
              </a:lnSpc>
              <a:buNone/>
            </a:pPr>
            <a:r>
              <a:rPr lang="en-US" sz="2500" b="1" dirty="0"/>
              <a:t>A conflict of interest occurs when a professional’s personal interests, relationships, or benefits interfere with their professional duties and responsibilities. The professional may find it difficult to make fair and unbiased decisions.</a:t>
            </a:r>
          </a:p>
          <a:p>
            <a:pPr marL="0" indent="0" algn="just">
              <a:lnSpc>
                <a:spcPct val="110000"/>
              </a:lnSpc>
              <a:buNone/>
            </a:pPr>
            <a:r>
              <a:rPr lang="en-US" sz="2500" b="1" dirty="0"/>
              <a:t>Conflict of interest is a situation where a person’s personal interest influences or interferes with their professional responsibility.</a:t>
            </a:r>
          </a:p>
          <a:p>
            <a:pPr algn="just">
              <a:buFont typeface="Wingdings" panose="05000000000000000000" pitchFamily="2" charset="2"/>
              <a:buChar char="§"/>
            </a:pPr>
            <a:endParaRPr lang="en-US" sz="2200" dirty="0"/>
          </a:p>
          <a:p>
            <a:pPr algn="just">
              <a:buFont typeface="Wingdings" panose="05000000000000000000" pitchFamily="2" charset="2"/>
              <a:buChar char="§"/>
            </a:pPr>
            <a:endParaRPr lang="en-US" sz="2200" dirty="0"/>
          </a:p>
          <a:p>
            <a:pPr marL="0" indent="0" algn="just">
              <a:buNone/>
            </a:pPr>
            <a:endParaRPr lang="en-US" sz="2400" b="1" u="sng" dirty="0">
              <a:solidFill>
                <a:schemeClr val="accent2">
                  <a:lumMod val="50000"/>
                </a:schemeClr>
              </a:solidFill>
              <a:latin typeface="Arial Black" panose="020B0A04020102020204" pitchFamily="34" charset="0"/>
            </a:endParaRPr>
          </a:p>
          <a:p>
            <a:pPr marL="0" indent="0" algn="just">
              <a:buNone/>
            </a:pPr>
            <a:endParaRPr lang="en-US" sz="2400" b="1" u="sng" dirty="0">
              <a:solidFill>
                <a:schemeClr val="accent2">
                  <a:lumMod val="50000"/>
                </a:schemeClr>
              </a:solidFill>
              <a:latin typeface="Arial Black" panose="020B0A04020102020204" pitchFamily="34" charset="0"/>
            </a:endParaRPr>
          </a:p>
          <a:p>
            <a:pPr marL="0" indent="0" algn="just">
              <a:buNone/>
            </a:pPr>
            <a:r>
              <a:rPr lang="en-US" sz="2400" b="1" u="sng" dirty="0">
                <a:solidFill>
                  <a:schemeClr val="accent2">
                    <a:lumMod val="50000"/>
                  </a:schemeClr>
                </a:solidFill>
                <a:latin typeface="Arial Black" panose="020B0A04020102020204" pitchFamily="34" charset="0"/>
              </a:rPr>
              <a:t>Conflict of Interest is an Ethical Issue</a:t>
            </a:r>
          </a:p>
          <a:p>
            <a:pPr marL="0" indent="0" algn="just">
              <a:buNone/>
            </a:pPr>
            <a:r>
              <a:rPr lang="en-US" sz="2400" b="1" dirty="0"/>
              <a:t>Professionals are expected to make honest and unbiased decisions. When personal interests interfere with professional judgment, it may lead to:</a:t>
            </a:r>
          </a:p>
          <a:p>
            <a:pPr>
              <a:buFont typeface="Courier New" panose="02070309020205020404" pitchFamily="49" charset="0"/>
              <a:buChar char="o"/>
            </a:pPr>
            <a:r>
              <a:rPr lang="en-US" sz="2400" b="1" dirty="0">
                <a:solidFill>
                  <a:schemeClr val="accent6">
                    <a:lumMod val="50000"/>
                  </a:schemeClr>
                </a:solidFill>
              </a:rPr>
              <a:t>Unfair decisions</a:t>
            </a:r>
          </a:p>
          <a:p>
            <a:pPr>
              <a:buFont typeface="Courier New" panose="02070309020205020404" pitchFamily="49" charset="0"/>
              <a:buChar char="o"/>
            </a:pPr>
            <a:r>
              <a:rPr lang="en-US" sz="2400" b="1" dirty="0">
                <a:solidFill>
                  <a:schemeClr val="accent6">
                    <a:lumMod val="50000"/>
                  </a:schemeClr>
                </a:solidFill>
              </a:rPr>
              <a:t>Loss of trust</a:t>
            </a:r>
          </a:p>
          <a:p>
            <a:pPr>
              <a:buFont typeface="Courier New" panose="02070309020205020404" pitchFamily="49" charset="0"/>
              <a:buChar char="o"/>
            </a:pPr>
            <a:r>
              <a:rPr lang="en-US" sz="2400" b="1" dirty="0">
                <a:solidFill>
                  <a:schemeClr val="accent6">
                    <a:lumMod val="50000"/>
                  </a:schemeClr>
                </a:solidFill>
              </a:rPr>
              <a:t>Corruption or unethical behavior</a:t>
            </a:r>
          </a:p>
          <a:p>
            <a:pPr>
              <a:buFont typeface="Courier New" panose="02070309020205020404" pitchFamily="49" charset="0"/>
              <a:buChar char="o"/>
            </a:pPr>
            <a:r>
              <a:rPr lang="en-US" sz="2400" b="1" dirty="0">
                <a:solidFill>
                  <a:schemeClr val="accent6">
                    <a:lumMod val="50000"/>
                  </a:schemeClr>
                </a:solidFill>
              </a:rPr>
              <a:t>Damage to professional reputation</a:t>
            </a:r>
          </a:p>
          <a:p>
            <a:pPr marL="0" indent="0" algn="just">
              <a:buNone/>
            </a:pPr>
            <a:endParaRPr lang="en-US" sz="2200" dirty="0"/>
          </a:p>
        </p:txBody>
      </p:sp>
      <p:sp>
        <p:nvSpPr>
          <p:cNvPr id="4" name="Rectangle: Rounded Corners 3">
            <a:extLst>
              <a:ext uri="{FF2B5EF4-FFF2-40B4-BE49-F238E27FC236}">
                <a16:creationId xmlns:a16="http://schemas.microsoft.com/office/drawing/2014/main" id="{5BB47C71-765E-7BF3-E120-D1B34303B53D}"/>
              </a:ext>
            </a:extLst>
          </p:cNvPr>
          <p:cNvSpPr/>
          <p:nvPr/>
        </p:nvSpPr>
        <p:spPr>
          <a:xfrm>
            <a:off x="1627585" y="3157538"/>
            <a:ext cx="9194006" cy="828675"/>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accent2">
                    <a:lumMod val="50000"/>
                  </a:schemeClr>
                </a:solidFill>
              </a:rPr>
              <a:t>Conflict of Interest = Personal Interest vs Professional Duty</a:t>
            </a:r>
          </a:p>
        </p:txBody>
      </p:sp>
    </p:spTree>
    <p:extLst>
      <p:ext uri="{BB962C8B-B14F-4D97-AF65-F5344CB8AC3E}">
        <p14:creationId xmlns:p14="http://schemas.microsoft.com/office/powerpoint/2010/main" val="449785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18844A0-5CC0-8CB2-9278-FE8135AB259F}"/>
              </a:ext>
            </a:extLst>
          </p:cNvPr>
          <p:cNvSpPr txBox="1"/>
          <p:nvPr/>
        </p:nvSpPr>
        <p:spPr>
          <a:xfrm>
            <a:off x="431006" y="271464"/>
            <a:ext cx="11329988" cy="6553589"/>
          </a:xfrm>
          <a:prstGeom prst="rect">
            <a:avLst/>
          </a:prstGeom>
          <a:noFill/>
        </p:spPr>
        <p:txBody>
          <a:bodyPr wrap="square" rtlCol="0">
            <a:spAutoFit/>
          </a:bodyPr>
          <a:lstStyle/>
          <a:p>
            <a:pPr algn="just">
              <a:lnSpc>
                <a:spcPct val="70000"/>
              </a:lnSpc>
              <a:spcBef>
                <a:spcPts val="1000"/>
              </a:spcBef>
            </a:pPr>
            <a:r>
              <a:rPr lang="en-US" sz="2200" b="1" u="sng" dirty="0">
                <a:solidFill>
                  <a:schemeClr val="accent2">
                    <a:lumMod val="50000"/>
                  </a:schemeClr>
                </a:solidFill>
                <a:latin typeface="Arial Black" panose="020B0A04020102020204" pitchFamily="34" charset="0"/>
              </a:rPr>
              <a:t>Types of Conflict of Interest</a:t>
            </a:r>
            <a:endParaRPr lang="en-US" dirty="0"/>
          </a:p>
          <a:p>
            <a:pPr algn="just"/>
            <a:r>
              <a:rPr lang="en-US" sz="2400" b="1" dirty="0">
                <a:solidFill>
                  <a:schemeClr val="accent6">
                    <a:lumMod val="50000"/>
                  </a:schemeClr>
                </a:solidFill>
              </a:rPr>
              <a:t>1. Actual Conflict of Interest: </a:t>
            </a:r>
            <a:r>
              <a:rPr lang="en-US" sz="2100" dirty="0"/>
              <a:t>This occurs when personal interests directly influence professional decisions.</a:t>
            </a:r>
          </a:p>
          <a:p>
            <a:pPr algn="just"/>
            <a:r>
              <a:rPr lang="en-US" sz="2400" b="1" dirty="0">
                <a:solidFill>
                  <a:schemeClr val="accent6">
                    <a:lumMod val="50000"/>
                  </a:schemeClr>
                </a:solidFill>
              </a:rPr>
              <a:t>2. Potential Conflict of Interest: </a:t>
            </a:r>
            <a:r>
              <a:rPr lang="en-US" sz="2100" dirty="0"/>
              <a:t>This occurs when a situation could lead to a conflict in the future, even if it has not yet affected decisions.</a:t>
            </a:r>
          </a:p>
          <a:p>
            <a:pPr algn="just"/>
            <a:r>
              <a:rPr lang="en-US" sz="2400" b="1" dirty="0">
                <a:solidFill>
                  <a:schemeClr val="accent6">
                    <a:lumMod val="50000"/>
                  </a:schemeClr>
                </a:solidFill>
              </a:rPr>
              <a:t>3. Perceived Conflict of Interest: </a:t>
            </a:r>
            <a:r>
              <a:rPr lang="en-US" sz="2100" dirty="0"/>
              <a:t>This occurs when others believe that a professional’s decision may be biased, even if the person acts fairly.</a:t>
            </a:r>
          </a:p>
          <a:p>
            <a:endParaRPr lang="en-US" dirty="0"/>
          </a:p>
          <a:p>
            <a:pPr algn="just">
              <a:lnSpc>
                <a:spcPct val="70000"/>
              </a:lnSpc>
              <a:spcBef>
                <a:spcPts val="1000"/>
              </a:spcBef>
            </a:pPr>
            <a:r>
              <a:rPr lang="en-US" sz="2200" b="1" u="sng" dirty="0">
                <a:solidFill>
                  <a:schemeClr val="accent2">
                    <a:lumMod val="50000"/>
                  </a:schemeClr>
                </a:solidFill>
                <a:latin typeface="Arial Black" panose="020B0A04020102020204" pitchFamily="34" charset="0"/>
              </a:rPr>
              <a:t>Conflict of Interest in Engineering</a:t>
            </a:r>
          </a:p>
          <a:p>
            <a:pPr marL="342900" lvl="0" indent="-342900" eaLnBrk="0" fontAlgn="base" hangingPunct="0">
              <a:spcBef>
                <a:spcPct val="0"/>
              </a:spcBef>
              <a:spcAft>
                <a:spcPct val="0"/>
              </a:spcAft>
              <a:buFont typeface="Wingdings" panose="05000000000000000000" pitchFamily="2" charset="2"/>
              <a:buChar char="§"/>
            </a:pPr>
            <a:r>
              <a:rPr lang="en-US" altLang="en-US" sz="2100" b="1" dirty="0"/>
              <a:t>Accepting gifts or bribes from suppliers</a:t>
            </a:r>
          </a:p>
          <a:p>
            <a:pPr marL="342900" lvl="0" indent="-342900" eaLnBrk="0" fontAlgn="base" hangingPunct="0">
              <a:spcBef>
                <a:spcPct val="0"/>
              </a:spcBef>
              <a:spcAft>
                <a:spcPct val="0"/>
              </a:spcAft>
              <a:buFont typeface="Wingdings" panose="05000000000000000000" pitchFamily="2" charset="2"/>
              <a:buChar char="§"/>
            </a:pPr>
            <a:r>
              <a:rPr lang="en-US" altLang="en-US" sz="2100" b="1" dirty="0"/>
              <a:t>Approving projects that benefit personal contacts</a:t>
            </a:r>
          </a:p>
          <a:p>
            <a:pPr marL="342900" lvl="0" indent="-342900" eaLnBrk="0" fontAlgn="base" hangingPunct="0">
              <a:spcBef>
                <a:spcPct val="0"/>
              </a:spcBef>
              <a:spcAft>
                <a:spcPct val="0"/>
              </a:spcAft>
              <a:buFont typeface="Wingdings" panose="05000000000000000000" pitchFamily="2" charset="2"/>
              <a:buChar char="§"/>
            </a:pPr>
            <a:r>
              <a:rPr lang="en-US" altLang="en-US" sz="2100" b="1" dirty="0"/>
              <a:t>Sharing confidential company information for personal gain</a:t>
            </a:r>
          </a:p>
          <a:p>
            <a:pPr marL="342900" lvl="0" indent="-342900" eaLnBrk="0" fontAlgn="base" hangingPunct="0">
              <a:spcBef>
                <a:spcPct val="0"/>
              </a:spcBef>
              <a:spcAft>
                <a:spcPct val="0"/>
              </a:spcAft>
              <a:buFont typeface="Wingdings" panose="05000000000000000000" pitchFamily="2" charset="2"/>
              <a:buChar char="§"/>
            </a:pPr>
            <a:r>
              <a:rPr lang="en-US" altLang="en-US" sz="2100" b="1" dirty="0"/>
              <a:t>Taking decisions that prioritize personal profit over public safety</a:t>
            </a:r>
          </a:p>
          <a:p>
            <a:endParaRPr lang="en-US" dirty="0"/>
          </a:p>
          <a:p>
            <a:pPr algn="just">
              <a:lnSpc>
                <a:spcPct val="70000"/>
              </a:lnSpc>
              <a:spcBef>
                <a:spcPts val="1000"/>
              </a:spcBef>
            </a:pPr>
            <a:r>
              <a:rPr lang="en-US" sz="2200" b="1" u="sng" dirty="0">
                <a:solidFill>
                  <a:schemeClr val="accent2">
                    <a:lumMod val="50000"/>
                  </a:schemeClr>
                </a:solidFill>
                <a:latin typeface="Arial Black" panose="020B0A04020102020204" pitchFamily="34" charset="0"/>
              </a:rPr>
              <a:t>Importance of Avoiding Conflict of Interest</a:t>
            </a:r>
          </a:p>
          <a:p>
            <a:pPr marL="342900" indent="-342900">
              <a:buFont typeface="Wingdings" panose="05000000000000000000" pitchFamily="2" charset="2"/>
              <a:buChar char="§"/>
            </a:pPr>
            <a:r>
              <a:rPr lang="en-US" sz="2100" b="1" dirty="0">
                <a:solidFill>
                  <a:schemeClr val="accent6">
                    <a:lumMod val="50000"/>
                  </a:schemeClr>
                </a:solidFill>
              </a:rPr>
              <a:t>Avoiding conflicts of interest helps professionals to:</a:t>
            </a:r>
          </a:p>
          <a:p>
            <a:pPr marL="342900" indent="-342900">
              <a:buFont typeface="Wingdings" panose="05000000000000000000" pitchFamily="2" charset="2"/>
              <a:buChar char="§"/>
            </a:pPr>
            <a:r>
              <a:rPr lang="en-US" sz="2100" b="1" dirty="0">
                <a:solidFill>
                  <a:schemeClr val="accent6">
                    <a:lumMod val="50000"/>
                  </a:schemeClr>
                </a:solidFill>
              </a:rPr>
              <a:t>Maintain integrity</a:t>
            </a:r>
          </a:p>
          <a:p>
            <a:pPr marL="342900" indent="-342900">
              <a:buFont typeface="Wingdings" panose="05000000000000000000" pitchFamily="2" charset="2"/>
              <a:buChar char="§"/>
            </a:pPr>
            <a:r>
              <a:rPr lang="en-US" sz="2100" b="1" dirty="0">
                <a:solidFill>
                  <a:schemeClr val="accent6">
                    <a:lumMod val="50000"/>
                  </a:schemeClr>
                </a:solidFill>
              </a:rPr>
              <a:t>Build trust with society and organizations</a:t>
            </a:r>
          </a:p>
          <a:p>
            <a:pPr marL="342900" indent="-342900">
              <a:buFont typeface="Wingdings" panose="05000000000000000000" pitchFamily="2" charset="2"/>
              <a:buChar char="§"/>
            </a:pPr>
            <a:r>
              <a:rPr lang="en-US" sz="2100" b="1" dirty="0">
                <a:solidFill>
                  <a:schemeClr val="accent6">
                    <a:lumMod val="50000"/>
                  </a:schemeClr>
                </a:solidFill>
              </a:rPr>
              <a:t>Make fair and unbiased decisions</a:t>
            </a:r>
          </a:p>
          <a:p>
            <a:pPr marL="342900" indent="-342900">
              <a:buFont typeface="Wingdings" panose="05000000000000000000" pitchFamily="2" charset="2"/>
              <a:buChar char="§"/>
            </a:pPr>
            <a:r>
              <a:rPr lang="en-US" sz="2100" b="1" dirty="0">
                <a:solidFill>
                  <a:schemeClr val="accent6">
                    <a:lumMod val="50000"/>
                  </a:schemeClr>
                </a:solidFill>
              </a:rPr>
              <a:t>Protect professional reputation</a:t>
            </a:r>
          </a:p>
        </p:txBody>
      </p:sp>
      <p:sp>
        <p:nvSpPr>
          <p:cNvPr id="3" name="Rectangle: Rounded Corners 2">
            <a:extLst>
              <a:ext uri="{FF2B5EF4-FFF2-40B4-BE49-F238E27FC236}">
                <a16:creationId xmlns:a16="http://schemas.microsoft.com/office/drawing/2014/main" id="{F8767D69-668A-5E7E-4B08-A3E16CC266F9}"/>
              </a:ext>
            </a:extLst>
          </p:cNvPr>
          <p:cNvSpPr/>
          <p:nvPr/>
        </p:nvSpPr>
        <p:spPr>
          <a:xfrm>
            <a:off x="6096000" y="2414588"/>
            <a:ext cx="1785938" cy="101441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Actual Conflict of Interest</a:t>
            </a:r>
            <a:endParaRPr lang="en-US" sz="2000" dirty="0">
              <a:solidFill>
                <a:schemeClr val="tx1"/>
              </a:solidFill>
            </a:endParaRPr>
          </a:p>
        </p:txBody>
      </p:sp>
      <p:sp>
        <p:nvSpPr>
          <p:cNvPr id="4" name="Rectangle: Rounded Corners 3">
            <a:extLst>
              <a:ext uri="{FF2B5EF4-FFF2-40B4-BE49-F238E27FC236}">
                <a16:creationId xmlns:a16="http://schemas.microsoft.com/office/drawing/2014/main" id="{70DC749A-3747-2A31-6501-61B65B4A6E8C}"/>
              </a:ext>
            </a:extLst>
          </p:cNvPr>
          <p:cNvSpPr/>
          <p:nvPr/>
        </p:nvSpPr>
        <p:spPr>
          <a:xfrm>
            <a:off x="8251030" y="2471737"/>
            <a:ext cx="1785938" cy="101441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Potential Conflict of Interest</a:t>
            </a:r>
            <a:endParaRPr lang="en-US" sz="2000" dirty="0">
              <a:solidFill>
                <a:schemeClr val="tx1"/>
              </a:solidFill>
            </a:endParaRPr>
          </a:p>
        </p:txBody>
      </p:sp>
      <p:sp>
        <p:nvSpPr>
          <p:cNvPr id="5" name="Rectangle: Rounded Corners 4">
            <a:extLst>
              <a:ext uri="{FF2B5EF4-FFF2-40B4-BE49-F238E27FC236}">
                <a16:creationId xmlns:a16="http://schemas.microsoft.com/office/drawing/2014/main" id="{7AFE6E35-46D2-3287-19D4-AAD2224959DA}"/>
              </a:ext>
            </a:extLst>
          </p:cNvPr>
          <p:cNvSpPr/>
          <p:nvPr/>
        </p:nvSpPr>
        <p:spPr>
          <a:xfrm>
            <a:off x="10381055" y="2471736"/>
            <a:ext cx="1749032" cy="1014413"/>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Perceived Conflict of Interest</a:t>
            </a:r>
            <a:endParaRPr lang="en-US" dirty="0">
              <a:solidFill>
                <a:schemeClr val="tx1"/>
              </a:solidFill>
            </a:endParaRPr>
          </a:p>
        </p:txBody>
      </p:sp>
      <p:cxnSp>
        <p:nvCxnSpPr>
          <p:cNvPr id="7" name="Straight Connector 6">
            <a:extLst>
              <a:ext uri="{FF2B5EF4-FFF2-40B4-BE49-F238E27FC236}">
                <a16:creationId xmlns:a16="http://schemas.microsoft.com/office/drawing/2014/main" id="{0E877CEE-312E-7687-C249-F5C0F9381BF6}"/>
              </a:ext>
            </a:extLst>
          </p:cNvPr>
          <p:cNvCxnSpPr/>
          <p:nvPr/>
        </p:nvCxnSpPr>
        <p:spPr>
          <a:xfrm>
            <a:off x="7881938" y="2921794"/>
            <a:ext cx="369092"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D0965E4-2C97-C173-5513-7E1C27AE3E29}"/>
              </a:ext>
            </a:extLst>
          </p:cNvPr>
          <p:cNvCxnSpPr>
            <a:cxnSpLocks/>
          </p:cNvCxnSpPr>
          <p:nvPr/>
        </p:nvCxnSpPr>
        <p:spPr>
          <a:xfrm>
            <a:off x="10010172" y="2921793"/>
            <a:ext cx="39588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5937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6BEB5B-6710-A02C-E836-69C1D1D1FDF6}"/>
              </a:ext>
            </a:extLst>
          </p:cNvPr>
          <p:cNvSpPr txBox="1"/>
          <p:nvPr/>
        </p:nvSpPr>
        <p:spPr>
          <a:xfrm>
            <a:off x="409575" y="419314"/>
            <a:ext cx="11372850" cy="6354047"/>
          </a:xfrm>
          <a:prstGeom prst="rect">
            <a:avLst/>
          </a:prstGeom>
          <a:noFill/>
        </p:spPr>
        <p:txBody>
          <a:bodyPr wrap="square" rtlCol="0">
            <a:spAutoFit/>
          </a:bodyPr>
          <a:lstStyle/>
          <a:p>
            <a:pPr algn="just">
              <a:lnSpc>
                <a:spcPct val="70000"/>
              </a:lnSpc>
              <a:spcBef>
                <a:spcPts val="1000"/>
              </a:spcBef>
            </a:pPr>
            <a:r>
              <a:rPr lang="en-US" sz="2800" b="1" u="sng" dirty="0">
                <a:solidFill>
                  <a:schemeClr val="accent2">
                    <a:lumMod val="50000"/>
                  </a:schemeClr>
                </a:solidFill>
                <a:latin typeface="Arial Black" panose="020B0A04020102020204" pitchFamily="34" charset="0"/>
              </a:rPr>
              <a:t>Consequences of Conflict of Interest</a:t>
            </a:r>
          </a:p>
          <a:p>
            <a:pPr algn="just">
              <a:lnSpc>
                <a:spcPct val="70000"/>
              </a:lnSpc>
              <a:spcBef>
                <a:spcPts val="1000"/>
              </a:spcBef>
            </a:pPr>
            <a:endParaRPr lang="en-US" sz="2100" dirty="0"/>
          </a:p>
          <a:p>
            <a:pPr algn="just">
              <a:lnSpc>
                <a:spcPct val="70000"/>
              </a:lnSpc>
              <a:spcBef>
                <a:spcPts val="1000"/>
              </a:spcBef>
            </a:pPr>
            <a:r>
              <a:rPr lang="en-US" sz="2400" b="1" dirty="0"/>
              <a:t>If conflicts of interest are not handled properly, they can lead to:</a:t>
            </a:r>
          </a:p>
          <a:p>
            <a:pPr marL="342900" indent="-342900">
              <a:buFont typeface="Wingdings" panose="05000000000000000000" pitchFamily="2" charset="2"/>
              <a:buChar char="§"/>
            </a:pPr>
            <a:r>
              <a:rPr lang="en-US" sz="2400" b="1" dirty="0">
                <a:solidFill>
                  <a:schemeClr val="accent6">
                    <a:lumMod val="50000"/>
                  </a:schemeClr>
                </a:solidFill>
              </a:rPr>
              <a:t>Corruption and unethical practices</a:t>
            </a:r>
          </a:p>
          <a:p>
            <a:pPr marL="342900" indent="-342900">
              <a:buFont typeface="Wingdings" panose="05000000000000000000" pitchFamily="2" charset="2"/>
              <a:buChar char="§"/>
            </a:pPr>
            <a:r>
              <a:rPr lang="en-US" sz="2400" b="1" dirty="0">
                <a:solidFill>
                  <a:schemeClr val="accent6">
                    <a:lumMod val="50000"/>
                  </a:schemeClr>
                </a:solidFill>
              </a:rPr>
              <a:t>Loss of public trust</a:t>
            </a:r>
          </a:p>
          <a:p>
            <a:pPr marL="342900" indent="-342900">
              <a:buFont typeface="Wingdings" panose="05000000000000000000" pitchFamily="2" charset="2"/>
              <a:buChar char="§"/>
            </a:pPr>
            <a:r>
              <a:rPr lang="en-US" sz="2400" b="1" dirty="0">
                <a:solidFill>
                  <a:schemeClr val="accent6">
                    <a:lumMod val="50000"/>
                  </a:schemeClr>
                </a:solidFill>
              </a:rPr>
              <a:t>Legal problems</a:t>
            </a:r>
          </a:p>
          <a:p>
            <a:pPr marL="342900" indent="-342900">
              <a:buFont typeface="Wingdings" panose="05000000000000000000" pitchFamily="2" charset="2"/>
              <a:buChar char="§"/>
            </a:pPr>
            <a:r>
              <a:rPr lang="en-US" sz="2400" b="1" dirty="0">
                <a:solidFill>
                  <a:schemeClr val="accent6">
                    <a:lumMod val="50000"/>
                  </a:schemeClr>
                </a:solidFill>
              </a:rPr>
              <a:t>Damage to professional reputation</a:t>
            </a:r>
          </a:p>
          <a:p>
            <a:pPr marL="342900" indent="-342900">
              <a:buFont typeface="Wingdings" panose="05000000000000000000" pitchFamily="2" charset="2"/>
              <a:buChar char="§"/>
            </a:pPr>
            <a:r>
              <a:rPr lang="en-US" sz="2400" b="1" dirty="0">
                <a:solidFill>
                  <a:schemeClr val="accent6">
                    <a:lumMod val="50000"/>
                  </a:schemeClr>
                </a:solidFill>
              </a:rPr>
              <a:t>Poor quality work or unsafe projects</a:t>
            </a:r>
          </a:p>
          <a:p>
            <a:endParaRPr lang="en-US" dirty="0"/>
          </a:p>
          <a:p>
            <a:pPr algn="just">
              <a:lnSpc>
                <a:spcPct val="70000"/>
              </a:lnSpc>
              <a:spcBef>
                <a:spcPts val="1000"/>
              </a:spcBef>
            </a:pPr>
            <a:r>
              <a:rPr lang="en-US" sz="2400" b="1" u="sng" dirty="0">
                <a:solidFill>
                  <a:schemeClr val="accent2">
                    <a:lumMod val="50000"/>
                  </a:schemeClr>
                </a:solidFill>
                <a:latin typeface="Arial Black" panose="020B0A04020102020204" pitchFamily="34" charset="0"/>
              </a:rPr>
              <a:t>Ways Professionals Should Handle Conflict of Interest:</a:t>
            </a:r>
          </a:p>
          <a:p>
            <a:endParaRPr lang="en-US" sz="2100" dirty="0"/>
          </a:p>
          <a:p>
            <a:pPr algn="just">
              <a:spcBef>
                <a:spcPts val="300"/>
              </a:spcBef>
              <a:spcAft>
                <a:spcPts val="300"/>
              </a:spcAft>
            </a:pPr>
            <a:r>
              <a:rPr lang="en-US" sz="2400" b="1" dirty="0">
                <a:solidFill>
                  <a:schemeClr val="accent6">
                    <a:lumMod val="50000"/>
                  </a:schemeClr>
                </a:solidFill>
              </a:rPr>
              <a:t>1. Avoid Conflicts Whenever Possible: </a:t>
            </a:r>
            <a:r>
              <a:rPr lang="en-US" sz="2100" dirty="0"/>
              <a:t>Do not engage in situations where personal interests interfere with professional duties.</a:t>
            </a:r>
          </a:p>
          <a:p>
            <a:pPr algn="just">
              <a:spcBef>
                <a:spcPts val="300"/>
              </a:spcBef>
              <a:spcAft>
                <a:spcPts val="300"/>
              </a:spcAft>
            </a:pPr>
            <a:r>
              <a:rPr lang="en-US" sz="2400" b="1" dirty="0">
                <a:solidFill>
                  <a:schemeClr val="accent6">
                    <a:lumMod val="50000"/>
                  </a:schemeClr>
                </a:solidFill>
              </a:rPr>
              <a:t>2. Disclosure: </a:t>
            </a:r>
            <a:r>
              <a:rPr lang="en-US" sz="2100" dirty="0"/>
              <a:t>If a conflict exists, the professional should inform the organization or authority.</a:t>
            </a:r>
          </a:p>
          <a:p>
            <a:pPr algn="just">
              <a:spcBef>
                <a:spcPts val="300"/>
              </a:spcBef>
              <a:spcAft>
                <a:spcPts val="300"/>
              </a:spcAft>
            </a:pPr>
            <a:r>
              <a:rPr lang="en-US" sz="2400" b="1" dirty="0">
                <a:solidFill>
                  <a:schemeClr val="accent6">
                    <a:lumMod val="50000"/>
                  </a:schemeClr>
                </a:solidFill>
              </a:rPr>
              <a:t>3. Transparency</a:t>
            </a:r>
            <a:r>
              <a:rPr lang="en-US" sz="2100" b="1" dirty="0">
                <a:solidFill>
                  <a:schemeClr val="accent6">
                    <a:lumMod val="50000"/>
                  </a:schemeClr>
                </a:solidFill>
              </a:rPr>
              <a:t>:</a:t>
            </a:r>
            <a:r>
              <a:rPr lang="en-US" sz="2100" b="1" dirty="0"/>
              <a:t> </a:t>
            </a:r>
            <a:r>
              <a:rPr lang="en-US" sz="2100" dirty="0"/>
              <a:t>Decisions should be made openly and fairly.</a:t>
            </a:r>
          </a:p>
          <a:p>
            <a:pPr algn="just">
              <a:spcBef>
                <a:spcPts val="300"/>
              </a:spcBef>
              <a:spcAft>
                <a:spcPts val="300"/>
              </a:spcAft>
            </a:pPr>
            <a:r>
              <a:rPr lang="en-US" sz="2400" b="1" dirty="0">
                <a:solidFill>
                  <a:schemeClr val="accent6">
                    <a:lumMod val="50000"/>
                  </a:schemeClr>
                </a:solidFill>
              </a:rPr>
              <a:t>4. Ethical Judgment: </a:t>
            </a:r>
            <a:r>
              <a:rPr lang="en-US" sz="2100" dirty="0"/>
              <a:t>Professionals should prioritize public welfare and professional integrity.</a:t>
            </a:r>
          </a:p>
          <a:p>
            <a:endParaRPr lang="en-US" dirty="0"/>
          </a:p>
        </p:txBody>
      </p:sp>
    </p:spTree>
    <p:extLst>
      <p:ext uri="{BB962C8B-B14F-4D97-AF65-F5344CB8AC3E}">
        <p14:creationId xmlns:p14="http://schemas.microsoft.com/office/powerpoint/2010/main" val="15215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C357-37A6-6E00-3CA5-682883C0D55F}"/>
              </a:ext>
            </a:extLst>
          </p:cNvPr>
          <p:cNvSpPr>
            <a:spLocks noGrp="1"/>
          </p:cNvSpPr>
          <p:nvPr>
            <p:ph type="title"/>
          </p:nvPr>
        </p:nvSpPr>
        <p:spPr>
          <a:xfrm>
            <a:off x="288131" y="193675"/>
            <a:ext cx="11615737" cy="577850"/>
          </a:xfrm>
        </p:spPr>
        <p:txBody>
          <a:bodyPr>
            <a:normAutofit fontScale="90000"/>
          </a:bodyPr>
          <a:lstStyle/>
          <a:p>
            <a:r>
              <a:rPr lang="en-US" dirty="0">
                <a:solidFill>
                  <a:srgbClr val="FF0000"/>
                </a:solidFill>
                <a:latin typeface="Arial Black" panose="020B0A04020102020204" pitchFamily="34" charset="0"/>
              </a:rPr>
              <a:t>Distinguishing Features of a Professional</a:t>
            </a:r>
          </a:p>
        </p:txBody>
      </p:sp>
      <p:sp>
        <p:nvSpPr>
          <p:cNvPr id="3" name="Content Placeholder 2">
            <a:extLst>
              <a:ext uri="{FF2B5EF4-FFF2-40B4-BE49-F238E27FC236}">
                <a16:creationId xmlns:a16="http://schemas.microsoft.com/office/drawing/2014/main" id="{FDF563CC-EB83-E446-1108-6C2D9EC0F175}"/>
              </a:ext>
            </a:extLst>
          </p:cNvPr>
          <p:cNvSpPr>
            <a:spLocks noGrp="1"/>
          </p:cNvSpPr>
          <p:nvPr>
            <p:ph idx="1"/>
          </p:nvPr>
        </p:nvSpPr>
        <p:spPr>
          <a:xfrm>
            <a:off x="288131" y="942975"/>
            <a:ext cx="11615737" cy="5915025"/>
          </a:xfrm>
        </p:spPr>
        <p:txBody>
          <a:bodyPr>
            <a:normAutofit fontScale="55000" lnSpcReduction="20000"/>
          </a:bodyPr>
          <a:lstStyle/>
          <a:p>
            <a:pPr marL="0" indent="0" algn="just">
              <a:spcBef>
                <a:spcPts val="400"/>
              </a:spcBef>
              <a:spcAft>
                <a:spcPts val="400"/>
              </a:spcAft>
              <a:buNone/>
            </a:pPr>
            <a:r>
              <a:rPr lang="en-US" sz="3800" b="1" dirty="0"/>
              <a:t>The distinguishing features of a professional are the special qualities or characteristics that differentiate a professional from other workers or occupations.</a:t>
            </a:r>
          </a:p>
          <a:p>
            <a:pPr marL="0" indent="0" algn="just">
              <a:spcBef>
                <a:spcPts val="400"/>
              </a:spcBef>
              <a:spcAft>
                <a:spcPts val="400"/>
              </a:spcAft>
              <a:buNone/>
            </a:pPr>
            <a:r>
              <a:rPr lang="en-US" sz="3800" b="1" dirty="0"/>
              <a:t>A professional is not only someone who earns money from a job but someone who possesses expertise, follows ethical standards, and serves society responsibly.</a:t>
            </a:r>
          </a:p>
          <a:p>
            <a:pPr marL="0" indent="0" algn="just">
              <a:spcBef>
                <a:spcPts val="400"/>
              </a:spcBef>
              <a:spcAft>
                <a:spcPts val="400"/>
              </a:spcAft>
              <a:buNone/>
            </a:pPr>
            <a:r>
              <a:rPr lang="en-US" sz="3800" b="1" dirty="0"/>
              <a:t>Distinguishing features of a professional are the unique characteristics that define a person as a trained, ethical, and responsible member of a profession.</a:t>
            </a:r>
          </a:p>
          <a:p>
            <a:endParaRPr lang="en-US" sz="3400" dirty="0"/>
          </a:p>
          <a:p>
            <a:pPr marL="0" indent="0">
              <a:buNone/>
            </a:pPr>
            <a:r>
              <a:rPr lang="en-US" sz="4000" u="sng" dirty="0">
                <a:solidFill>
                  <a:schemeClr val="accent2">
                    <a:lumMod val="50000"/>
                  </a:schemeClr>
                </a:solidFill>
                <a:latin typeface="Arial Black" panose="020B0A04020102020204" pitchFamily="34" charset="0"/>
              </a:rPr>
              <a:t>Main Features of a Professional</a:t>
            </a:r>
          </a:p>
          <a:p>
            <a:pPr marL="0" indent="0">
              <a:buNone/>
            </a:pPr>
            <a:endParaRPr lang="en-US" sz="4000" u="sng" dirty="0">
              <a:solidFill>
                <a:schemeClr val="accent2">
                  <a:lumMod val="50000"/>
                </a:schemeClr>
              </a:solidFill>
              <a:latin typeface="Arial Black" panose="020B0A04020102020204" pitchFamily="34" charset="0"/>
            </a:endParaRP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Specialized Knowledge: </a:t>
            </a:r>
            <a:r>
              <a:rPr lang="en-US" sz="3800" dirty="0"/>
              <a:t>A professional has advanced knowledge and expertise in a particular field gained through education and training.</a:t>
            </a: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Formal Education and Training: </a:t>
            </a:r>
            <a:r>
              <a:rPr lang="en-US" sz="3800" dirty="0"/>
              <a:t>Professionals undergo systematic education and training before entering their profession.</a:t>
            </a: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Intellectual Skills: </a:t>
            </a:r>
            <a:r>
              <a:rPr lang="en-US" sz="3800" dirty="0"/>
              <a:t>Professional work requires analytical thinking, judgment, and problem-solving ability.</a:t>
            </a: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Code of Ethics: </a:t>
            </a:r>
            <a:r>
              <a:rPr lang="en-US" sz="3800" dirty="0"/>
              <a:t>Every profession follows a set of ethical guidelines that regulate professional conduct.</a:t>
            </a: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Accountability and Responsibility: </a:t>
            </a:r>
            <a:r>
              <a:rPr lang="en-US" sz="3800" dirty="0"/>
              <a:t>Professionals are responsible for the quality and consequences of their work.</a:t>
            </a: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Service to Society: </a:t>
            </a:r>
            <a:r>
              <a:rPr lang="en-US" sz="3800" dirty="0"/>
              <a:t>A profession aims to serve the public and contribute to social welfare.</a:t>
            </a:r>
          </a:p>
          <a:p>
            <a:pPr algn="just">
              <a:spcBef>
                <a:spcPts val="400"/>
              </a:spcBef>
              <a:spcAft>
                <a:spcPts val="400"/>
              </a:spcAft>
              <a:buFont typeface="Wingdings" panose="05000000000000000000" pitchFamily="2" charset="2"/>
              <a:buChar char="§"/>
            </a:pPr>
            <a:r>
              <a:rPr lang="en-US" sz="3800" b="1" dirty="0">
                <a:solidFill>
                  <a:schemeClr val="accent6">
                    <a:lumMod val="50000"/>
                  </a:schemeClr>
                </a:solidFill>
              </a:rPr>
              <a:t>Professional Autonomy: </a:t>
            </a:r>
            <a:r>
              <a:rPr lang="en-US" sz="3800" dirty="0"/>
              <a:t>Professionals have the freedom to make decisions based on their expertise.</a:t>
            </a:r>
          </a:p>
          <a:p>
            <a:pPr marL="0" indent="0">
              <a:buNone/>
            </a:pP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51420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5063F-3AE1-6B50-AABE-372246321359}"/>
              </a:ext>
            </a:extLst>
          </p:cNvPr>
          <p:cNvSpPr>
            <a:spLocks noGrp="1"/>
          </p:cNvSpPr>
          <p:nvPr>
            <p:ph type="title"/>
          </p:nvPr>
        </p:nvSpPr>
        <p:spPr>
          <a:xfrm>
            <a:off x="292893" y="185737"/>
            <a:ext cx="11630025" cy="606425"/>
          </a:xfrm>
        </p:spPr>
        <p:txBody>
          <a:bodyPr>
            <a:noAutofit/>
          </a:bodyPr>
          <a:lstStyle/>
          <a:p>
            <a:pPr algn="ctr"/>
            <a:r>
              <a:rPr lang="en-US" sz="3600" dirty="0">
                <a:solidFill>
                  <a:srgbClr val="FF0000"/>
                </a:solidFill>
                <a:latin typeface="Arial Black" panose="020B0A04020102020204" pitchFamily="34" charset="0"/>
              </a:rPr>
              <a:t>Roles and Responsibilities of Professionals</a:t>
            </a:r>
          </a:p>
        </p:txBody>
      </p:sp>
      <p:sp>
        <p:nvSpPr>
          <p:cNvPr id="3" name="Content Placeholder 2">
            <a:extLst>
              <a:ext uri="{FF2B5EF4-FFF2-40B4-BE49-F238E27FC236}">
                <a16:creationId xmlns:a16="http://schemas.microsoft.com/office/drawing/2014/main" id="{5DAFD1FA-677B-6F6E-4306-B12BD2EAD658}"/>
              </a:ext>
            </a:extLst>
          </p:cNvPr>
          <p:cNvSpPr>
            <a:spLocks noGrp="1"/>
          </p:cNvSpPr>
          <p:nvPr>
            <p:ph idx="1"/>
          </p:nvPr>
        </p:nvSpPr>
        <p:spPr>
          <a:xfrm>
            <a:off x="714375" y="971550"/>
            <a:ext cx="10787063" cy="5700713"/>
          </a:xfrm>
        </p:spPr>
        <p:txBody>
          <a:bodyPr>
            <a:normAutofit fontScale="85000" lnSpcReduction="20000"/>
          </a:bodyPr>
          <a:lstStyle/>
          <a:p>
            <a:pPr marL="0" indent="0" algn="just">
              <a:buNone/>
            </a:pPr>
            <a:endParaRPr lang="en-US" b="1" dirty="0"/>
          </a:p>
          <a:p>
            <a:pPr marL="0" indent="0" algn="just">
              <a:buNone/>
            </a:pPr>
            <a:r>
              <a:rPr lang="en-US" b="1" dirty="0"/>
              <a:t>The roles and responsibilities of professionals refer to the duties and obligations professionals must perform to maintain ethical standards and contribute positively to society.</a:t>
            </a:r>
          </a:p>
          <a:p>
            <a:pPr marL="0" indent="0" algn="just">
              <a:buNone/>
            </a:pPr>
            <a:r>
              <a:rPr lang="en-US" b="1" dirty="0"/>
              <a:t>Professionals have responsibilities toward different groups.</a:t>
            </a:r>
          </a:p>
          <a:p>
            <a:pPr>
              <a:buFont typeface="Wingdings" panose="05000000000000000000" pitchFamily="2" charset="2"/>
              <a:buChar char="§"/>
            </a:pPr>
            <a:endParaRPr lang="en-US" dirty="0"/>
          </a:p>
          <a:p>
            <a:pPr lvl="0" algn="just" fontAlgn="base">
              <a:spcBef>
                <a:spcPts val="400"/>
              </a:spcBef>
              <a:spcAft>
                <a:spcPts val="400"/>
              </a:spcAft>
              <a:buFont typeface="Wingdings" panose="05000000000000000000" pitchFamily="2" charset="2"/>
              <a:buChar char="§"/>
            </a:pPr>
            <a:r>
              <a:rPr lang="en-US" sz="2600" b="1" dirty="0">
                <a:solidFill>
                  <a:schemeClr val="accent6">
                    <a:lumMod val="50000"/>
                  </a:schemeClr>
                </a:solidFill>
              </a:rPr>
              <a:t>Responsibility Towards Society: </a:t>
            </a:r>
            <a:r>
              <a:rPr lang="en-US" sz="2600" dirty="0"/>
              <a:t>Professionals must ensure that their work does not harm people or the environment. Such as </a:t>
            </a:r>
            <a:r>
              <a:rPr lang="en-US" altLang="en-US" sz="2600" dirty="0"/>
              <a:t>Protect public safety, avoid environmental damage and use technology responsibly</a:t>
            </a:r>
            <a:endParaRPr lang="en-US" sz="2600" dirty="0"/>
          </a:p>
          <a:p>
            <a:pPr algn="just">
              <a:spcBef>
                <a:spcPts val="400"/>
              </a:spcBef>
              <a:spcAft>
                <a:spcPts val="400"/>
              </a:spcAft>
              <a:buFont typeface="Wingdings" panose="05000000000000000000" pitchFamily="2" charset="2"/>
              <a:buChar char="§"/>
            </a:pPr>
            <a:r>
              <a:rPr lang="en-US" sz="2600" b="1" dirty="0">
                <a:solidFill>
                  <a:schemeClr val="accent6">
                    <a:lumMod val="50000"/>
                  </a:schemeClr>
                </a:solidFill>
              </a:rPr>
              <a:t>Responsibility Towards Clients or Customers: </a:t>
            </a:r>
            <a:r>
              <a:rPr lang="en-US" sz="2600" dirty="0"/>
              <a:t>Professionals must provide honest and high-quality services to their clients such as provide accurate information and maintain confidentiality.</a:t>
            </a:r>
          </a:p>
          <a:p>
            <a:pPr algn="just">
              <a:spcBef>
                <a:spcPts val="400"/>
              </a:spcBef>
              <a:spcAft>
                <a:spcPts val="400"/>
              </a:spcAft>
              <a:buFont typeface="Wingdings" panose="05000000000000000000" pitchFamily="2" charset="2"/>
              <a:buChar char="§"/>
            </a:pPr>
            <a:r>
              <a:rPr lang="en-US" sz="2600" b="1" dirty="0">
                <a:solidFill>
                  <a:schemeClr val="accent6">
                    <a:lumMod val="50000"/>
                  </a:schemeClr>
                </a:solidFill>
              </a:rPr>
              <a:t>Responsibility Towards the Organization: </a:t>
            </a:r>
            <a:r>
              <a:rPr lang="en-US" sz="2600" dirty="0"/>
              <a:t>Professionals must work sincerely and loyally for the organization they are employed in.</a:t>
            </a:r>
          </a:p>
          <a:p>
            <a:pPr algn="just">
              <a:spcBef>
                <a:spcPts val="400"/>
              </a:spcBef>
              <a:spcAft>
                <a:spcPts val="400"/>
              </a:spcAft>
              <a:buFont typeface="Wingdings" panose="05000000000000000000" pitchFamily="2" charset="2"/>
              <a:buChar char="§"/>
            </a:pPr>
            <a:r>
              <a:rPr lang="en-US" sz="2600" b="1" dirty="0">
                <a:solidFill>
                  <a:schemeClr val="accent6">
                    <a:lumMod val="50000"/>
                  </a:schemeClr>
                </a:solidFill>
              </a:rPr>
              <a:t>Responsibility Towards the Profession: </a:t>
            </a:r>
            <a:r>
              <a:rPr lang="en-US" sz="2600" dirty="0"/>
              <a:t>Professionals should maintain the dignity and reputation of their profession.</a:t>
            </a:r>
          </a:p>
          <a:p>
            <a:pPr algn="just">
              <a:spcBef>
                <a:spcPts val="400"/>
              </a:spcBef>
              <a:spcAft>
                <a:spcPts val="400"/>
              </a:spcAft>
              <a:buFont typeface="Wingdings" panose="05000000000000000000" pitchFamily="2" charset="2"/>
              <a:buChar char="§"/>
            </a:pPr>
            <a:r>
              <a:rPr lang="en-US" sz="2600" b="1" dirty="0">
                <a:solidFill>
                  <a:schemeClr val="accent6">
                    <a:lumMod val="50000"/>
                  </a:schemeClr>
                </a:solidFill>
              </a:rPr>
              <a:t>Responsibility Towards Colleagues: </a:t>
            </a:r>
            <a:r>
              <a:rPr lang="en-US" sz="2600" dirty="0"/>
              <a:t>Professionals should maintain respectful and cooperative relationships with coworkers.</a:t>
            </a:r>
          </a:p>
          <a:p>
            <a:endParaRPr lang="en-US" dirty="0"/>
          </a:p>
        </p:txBody>
      </p:sp>
    </p:spTree>
    <p:extLst>
      <p:ext uri="{BB962C8B-B14F-4D97-AF65-F5344CB8AC3E}">
        <p14:creationId xmlns:p14="http://schemas.microsoft.com/office/powerpoint/2010/main" val="820615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6C657-D118-8986-63D5-17C5789C6BDC}"/>
              </a:ext>
            </a:extLst>
          </p:cNvPr>
          <p:cNvSpPr>
            <a:spLocks noGrp="1"/>
          </p:cNvSpPr>
          <p:nvPr>
            <p:ph type="title"/>
          </p:nvPr>
        </p:nvSpPr>
        <p:spPr>
          <a:xfrm>
            <a:off x="371475" y="365125"/>
            <a:ext cx="11444288" cy="849313"/>
          </a:xfrm>
        </p:spPr>
        <p:txBody>
          <a:bodyPr>
            <a:noAutofit/>
          </a:bodyPr>
          <a:lstStyle/>
          <a:p>
            <a:pPr algn="ctr"/>
            <a:r>
              <a:rPr lang="en-US" sz="3800" dirty="0">
                <a:solidFill>
                  <a:srgbClr val="FF0000"/>
                </a:solidFill>
                <a:latin typeface="Arial Black" panose="020B0A04020102020204" pitchFamily="34" charset="0"/>
              </a:rPr>
              <a:t>Professional Duties Towards Organization and Vice-Versa</a:t>
            </a:r>
          </a:p>
        </p:txBody>
      </p:sp>
      <p:sp>
        <p:nvSpPr>
          <p:cNvPr id="3" name="Content Placeholder 2">
            <a:extLst>
              <a:ext uri="{FF2B5EF4-FFF2-40B4-BE49-F238E27FC236}">
                <a16:creationId xmlns:a16="http://schemas.microsoft.com/office/drawing/2014/main" id="{414E4818-ACBF-DB91-A053-5AB35541F9B3}"/>
              </a:ext>
            </a:extLst>
          </p:cNvPr>
          <p:cNvSpPr>
            <a:spLocks noGrp="1"/>
          </p:cNvSpPr>
          <p:nvPr>
            <p:ph idx="1"/>
          </p:nvPr>
        </p:nvSpPr>
        <p:spPr>
          <a:xfrm>
            <a:off x="642938" y="1685925"/>
            <a:ext cx="10710862" cy="4806950"/>
          </a:xfrm>
        </p:spPr>
        <p:txBody>
          <a:bodyPr>
            <a:normAutofit fontScale="85000" lnSpcReduction="20000"/>
          </a:bodyPr>
          <a:lstStyle/>
          <a:p>
            <a:pPr marL="0" indent="0" algn="just">
              <a:buNone/>
            </a:pPr>
            <a:r>
              <a:rPr lang="en-US" b="1" dirty="0"/>
              <a:t>It explains the mutual responsibilities between employees (professionals) and organizations (employers). Both sides must act ethically to maintain a healthy work environment.</a:t>
            </a:r>
          </a:p>
          <a:p>
            <a:endParaRPr lang="en-US" dirty="0"/>
          </a:p>
          <a:p>
            <a:pPr marL="514350" indent="-514350">
              <a:buAutoNum type="alphaUcPeriod"/>
            </a:pPr>
            <a:r>
              <a:rPr lang="en-US" sz="3000" b="1" u="sng" dirty="0">
                <a:solidFill>
                  <a:schemeClr val="accent2">
                    <a:lumMod val="50000"/>
                  </a:schemeClr>
                </a:solidFill>
                <a:latin typeface="Arial Black" panose="020B0A04020102020204" pitchFamily="34" charset="0"/>
              </a:rPr>
              <a:t>Duties of Professionals Towards the Organization:</a:t>
            </a:r>
          </a:p>
          <a:p>
            <a:pPr marL="0" indent="0">
              <a:buNone/>
            </a:pPr>
            <a:endParaRPr lang="en-US" sz="2600" b="1" u="sng" dirty="0">
              <a:solidFill>
                <a:schemeClr val="accent2">
                  <a:lumMod val="50000"/>
                </a:schemeClr>
              </a:solidFill>
              <a:latin typeface="Arial Black" panose="020B0A04020102020204" pitchFamily="34" charset="0"/>
            </a:endParaRPr>
          </a:p>
          <a:p>
            <a:pPr algn="just">
              <a:buFont typeface="Wingdings" panose="05000000000000000000" pitchFamily="2" charset="2"/>
              <a:buChar char="§"/>
            </a:pPr>
            <a:r>
              <a:rPr lang="en-US" b="1" dirty="0">
                <a:solidFill>
                  <a:schemeClr val="accent6">
                    <a:lumMod val="50000"/>
                  </a:schemeClr>
                </a:solidFill>
              </a:rPr>
              <a:t>Loyalty: </a:t>
            </a:r>
            <a:r>
              <a:rPr lang="en-US" sz="2600" dirty="0"/>
              <a:t>Employees should act in the best interest of the organization.</a:t>
            </a:r>
          </a:p>
          <a:p>
            <a:pPr algn="just">
              <a:buFont typeface="Wingdings" panose="05000000000000000000" pitchFamily="2" charset="2"/>
              <a:buChar char="§"/>
            </a:pPr>
            <a:r>
              <a:rPr lang="en-US" b="1" dirty="0">
                <a:solidFill>
                  <a:schemeClr val="accent6">
                    <a:lumMod val="50000"/>
                  </a:schemeClr>
                </a:solidFill>
              </a:rPr>
              <a:t>Honesty and Integrity:</a:t>
            </a:r>
            <a:r>
              <a:rPr lang="en-US" sz="2600" b="1" dirty="0">
                <a:solidFill>
                  <a:schemeClr val="accent6">
                    <a:lumMod val="50000"/>
                  </a:schemeClr>
                </a:solidFill>
              </a:rPr>
              <a:t> </a:t>
            </a:r>
            <a:r>
              <a:rPr lang="en-US" sz="2600" dirty="0"/>
              <a:t>Employees should perform their duties honestly.</a:t>
            </a:r>
          </a:p>
          <a:p>
            <a:pPr algn="just">
              <a:buFont typeface="Wingdings" panose="05000000000000000000" pitchFamily="2" charset="2"/>
              <a:buChar char="§"/>
            </a:pPr>
            <a:r>
              <a:rPr lang="en-US" b="1" dirty="0">
                <a:solidFill>
                  <a:schemeClr val="accent6">
                    <a:lumMod val="50000"/>
                  </a:schemeClr>
                </a:solidFill>
              </a:rPr>
              <a:t>Maintaining Confidentiality: </a:t>
            </a:r>
            <a:r>
              <a:rPr lang="en-US" sz="2600" dirty="0"/>
              <a:t>Professionals must protect confidential company information.</a:t>
            </a:r>
          </a:p>
          <a:p>
            <a:pPr algn="just">
              <a:buFont typeface="Wingdings" panose="05000000000000000000" pitchFamily="2" charset="2"/>
              <a:buChar char="§"/>
            </a:pPr>
            <a:r>
              <a:rPr lang="en-US" b="1" dirty="0">
                <a:solidFill>
                  <a:schemeClr val="accent6">
                    <a:lumMod val="50000"/>
                  </a:schemeClr>
                </a:solidFill>
              </a:rPr>
              <a:t>Obeying Organizational Rules: </a:t>
            </a:r>
            <a:r>
              <a:rPr lang="en-US" sz="2600" dirty="0"/>
              <a:t>Employees must follow company policies and regulations.</a:t>
            </a:r>
          </a:p>
          <a:p>
            <a:pPr algn="just">
              <a:buFont typeface="Wingdings" panose="05000000000000000000" pitchFamily="2" charset="2"/>
              <a:buChar char="§"/>
            </a:pPr>
            <a:r>
              <a:rPr lang="en-US" b="1" dirty="0">
                <a:solidFill>
                  <a:schemeClr val="accent6">
                    <a:lumMod val="50000"/>
                  </a:schemeClr>
                </a:solidFill>
              </a:rPr>
              <a:t>Efficient Work Performance: </a:t>
            </a:r>
            <a:r>
              <a:rPr lang="en-US" sz="2600" dirty="0"/>
              <a:t>Employees should work sincerely and maintain productivity.</a:t>
            </a:r>
          </a:p>
          <a:p>
            <a:endParaRPr lang="en-US" dirty="0"/>
          </a:p>
        </p:txBody>
      </p:sp>
    </p:spTree>
    <p:extLst>
      <p:ext uri="{BB962C8B-B14F-4D97-AF65-F5344CB8AC3E}">
        <p14:creationId xmlns:p14="http://schemas.microsoft.com/office/powerpoint/2010/main" val="4096071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981A82-0166-FC9B-8B95-586511692493}"/>
              </a:ext>
            </a:extLst>
          </p:cNvPr>
          <p:cNvSpPr txBox="1"/>
          <p:nvPr/>
        </p:nvSpPr>
        <p:spPr>
          <a:xfrm>
            <a:off x="428625" y="457200"/>
            <a:ext cx="11315700" cy="6173998"/>
          </a:xfrm>
          <a:prstGeom prst="rect">
            <a:avLst/>
          </a:prstGeom>
          <a:noFill/>
        </p:spPr>
        <p:txBody>
          <a:bodyPr wrap="square" rtlCol="0">
            <a:spAutoFit/>
          </a:bodyPr>
          <a:lstStyle/>
          <a:p>
            <a:pPr>
              <a:lnSpc>
                <a:spcPct val="70000"/>
              </a:lnSpc>
              <a:spcBef>
                <a:spcPts val="1000"/>
              </a:spcBef>
            </a:pPr>
            <a:r>
              <a:rPr lang="en-US" sz="2800" b="1" u="sng" dirty="0">
                <a:solidFill>
                  <a:schemeClr val="accent2">
                    <a:lumMod val="50000"/>
                  </a:schemeClr>
                </a:solidFill>
                <a:latin typeface="Arial Black" panose="020B0A04020102020204" pitchFamily="34" charset="0"/>
              </a:rPr>
              <a:t>B. Duties of the Organization Towards Professionals</a:t>
            </a:r>
          </a:p>
          <a:p>
            <a:pPr>
              <a:lnSpc>
                <a:spcPct val="70000"/>
              </a:lnSpc>
              <a:spcBef>
                <a:spcPts val="1000"/>
              </a:spcBef>
            </a:pPr>
            <a:endParaRPr lang="en-US" sz="2400" b="1" u="sng" dirty="0">
              <a:solidFill>
                <a:schemeClr val="accent2">
                  <a:lumMod val="50000"/>
                </a:schemeClr>
              </a:solidFill>
              <a:latin typeface="Arial Black" panose="020B0A04020102020204" pitchFamily="34" charset="0"/>
            </a:endParaRPr>
          </a:p>
          <a:p>
            <a:pPr marL="342900" indent="-342900" algn="just">
              <a:buFont typeface="Wingdings" panose="05000000000000000000" pitchFamily="2" charset="2"/>
              <a:buChar char="§"/>
            </a:pPr>
            <a:r>
              <a:rPr lang="en-US" sz="2400" b="1" dirty="0">
                <a:solidFill>
                  <a:schemeClr val="accent6">
                    <a:lumMod val="50000"/>
                  </a:schemeClr>
                </a:solidFill>
              </a:rPr>
              <a:t>Fair Salary and Benefits: </a:t>
            </a:r>
            <a:r>
              <a:rPr lang="en-US" sz="2200" dirty="0"/>
              <a:t>Employees should be compensated fairly for their work.</a:t>
            </a:r>
          </a:p>
          <a:p>
            <a:pPr marL="342900" indent="-342900" algn="just">
              <a:buFont typeface="Wingdings" panose="05000000000000000000" pitchFamily="2" charset="2"/>
              <a:buChar char="§"/>
            </a:pPr>
            <a:r>
              <a:rPr lang="en-US" sz="2400" b="1" dirty="0">
                <a:solidFill>
                  <a:schemeClr val="accent6">
                    <a:lumMod val="50000"/>
                  </a:schemeClr>
                </a:solidFill>
              </a:rPr>
              <a:t>Safe Working Environment: </a:t>
            </a:r>
            <a:r>
              <a:rPr lang="en-US" sz="2200" dirty="0"/>
              <a:t>Organizations must provide safe working conditions.</a:t>
            </a:r>
          </a:p>
          <a:p>
            <a:pPr marL="342900" indent="-342900" algn="just">
              <a:buFont typeface="Wingdings" panose="05000000000000000000" pitchFamily="2" charset="2"/>
              <a:buChar char="§"/>
            </a:pPr>
            <a:r>
              <a:rPr lang="en-US" sz="2400" b="1" dirty="0">
                <a:solidFill>
                  <a:schemeClr val="accent6">
                    <a:lumMod val="50000"/>
                  </a:schemeClr>
                </a:solidFill>
              </a:rPr>
              <a:t>Respect and Non-Discrimination: </a:t>
            </a:r>
            <a:r>
              <a:rPr lang="en-US" sz="2200" dirty="0"/>
              <a:t>Employees should be treated with dignity and equality.</a:t>
            </a:r>
          </a:p>
          <a:p>
            <a:pPr marL="342900" indent="-342900" algn="just">
              <a:buFont typeface="Wingdings" panose="05000000000000000000" pitchFamily="2" charset="2"/>
              <a:buChar char="§"/>
            </a:pPr>
            <a:r>
              <a:rPr lang="en-US" sz="2400" b="1" dirty="0">
                <a:solidFill>
                  <a:schemeClr val="accent6">
                    <a:lumMod val="50000"/>
                  </a:schemeClr>
                </a:solidFill>
              </a:rPr>
              <a:t>Opportunities for Growth: </a:t>
            </a:r>
            <a:r>
              <a:rPr lang="en-US" sz="2200" dirty="0"/>
              <a:t>Organizations should provide training and career development opportunities.</a:t>
            </a:r>
          </a:p>
          <a:p>
            <a:pPr marL="342900" indent="-342900" algn="just">
              <a:buFont typeface="Wingdings" panose="05000000000000000000" pitchFamily="2" charset="2"/>
              <a:buChar char="§"/>
            </a:pPr>
            <a:r>
              <a:rPr lang="en-US" sz="2400" b="1" dirty="0">
                <a:solidFill>
                  <a:schemeClr val="accent6">
                    <a:lumMod val="50000"/>
                  </a:schemeClr>
                </a:solidFill>
              </a:rPr>
              <a:t>Job Security and Welfare: </a:t>
            </a:r>
            <a:r>
              <a:rPr lang="en-US" sz="2200" dirty="0"/>
              <a:t>Organizations should ensure employee welfare and job stability whenever possible.</a:t>
            </a:r>
          </a:p>
          <a:p>
            <a:pPr>
              <a:lnSpc>
                <a:spcPct val="70000"/>
              </a:lnSpc>
              <a:spcBef>
                <a:spcPts val="1000"/>
              </a:spcBef>
            </a:pPr>
            <a:endParaRPr lang="en-US" sz="2400" b="1" u="sng" dirty="0">
              <a:solidFill>
                <a:schemeClr val="accent2">
                  <a:lumMod val="50000"/>
                </a:schemeClr>
              </a:solidFill>
              <a:latin typeface="Arial Black" panose="020B0A04020102020204" pitchFamily="34" charset="0"/>
            </a:endParaRPr>
          </a:p>
          <a:p>
            <a:pPr>
              <a:lnSpc>
                <a:spcPct val="70000"/>
              </a:lnSpc>
              <a:spcBef>
                <a:spcPts val="1000"/>
              </a:spcBef>
            </a:pPr>
            <a:endParaRPr lang="en-US" sz="2400" b="1" u="sng" dirty="0">
              <a:solidFill>
                <a:schemeClr val="accent2">
                  <a:lumMod val="50000"/>
                </a:schemeClr>
              </a:solidFill>
              <a:latin typeface="Arial Black" panose="020B0A04020102020204" pitchFamily="34" charset="0"/>
            </a:endParaRPr>
          </a:p>
          <a:p>
            <a:pPr marL="342900" lvl="0" indent="-342900" algn="just" eaLnBrk="0" fontAlgn="base" hangingPunct="0">
              <a:spcBef>
                <a:spcPct val="0"/>
              </a:spcBef>
              <a:spcAft>
                <a:spcPct val="0"/>
              </a:spcAft>
              <a:buFont typeface="Wingdings" panose="05000000000000000000" pitchFamily="2" charset="2"/>
              <a:buChar char="ü"/>
            </a:pPr>
            <a:r>
              <a:rPr lang="en-US" altLang="en-US" sz="2200" dirty="0"/>
              <a:t>A professional is defined by knowledge, ethics, and responsibility.</a:t>
            </a:r>
          </a:p>
          <a:p>
            <a:pPr marL="342900" lvl="0" indent="-342900" algn="just" eaLnBrk="0" fontAlgn="base" hangingPunct="0">
              <a:spcBef>
                <a:spcPct val="0"/>
              </a:spcBef>
              <a:spcAft>
                <a:spcPct val="0"/>
              </a:spcAft>
              <a:buFont typeface="Wingdings" panose="05000000000000000000" pitchFamily="2" charset="2"/>
              <a:buChar char="ü"/>
            </a:pPr>
            <a:r>
              <a:rPr lang="en-US" altLang="en-US" sz="2200" dirty="0"/>
              <a:t>Professionals have duties toward society, clients, organizations, colleagues, and their profession.</a:t>
            </a:r>
          </a:p>
          <a:p>
            <a:pPr marL="342900" lvl="0" indent="-342900" algn="just" eaLnBrk="0" fontAlgn="base" hangingPunct="0">
              <a:spcBef>
                <a:spcPct val="0"/>
              </a:spcBef>
              <a:spcAft>
                <a:spcPct val="0"/>
              </a:spcAft>
              <a:buFont typeface="Wingdings" panose="05000000000000000000" pitchFamily="2" charset="2"/>
              <a:buChar char="ü"/>
            </a:pPr>
            <a:r>
              <a:rPr lang="en-US" altLang="en-US" sz="2200" dirty="0"/>
              <a:t>Ethical relationships between professionals and organizations help maintain trust, productivity, and social welfare.</a:t>
            </a:r>
          </a:p>
          <a:p>
            <a:pPr>
              <a:lnSpc>
                <a:spcPct val="70000"/>
              </a:lnSpc>
              <a:spcBef>
                <a:spcPts val="1000"/>
              </a:spcBef>
            </a:pPr>
            <a:endParaRPr lang="en-US" sz="2400" b="1" u="sng" dirty="0">
              <a:solidFill>
                <a:schemeClr val="accent2">
                  <a:lumMod val="50000"/>
                </a:schemeClr>
              </a:solidFill>
              <a:latin typeface="Arial Black" panose="020B0A04020102020204" pitchFamily="34" charset="0"/>
            </a:endParaRPr>
          </a:p>
        </p:txBody>
      </p:sp>
    </p:spTree>
    <p:extLst>
      <p:ext uri="{BB962C8B-B14F-4D97-AF65-F5344CB8AC3E}">
        <p14:creationId xmlns:p14="http://schemas.microsoft.com/office/powerpoint/2010/main" val="28021090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E450AB-82AA-DA9C-FD57-8609BFB8CCB9}"/>
              </a:ext>
            </a:extLst>
          </p:cNvPr>
          <p:cNvSpPr txBox="1"/>
          <p:nvPr/>
        </p:nvSpPr>
        <p:spPr>
          <a:xfrm>
            <a:off x="0" y="2840891"/>
            <a:ext cx="5815013" cy="830997"/>
          </a:xfrm>
          <a:prstGeom prst="rect">
            <a:avLst/>
          </a:prstGeom>
          <a:solidFill>
            <a:schemeClr val="accent4">
              <a:lumMod val="40000"/>
              <a:lumOff val="60000"/>
            </a:schemeClr>
          </a:solidFill>
        </p:spPr>
        <p:txBody>
          <a:bodyPr wrap="square" rtlCol="0">
            <a:spAutoFit/>
          </a:bodyPr>
          <a:lstStyle/>
          <a:p>
            <a:pPr algn="ctr"/>
            <a:r>
              <a:rPr lang="en-US" sz="4800" dirty="0">
                <a:solidFill>
                  <a:srgbClr val="FF0000"/>
                </a:solidFill>
                <a:latin typeface="Arial Black" panose="020B0A04020102020204" pitchFamily="34" charset="0"/>
              </a:rPr>
              <a:t>Ethical Theories</a:t>
            </a:r>
          </a:p>
        </p:txBody>
      </p:sp>
      <p:pic>
        <p:nvPicPr>
          <p:cNvPr id="4" name="Picture 3">
            <a:extLst>
              <a:ext uri="{FF2B5EF4-FFF2-40B4-BE49-F238E27FC236}">
                <a16:creationId xmlns:a16="http://schemas.microsoft.com/office/drawing/2014/main" id="{F05CBB2C-F336-A485-9934-3B07C85E8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5013" y="0"/>
            <a:ext cx="6376987" cy="6858000"/>
          </a:xfrm>
          <a:prstGeom prst="rect">
            <a:avLst/>
          </a:prstGeom>
        </p:spPr>
      </p:pic>
    </p:spTree>
    <p:extLst>
      <p:ext uri="{BB962C8B-B14F-4D97-AF65-F5344CB8AC3E}">
        <p14:creationId xmlns:p14="http://schemas.microsoft.com/office/powerpoint/2010/main" val="562988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5AE72-7569-BAEB-DA1F-255AEFF075F2}"/>
              </a:ext>
            </a:extLst>
          </p:cNvPr>
          <p:cNvSpPr>
            <a:spLocks noGrp="1"/>
          </p:cNvSpPr>
          <p:nvPr>
            <p:ph type="title"/>
          </p:nvPr>
        </p:nvSpPr>
        <p:spPr>
          <a:xfrm>
            <a:off x="838200" y="228599"/>
            <a:ext cx="10515600" cy="600076"/>
          </a:xfrm>
        </p:spPr>
        <p:txBody>
          <a:bodyPr>
            <a:normAutofit fontScale="90000"/>
          </a:bodyPr>
          <a:lstStyle/>
          <a:p>
            <a:pPr algn="ctr"/>
            <a:r>
              <a:rPr lang="en-US" dirty="0">
                <a:solidFill>
                  <a:srgbClr val="FF0000"/>
                </a:solidFill>
                <a:latin typeface="Arial Black" panose="020B0A04020102020204" pitchFamily="34" charset="0"/>
              </a:rPr>
              <a:t>ETHICAL THEORIES</a:t>
            </a:r>
          </a:p>
        </p:txBody>
      </p:sp>
      <p:sp>
        <p:nvSpPr>
          <p:cNvPr id="3" name="Content Placeholder 2">
            <a:extLst>
              <a:ext uri="{FF2B5EF4-FFF2-40B4-BE49-F238E27FC236}">
                <a16:creationId xmlns:a16="http://schemas.microsoft.com/office/drawing/2014/main" id="{96878F31-E6D9-78F4-CD36-D87C6E11070E}"/>
              </a:ext>
            </a:extLst>
          </p:cNvPr>
          <p:cNvSpPr>
            <a:spLocks noGrp="1"/>
          </p:cNvSpPr>
          <p:nvPr>
            <p:ph idx="1"/>
          </p:nvPr>
        </p:nvSpPr>
        <p:spPr>
          <a:xfrm>
            <a:off x="414339" y="914400"/>
            <a:ext cx="11630024" cy="5407025"/>
          </a:xfrm>
        </p:spPr>
        <p:txBody>
          <a:bodyPr>
            <a:normAutofit fontScale="92500" lnSpcReduction="10000"/>
          </a:bodyPr>
          <a:lstStyle/>
          <a:p>
            <a:pPr marL="0" indent="0" algn="just">
              <a:buNone/>
            </a:pPr>
            <a:r>
              <a:rPr lang="en-US" sz="2400" b="1" dirty="0"/>
              <a:t>Ethical theories are systematic ideas or principles that guide people in deciding what actions are morally right or wrong. These are principles that help individuals determine the right course of action when faced with moral or ethical dilemmas.</a:t>
            </a:r>
          </a:p>
          <a:p>
            <a:pPr marL="0" indent="0" algn="just">
              <a:buNone/>
            </a:pPr>
            <a:r>
              <a:rPr lang="en-US" sz="2400" b="1" dirty="0"/>
              <a:t>In professional life, ethical theories help professionals analyze ethical problems and make responsible decisions.</a:t>
            </a:r>
          </a:p>
          <a:p>
            <a:pPr algn="just">
              <a:buFont typeface="Wingdings" panose="05000000000000000000" pitchFamily="2" charset="2"/>
              <a:buChar char="ü"/>
            </a:pPr>
            <a:r>
              <a:rPr lang="en-US" sz="2400" b="1" dirty="0"/>
              <a:t>It is known as the guidelines for making ethical decisions.</a:t>
            </a:r>
          </a:p>
          <a:p>
            <a:pPr>
              <a:buFont typeface="Wingdings" panose="05000000000000000000" pitchFamily="2" charset="2"/>
              <a:buChar char="ü"/>
            </a:pPr>
            <a:endParaRPr lang="en-US" dirty="0"/>
          </a:p>
          <a:p>
            <a:pPr marL="0" indent="0">
              <a:buNone/>
            </a:pPr>
            <a:r>
              <a:rPr lang="en-US" sz="2600" b="1" u="sng" dirty="0">
                <a:solidFill>
                  <a:schemeClr val="accent2">
                    <a:lumMod val="50000"/>
                  </a:schemeClr>
                </a:solidFill>
                <a:latin typeface="Arial Black" panose="020B0A04020102020204" pitchFamily="34" charset="0"/>
              </a:rPr>
              <a:t>Major Ethical Theories</a:t>
            </a:r>
          </a:p>
          <a:p>
            <a:pPr marL="0" indent="0">
              <a:buNone/>
            </a:pPr>
            <a:endParaRPr lang="en-US" sz="2600" u="sng" dirty="0">
              <a:solidFill>
                <a:schemeClr val="accent2">
                  <a:lumMod val="50000"/>
                </a:schemeClr>
              </a:solidFill>
              <a:latin typeface="Arial Black" panose="020B0A04020102020204" pitchFamily="34" charset="0"/>
            </a:endParaRPr>
          </a:p>
          <a:p>
            <a:pPr marL="514350" indent="-514350">
              <a:buFont typeface="+mj-lt"/>
              <a:buAutoNum type="arabicPeriod"/>
            </a:pPr>
            <a:r>
              <a:rPr lang="en-US" sz="2600" b="1" dirty="0">
                <a:solidFill>
                  <a:schemeClr val="accent6">
                    <a:lumMod val="50000"/>
                  </a:schemeClr>
                </a:solidFill>
              </a:rPr>
              <a:t>Consequentialism</a:t>
            </a:r>
          </a:p>
          <a:p>
            <a:pPr marL="514350" indent="-514350">
              <a:buFont typeface="+mj-lt"/>
              <a:buAutoNum type="arabicPeriod"/>
            </a:pPr>
            <a:r>
              <a:rPr lang="en-US" sz="2600" b="1" dirty="0">
                <a:solidFill>
                  <a:schemeClr val="accent6">
                    <a:lumMod val="50000"/>
                  </a:schemeClr>
                </a:solidFill>
              </a:rPr>
              <a:t>Deontology</a:t>
            </a:r>
          </a:p>
          <a:p>
            <a:pPr marL="514350" indent="-514350">
              <a:buFont typeface="+mj-lt"/>
              <a:buAutoNum type="arabicPeriod"/>
            </a:pPr>
            <a:r>
              <a:rPr lang="en-US" sz="2600" b="1" dirty="0">
                <a:solidFill>
                  <a:schemeClr val="accent6">
                    <a:lumMod val="50000"/>
                  </a:schemeClr>
                </a:solidFill>
              </a:rPr>
              <a:t>Virtue Ethics</a:t>
            </a:r>
          </a:p>
          <a:p>
            <a:pPr marL="514350" indent="-514350">
              <a:buFont typeface="+mj-lt"/>
              <a:buAutoNum type="arabicPeriod"/>
            </a:pPr>
            <a:r>
              <a:rPr lang="en-US" sz="2600" b="1" dirty="0">
                <a:solidFill>
                  <a:schemeClr val="accent6">
                    <a:lumMod val="50000"/>
                  </a:schemeClr>
                </a:solidFill>
              </a:rPr>
              <a:t>Rights Theory</a:t>
            </a:r>
          </a:p>
          <a:p>
            <a:pPr marL="514350" indent="-514350">
              <a:buFont typeface="+mj-lt"/>
              <a:buAutoNum type="arabicPeriod"/>
            </a:pPr>
            <a:r>
              <a:rPr lang="en-US" sz="2600" b="1" dirty="0">
                <a:solidFill>
                  <a:schemeClr val="accent6">
                    <a:lumMod val="50000"/>
                  </a:schemeClr>
                </a:solidFill>
              </a:rPr>
              <a:t>Casuist Theory</a:t>
            </a:r>
          </a:p>
          <a:p>
            <a:pPr>
              <a:buFont typeface="Wingdings" panose="05000000000000000000" pitchFamily="2" charset="2"/>
              <a:buChar char="ü"/>
            </a:pPr>
            <a:endParaRPr lang="en-US" dirty="0"/>
          </a:p>
        </p:txBody>
      </p:sp>
      <p:pic>
        <p:nvPicPr>
          <p:cNvPr id="6" name="Picture 5">
            <a:extLst>
              <a:ext uri="{FF2B5EF4-FFF2-40B4-BE49-F238E27FC236}">
                <a16:creationId xmlns:a16="http://schemas.microsoft.com/office/drawing/2014/main" id="{50AA2C85-553D-2E7F-7A94-64218D1F05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2012" y="3300412"/>
            <a:ext cx="7372351" cy="3543415"/>
          </a:xfrm>
          <a:prstGeom prst="rect">
            <a:avLst/>
          </a:prstGeom>
        </p:spPr>
      </p:pic>
    </p:spTree>
    <p:extLst>
      <p:ext uri="{BB962C8B-B14F-4D97-AF65-F5344CB8AC3E}">
        <p14:creationId xmlns:p14="http://schemas.microsoft.com/office/powerpoint/2010/main" val="37982254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678817-4A1D-BD52-6503-87E6B641D3D8}"/>
              </a:ext>
            </a:extLst>
          </p:cNvPr>
          <p:cNvSpPr txBox="1"/>
          <p:nvPr/>
        </p:nvSpPr>
        <p:spPr>
          <a:xfrm>
            <a:off x="566737" y="326559"/>
            <a:ext cx="11058525" cy="6417141"/>
          </a:xfrm>
          <a:prstGeom prst="rect">
            <a:avLst/>
          </a:prstGeom>
          <a:noFill/>
        </p:spPr>
        <p:txBody>
          <a:bodyPr wrap="square" rtlCol="0">
            <a:spAutoFit/>
          </a:bodyPr>
          <a:lstStyle/>
          <a:p>
            <a:r>
              <a:rPr lang="en-US" sz="2300" u="sng" dirty="0">
                <a:solidFill>
                  <a:schemeClr val="accent2">
                    <a:lumMod val="50000"/>
                  </a:schemeClr>
                </a:solidFill>
                <a:latin typeface="Arial Black" panose="020B0A04020102020204" pitchFamily="34" charset="0"/>
              </a:rPr>
              <a:t>Consequentialism (Outcome-Based Ethics)</a:t>
            </a:r>
          </a:p>
          <a:p>
            <a:pPr marL="285750" indent="-285750" algn="just">
              <a:buFont typeface="Courier New" panose="02070309020205020404" pitchFamily="49" charset="0"/>
              <a:buChar char="o"/>
            </a:pPr>
            <a:r>
              <a:rPr lang="en-US" sz="2100" b="1" dirty="0"/>
              <a:t>Consequentialism states that the morality of an action depends on its consequences or results.</a:t>
            </a:r>
          </a:p>
          <a:p>
            <a:pPr marL="285750" indent="-285750" algn="just">
              <a:buFont typeface="Courier New" panose="02070309020205020404" pitchFamily="49" charset="0"/>
              <a:buChar char="o"/>
            </a:pPr>
            <a:r>
              <a:rPr lang="en-US" sz="2100" b="1" dirty="0"/>
              <a:t>An action is considered ethical if it produces the best outcome or greatest benefit.</a:t>
            </a:r>
          </a:p>
          <a:p>
            <a:pPr marL="285750" indent="-285750" algn="just">
              <a:buFont typeface="Courier New" panose="02070309020205020404" pitchFamily="49" charset="0"/>
              <a:buChar char="o"/>
            </a:pPr>
            <a:r>
              <a:rPr lang="en-US" sz="2100" b="1" dirty="0"/>
              <a:t>Right action leads to Best consequences</a:t>
            </a:r>
          </a:p>
          <a:p>
            <a:pPr marL="285750" indent="-285750" algn="just">
              <a:buFont typeface="Courier New" panose="02070309020205020404" pitchFamily="49" charset="0"/>
              <a:buChar char="o"/>
            </a:pPr>
            <a:r>
              <a:rPr lang="en-US" sz="2100" b="1" dirty="0"/>
              <a:t>It focuses on results or outcomes of an action.</a:t>
            </a:r>
          </a:p>
          <a:p>
            <a:endParaRPr lang="en-US" dirty="0"/>
          </a:p>
          <a:p>
            <a:endParaRPr lang="en-US" dirty="0"/>
          </a:p>
          <a:p>
            <a:r>
              <a:rPr lang="en-US" sz="2300" u="sng" dirty="0">
                <a:solidFill>
                  <a:schemeClr val="accent2">
                    <a:lumMod val="50000"/>
                  </a:schemeClr>
                </a:solidFill>
                <a:latin typeface="Arial Black" panose="020B0A04020102020204" pitchFamily="34" charset="0"/>
              </a:rPr>
              <a:t>Deontology (Duty-Based Ethics)</a:t>
            </a:r>
          </a:p>
          <a:p>
            <a:pPr marL="285750" indent="-285750" algn="just">
              <a:buFont typeface="Courier New" panose="02070309020205020404" pitchFamily="49" charset="0"/>
              <a:buChar char="o"/>
            </a:pPr>
            <a:r>
              <a:rPr lang="en-US" sz="2100" b="1" dirty="0"/>
              <a:t>Deontology states that an action is morally right if it follows rules, duties, or obligations, regardless of the outcome.</a:t>
            </a:r>
          </a:p>
          <a:p>
            <a:pPr marL="285750" indent="-285750" algn="just">
              <a:buFont typeface="Courier New" panose="02070309020205020404" pitchFamily="49" charset="0"/>
              <a:buChar char="o"/>
            </a:pPr>
            <a:r>
              <a:rPr lang="en-US" sz="2100" b="1" dirty="0"/>
              <a:t>Right action leads to following moral duties or rules</a:t>
            </a:r>
          </a:p>
          <a:p>
            <a:pPr marL="285750" indent="-285750" algn="just">
              <a:buFont typeface="Courier New" panose="02070309020205020404" pitchFamily="49" charset="0"/>
              <a:buChar char="o"/>
            </a:pPr>
            <a:r>
              <a:rPr lang="en-US" sz="2100" b="1" dirty="0"/>
              <a:t>It focuses on duty and rules, not the consequences.</a:t>
            </a:r>
          </a:p>
          <a:p>
            <a:endParaRPr lang="en-US" dirty="0"/>
          </a:p>
          <a:p>
            <a:endParaRPr lang="en-US" dirty="0"/>
          </a:p>
          <a:p>
            <a:r>
              <a:rPr lang="en-US" sz="2300" u="sng" dirty="0">
                <a:solidFill>
                  <a:schemeClr val="accent2">
                    <a:lumMod val="50000"/>
                  </a:schemeClr>
                </a:solidFill>
                <a:latin typeface="Arial Black" panose="020B0A04020102020204" pitchFamily="34" charset="0"/>
              </a:rPr>
              <a:t>Virtue Ethics</a:t>
            </a:r>
          </a:p>
          <a:p>
            <a:pPr marL="285750" indent="-285750" algn="just">
              <a:buFont typeface="Courier New" panose="02070309020205020404" pitchFamily="49" charset="0"/>
              <a:buChar char="o"/>
            </a:pPr>
            <a:r>
              <a:rPr lang="en-US" sz="2100" b="1" dirty="0"/>
              <a:t>Virtue ethics focuses on the character and moral qualities of a person rather than rules or consequences.</a:t>
            </a:r>
          </a:p>
          <a:p>
            <a:pPr marL="285750" indent="-285750" algn="just">
              <a:buFont typeface="Courier New" panose="02070309020205020404" pitchFamily="49" charset="0"/>
              <a:buChar char="o"/>
            </a:pPr>
            <a:r>
              <a:rPr lang="en-US" sz="2100" b="1" dirty="0"/>
              <a:t>A virtuous person acts ethically because of good character traits.</a:t>
            </a:r>
          </a:p>
          <a:p>
            <a:pPr marL="285750" indent="-285750" algn="just">
              <a:buFont typeface="Courier New" panose="02070309020205020404" pitchFamily="49" charset="0"/>
              <a:buChar char="o"/>
            </a:pPr>
            <a:r>
              <a:rPr lang="en-US" sz="2100" b="1" dirty="0"/>
              <a:t>Examples of Virtues: Honesty, Integrity, Responsibility, Courage, Fairness</a:t>
            </a:r>
          </a:p>
          <a:p>
            <a:endParaRPr lang="en-US" dirty="0"/>
          </a:p>
        </p:txBody>
      </p:sp>
    </p:spTree>
    <p:extLst>
      <p:ext uri="{BB962C8B-B14F-4D97-AF65-F5344CB8AC3E}">
        <p14:creationId xmlns:p14="http://schemas.microsoft.com/office/powerpoint/2010/main" val="1617147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AC2949-E2CF-31AD-F19F-842C253E823A}"/>
              </a:ext>
            </a:extLst>
          </p:cNvPr>
          <p:cNvSpPr txBox="1"/>
          <p:nvPr/>
        </p:nvSpPr>
        <p:spPr>
          <a:xfrm>
            <a:off x="557213" y="414338"/>
            <a:ext cx="11144250" cy="5724644"/>
          </a:xfrm>
          <a:prstGeom prst="rect">
            <a:avLst/>
          </a:prstGeom>
          <a:noFill/>
        </p:spPr>
        <p:txBody>
          <a:bodyPr wrap="square" rtlCol="0">
            <a:spAutoFit/>
          </a:bodyPr>
          <a:lstStyle/>
          <a:p>
            <a:r>
              <a:rPr lang="en-US" sz="2300" u="sng" dirty="0">
                <a:solidFill>
                  <a:schemeClr val="accent2">
                    <a:lumMod val="50000"/>
                  </a:schemeClr>
                </a:solidFill>
                <a:latin typeface="Arial Black" panose="020B0A04020102020204" pitchFamily="34" charset="0"/>
              </a:rPr>
              <a:t>Rights Theory</a:t>
            </a:r>
          </a:p>
          <a:p>
            <a:pPr marL="285750" indent="-285750" algn="just">
              <a:buFont typeface="Courier New" panose="02070309020205020404" pitchFamily="49" charset="0"/>
              <a:buChar char="o"/>
            </a:pPr>
            <a:r>
              <a:rPr lang="en-US" sz="2100" b="1" dirty="0"/>
              <a:t>Rights theory states that every individual has certain fundamental rights that must be respected and protected.</a:t>
            </a:r>
          </a:p>
          <a:p>
            <a:pPr marL="285750" indent="-285750" algn="just">
              <a:buFont typeface="Courier New" panose="02070309020205020404" pitchFamily="49" charset="0"/>
              <a:buChar char="o"/>
            </a:pPr>
            <a:r>
              <a:rPr lang="en-US" sz="2100" b="1" dirty="0"/>
              <a:t>Professionals must ensure that their actions do not violate these rights.</a:t>
            </a:r>
          </a:p>
          <a:p>
            <a:pPr marL="285750" indent="-285750" algn="just">
              <a:buFont typeface="Courier New" panose="02070309020205020404" pitchFamily="49" charset="0"/>
              <a:buChar char="o"/>
            </a:pPr>
            <a:r>
              <a:rPr lang="en-US" sz="2100" b="1" dirty="0"/>
              <a:t>It focuses on respecting and protecting human rights.</a:t>
            </a:r>
          </a:p>
          <a:p>
            <a:endParaRPr lang="en-US" b="1" dirty="0"/>
          </a:p>
          <a:p>
            <a:r>
              <a:rPr lang="en-US" sz="2000" b="1" u="sng" dirty="0"/>
              <a:t>Examples of Rights</a:t>
            </a:r>
          </a:p>
          <a:p>
            <a:pPr marL="285750" indent="-285750">
              <a:buFont typeface="Arial" panose="020B0604020202020204" pitchFamily="34" charset="0"/>
              <a:buChar char="•"/>
            </a:pPr>
            <a:r>
              <a:rPr lang="en-US" sz="2000" b="1" dirty="0">
                <a:solidFill>
                  <a:schemeClr val="accent6">
                    <a:lumMod val="50000"/>
                  </a:schemeClr>
                </a:solidFill>
              </a:rPr>
              <a:t>Right to safety</a:t>
            </a:r>
          </a:p>
          <a:p>
            <a:pPr marL="285750" indent="-285750">
              <a:buFont typeface="Arial" panose="020B0604020202020204" pitchFamily="34" charset="0"/>
              <a:buChar char="•"/>
            </a:pPr>
            <a:r>
              <a:rPr lang="en-US" sz="2000" b="1" dirty="0">
                <a:solidFill>
                  <a:schemeClr val="accent6">
                    <a:lumMod val="50000"/>
                  </a:schemeClr>
                </a:solidFill>
              </a:rPr>
              <a:t>Right to privacy</a:t>
            </a:r>
          </a:p>
          <a:p>
            <a:pPr marL="285750" indent="-285750">
              <a:buFont typeface="Arial" panose="020B0604020202020204" pitchFamily="34" charset="0"/>
              <a:buChar char="•"/>
            </a:pPr>
            <a:r>
              <a:rPr lang="en-US" sz="2000" b="1" dirty="0">
                <a:solidFill>
                  <a:schemeClr val="accent6">
                    <a:lumMod val="50000"/>
                  </a:schemeClr>
                </a:solidFill>
              </a:rPr>
              <a:t>Right to information</a:t>
            </a:r>
          </a:p>
          <a:p>
            <a:pPr marL="285750" indent="-285750">
              <a:buFont typeface="Arial" panose="020B0604020202020204" pitchFamily="34" charset="0"/>
              <a:buChar char="•"/>
            </a:pPr>
            <a:r>
              <a:rPr lang="en-US" sz="2000" b="1" dirty="0">
                <a:solidFill>
                  <a:schemeClr val="accent6">
                    <a:lumMod val="50000"/>
                  </a:schemeClr>
                </a:solidFill>
              </a:rPr>
              <a:t>Right to fair treatment</a:t>
            </a:r>
          </a:p>
          <a:p>
            <a:endParaRPr lang="en-US" dirty="0"/>
          </a:p>
          <a:p>
            <a:endParaRPr lang="en-US" dirty="0"/>
          </a:p>
          <a:p>
            <a:r>
              <a:rPr lang="en-US" sz="2300" u="sng" dirty="0">
                <a:solidFill>
                  <a:schemeClr val="accent2">
                    <a:lumMod val="50000"/>
                  </a:schemeClr>
                </a:solidFill>
                <a:latin typeface="Arial Black" panose="020B0A04020102020204" pitchFamily="34" charset="0"/>
              </a:rPr>
              <a:t>Casuist Theory (Case-Based Ethics)</a:t>
            </a:r>
          </a:p>
          <a:p>
            <a:pPr marL="285750" indent="-285750" algn="just">
              <a:buFont typeface="Courier New" panose="02070309020205020404" pitchFamily="49" charset="0"/>
              <a:buChar char="o"/>
            </a:pPr>
            <a:r>
              <a:rPr lang="en-US" sz="2100" b="1" dirty="0"/>
              <a:t>Casuist theory solves ethical problems by comparing them with similar past cases and analyzing how those cases were resolved.</a:t>
            </a:r>
          </a:p>
          <a:p>
            <a:pPr marL="285750" indent="-285750" algn="just">
              <a:buFont typeface="Courier New" panose="02070309020205020404" pitchFamily="49" charset="0"/>
              <a:buChar char="o"/>
            </a:pPr>
            <a:r>
              <a:rPr lang="en-US" sz="2100" b="1" dirty="0"/>
              <a:t>Instead of applying strict rules, professionals' study previous cases to guide their decisions.</a:t>
            </a:r>
          </a:p>
          <a:p>
            <a:pPr marL="285750" indent="-285750" algn="just">
              <a:buFont typeface="Courier New" panose="02070309020205020404" pitchFamily="49" charset="0"/>
              <a:buChar char="o"/>
            </a:pPr>
            <a:r>
              <a:rPr lang="en-US" sz="2100" b="1" dirty="0"/>
              <a:t>It focuses on learning from real-life examples and case studies.</a:t>
            </a:r>
          </a:p>
        </p:txBody>
      </p:sp>
    </p:spTree>
    <p:extLst>
      <p:ext uri="{BB962C8B-B14F-4D97-AF65-F5344CB8AC3E}">
        <p14:creationId xmlns:p14="http://schemas.microsoft.com/office/powerpoint/2010/main" val="97426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2A27EC-99FE-306E-03AD-330CFD55C704}"/>
              </a:ext>
            </a:extLst>
          </p:cNvPr>
          <p:cNvSpPr txBox="1"/>
          <p:nvPr/>
        </p:nvSpPr>
        <p:spPr>
          <a:xfrm>
            <a:off x="516731" y="220429"/>
            <a:ext cx="11158537" cy="6478697"/>
          </a:xfrm>
          <a:prstGeom prst="rect">
            <a:avLst/>
          </a:prstGeom>
          <a:noFill/>
        </p:spPr>
        <p:txBody>
          <a:bodyPr wrap="square" rtlCol="0">
            <a:spAutoFit/>
          </a:bodyPr>
          <a:lstStyle/>
          <a:p>
            <a:pPr algn="ctr"/>
            <a:r>
              <a:rPr lang="en-US" sz="2800" b="1" u="sng" dirty="0">
                <a:solidFill>
                  <a:schemeClr val="accent2">
                    <a:lumMod val="50000"/>
                  </a:schemeClr>
                </a:solidFill>
                <a:latin typeface="Arial Black" panose="020B0A04020102020204" pitchFamily="34" charset="0"/>
              </a:rPr>
              <a:t>Comparison of Ethical Theories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200" b="1" u="sng" dirty="0">
              <a:solidFill>
                <a:schemeClr val="accent2">
                  <a:lumMod val="50000"/>
                </a:schemeClr>
              </a:solidFill>
              <a:latin typeface="Arial Black" panose="020B0A04020102020204" pitchFamily="34" charset="0"/>
            </a:endParaRPr>
          </a:p>
          <a:p>
            <a:endParaRPr lang="en-US" sz="2200" b="1" u="sng" dirty="0">
              <a:solidFill>
                <a:schemeClr val="accent2">
                  <a:lumMod val="50000"/>
                </a:schemeClr>
              </a:solidFill>
              <a:latin typeface="Arial Black" panose="020B0A04020102020204" pitchFamily="34" charset="0"/>
            </a:endParaRPr>
          </a:p>
          <a:p>
            <a:r>
              <a:rPr lang="en-US" sz="2200" b="1" u="sng" dirty="0">
                <a:solidFill>
                  <a:schemeClr val="accent2">
                    <a:lumMod val="50000"/>
                  </a:schemeClr>
                </a:solidFill>
                <a:latin typeface="Arial Black" panose="020B0A04020102020204" pitchFamily="34" charset="0"/>
              </a:rPr>
              <a:t>Importance of Ethical Theories for Professionals</a:t>
            </a:r>
          </a:p>
          <a:p>
            <a:pPr marL="342900" indent="-342900">
              <a:buFont typeface="Wingdings" panose="05000000000000000000" pitchFamily="2" charset="2"/>
              <a:buChar char="§"/>
            </a:pPr>
            <a:r>
              <a:rPr lang="en-US" sz="2100" b="1" dirty="0"/>
              <a:t>Make Responsible Decisions</a:t>
            </a:r>
          </a:p>
          <a:p>
            <a:pPr marL="342900" indent="-342900">
              <a:buFont typeface="Wingdings" panose="05000000000000000000" pitchFamily="2" charset="2"/>
              <a:buChar char="§"/>
            </a:pPr>
            <a:r>
              <a:rPr lang="en-US" sz="2100" b="1" dirty="0"/>
              <a:t>Analyze Ethical Dilemmas</a:t>
            </a:r>
          </a:p>
          <a:p>
            <a:pPr marL="342900" indent="-342900">
              <a:buFont typeface="Wingdings" panose="05000000000000000000" pitchFamily="2" charset="2"/>
              <a:buChar char="§"/>
            </a:pPr>
            <a:r>
              <a:rPr lang="en-US" sz="2100" b="1" dirty="0"/>
              <a:t>Protect Public Welfare</a:t>
            </a:r>
          </a:p>
          <a:p>
            <a:pPr marL="342900" indent="-342900">
              <a:buFont typeface="Wingdings" panose="05000000000000000000" pitchFamily="2" charset="2"/>
              <a:buChar char="§"/>
            </a:pPr>
            <a:r>
              <a:rPr lang="en-US" sz="2100" b="1" dirty="0"/>
              <a:t>Maintain Professional Integrity</a:t>
            </a:r>
          </a:p>
          <a:p>
            <a:pPr marL="342900" indent="-342900">
              <a:buFont typeface="Wingdings" panose="05000000000000000000" pitchFamily="2" charset="2"/>
              <a:buChar char="§"/>
            </a:pPr>
            <a:r>
              <a:rPr lang="en-US" sz="2100" b="1" dirty="0"/>
              <a:t>Avoid Unethical Behavior</a:t>
            </a:r>
          </a:p>
        </p:txBody>
      </p:sp>
      <p:graphicFrame>
        <p:nvGraphicFramePr>
          <p:cNvPr id="3" name="Table 2">
            <a:extLst>
              <a:ext uri="{FF2B5EF4-FFF2-40B4-BE49-F238E27FC236}">
                <a16:creationId xmlns:a16="http://schemas.microsoft.com/office/drawing/2014/main" id="{F4375F93-C6E0-4D6E-6B36-DE21D4924C02}"/>
              </a:ext>
            </a:extLst>
          </p:cNvPr>
          <p:cNvGraphicFramePr>
            <a:graphicFrameLocks noGrp="1"/>
          </p:cNvGraphicFramePr>
          <p:nvPr>
            <p:extLst>
              <p:ext uri="{D42A27DB-BD31-4B8C-83A1-F6EECF244321}">
                <p14:modId xmlns:p14="http://schemas.microsoft.com/office/powerpoint/2010/main" val="2517738347"/>
              </p:ext>
            </p:extLst>
          </p:nvPr>
        </p:nvGraphicFramePr>
        <p:xfrm>
          <a:off x="516731" y="862965"/>
          <a:ext cx="11013282" cy="3391993"/>
        </p:xfrm>
        <a:graphic>
          <a:graphicData uri="http://schemas.openxmlformats.org/drawingml/2006/table">
            <a:tbl>
              <a:tblPr/>
              <a:tblGrid>
                <a:gridCol w="3954231">
                  <a:extLst>
                    <a:ext uri="{9D8B030D-6E8A-4147-A177-3AD203B41FA5}">
                      <a16:colId xmlns:a16="http://schemas.microsoft.com/office/drawing/2014/main" val="3259432855"/>
                    </a:ext>
                  </a:extLst>
                </a:gridCol>
                <a:gridCol w="3034642">
                  <a:extLst>
                    <a:ext uri="{9D8B030D-6E8A-4147-A177-3AD203B41FA5}">
                      <a16:colId xmlns:a16="http://schemas.microsoft.com/office/drawing/2014/main" val="1775431256"/>
                    </a:ext>
                  </a:extLst>
                </a:gridCol>
                <a:gridCol w="4024409">
                  <a:extLst>
                    <a:ext uri="{9D8B030D-6E8A-4147-A177-3AD203B41FA5}">
                      <a16:colId xmlns:a16="http://schemas.microsoft.com/office/drawing/2014/main" val="2651799877"/>
                    </a:ext>
                  </a:extLst>
                </a:gridCol>
              </a:tblGrid>
              <a:tr h="496393">
                <a:tc>
                  <a:txBody>
                    <a:bodyPr/>
                    <a:lstStyle/>
                    <a:p>
                      <a:pPr algn="ctr">
                        <a:buNone/>
                      </a:pPr>
                      <a:r>
                        <a:rPr lang="en-US" sz="2400">
                          <a:latin typeface="Arial Black" panose="020B0A04020102020204" pitchFamily="34" charset="0"/>
                        </a:rPr>
                        <a:t>Ethical Theory</a:t>
                      </a:r>
                    </a:p>
                  </a:txBody>
                  <a:tcPr anchor="ctr">
                    <a:lnL>
                      <a:noFill/>
                    </a:lnL>
                    <a:lnR>
                      <a:noFill/>
                    </a:lnR>
                    <a:lnT>
                      <a:noFill/>
                    </a:lnT>
                    <a:lnB>
                      <a:noFill/>
                    </a:lnB>
                    <a:solidFill>
                      <a:schemeClr val="accent2"/>
                    </a:solidFill>
                  </a:tcPr>
                </a:tc>
                <a:tc>
                  <a:txBody>
                    <a:bodyPr/>
                    <a:lstStyle/>
                    <a:p>
                      <a:pPr algn="ctr">
                        <a:buNone/>
                      </a:pPr>
                      <a:r>
                        <a:rPr lang="en-US" sz="2400">
                          <a:latin typeface="Arial Black" panose="020B0A04020102020204" pitchFamily="34" charset="0"/>
                        </a:rPr>
                        <a:t>Main Focus</a:t>
                      </a:r>
                    </a:p>
                  </a:txBody>
                  <a:tcPr anchor="ctr">
                    <a:lnL>
                      <a:noFill/>
                    </a:lnL>
                    <a:lnR>
                      <a:noFill/>
                    </a:lnR>
                    <a:lnT>
                      <a:noFill/>
                    </a:lnT>
                    <a:lnB>
                      <a:noFill/>
                    </a:lnB>
                    <a:solidFill>
                      <a:schemeClr val="accent2"/>
                    </a:solidFill>
                  </a:tcPr>
                </a:tc>
                <a:tc>
                  <a:txBody>
                    <a:bodyPr/>
                    <a:lstStyle/>
                    <a:p>
                      <a:pPr algn="ctr">
                        <a:buNone/>
                      </a:pPr>
                      <a:r>
                        <a:rPr lang="en-US" sz="2400" dirty="0">
                          <a:latin typeface="Arial Black" panose="020B0A04020102020204" pitchFamily="34" charset="0"/>
                        </a:rPr>
                        <a:t>Example</a:t>
                      </a:r>
                    </a:p>
                  </a:txBody>
                  <a:tcPr anchor="ctr">
                    <a:lnL>
                      <a:noFill/>
                    </a:lnL>
                    <a:lnR>
                      <a:noFill/>
                    </a:lnR>
                    <a:lnT>
                      <a:noFill/>
                    </a:lnT>
                    <a:lnB>
                      <a:noFill/>
                    </a:lnB>
                    <a:solidFill>
                      <a:schemeClr val="accent2"/>
                    </a:solidFill>
                  </a:tcPr>
                </a:tc>
                <a:extLst>
                  <a:ext uri="{0D108BD9-81ED-4DB2-BD59-A6C34878D82A}">
                    <a16:rowId xmlns:a16="http://schemas.microsoft.com/office/drawing/2014/main" val="1342053440"/>
                  </a:ext>
                </a:extLst>
              </a:tr>
              <a:tr h="761136">
                <a:tc>
                  <a:txBody>
                    <a:bodyPr/>
                    <a:lstStyle/>
                    <a:p>
                      <a:pPr marL="342900" indent="-342900">
                        <a:buFont typeface="Wingdings" panose="05000000000000000000" pitchFamily="2" charset="2"/>
                        <a:buChar char="§"/>
                      </a:pPr>
                      <a:r>
                        <a:rPr lang="en-US" sz="2400" b="1" dirty="0">
                          <a:solidFill>
                            <a:schemeClr val="accent6">
                              <a:lumMod val="50000"/>
                            </a:schemeClr>
                          </a:solidFill>
                        </a:rPr>
                        <a:t>Consequentialism</a:t>
                      </a:r>
                    </a:p>
                  </a:txBody>
                  <a:tcPr anchor="ctr">
                    <a:lnL>
                      <a:noFill/>
                    </a:lnL>
                    <a:lnR>
                      <a:noFill/>
                    </a:lnR>
                    <a:lnT>
                      <a:noFill/>
                    </a:lnT>
                    <a:lnB>
                      <a:noFill/>
                    </a:lnB>
                    <a:solidFill>
                      <a:schemeClr val="bg2">
                        <a:lumMod val="90000"/>
                      </a:schemeClr>
                    </a:solidFill>
                  </a:tcPr>
                </a:tc>
                <a:tc>
                  <a:txBody>
                    <a:bodyPr/>
                    <a:lstStyle/>
                    <a:p>
                      <a:pPr>
                        <a:buNone/>
                      </a:pPr>
                      <a:r>
                        <a:rPr lang="en-US" sz="2400" b="1" dirty="0">
                          <a:solidFill>
                            <a:srgbClr val="002060"/>
                          </a:solidFill>
                        </a:rPr>
                        <a:t>Outcome of actions</a:t>
                      </a:r>
                    </a:p>
                  </a:txBody>
                  <a:tcPr anchor="ctr">
                    <a:lnL>
                      <a:noFill/>
                    </a:lnL>
                    <a:lnR>
                      <a:noFill/>
                    </a:lnR>
                    <a:lnT>
                      <a:noFill/>
                    </a:lnT>
                    <a:lnB>
                      <a:noFill/>
                    </a:lnB>
                    <a:solidFill>
                      <a:schemeClr val="bg2">
                        <a:lumMod val="90000"/>
                      </a:schemeClr>
                    </a:solidFill>
                  </a:tcPr>
                </a:tc>
                <a:tc>
                  <a:txBody>
                    <a:bodyPr/>
                    <a:lstStyle/>
                    <a:p>
                      <a:pPr algn="just">
                        <a:buNone/>
                      </a:pPr>
                      <a:r>
                        <a:rPr lang="en-US" sz="2200" b="1"/>
                        <a:t>Choose action that gives best result</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885645882"/>
                  </a:ext>
                </a:extLst>
              </a:tr>
              <a:tr h="430207">
                <a:tc>
                  <a:txBody>
                    <a:bodyPr/>
                    <a:lstStyle/>
                    <a:p>
                      <a:pPr marL="342900" indent="-342900">
                        <a:buFont typeface="Wingdings" panose="05000000000000000000" pitchFamily="2" charset="2"/>
                        <a:buChar char="§"/>
                      </a:pPr>
                      <a:r>
                        <a:rPr lang="en-US" sz="2400" b="1" dirty="0">
                          <a:solidFill>
                            <a:schemeClr val="accent6">
                              <a:lumMod val="50000"/>
                            </a:schemeClr>
                          </a:solidFill>
                        </a:rPr>
                        <a:t>Deontology</a:t>
                      </a:r>
                    </a:p>
                  </a:txBody>
                  <a:tcPr anchor="ctr">
                    <a:lnL>
                      <a:noFill/>
                    </a:lnL>
                    <a:lnR>
                      <a:noFill/>
                    </a:lnR>
                    <a:lnT>
                      <a:noFill/>
                    </a:lnT>
                    <a:lnB>
                      <a:noFill/>
                    </a:lnB>
                    <a:solidFill>
                      <a:schemeClr val="bg2">
                        <a:lumMod val="90000"/>
                      </a:schemeClr>
                    </a:solidFill>
                  </a:tcPr>
                </a:tc>
                <a:tc>
                  <a:txBody>
                    <a:bodyPr/>
                    <a:lstStyle/>
                    <a:p>
                      <a:pPr>
                        <a:buNone/>
                      </a:pPr>
                      <a:r>
                        <a:rPr lang="en-US" sz="2400" b="1" dirty="0">
                          <a:solidFill>
                            <a:srgbClr val="002060"/>
                          </a:solidFill>
                        </a:rPr>
                        <a:t>Duty and rules</a:t>
                      </a:r>
                    </a:p>
                  </a:txBody>
                  <a:tcPr anchor="ctr">
                    <a:lnL>
                      <a:noFill/>
                    </a:lnL>
                    <a:lnR>
                      <a:noFill/>
                    </a:lnR>
                    <a:lnT>
                      <a:noFill/>
                    </a:lnT>
                    <a:lnB>
                      <a:noFill/>
                    </a:lnB>
                    <a:solidFill>
                      <a:schemeClr val="bg2">
                        <a:lumMod val="90000"/>
                      </a:schemeClr>
                    </a:solidFill>
                  </a:tcPr>
                </a:tc>
                <a:tc>
                  <a:txBody>
                    <a:bodyPr/>
                    <a:lstStyle/>
                    <a:p>
                      <a:pPr algn="just">
                        <a:buNone/>
                      </a:pPr>
                      <a:r>
                        <a:rPr lang="en-US" sz="2200" b="1" dirty="0"/>
                        <a:t>Follow safety regulations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1972031939"/>
                  </a:ext>
                </a:extLst>
              </a:tr>
              <a:tr h="430207">
                <a:tc>
                  <a:txBody>
                    <a:bodyPr/>
                    <a:lstStyle/>
                    <a:p>
                      <a:pPr marL="342900" indent="-342900">
                        <a:buFont typeface="Wingdings" panose="05000000000000000000" pitchFamily="2" charset="2"/>
                        <a:buChar char="§"/>
                      </a:pPr>
                      <a:r>
                        <a:rPr lang="en-US" sz="2400" b="1" dirty="0">
                          <a:solidFill>
                            <a:schemeClr val="accent6">
                              <a:lumMod val="50000"/>
                            </a:schemeClr>
                          </a:solidFill>
                        </a:rPr>
                        <a:t>Virtue Ethics</a:t>
                      </a:r>
                    </a:p>
                  </a:txBody>
                  <a:tcPr anchor="ctr">
                    <a:lnL>
                      <a:noFill/>
                    </a:lnL>
                    <a:lnR>
                      <a:noFill/>
                    </a:lnR>
                    <a:lnT>
                      <a:noFill/>
                    </a:lnT>
                    <a:lnB>
                      <a:noFill/>
                    </a:lnB>
                    <a:solidFill>
                      <a:schemeClr val="bg2">
                        <a:lumMod val="90000"/>
                      </a:schemeClr>
                    </a:solidFill>
                  </a:tcPr>
                </a:tc>
                <a:tc>
                  <a:txBody>
                    <a:bodyPr/>
                    <a:lstStyle/>
                    <a:p>
                      <a:pPr>
                        <a:buNone/>
                      </a:pPr>
                      <a:r>
                        <a:rPr lang="en-US" sz="2400" b="1" dirty="0">
                          <a:solidFill>
                            <a:srgbClr val="002060"/>
                          </a:solidFill>
                        </a:rPr>
                        <a:t>Moral character</a:t>
                      </a:r>
                    </a:p>
                  </a:txBody>
                  <a:tcPr anchor="ctr">
                    <a:lnL>
                      <a:noFill/>
                    </a:lnL>
                    <a:lnR>
                      <a:noFill/>
                    </a:lnR>
                    <a:lnT>
                      <a:noFill/>
                    </a:lnT>
                    <a:lnB>
                      <a:noFill/>
                    </a:lnB>
                    <a:solidFill>
                      <a:schemeClr val="bg2">
                        <a:lumMod val="90000"/>
                      </a:schemeClr>
                    </a:solidFill>
                  </a:tcPr>
                </a:tc>
                <a:tc>
                  <a:txBody>
                    <a:bodyPr/>
                    <a:lstStyle/>
                    <a:p>
                      <a:pPr algn="just">
                        <a:buNone/>
                      </a:pPr>
                      <a:r>
                        <a:rPr lang="en-US" sz="2200" b="1"/>
                        <a:t>Act honestly and responsibly</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674574531"/>
                  </a:ext>
                </a:extLst>
              </a:tr>
              <a:tr h="430207">
                <a:tc>
                  <a:txBody>
                    <a:bodyPr/>
                    <a:lstStyle/>
                    <a:p>
                      <a:pPr marL="342900" indent="-342900">
                        <a:buFont typeface="Wingdings" panose="05000000000000000000" pitchFamily="2" charset="2"/>
                        <a:buChar char="§"/>
                      </a:pPr>
                      <a:r>
                        <a:rPr lang="en-US" sz="2400" b="1" dirty="0">
                          <a:solidFill>
                            <a:schemeClr val="accent6">
                              <a:lumMod val="50000"/>
                            </a:schemeClr>
                          </a:solidFill>
                        </a:rPr>
                        <a:t>Rights Theory</a:t>
                      </a:r>
                    </a:p>
                  </a:txBody>
                  <a:tcPr anchor="ctr">
                    <a:lnL>
                      <a:noFill/>
                    </a:lnL>
                    <a:lnR>
                      <a:noFill/>
                    </a:lnR>
                    <a:lnT>
                      <a:noFill/>
                    </a:lnT>
                    <a:lnB>
                      <a:noFill/>
                    </a:lnB>
                    <a:solidFill>
                      <a:schemeClr val="bg2">
                        <a:lumMod val="90000"/>
                      </a:schemeClr>
                    </a:solidFill>
                  </a:tcPr>
                </a:tc>
                <a:tc>
                  <a:txBody>
                    <a:bodyPr/>
                    <a:lstStyle/>
                    <a:p>
                      <a:pPr>
                        <a:buNone/>
                      </a:pPr>
                      <a:r>
                        <a:rPr lang="en-US" sz="2400" b="1">
                          <a:solidFill>
                            <a:srgbClr val="002060"/>
                          </a:solidFill>
                        </a:rPr>
                        <a:t>Protection of rights</a:t>
                      </a:r>
                    </a:p>
                  </a:txBody>
                  <a:tcPr anchor="ctr">
                    <a:lnL>
                      <a:noFill/>
                    </a:lnL>
                    <a:lnR>
                      <a:noFill/>
                    </a:lnR>
                    <a:lnT>
                      <a:noFill/>
                    </a:lnT>
                    <a:lnB>
                      <a:noFill/>
                    </a:lnB>
                    <a:solidFill>
                      <a:schemeClr val="bg2">
                        <a:lumMod val="90000"/>
                      </a:schemeClr>
                    </a:solidFill>
                  </a:tcPr>
                </a:tc>
                <a:tc>
                  <a:txBody>
                    <a:bodyPr/>
                    <a:lstStyle/>
                    <a:p>
                      <a:pPr algn="just">
                        <a:buNone/>
                      </a:pPr>
                      <a:r>
                        <a:rPr lang="en-US" sz="2200" b="1"/>
                        <a:t>Respect user privacy</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2458812507"/>
                  </a:ext>
                </a:extLst>
              </a:tr>
              <a:tr h="717971">
                <a:tc>
                  <a:txBody>
                    <a:bodyPr/>
                    <a:lstStyle/>
                    <a:p>
                      <a:pPr marL="342900" indent="-342900">
                        <a:buFont typeface="Wingdings" panose="05000000000000000000" pitchFamily="2" charset="2"/>
                        <a:buChar char="§"/>
                      </a:pPr>
                      <a:r>
                        <a:rPr lang="en-US" sz="2400" b="1" dirty="0">
                          <a:solidFill>
                            <a:schemeClr val="accent6">
                              <a:lumMod val="50000"/>
                            </a:schemeClr>
                          </a:solidFill>
                        </a:rPr>
                        <a:t>Casuist Theory</a:t>
                      </a:r>
                    </a:p>
                  </a:txBody>
                  <a:tcPr anchor="ctr">
                    <a:lnL>
                      <a:noFill/>
                    </a:lnL>
                    <a:lnR>
                      <a:noFill/>
                    </a:lnR>
                    <a:lnT>
                      <a:noFill/>
                    </a:lnT>
                    <a:lnB>
                      <a:noFill/>
                    </a:lnB>
                    <a:solidFill>
                      <a:schemeClr val="bg2">
                        <a:lumMod val="90000"/>
                      </a:schemeClr>
                    </a:solidFill>
                  </a:tcPr>
                </a:tc>
                <a:tc>
                  <a:txBody>
                    <a:bodyPr/>
                    <a:lstStyle/>
                    <a:p>
                      <a:pPr>
                        <a:buNone/>
                      </a:pPr>
                      <a:r>
                        <a:rPr lang="en-US" sz="2400" b="1" dirty="0">
                          <a:solidFill>
                            <a:srgbClr val="002060"/>
                          </a:solidFill>
                        </a:rPr>
                        <a:t>Case-based reasoning</a:t>
                      </a:r>
                    </a:p>
                  </a:txBody>
                  <a:tcPr anchor="ctr">
                    <a:lnL>
                      <a:noFill/>
                    </a:lnL>
                    <a:lnR>
                      <a:noFill/>
                    </a:lnR>
                    <a:lnT>
                      <a:noFill/>
                    </a:lnT>
                    <a:lnB>
                      <a:noFill/>
                    </a:lnB>
                    <a:solidFill>
                      <a:schemeClr val="bg2">
                        <a:lumMod val="90000"/>
                      </a:schemeClr>
                    </a:solidFill>
                  </a:tcPr>
                </a:tc>
                <a:tc>
                  <a:txBody>
                    <a:bodyPr/>
                    <a:lstStyle/>
                    <a:p>
                      <a:pPr algn="just">
                        <a:buNone/>
                      </a:pPr>
                      <a:r>
                        <a:rPr lang="en-US" sz="2200" b="1" dirty="0"/>
                        <a:t>Learn from previous ethical cases</a:t>
                      </a:r>
                    </a:p>
                  </a:txBody>
                  <a:tcPr anchor="ctr">
                    <a:lnL>
                      <a:noFill/>
                    </a:lnL>
                    <a:lnR>
                      <a:noFill/>
                    </a:lnR>
                    <a:lnT>
                      <a:noFill/>
                    </a:lnT>
                    <a:lnB>
                      <a:noFill/>
                    </a:lnB>
                    <a:solidFill>
                      <a:schemeClr val="bg2">
                        <a:lumMod val="90000"/>
                      </a:schemeClr>
                    </a:solidFill>
                  </a:tcPr>
                </a:tc>
                <a:extLst>
                  <a:ext uri="{0D108BD9-81ED-4DB2-BD59-A6C34878D82A}">
                    <a16:rowId xmlns:a16="http://schemas.microsoft.com/office/drawing/2014/main" val="3707993988"/>
                  </a:ext>
                </a:extLst>
              </a:tr>
            </a:tbl>
          </a:graphicData>
        </a:graphic>
      </p:graphicFrame>
    </p:spTree>
    <p:extLst>
      <p:ext uri="{BB962C8B-B14F-4D97-AF65-F5344CB8AC3E}">
        <p14:creationId xmlns:p14="http://schemas.microsoft.com/office/powerpoint/2010/main" val="2069116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5588C-684A-7343-7BE4-B956BB303E8A}"/>
              </a:ext>
            </a:extLst>
          </p:cNvPr>
          <p:cNvSpPr>
            <a:spLocks noGrp="1"/>
          </p:cNvSpPr>
          <p:nvPr>
            <p:ph type="title"/>
          </p:nvPr>
        </p:nvSpPr>
        <p:spPr>
          <a:xfrm>
            <a:off x="838200" y="236537"/>
            <a:ext cx="10515600" cy="677863"/>
          </a:xfrm>
        </p:spPr>
        <p:txBody>
          <a:bodyPr>
            <a:normAutofit fontScale="90000"/>
          </a:bodyPr>
          <a:lstStyle/>
          <a:p>
            <a:pPr algn="ctr"/>
            <a:r>
              <a:rPr lang="en-US" dirty="0">
                <a:solidFill>
                  <a:srgbClr val="FF0000"/>
                </a:solidFill>
                <a:latin typeface="Arial Black" panose="020B0A04020102020204" pitchFamily="34" charset="0"/>
              </a:rPr>
              <a:t>ETHICAL TERMS</a:t>
            </a:r>
          </a:p>
        </p:txBody>
      </p:sp>
      <p:sp>
        <p:nvSpPr>
          <p:cNvPr id="3" name="Content Placeholder 2">
            <a:extLst>
              <a:ext uri="{FF2B5EF4-FFF2-40B4-BE49-F238E27FC236}">
                <a16:creationId xmlns:a16="http://schemas.microsoft.com/office/drawing/2014/main" id="{141FD6DD-0E89-272F-B822-8B55065A4CC2}"/>
              </a:ext>
            </a:extLst>
          </p:cNvPr>
          <p:cNvSpPr>
            <a:spLocks noGrp="1"/>
          </p:cNvSpPr>
          <p:nvPr>
            <p:ph idx="1"/>
          </p:nvPr>
        </p:nvSpPr>
        <p:spPr>
          <a:xfrm>
            <a:off x="609600" y="914400"/>
            <a:ext cx="10972800" cy="5815012"/>
          </a:xfrm>
        </p:spPr>
        <p:txBody>
          <a:bodyPr>
            <a:normAutofit fontScale="70000" lnSpcReduction="20000"/>
          </a:bodyPr>
          <a:lstStyle/>
          <a:p>
            <a:pPr marL="0" indent="0" algn="just">
              <a:buNone/>
            </a:pPr>
            <a:r>
              <a:rPr lang="en-US" sz="3300" b="1" dirty="0"/>
              <a:t>In ethics, certain terms explain how people judge what is right or wrong. Some of the important ethical terms include:</a:t>
            </a:r>
          </a:p>
          <a:p>
            <a:pPr>
              <a:buFont typeface="Wingdings" panose="05000000000000000000" pitchFamily="2" charset="2"/>
              <a:buChar char="v"/>
            </a:pPr>
            <a:r>
              <a:rPr lang="en-US" dirty="0"/>
              <a:t> </a:t>
            </a:r>
            <a:r>
              <a:rPr lang="en-US" b="1" dirty="0">
                <a:solidFill>
                  <a:schemeClr val="accent6">
                    <a:lumMod val="50000"/>
                  </a:schemeClr>
                </a:solidFill>
              </a:rPr>
              <a:t>Moral Absolutism</a:t>
            </a:r>
          </a:p>
          <a:p>
            <a:pPr>
              <a:buFont typeface="Wingdings" panose="05000000000000000000" pitchFamily="2" charset="2"/>
              <a:buChar char="v"/>
            </a:pPr>
            <a:r>
              <a:rPr lang="en-US" b="1" dirty="0">
                <a:solidFill>
                  <a:schemeClr val="accent6">
                    <a:lumMod val="50000"/>
                  </a:schemeClr>
                </a:solidFill>
              </a:rPr>
              <a:t> Moral Relativism</a:t>
            </a:r>
          </a:p>
          <a:p>
            <a:pPr>
              <a:buFont typeface="Wingdings" panose="05000000000000000000" pitchFamily="2" charset="2"/>
              <a:buChar char="v"/>
            </a:pPr>
            <a:r>
              <a:rPr lang="en-US" b="1" dirty="0">
                <a:solidFill>
                  <a:schemeClr val="accent6">
                    <a:lumMod val="50000"/>
                  </a:schemeClr>
                </a:solidFill>
              </a:rPr>
              <a:t> Moral Pluralism</a:t>
            </a:r>
          </a:p>
          <a:p>
            <a:pPr marL="0" indent="0">
              <a:buNone/>
            </a:pPr>
            <a:endParaRPr lang="en-US" sz="3400" dirty="0">
              <a:solidFill>
                <a:schemeClr val="accent2">
                  <a:lumMod val="50000"/>
                </a:schemeClr>
              </a:solidFill>
              <a:latin typeface="Arial Black" panose="020B0A04020102020204" pitchFamily="34" charset="0"/>
            </a:endParaRPr>
          </a:p>
          <a:p>
            <a:pPr marL="0" indent="0" algn="ctr">
              <a:buNone/>
            </a:pPr>
            <a:r>
              <a:rPr lang="en-US" sz="3700" u="sng" dirty="0">
                <a:solidFill>
                  <a:schemeClr val="accent2">
                    <a:lumMod val="50000"/>
                  </a:schemeClr>
                </a:solidFill>
                <a:latin typeface="Arial Black" panose="020B0A04020102020204" pitchFamily="34" charset="0"/>
              </a:rPr>
              <a:t>Moral Absolutism</a:t>
            </a:r>
          </a:p>
          <a:p>
            <a:pPr marL="0" indent="0" algn="just">
              <a:buNone/>
            </a:pPr>
            <a:r>
              <a:rPr lang="en-US" sz="3200" b="1" dirty="0"/>
              <a:t>Moral absolutism is the belief that certain actions are always right or always wrong, regardless of circumstances, culture, or situation. Moral absolutism is the belief that moral rules apply to everyone in all situations.</a:t>
            </a:r>
          </a:p>
          <a:p>
            <a:pPr marL="0" indent="0" algn="just">
              <a:buNone/>
            </a:pPr>
            <a:endParaRPr lang="en-US" sz="3200" dirty="0"/>
          </a:p>
          <a:p>
            <a:pPr marL="0" indent="0" algn="just">
              <a:buNone/>
            </a:pPr>
            <a:r>
              <a:rPr lang="en-US" sz="3200" b="1" dirty="0"/>
              <a:t>According to this view, moral principles are universal and fixed.</a:t>
            </a:r>
          </a:p>
          <a:p>
            <a:pPr marL="0" indent="0">
              <a:buNone/>
            </a:pPr>
            <a:endParaRPr lang="en-US" b="1" dirty="0"/>
          </a:p>
          <a:p>
            <a:pPr marL="0" indent="0">
              <a:buNone/>
            </a:pPr>
            <a:r>
              <a:rPr lang="en-US" b="1" dirty="0">
                <a:solidFill>
                  <a:schemeClr val="accent6">
                    <a:lumMod val="50000"/>
                  </a:schemeClr>
                </a:solidFill>
              </a:rPr>
              <a:t>Examples</a:t>
            </a:r>
          </a:p>
          <a:p>
            <a:r>
              <a:rPr lang="en-US" sz="3000" dirty="0"/>
              <a:t>Stealing is always wrong.</a:t>
            </a:r>
          </a:p>
          <a:p>
            <a:r>
              <a:rPr lang="en-US" sz="3000" dirty="0"/>
              <a:t>Corruption or bribery is always unethical.</a:t>
            </a:r>
          </a:p>
          <a:p>
            <a:r>
              <a:rPr lang="en-US" sz="3000" dirty="0"/>
              <a:t>Lying is morally wrong.</a:t>
            </a:r>
          </a:p>
          <a:p>
            <a:endParaRPr lang="en-US" dirty="0"/>
          </a:p>
          <a:p>
            <a:pPr marL="0" indent="0">
              <a:buNone/>
            </a:pPr>
            <a:endParaRPr lang="en-US" dirty="0"/>
          </a:p>
        </p:txBody>
      </p:sp>
    </p:spTree>
    <p:extLst>
      <p:ext uri="{BB962C8B-B14F-4D97-AF65-F5344CB8AC3E}">
        <p14:creationId xmlns:p14="http://schemas.microsoft.com/office/powerpoint/2010/main" val="2562856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BECEB1-DF2D-1103-6FD3-A9BCD8B0C62D}"/>
              </a:ext>
            </a:extLst>
          </p:cNvPr>
          <p:cNvSpPr txBox="1"/>
          <p:nvPr/>
        </p:nvSpPr>
        <p:spPr>
          <a:xfrm>
            <a:off x="371475" y="314325"/>
            <a:ext cx="11387138" cy="6407908"/>
          </a:xfrm>
          <a:prstGeom prst="rect">
            <a:avLst/>
          </a:prstGeom>
          <a:noFill/>
        </p:spPr>
        <p:txBody>
          <a:bodyPr wrap="square" rtlCol="0">
            <a:spAutoFit/>
          </a:bodyPr>
          <a:lstStyle/>
          <a:p>
            <a:pPr algn="ctr">
              <a:lnSpc>
                <a:spcPct val="70000"/>
              </a:lnSpc>
              <a:spcBef>
                <a:spcPts val="1000"/>
              </a:spcBef>
            </a:pPr>
            <a:r>
              <a:rPr lang="en-US" sz="3200" u="sng" dirty="0">
                <a:solidFill>
                  <a:schemeClr val="accent2">
                    <a:lumMod val="50000"/>
                  </a:schemeClr>
                </a:solidFill>
                <a:latin typeface="Arial Black" panose="020B0A04020102020204" pitchFamily="34" charset="0"/>
              </a:rPr>
              <a:t>Moral Relativism</a:t>
            </a:r>
          </a:p>
          <a:p>
            <a:pPr algn="just"/>
            <a:endParaRPr lang="en-US" sz="2200" b="1" dirty="0"/>
          </a:p>
          <a:p>
            <a:pPr algn="just"/>
            <a:r>
              <a:rPr lang="en-US" sz="2200" b="1" dirty="0"/>
              <a:t>Moral relativism states that what is right or wrong depends on cultural beliefs, social norms, or individual perspectives. As different societies may have different moral standards. It  is the belief that morality depends on culture, society, or situation.</a:t>
            </a:r>
          </a:p>
          <a:p>
            <a:pPr algn="just"/>
            <a:endParaRPr lang="en-US" sz="2200" b="1" dirty="0"/>
          </a:p>
          <a:p>
            <a:pPr algn="just"/>
            <a:r>
              <a:rPr lang="en-US" sz="2200" b="1" dirty="0"/>
              <a:t>Morality is not universal; it varies according to context or culture.</a:t>
            </a:r>
          </a:p>
          <a:p>
            <a:endParaRPr lang="en-US" sz="2200" dirty="0"/>
          </a:p>
          <a:p>
            <a:r>
              <a:rPr lang="en-US" sz="2200" b="1" dirty="0">
                <a:solidFill>
                  <a:schemeClr val="accent6">
                    <a:lumMod val="50000"/>
                  </a:schemeClr>
                </a:solidFill>
              </a:rPr>
              <a:t>For Example: </a:t>
            </a:r>
            <a:r>
              <a:rPr lang="en-US" sz="2200" dirty="0"/>
              <a:t>Business practices acceptable in one country may be considered unethical in another.</a:t>
            </a:r>
          </a:p>
          <a:p>
            <a:endParaRPr lang="en-US" u="sng" dirty="0">
              <a:solidFill>
                <a:schemeClr val="accent2">
                  <a:lumMod val="50000"/>
                </a:schemeClr>
              </a:solidFill>
              <a:latin typeface="Arial Black" panose="020B0A04020102020204" pitchFamily="34" charset="0"/>
            </a:endParaRPr>
          </a:p>
          <a:p>
            <a:pPr algn="ctr"/>
            <a:r>
              <a:rPr lang="en-US" sz="2600" u="sng" dirty="0">
                <a:solidFill>
                  <a:schemeClr val="accent4">
                    <a:lumMod val="50000"/>
                  </a:schemeClr>
                </a:solidFill>
                <a:latin typeface="Arial Black" panose="020B0A04020102020204" pitchFamily="34" charset="0"/>
              </a:rPr>
              <a:t>Types of Relativism</a:t>
            </a:r>
          </a:p>
          <a:p>
            <a:r>
              <a:rPr lang="en-US" sz="2400" b="1" dirty="0">
                <a:solidFill>
                  <a:schemeClr val="accent6">
                    <a:lumMod val="50000"/>
                  </a:schemeClr>
                </a:solidFill>
              </a:rPr>
              <a:t>a) Cultural Relativism</a:t>
            </a:r>
          </a:p>
          <a:p>
            <a:pPr algn="just"/>
            <a:r>
              <a:rPr lang="en-US" sz="2400" b="1" dirty="0"/>
              <a:t>Ethics depend on cultural norms and traditions.  What is acceptable in one society may be unacceptable in another.</a:t>
            </a:r>
          </a:p>
          <a:p>
            <a:endParaRPr lang="en-US" sz="2400" dirty="0">
              <a:solidFill>
                <a:schemeClr val="accent6">
                  <a:lumMod val="50000"/>
                </a:schemeClr>
              </a:solidFill>
            </a:endParaRPr>
          </a:p>
          <a:p>
            <a:r>
              <a:rPr lang="en-US" sz="2400" b="1" dirty="0">
                <a:solidFill>
                  <a:schemeClr val="accent6">
                    <a:lumMod val="50000"/>
                  </a:schemeClr>
                </a:solidFill>
              </a:rPr>
              <a:t>b) Moral (Ethical) Relativism</a:t>
            </a:r>
          </a:p>
          <a:p>
            <a:r>
              <a:rPr lang="en-US" sz="2400" b="1" dirty="0"/>
              <a:t>Each individual decides what is right or wrong based on personal beliefs.</a:t>
            </a:r>
          </a:p>
        </p:txBody>
      </p:sp>
    </p:spTree>
    <p:extLst>
      <p:ext uri="{BB962C8B-B14F-4D97-AF65-F5344CB8AC3E}">
        <p14:creationId xmlns:p14="http://schemas.microsoft.com/office/powerpoint/2010/main" val="15999656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5DE33D-B143-14AD-F5DE-665132A6D303}"/>
              </a:ext>
            </a:extLst>
          </p:cNvPr>
          <p:cNvSpPr txBox="1"/>
          <p:nvPr/>
        </p:nvSpPr>
        <p:spPr>
          <a:xfrm>
            <a:off x="431006" y="478336"/>
            <a:ext cx="11329987" cy="6321731"/>
          </a:xfrm>
          <a:prstGeom prst="rect">
            <a:avLst/>
          </a:prstGeom>
          <a:noFill/>
        </p:spPr>
        <p:txBody>
          <a:bodyPr wrap="square" rtlCol="0">
            <a:spAutoFit/>
          </a:bodyPr>
          <a:lstStyle/>
          <a:p>
            <a:pPr algn="ctr">
              <a:lnSpc>
                <a:spcPct val="70000"/>
              </a:lnSpc>
              <a:spcBef>
                <a:spcPts val="1000"/>
              </a:spcBef>
            </a:pPr>
            <a:endParaRPr lang="en-US" sz="3200" u="sng" dirty="0">
              <a:solidFill>
                <a:schemeClr val="accent2">
                  <a:lumMod val="50000"/>
                </a:schemeClr>
              </a:solidFill>
              <a:latin typeface="Arial Black" panose="020B0A04020102020204" pitchFamily="34" charset="0"/>
            </a:endParaRPr>
          </a:p>
          <a:p>
            <a:pPr algn="ctr">
              <a:lnSpc>
                <a:spcPct val="70000"/>
              </a:lnSpc>
              <a:spcBef>
                <a:spcPts val="1000"/>
              </a:spcBef>
            </a:pPr>
            <a:endParaRPr lang="en-US" sz="3200" u="sng" dirty="0">
              <a:solidFill>
                <a:schemeClr val="accent2">
                  <a:lumMod val="50000"/>
                </a:schemeClr>
              </a:solidFill>
              <a:latin typeface="Arial Black" panose="020B0A04020102020204" pitchFamily="34" charset="0"/>
            </a:endParaRPr>
          </a:p>
          <a:p>
            <a:pPr algn="ctr">
              <a:lnSpc>
                <a:spcPct val="70000"/>
              </a:lnSpc>
              <a:spcBef>
                <a:spcPts val="1000"/>
              </a:spcBef>
            </a:pPr>
            <a:endParaRPr lang="en-US" sz="3200" u="sng" dirty="0">
              <a:solidFill>
                <a:schemeClr val="accent2">
                  <a:lumMod val="50000"/>
                </a:schemeClr>
              </a:solidFill>
              <a:latin typeface="Arial Black" panose="020B0A04020102020204" pitchFamily="34" charset="0"/>
            </a:endParaRPr>
          </a:p>
          <a:p>
            <a:pPr algn="ctr">
              <a:lnSpc>
                <a:spcPct val="70000"/>
              </a:lnSpc>
              <a:spcBef>
                <a:spcPts val="1000"/>
              </a:spcBef>
            </a:pPr>
            <a:endParaRPr lang="en-US" sz="3200" u="sng" dirty="0">
              <a:solidFill>
                <a:schemeClr val="accent2">
                  <a:lumMod val="50000"/>
                </a:schemeClr>
              </a:solidFill>
              <a:latin typeface="Arial Black" panose="020B0A04020102020204" pitchFamily="34" charset="0"/>
            </a:endParaRPr>
          </a:p>
          <a:p>
            <a:pPr algn="ctr">
              <a:lnSpc>
                <a:spcPct val="70000"/>
              </a:lnSpc>
              <a:spcBef>
                <a:spcPts val="1000"/>
              </a:spcBef>
            </a:pPr>
            <a:endParaRPr lang="en-US" sz="3200" u="sng" dirty="0">
              <a:solidFill>
                <a:schemeClr val="accent2">
                  <a:lumMod val="50000"/>
                </a:schemeClr>
              </a:solidFill>
              <a:latin typeface="Arial Black" panose="020B0A04020102020204" pitchFamily="34" charset="0"/>
            </a:endParaRPr>
          </a:p>
          <a:p>
            <a:pPr algn="ctr">
              <a:lnSpc>
                <a:spcPct val="70000"/>
              </a:lnSpc>
              <a:spcBef>
                <a:spcPts val="1000"/>
              </a:spcBef>
            </a:pPr>
            <a:endParaRPr lang="en-US" sz="3200" u="sng" dirty="0">
              <a:solidFill>
                <a:schemeClr val="accent2">
                  <a:lumMod val="50000"/>
                </a:schemeClr>
              </a:solidFill>
              <a:latin typeface="Arial Black" panose="020B0A04020102020204" pitchFamily="34" charset="0"/>
            </a:endParaRPr>
          </a:p>
          <a:p>
            <a:pPr algn="ctr">
              <a:lnSpc>
                <a:spcPct val="70000"/>
              </a:lnSpc>
              <a:spcBef>
                <a:spcPts val="1000"/>
              </a:spcBef>
            </a:pPr>
            <a:r>
              <a:rPr lang="en-US" sz="3200" u="sng" dirty="0">
                <a:solidFill>
                  <a:schemeClr val="accent2">
                    <a:lumMod val="50000"/>
                  </a:schemeClr>
                </a:solidFill>
                <a:latin typeface="Arial Black" panose="020B0A04020102020204" pitchFamily="34" charset="0"/>
              </a:rPr>
              <a:t>Moral Pluralism</a:t>
            </a:r>
          </a:p>
          <a:p>
            <a:pPr algn="just"/>
            <a:r>
              <a:rPr lang="en-US" sz="2200" b="1" dirty="0"/>
              <a:t>Moral pluralism recognizes that there may be multiple valid moral viewpoints, and ethical decisions may involve balancing different moral principles. It accepts that no single rule can solve every ethical problem.</a:t>
            </a:r>
          </a:p>
          <a:p>
            <a:pPr algn="just"/>
            <a:r>
              <a:rPr lang="en-US" sz="2200" b="1" dirty="0"/>
              <a:t>It is the belief that multiple moral principles can coexist and must sometimes be balanced. Here ethical decisions often involve considering multiple moral values.</a:t>
            </a:r>
          </a:p>
          <a:p>
            <a:endParaRPr lang="en-US" sz="2200" b="1" dirty="0"/>
          </a:p>
          <a:p>
            <a:pPr algn="just"/>
            <a:r>
              <a:rPr lang="en-US" sz="2200" b="1" dirty="0">
                <a:solidFill>
                  <a:schemeClr val="accent6">
                    <a:lumMod val="50000"/>
                  </a:schemeClr>
                </a:solidFill>
              </a:rPr>
              <a:t>For Example:</a:t>
            </a:r>
            <a:r>
              <a:rPr lang="en-US" sz="2200" b="1" dirty="0"/>
              <a:t> </a:t>
            </a:r>
            <a:r>
              <a:rPr lang="en-US" sz="2200" dirty="0"/>
              <a:t>In professional decisions, an engineer may need to balance:</a:t>
            </a:r>
          </a:p>
          <a:p>
            <a:pPr algn="just"/>
            <a:r>
              <a:rPr lang="en-US" sz="2200" dirty="0"/>
              <a:t>Loyalty to the company, Responsibility to public safety as both the values are important, and a careful decision must be made.</a:t>
            </a:r>
          </a:p>
        </p:txBody>
      </p:sp>
      <p:graphicFrame>
        <p:nvGraphicFramePr>
          <p:cNvPr id="6" name="Table 5">
            <a:extLst>
              <a:ext uri="{FF2B5EF4-FFF2-40B4-BE49-F238E27FC236}">
                <a16:creationId xmlns:a16="http://schemas.microsoft.com/office/drawing/2014/main" id="{4FABF9C9-457B-3DB9-6837-F238368FAE00}"/>
              </a:ext>
            </a:extLst>
          </p:cNvPr>
          <p:cNvGraphicFramePr>
            <a:graphicFrameLocks noGrp="1"/>
          </p:cNvGraphicFramePr>
          <p:nvPr>
            <p:extLst>
              <p:ext uri="{D42A27DB-BD31-4B8C-83A1-F6EECF244321}">
                <p14:modId xmlns:p14="http://schemas.microsoft.com/office/powerpoint/2010/main" val="2428175210"/>
              </p:ext>
            </p:extLst>
          </p:nvPr>
        </p:nvGraphicFramePr>
        <p:xfrm>
          <a:off x="809624" y="478336"/>
          <a:ext cx="10572750" cy="2179320"/>
        </p:xfrm>
        <a:graphic>
          <a:graphicData uri="http://schemas.openxmlformats.org/drawingml/2006/table">
            <a:tbl>
              <a:tblPr firstRow="1" bandRow="1">
                <a:tableStyleId>{D27102A9-8310-4765-A935-A1911B00CA55}</a:tableStyleId>
              </a:tblPr>
              <a:tblGrid>
                <a:gridCol w="5286375">
                  <a:extLst>
                    <a:ext uri="{9D8B030D-6E8A-4147-A177-3AD203B41FA5}">
                      <a16:colId xmlns:a16="http://schemas.microsoft.com/office/drawing/2014/main" val="3660884976"/>
                    </a:ext>
                  </a:extLst>
                </a:gridCol>
                <a:gridCol w="5286375">
                  <a:extLst>
                    <a:ext uri="{9D8B030D-6E8A-4147-A177-3AD203B41FA5}">
                      <a16:colId xmlns:a16="http://schemas.microsoft.com/office/drawing/2014/main" val="2121045907"/>
                    </a:ext>
                  </a:extLst>
                </a:gridCol>
              </a:tblGrid>
              <a:tr h="418196">
                <a:tc>
                  <a:txBody>
                    <a:bodyPr/>
                    <a:lstStyle/>
                    <a:p>
                      <a:pPr algn="ctr"/>
                      <a:r>
                        <a:rPr lang="en-US" sz="2400" dirty="0">
                          <a:solidFill>
                            <a:schemeClr val="accent2">
                              <a:lumMod val="50000"/>
                            </a:schemeClr>
                          </a:solidFill>
                          <a:latin typeface="Arial Black" panose="020B0A04020102020204" pitchFamily="34" charset="0"/>
                        </a:rPr>
                        <a:t>Descriptive Relativism</a:t>
                      </a:r>
                    </a:p>
                  </a:txBody>
                  <a:tcPr>
                    <a:solidFill>
                      <a:schemeClr val="accent4">
                        <a:lumMod val="60000"/>
                        <a:lumOff val="40000"/>
                      </a:schemeClr>
                    </a:solidFill>
                  </a:tcPr>
                </a:tc>
                <a:tc>
                  <a:txBody>
                    <a:bodyPr/>
                    <a:lstStyle/>
                    <a:p>
                      <a:pPr algn="ctr"/>
                      <a:r>
                        <a:rPr lang="en-US" sz="2400" dirty="0">
                          <a:solidFill>
                            <a:schemeClr val="accent2">
                              <a:lumMod val="50000"/>
                            </a:schemeClr>
                          </a:solidFill>
                          <a:latin typeface="Arial Black" panose="020B0A04020102020204" pitchFamily="34" charset="0"/>
                        </a:rPr>
                        <a:t>Subjective Relativism</a:t>
                      </a:r>
                    </a:p>
                  </a:txBody>
                  <a:tcPr>
                    <a:solidFill>
                      <a:schemeClr val="accent4">
                        <a:lumMod val="60000"/>
                        <a:lumOff val="40000"/>
                      </a:schemeClr>
                    </a:solidFill>
                  </a:tcPr>
                </a:tc>
                <a:extLst>
                  <a:ext uri="{0D108BD9-81ED-4DB2-BD59-A6C34878D82A}">
                    <a16:rowId xmlns:a16="http://schemas.microsoft.com/office/drawing/2014/main" val="2368693450"/>
                  </a:ext>
                </a:extLst>
              </a:tr>
              <a:tr h="1575206">
                <a:tc>
                  <a:txBody>
                    <a:bodyPr/>
                    <a:lstStyle/>
                    <a:p>
                      <a:pPr marL="342900" indent="-342900" algn="just">
                        <a:buFont typeface="Wingdings" panose="05000000000000000000" pitchFamily="2" charset="2"/>
                        <a:buChar char="§"/>
                      </a:pPr>
                      <a:r>
                        <a:rPr lang="en-US" sz="2100" b="1" dirty="0"/>
                        <a:t>It states that different cultures and societies have different moral beliefs and practices.</a:t>
                      </a:r>
                    </a:p>
                    <a:p>
                      <a:pPr marL="342900" indent="-342900" algn="just">
                        <a:buFont typeface="Wingdings" panose="05000000000000000000" pitchFamily="2" charset="2"/>
                        <a:buChar char="§"/>
                      </a:pPr>
                      <a:r>
                        <a:rPr lang="en-US" sz="2200" b="0" dirty="0"/>
                        <a:t>It is only a statement of fact, not a judgment.</a:t>
                      </a:r>
                    </a:p>
                  </a:txBody>
                  <a:tcPr/>
                </a:tc>
                <a:tc>
                  <a:txBody>
                    <a:bodyPr/>
                    <a:lstStyle/>
                    <a:p>
                      <a:pPr marL="342900" indent="-342900" algn="just" defTabSz="914400" rtl="0" eaLnBrk="1" latinLnBrk="0" hangingPunct="1">
                        <a:buFont typeface="Wingdings" panose="05000000000000000000" pitchFamily="2" charset="2"/>
                        <a:buChar char="§"/>
                      </a:pPr>
                      <a:r>
                        <a:rPr lang="en-US" sz="2100" b="1" kern="1200" dirty="0">
                          <a:solidFill>
                            <a:schemeClr val="dk1"/>
                          </a:solidFill>
                        </a:rPr>
                        <a:t>It states that an action is right or wrong depending on an individual’s personal beliefs. </a:t>
                      </a:r>
                    </a:p>
                    <a:p>
                      <a:pPr marL="342900" indent="-342900" algn="just" defTabSz="914400" rtl="0" eaLnBrk="1" latinLnBrk="0" hangingPunct="1">
                        <a:buFont typeface="Wingdings" panose="05000000000000000000" pitchFamily="2" charset="2"/>
                        <a:buChar char="§"/>
                      </a:pPr>
                      <a:r>
                        <a:rPr lang="en-US" sz="2200" b="0" kern="1200" dirty="0">
                          <a:solidFill>
                            <a:schemeClr val="tx1"/>
                          </a:solidFill>
                          <a:latin typeface="+mn-lt"/>
                          <a:ea typeface="+mn-ea"/>
                          <a:cs typeface="+mn-cs"/>
                        </a:rPr>
                        <a:t>“What is right?” → Whatever the individual believes is right</a:t>
                      </a:r>
                    </a:p>
                  </a:txBody>
                  <a:tcPr/>
                </a:tc>
                <a:extLst>
                  <a:ext uri="{0D108BD9-81ED-4DB2-BD59-A6C34878D82A}">
                    <a16:rowId xmlns:a16="http://schemas.microsoft.com/office/drawing/2014/main" val="1462482852"/>
                  </a:ext>
                </a:extLst>
              </a:tr>
            </a:tbl>
          </a:graphicData>
        </a:graphic>
      </p:graphicFrame>
    </p:spTree>
    <p:extLst>
      <p:ext uri="{BB962C8B-B14F-4D97-AF65-F5344CB8AC3E}">
        <p14:creationId xmlns:p14="http://schemas.microsoft.com/office/powerpoint/2010/main" val="33692298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4A613-FF0B-E326-D765-CAF0A4AEB00C}"/>
              </a:ext>
            </a:extLst>
          </p:cNvPr>
          <p:cNvSpPr>
            <a:spLocks noGrp="1"/>
          </p:cNvSpPr>
          <p:nvPr>
            <p:ph type="title"/>
          </p:nvPr>
        </p:nvSpPr>
        <p:spPr>
          <a:xfrm>
            <a:off x="838200" y="365126"/>
            <a:ext cx="10515600" cy="692150"/>
          </a:xfrm>
        </p:spPr>
        <p:txBody>
          <a:bodyPr/>
          <a:lstStyle/>
          <a:p>
            <a:pPr algn="ctr"/>
            <a:r>
              <a:rPr lang="en-US" sz="4000" dirty="0">
                <a:solidFill>
                  <a:srgbClr val="FF0000"/>
                </a:solidFill>
                <a:latin typeface="Arial Black" panose="020B0A04020102020204" pitchFamily="34" charset="0"/>
              </a:rPr>
              <a:t>RESOLVING ETHICAL DILEMMA</a:t>
            </a:r>
          </a:p>
        </p:txBody>
      </p:sp>
      <p:sp>
        <p:nvSpPr>
          <p:cNvPr id="3" name="Content Placeholder 2">
            <a:extLst>
              <a:ext uri="{FF2B5EF4-FFF2-40B4-BE49-F238E27FC236}">
                <a16:creationId xmlns:a16="http://schemas.microsoft.com/office/drawing/2014/main" id="{CAF5E229-605D-6B6A-7FF3-C14A22ACED99}"/>
              </a:ext>
            </a:extLst>
          </p:cNvPr>
          <p:cNvSpPr>
            <a:spLocks noGrp="1"/>
          </p:cNvSpPr>
          <p:nvPr>
            <p:ph idx="1"/>
          </p:nvPr>
        </p:nvSpPr>
        <p:spPr>
          <a:xfrm>
            <a:off x="838200" y="1396205"/>
            <a:ext cx="10515600" cy="5239543"/>
          </a:xfrm>
        </p:spPr>
        <p:txBody>
          <a:bodyPr>
            <a:normAutofit fontScale="92500" lnSpcReduction="10000"/>
          </a:bodyPr>
          <a:lstStyle/>
          <a:p>
            <a:pPr marL="0" indent="0" algn="just">
              <a:buNone/>
            </a:pPr>
            <a:r>
              <a:rPr lang="en-US" sz="2600" b="1" dirty="0"/>
              <a:t>An ethical dilemma is a situation where a person has to choose between two or more conflicting moral values or ethical principles, and selecting one option may violate another. It is a situation in which a person must choose between two actions, both of which have ethical consequences.</a:t>
            </a:r>
          </a:p>
          <a:p>
            <a:pPr marL="0" indent="0" algn="just">
              <a:buNone/>
            </a:pPr>
            <a:r>
              <a:rPr lang="en-US" sz="2600" b="1" dirty="0"/>
              <a:t>In such situations, it becomes difficult to determine what is the most ethical decision.</a:t>
            </a:r>
          </a:p>
          <a:p>
            <a:pPr algn="just">
              <a:buFont typeface="Wingdings" panose="05000000000000000000" pitchFamily="2" charset="2"/>
              <a:buChar char="§"/>
            </a:pPr>
            <a:r>
              <a:rPr lang="en-US" sz="2600" b="1" dirty="0"/>
              <a:t>Ethical Dilemma is known as conflict between two ethical choices</a:t>
            </a:r>
          </a:p>
          <a:p>
            <a:pPr algn="just">
              <a:buFont typeface="Wingdings" panose="05000000000000000000" pitchFamily="2" charset="2"/>
              <a:buChar char="§"/>
            </a:pPr>
            <a:endParaRPr lang="en-US" sz="2400" b="1" dirty="0"/>
          </a:p>
          <a:p>
            <a:pPr marL="0" indent="0" eaLnBrk="0" fontAlgn="base" hangingPunct="0">
              <a:spcBef>
                <a:spcPct val="0"/>
              </a:spcBef>
              <a:spcAft>
                <a:spcPct val="0"/>
              </a:spcAft>
              <a:buNone/>
            </a:pPr>
            <a:endParaRPr lang="en-US" sz="2600" b="1" u="sng" dirty="0">
              <a:solidFill>
                <a:schemeClr val="accent2">
                  <a:lumMod val="50000"/>
                </a:schemeClr>
              </a:solidFill>
            </a:endParaRPr>
          </a:p>
          <a:p>
            <a:pPr marL="0" indent="0" eaLnBrk="0" fontAlgn="base" hangingPunct="0">
              <a:lnSpc>
                <a:spcPct val="110000"/>
              </a:lnSpc>
              <a:spcBef>
                <a:spcPct val="0"/>
              </a:spcBef>
              <a:spcAft>
                <a:spcPct val="0"/>
              </a:spcAft>
              <a:buNone/>
            </a:pPr>
            <a:r>
              <a:rPr lang="en-US" sz="2600" b="1" u="sng" dirty="0">
                <a:solidFill>
                  <a:schemeClr val="accent2">
                    <a:lumMod val="50000"/>
                  </a:schemeClr>
                </a:solidFill>
                <a:latin typeface="Arial Black" panose="020B0A04020102020204" pitchFamily="34" charset="0"/>
              </a:rPr>
              <a:t>Ethical Dilemmas Occur when</a:t>
            </a:r>
          </a:p>
          <a:p>
            <a:pPr marL="0" indent="0" eaLnBrk="0" fontAlgn="base" hangingPunct="0">
              <a:lnSpc>
                <a:spcPct val="110000"/>
              </a:lnSpc>
              <a:spcBef>
                <a:spcPct val="0"/>
              </a:spcBef>
              <a:spcAft>
                <a:spcPct val="0"/>
              </a:spcAft>
              <a:buNone/>
            </a:pPr>
            <a:endParaRPr lang="en-US" sz="3000" b="1" u="sng" dirty="0">
              <a:solidFill>
                <a:schemeClr val="accent2">
                  <a:lumMod val="50000"/>
                </a:schemeClr>
              </a:solidFill>
            </a:endParaRPr>
          </a:p>
          <a:p>
            <a:pPr lvl="0" eaLnBrk="0" fontAlgn="base" hangingPunct="0">
              <a:lnSpc>
                <a:spcPct val="110000"/>
              </a:lnSpc>
              <a:spcBef>
                <a:spcPct val="0"/>
              </a:spcBef>
              <a:spcAft>
                <a:spcPct val="0"/>
              </a:spcAft>
              <a:buFont typeface="Wingdings" panose="05000000000000000000" pitchFamily="2" charset="2"/>
              <a:buChar char="§"/>
            </a:pPr>
            <a:r>
              <a:rPr lang="en-US" altLang="en-US" sz="2400" b="1" dirty="0">
                <a:solidFill>
                  <a:schemeClr val="accent6">
                    <a:lumMod val="50000"/>
                  </a:schemeClr>
                </a:solidFill>
              </a:rPr>
              <a:t>Professional duties conflict with personal values. </a:t>
            </a:r>
          </a:p>
          <a:p>
            <a:pPr lvl="0" eaLnBrk="0" fontAlgn="base" hangingPunct="0">
              <a:lnSpc>
                <a:spcPct val="110000"/>
              </a:lnSpc>
              <a:spcBef>
                <a:spcPct val="0"/>
              </a:spcBef>
              <a:spcAft>
                <a:spcPct val="0"/>
              </a:spcAft>
              <a:buFont typeface="Wingdings" panose="05000000000000000000" pitchFamily="2" charset="2"/>
              <a:buChar char="§"/>
            </a:pPr>
            <a:r>
              <a:rPr lang="en-US" altLang="en-US" sz="2400" b="1" dirty="0">
                <a:solidFill>
                  <a:schemeClr val="accent6">
                    <a:lumMod val="50000"/>
                  </a:schemeClr>
                </a:solidFill>
              </a:rPr>
              <a:t>Organizational pressure conflicts with public safety. </a:t>
            </a:r>
          </a:p>
          <a:p>
            <a:pPr lvl="0" eaLnBrk="0" fontAlgn="base" hangingPunct="0">
              <a:lnSpc>
                <a:spcPct val="110000"/>
              </a:lnSpc>
              <a:spcBef>
                <a:spcPct val="0"/>
              </a:spcBef>
              <a:spcAft>
                <a:spcPct val="0"/>
              </a:spcAft>
              <a:buFont typeface="Wingdings" panose="05000000000000000000" pitchFamily="2" charset="2"/>
              <a:buChar char="§"/>
            </a:pPr>
            <a:r>
              <a:rPr lang="en-US" altLang="en-US" sz="2400" b="1" dirty="0">
                <a:solidFill>
                  <a:schemeClr val="accent6">
                    <a:lumMod val="50000"/>
                  </a:schemeClr>
                </a:solidFill>
              </a:rPr>
              <a:t>Legal requirements conflict with ethical beliefs. </a:t>
            </a:r>
          </a:p>
          <a:p>
            <a:pPr lvl="0" eaLnBrk="0" fontAlgn="base" hangingPunct="0">
              <a:lnSpc>
                <a:spcPct val="110000"/>
              </a:lnSpc>
              <a:spcBef>
                <a:spcPct val="0"/>
              </a:spcBef>
              <a:spcAft>
                <a:spcPct val="0"/>
              </a:spcAft>
              <a:buFont typeface="Wingdings" panose="05000000000000000000" pitchFamily="2" charset="2"/>
              <a:buChar char="§"/>
            </a:pPr>
            <a:r>
              <a:rPr lang="en-US" altLang="en-US" sz="2400" b="1" dirty="0">
                <a:solidFill>
                  <a:schemeClr val="accent6">
                    <a:lumMod val="50000"/>
                  </a:schemeClr>
                </a:solidFill>
              </a:rPr>
              <a:t>Two ethical principles are equally important. </a:t>
            </a:r>
          </a:p>
          <a:p>
            <a:pPr algn="just">
              <a:buFont typeface="Wingdings" panose="05000000000000000000" pitchFamily="2" charset="2"/>
              <a:buChar char="§"/>
            </a:pPr>
            <a:endParaRPr lang="en-US" sz="2400" b="1" dirty="0"/>
          </a:p>
        </p:txBody>
      </p:sp>
    </p:spTree>
    <p:extLst>
      <p:ext uri="{BB962C8B-B14F-4D97-AF65-F5344CB8AC3E}">
        <p14:creationId xmlns:p14="http://schemas.microsoft.com/office/powerpoint/2010/main" val="4282032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1680</TotalTime>
  <Words>3704</Words>
  <Application>Microsoft Office PowerPoint</Application>
  <PresentationFormat>Widescreen</PresentationFormat>
  <Paragraphs>556</Paragraphs>
  <Slides>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Arial Black</vt:lpstr>
      <vt:lpstr>Calibri</vt:lpstr>
      <vt:lpstr>Calibri Light</vt:lpstr>
      <vt:lpstr>Courier New</vt:lpstr>
      <vt:lpstr>Wingdings</vt:lpstr>
      <vt:lpstr>Office Theme</vt:lpstr>
      <vt:lpstr>PROFESSION AND PROFESSALISM</vt:lpstr>
      <vt:lpstr>CONTENTS</vt:lpstr>
      <vt:lpstr>PROFESSION</vt:lpstr>
      <vt:lpstr>PowerPoint Presentation</vt:lpstr>
      <vt:lpstr>PowerPoint Presentation</vt:lpstr>
      <vt:lpstr>PROFESSIONAL</vt:lpstr>
      <vt:lpstr>PowerPoint Presentation</vt:lpstr>
      <vt:lpstr>PowerPoint Presentation</vt:lpstr>
      <vt:lpstr>PROFESSIONALISM</vt:lpstr>
      <vt:lpstr>PowerPoint Presentation</vt:lpstr>
      <vt:lpstr>PROFESSIONAL ACCOUNTABILITY</vt:lpstr>
      <vt:lpstr>PowerPoint Presentation</vt:lpstr>
      <vt:lpstr>PROFESSIONAL RISKS</vt:lpstr>
      <vt:lpstr>PowerPoint Presentation</vt:lpstr>
      <vt:lpstr>PowerPoint Presentation</vt:lpstr>
      <vt:lpstr>PowerPoint Presentation</vt:lpstr>
      <vt:lpstr>Profession and Craftsmanship</vt:lpstr>
      <vt:lpstr>PowerPoint Presentation</vt:lpstr>
      <vt:lpstr>PowerPoint Presentation</vt:lpstr>
      <vt:lpstr>CONFLICT OF INTEREST</vt:lpstr>
      <vt:lpstr>PowerPoint Presentation</vt:lpstr>
      <vt:lpstr>PowerPoint Presentation</vt:lpstr>
      <vt:lpstr>Distinguishing Features of a Professional</vt:lpstr>
      <vt:lpstr>Roles and Responsibilities of Professionals</vt:lpstr>
      <vt:lpstr>Professional Duties Towards Organization and Vice-Versa</vt:lpstr>
      <vt:lpstr>PowerPoint Presentation</vt:lpstr>
      <vt:lpstr>PowerPoint Presentation</vt:lpstr>
      <vt:lpstr>ETHICAL THEORIES</vt:lpstr>
      <vt:lpstr>PowerPoint Presentation</vt:lpstr>
      <vt:lpstr>PowerPoint Presentation</vt:lpstr>
      <vt:lpstr>PowerPoint Presentation</vt:lpstr>
      <vt:lpstr>ETHICAL TERMS</vt:lpstr>
      <vt:lpstr>PowerPoint Presentation</vt:lpstr>
      <vt:lpstr>PowerPoint Presentation</vt:lpstr>
      <vt:lpstr>RESOLVING ETHICAL DILEMMA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Mousumi Ray</dc:creator>
  <cp:lastModifiedBy>Mousumi Ray</cp:lastModifiedBy>
  <cp:revision>69</cp:revision>
  <dcterms:created xsi:type="dcterms:W3CDTF">2026-03-05T11:27:19Z</dcterms:created>
  <dcterms:modified xsi:type="dcterms:W3CDTF">2026-04-14T10:39:04Z</dcterms:modified>
</cp:coreProperties>
</file>