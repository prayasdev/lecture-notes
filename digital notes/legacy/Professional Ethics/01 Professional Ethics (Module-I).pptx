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76" r:id="rId5"/>
    <p:sldId id="260" r:id="rId6"/>
    <p:sldId id="261" r:id="rId7"/>
    <p:sldId id="262" r:id="rId8"/>
    <p:sldId id="277" r:id="rId9"/>
    <p:sldId id="264" r:id="rId10"/>
    <p:sldId id="280" r:id="rId11"/>
    <p:sldId id="265" r:id="rId12"/>
    <p:sldId id="266" r:id="rId13"/>
    <p:sldId id="267" r:id="rId14"/>
    <p:sldId id="281" r:id="rId15"/>
    <p:sldId id="282" r:id="rId16"/>
    <p:sldId id="283" r:id="rId17"/>
    <p:sldId id="268" r:id="rId18"/>
    <p:sldId id="284" r:id="rId19"/>
    <p:sldId id="285" r:id="rId20"/>
    <p:sldId id="293" r:id="rId21"/>
    <p:sldId id="286" r:id="rId22"/>
    <p:sldId id="270" r:id="rId23"/>
    <p:sldId id="294" r:id="rId24"/>
    <p:sldId id="287" r:id="rId25"/>
    <p:sldId id="271" r:id="rId26"/>
    <p:sldId id="288" r:id="rId27"/>
    <p:sldId id="273" r:id="rId28"/>
    <p:sldId id="289" r:id="rId29"/>
    <p:sldId id="274" r:id="rId30"/>
    <p:sldId id="290" r:id="rId31"/>
    <p:sldId id="291"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019" autoAdjust="0"/>
  </p:normalViewPr>
  <p:slideViewPr>
    <p:cSldViewPr snapToGrid="0">
      <p:cViewPr varScale="1">
        <p:scale>
          <a:sx n="67" d="100"/>
          <a:sy n="67" d="100"/>
        </p:scale>
        <p:origin x="83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usumi Ray" userId="aabc61b048ecfdaf" providerId="LiveId" clId="{7185254F-939A-47CB-957E-AF975C3F3800}"/>
    <pc:docChg chg="undo custSel addSld delSld modSld">
      <pc:chgData name="Mousumi Ray" userId="aabc61b048ecfdaf" providerId="LiveId" clId="{7185254F-939A-47CB-957E-AF975C3F3800}" dt="2026-02-15T11:46:36.979" v="841" actId="20577"/>
      <pc:docMkLst>
        <pc:docMk/>
      </pc:docMkLst>
      <pc:sldChg chg="modSp new mod">
        <pc:chgData name="Mousumi Ray" userId="aabc61b048ecfdaf" providerId="LiveId" clId="{7185254F-939A-47CB-957E-AF975C3F3800}" dt="2026-02-13T06:08:55.423" v="546" actId="14100"/>
        <pc:sldMkLst>
          <pc:docMk/>
          <pc:sldMk cId="1992760151" sldId="256"/>
        </pc:sldMkLst>
        <pc:spChg chg="mod">
          <ac:chgData name="Mousumi Ray" userId="aabc61b048ecfdaf" providerId="LiveId" clId="{7185254F-939A-47CB-957E-AF975C3F3800}" dt="2026-02-13T06:08:55.423" v="546" actId="14100"/>
          <ac:spMkLst>
            <pc:docMk/>
            <pc:sldMk cId="1992760151" sldId="256"/>
            <ac:spMk id="2" creationId="{6C28D513-FE5C-D405-1710-DCAB8D54A511}"/>
          </ac:spMkLst>
        </pc:spChg>
        <pc:spChg chg="mod">
          <ac:chgData name="Mousumi Ray" userId="aabc61b048ecfdaf" providerId="LiveId" clId="{7185254F-939A-47CB-957E-AF975C3F3800}" dt="2026-02-13T06:08:45.914" v="545" actId="20577"/>
          <ac:spMkLst>
            <pc:docMk/>
            <pc:sldMk cId="1992760151" sldId="256"/>
            <ac:spMk id="3" creationId="{7A32DD92-12B6-2DEC-B256-35633E79867D}"/>
          </ac:spMkLst>
        </pc:spChg>
      </pc:sldChg>
      <pc:sldChg chg="modSp new mod">
        <pc:chgData name="Mousumi Ray" userId="aabc61b048ecfdaf" providerId="LiveId" clId="{7185254F-939A-47CB-957E-AF975C3F3800}" dt="2026-02-13T06:20:07.852" v="611" actId="12"/>
        <pc:sldMkLst>
          <pc:docMk/>
          <pc:sldMk cId="3033326793" sldId="257"/>
        </pc:sldMkLst>
        <pc:spChg chg="mod">
          <ac:chgData name="Mousumi Ray" userId="aabc61b048ecfdaf" providerId="LiveId" clId="{7185254F-939A-47CB-957E-AF975C3F3800}" dt="2026-02-13T06:04:58.378" v="537" actId="404"/>
          <ac:spMkLst>
            <pc:docMk/>
            <pc:sldMk cId="3033326793" sldId="257"/>
            <ac:spMk id="2" creationId="{C604F8ED-31D7-1DF4-5BFA-C40A9F13EBB4}"/>
          </ac:spMkLst>
        </pc:spChg>
        <pc:spChg chg="mod">
          <ac:chgData name="Mousumi Ray" userId="aabc61b048ecfdaf" providerId="LiveId" clId="{7185254F-939A-47CB-957E-AF975C3F3800}" dt="2026-02-13T06:20:07.852" v="611" actId="12"/>
          <ac:spMkLst>
            <pc:docMk/>
            <pc:sldMk cId="3033326793" sldId="257"/>
            <ac:spMk id="3" creationId="{F15CC371-455B-CC0D-0F77-6174C4FC627B}"/>
          </ac:spMkLst>
        </pc:spChg>
      </pc:sldChg>
      <pc:sldChg chg="addSp delSp modSp new mod">
        <pc:chgData name="Mousumi Ray" userId="aabc61b048ecfdaf" providerId="LiveId" clId="{7185254F-939A-47CB-957E-AF975C3F3800}" dt="2026-02-15T11:45:23.827" v="829" actId="1076"/>
        <pc:sldMkLst>
          <pc:docMk/>
          <pc:sldMk cId="3986768330" sldId="258"/>
        </pc:sldMkLst>
        <pc:spChg chg="mod">
          <ac:chgData name="Mousumi Ray" userId="aabc61b048ecfdaf" providerId="LiveId" clId="{7185254F-939A-47CB-957E-AF975C3F3800}" dt="2026-02-13T06:25:00.738" v="629" actId="404"/>
          <ac:spMkLst>
            <pc:docMk/>
            <pc:sldMk cId="3986768330" sldId="258"/>
            <ac:spMk id="2" creationId="{8135B840-929A-E285-3158-2A4F70A90556}"/>
          </ac:spMkLst>
        </pc:spChg>
        <pc:spChg chg="mod">
          <ac:chgData name="Mousumi Ray" userId="aabc61b048ecfdaf" providerId="LiveId" clId="{7185254F-939A-47CB-957E-AF975C3F3800}" dt="2026-02-15T11:44:56.528" v="823" actId="27636"/>
          <ac:spMkLst>
            <pc:docMk/>
            <pc:sldMk cId="3986768330" sldId="258"/>
            <ac:spMk id="3" creationId="{0CF1EDCA-B7E5-2E90-5BE7-C9D9CDDC078B}"/>
          </ac:spMkLst>
        </pc:spChg>
        <pc:spChg chg="add mod">
          <ac:chgData name="Mousumi Ray" userId="aabc61b048ecfdaf" providerId="LiveId" clId="{7185254F-939A-47CB-957E-AF975C3F3800}" dt="2026-02-15T11:45:23.827" v="829" actId="1076"/>
          <ac:spMkLst>
            <pc:docMk/>
            <pc:sldMk cId="3986768330" sldId="258"/>
            <ac:spMk id="4" creationId="{180BDFD6-C89F-1405-3678-54AC55D84E4E}"/>
          </ac:spMkLst>
        </pc:spChg>
      </pc:sldChg>
      <pc:sldChg chg="addSp delSp modSp new del mod">
        <pc:chgData name="Mousumi Ray" userId="aabc61b048ecfdaf" providerId="LiveId" clId="{7185254F-939A-47CB-957E-AF975C3F3800}" dt="2026-02-13T16:27:36.579" v="780" actId="2696"/>
        <pc:sldMkLst>
          <pc:docMk/>
          <pc:sldMk cId="3004532848" sldId="259"/>
        </pc:sldMkLst>
      </pc:sldChg>
      <pc:sldChg chg="addSp delSp modSp new mod">
        <pc:chgData name="Mousumi Ray" userId="aabc61b048ecfdaf" providerId="LiveId" clId="{7185254F-939A-47CB-957E-AF975C3F3800}" dt="2026-02-15T11:46:36.979" v="841" actId="20577"/>
        <pc:sldMkLst>
          <pc:docMk/>
          <pc:sldMk cId="1593132022" sldId="260"/>
        </pc:sldMkLst>
        <pc:spChg chg="mod">
          <ac:chgData name="Mousumi Ray" userId="aabc61b048ecfdaf" providerId="LiveId" clId="{7185254F-939A-47CB-957E-AF975C3F3800}" dt="2026-02-13T16:27:53.035" v="781" actId="21"/>
          <ac:spMkLst>
            <pc:docMk/>
            <pc:sldMk cId="1593132022" sldId="260"/>
            <ac:spMk id="3" creationId="{8C79F821-2DBF-61E7-716C-97C48307C971}"/>
          </ac:spMkLst>
        </pc:spChg>
        <pc:spChg chg="add mod">
          <ac:chgData name="Mousumi Ray" userId="aabc61b048ecfdaf" providerId="LiveId" clId="{7185254F-939A-47CB-957E-AF975C3F3800}" dt="2026-02-15T11:46:36.979" v="841" actId="20577"/>
          <ac:spMkLst>
            <pc:docMk/>
            <pc:sldMk cId="1593132022" sldId="260"/>
            <ac:spMk id="5" creationId="{A4F8A1E5-03A9-91B7-F7F6-A7C6253E395C}"/>
          </ac:spMkLst>
        </pc:spChg>
      </pc:sldChg>
      <pc:sldChg chg="modSp new mod">
        <pc:chgData name="Mousumi Ray" userId="aabc61b048ecfdaf" providerId="LiveId" clId="{7185254F-939A-47CB-957E-AF975C3F3800}" dt="2026-02-13T06:27:34.208" v="634" actId="120"/>
        <pc:sldMkLst>
          <pc:docMk/>
          <pc:sldMk cId="647766224" sldId="261"/>
        </pc:sldMkLst>
        <pc:spChg chg="mod">
          <ac:chgData name="Mousumi Ray" userId="aabc61b048ecfdaf" providerId="LiveId" clId="{7185254F-939A-47CB-957E-AF975C3F3800}" dt="2026-02-13T06:27:34.208" v="634" actId="120"/>
          <ac:spMkLst>
            <pc:docMk/>
            <pc:sldMk cId="647766224" sldId="261"/>
            <ac:spMk id="2" creationId="{6079675A-96E2-9B61-4756-3F05FDE8D56C}"/>
          </ac:spMkLst>
        </pc:spChg>
        <pc:spChg chg="mod">
          <ac:chgData name="Mousumi Ray" userId="aabc61b048ecfdaf" providerId="LiveId" clId="{7185254F-939A-47CB-957E-AF975C3F3800}" dt="2026-02-13T06:23:46.053" v="622" actId="12"/>
          <ac:spMkLst>
            <pc:docMk/>
            <pc:sldMk cId="647766224" sldId="261"/>
            <ac:spMk id="3" creationId="{4565E9A9-116D-66A9-59B3-53F9B784042B}"/>
          </ac:spMkLst>
        </pc:spChg>
      </pc:sldChg>
      <pc:sldChg chg="addSp modSp new mod">
        <pc:chgData name="Mousumi Ray" userId="aabc61b048ecfdaf" providerId="LiveId" clId="{7185254F-939A-47CB-957E-AF975C3F3800}" dt="2026-02-13T06:19:43.559" v="610" actId="207"/>
        <pc:sldMkLst>
          <pc:docMk/>
          <pc:sldMk cId="1911602985" sldId="262"/>
        </pc:sldMkLst>
        <pc:spChg chg="add mod">
          <ac:chgData name="Mousumi Ray" userId="aabc61b048ecfdaf" providerId="LiveId" clId="{7185254F-939A-47CB-957E-AF975C3F3800}" dt="2026-02-13T06:19:43.559" v="610" actId="207"/>
          <ac:spMkLst>
            <pc:docMk/>
            <pc:sldMk cId="1911602985" sldId="262"/>
            <ac:spMk id="2" creationId="{A6147F59-00B2-20C0-1399-A54D45B20693}"/>
          </ac:spMkLst>
        </pc:spChg>
      </pc:sldChg>
      <pc:sldChg chg="addSp modSp new del mod">
        <pc:chgData name="Mousumi Ray" userId="aabc61b048ecfdaf" providerId="LiveId" clId="{7185254F-939A-47CB-957E-AF975C3F3800}" dt="2026-02-13T05:26:18.682" v="192" actId="2696"/>
        <pc:sldMkLst>
          <pc:docMk/>
          <pc:sldMk cId="2553133037" sldId="263"/>
        </pc:sldMkLst>
      </pc:sldChg>
      <pc:sldChg chg="modSp new mod">
        <pc:chgData name="Mousumi Ray" userId="aabc61b048ecfdaf" providerId="LiveId" clId="{7185254F-939A-47CB-957E-AF975C3F3800}" dt="2026-02-13T05:59:04.635" v="512" actId="207"/>
        <pc:sldMkLst>
          <pc:docMk/>
          <pc:sldMk cId="1442927298" sldId="264"/>
        </pc:sldMkLst>
        <pc:spChg chg="mod">
          <ac:chgData name="Mousumi Ray" userId="aabc61b048ecfdaf" providerId="LiveId" clId="{7185254F-939A-47CB-957E-AF975C3F3800}" dt="2026-02-13T05:59:04.635" v="512" actId="207"/>
          <ac:spMkLst>
            <pc:docMk/>
            <pc:sldMk cId="1442927298" sldId="264"/>
            <ac:spMk id="2" creationId="{D8AA19F1-4ECE-9ED0-88BA-7B0CD63D430E}"/>
          </ac:spMkLst>
        </pc:spChg>
        <pc:spChg chg="mod">
          <ac:chgData name="Mousumi Ray" userId="aabc61b048ecfdaf" providerId="LiveId" clId="{7185254F-939A-47CB-957E-AF975C3F3800}" dt="2026-02-13T05:25:09.114" v="176"/>
          <ac:spMkLst>
            <pc:docMk/>
            <pc:sldMk cId="1442927298" sldId="264"/>
            <ac:spMk id="3" creationId="{322C140C-4C25-9242-3EF4-AA8A1269374B}"/>
          </ac:spMkLst>
        </pc:spChg>
        <pc:spChg chg="mod">
          <ac:chgData name="Mousumi Ray" userId="aabc61b048ecfdaf" providerId="LiveId" clId="{7185254F-939A-47CB-957E-AF975C3F3800}" dt="2026-02-13T05:25:37.806" v="184"/>
          <ac:spMkLst>
            <pc:docMk/>
            <pc:sldMk cId="1442927298" sldId="264"/>
            <ac:spMk id="4" creationId="{78F51996-B75C-B7E4-B690-0EE5239E4B09}"/>
          </ac:spMkLst>
        </pc:spChg>
        <pc:spChg chg="mod">
          <ac:chgData name="Mousumi Ray" userId="aabc61b048ecfdaf" providerId="LiveId" clId="{7185254F-939A-47CB-957E-AF975C3F3800}" dt="2026-02-13T05:25:14.207" v="177"/>
          <ac:spMkLst>
            <pc:docMk/>
            <pc:sldMk cId="1442927298" sldId="264"/>
            <ac:spMk id="5" creationId="{1CB2F81F-C002-D3AD-C2E3-A2600FEB7A3D}"/>
          </ac:spMkLst>
        </pc:spChg>
        <pc:spChg chg="mod">
          <ac:chgData name="Mousumi Ray" userId="aabc61b048ecfdaf" providerId="LiveId" clId="{7185254F-939A-47CB-957E-AF975C3F3800}" dt="2026-02-13T05:26:03.701" v="191"/>
          <ac:spMkLst>
            <pc:docMk/>
            <pc:sldMk cId="1442927298" sldId="264"/>
            <ac:spMk id="6" creationId="{FFD5262E-439F-BE89-B53F-A9A8EDCDF986}"/>
          </ac:spMkLst>
        </pc:spChg>
      </pc:sldChg>
      <pc:sldChg chg="modSp new mod">
        <pc:chgData name="Mousumi Ray" userId="aabc61b048ecfdaf" providerId="LiveId" clId="{7185254F-939A-47CB-957E-AF975C3F3800}" dt="2026-02-13T05:58:20.459" v="505" actId="207"/>
        <pc:sldMkLst>
          <pc:docMk/>
          <pc:sldMk cId="2866785851" sldId="265"/>
        </pc:sldMkLst>
        <pc:spChg chg="mod">
          <ac:chgData name="Mousumi Ray" userId="aabc61b048ecfdaf" providerId="LiveId" clId="{7185254F-939A-47CB-957E-AF975C3F3800}" dt="2026-02-13T05:58:20.459" v="505" actId="207"/>
          <ac:spMkLst>
            <pc:docMk/>
            <pc:sldMk cId="2866785851" sldId="265"/>
            <ac:spMk id="2" creationId="{3A9D3D70-1970-6928-ABD2-1F7C952F4CF6}"/>
          </ac:spMkLst>
        </pc:spChg>
        <pc:spChg chg="mod">
          <ac:chgData name="Mousumi Ray" userId="aabc61b048ecfdaf" providerId="LiveId" clId="{7185254F-939A-47CB-957E-AF975C3F3800}" dt="2026-02-13T05:28:18.325" v="228" actId="113"/>
          <ac:spMkLst>
            <pc:docMk/>
            <pc:sldMk cId="2866785851" sldId="265"/>
            <ac:spMk id="3" creationId="{7B461CF1-7909-756C-A938-E3E74BC4539C}"/>
          </ac:spMkLst>
        </pc:spChg>
      </pc:sldChg>
      <pc:sldChg chg="addSp delSp modSp new mod">
        <pc:chgData name="Mousumi Ray" userId="aabc61b048ecfdaf" providerId="LiveId" clId="{7185254F-939A-47CB-957E-AF975C3F3800}" dt="2026-02-13T06:27:58.127" v="635" actId="207"/>
        <pc:sldMkLst>
          <pc:docMk/>
          <pc:sldMk cId="2535137127" sldId="266"/>
        </pc:sldMkLst>
        <pc:spChg chg="mod">
          <ac:chgData name="Mousumi Ray" userId="aabc61b048ecfdaf" providerId="LiveId" clId="{7185254F-939A-47CB-957E-AF975C3F3800}" dt="2026-02-13T06:25:58.438" v="630" actId="404"/>
          <ac:spMkLst>
            <pc:docMk/>
            <pc:sldMk cId="2535137127" sldId="266"/>
            <ac:spMk id="2" creationId="{47540346-C9BC-DBEA-5262-666400D4E938}"/>
          </ac:spMkLst>
        </pc:spChg>
        <pc:spChg chg="add mod">
          <ac:chgData name="Mousumi Ray" userId="aabc61b048ecfdaf" providerId="LiveId" clId="{7185254F-939A-47CB-957E-AF975C3F3800}" dt="2026-02-13T06:27:58.127" v="635" actId="207"/>
          <ac:spMkLst>
            <pc:docMk/>
            <pc:sldMk cId="2535137127" sldId="266"/>
            <ac:spMk id="4" creationId="{E6516011-D2E9-0F8C-4D1C-C645E6BA206C}"/>
          </ac:spMkLst>
        </pc:spChg>
      </pc:sldChg>
      <pc:sldChg chg="addSp modSp new mod">
        <pc:chgData name="Mousumi Ray" userId="aabc61b048ecfdaf" providerId="LiveId" clId="{7185254F-939A-47CB-957E-AF975C3F3800}" dt="2026-02-13T06:26:06.805" v="631" actId="404"/>
        <pc:sldMkLst>
          <pc:docMk/>
          <pc:sldMk cId="2067093729" sldId="267"/>
        </pc:sldMkLst>
        <pc:spChg chg="mod">
          <ac:chgData name="Mousumi Ray" userId="aabc61b048ecfdaf" providerId="LiveId" clId="{7185254F-939A-47CB-957E-AF975C3F3800}" dt="2026-02-13T06:26:06.805" v="631" actId="404"/>
          <ac:spMkLst>
            <pc:docMk/>
            <pc:sldMk cId="2067093729" sldId="267"/>
            <ac:spMk id="2" creationId="{F1EAFCEC-CB94-B32F-6D97-913D1AB9B601}"/>
          </ac:spMkLst>
        </pc:spChg>
        <pc:spChg chg="mod">
          <ac:chgData name="Mousumi Ray" userId="aabc61b048ecfdaf" providerId="LiveId" clId="{7185254F-939A-47CB-957E-AF975C3F3800}" dt="2026-02-13T05:54:50.189" v="484" actId="207"/>
          <ac:spMkLst>
            <pc:docMk/>
            <pc:sldMk cId="2067093729" sldId="267"/>
            <ac:spMk id="3" creationId="{E0476583-083B-73DF-837D-D2219A777CDE}"/>
          </ac:spMkLst>
        </pc:spChg>
        <pc:spChg chg="add mod">
          <ac:chgData name="Mousumi Ray" userId="aabc61b048ecfdaf" providerId="LiveId" clId="{7185254F-939A-47CB-957E-AF975C3F3800}" dt="2026-02-13T05:54:37.637" v="483" actId="207"/>
          <ac:spMkLst>
            <pc:docMk/>
            <pc:sldMk cId="2067093729" sldId="267"/>
            <ac:spMk id="4" creationId="{ECCB7772-4226-9C76-4186-811F645DE6B1}"/>
          </ac:spMkLst>
        </pc:spChg>
      </pc:sldChg>
      <pc:sldChg chg="modSp new mod">
        <pc:chgData name="Mousumi Ray" userId="aabc61b048ecfdaf" providerId="LiveId" clId="{7185254F-939A-47CB-957E-AF975C3F3800}" dt="2026-02-13T06:28:28.669" v="637" actId="12"/>
        <pc:sldMkLst>
          <pc:docMk/>
          <pc:sldMk cId="3161592757" sldId="268"/>
        </pc:sldMkLst>
        <pc:spChg chg="mod">
          <ac:chgData name="Mousumi Ray" userId="aabc61b048ecfdaf" providerId="LiveId" clId="{7185254F-939A-47CB-957E-AF975C3F3800}" dt="2026-02-13T06:26:22.213" v="632" actId="404"/>
          <ac:spMkLst>
            <pc:docMk/>
            <pc:sldMk cId="3161592757" sldId="268"/>
            <ac:spMk id="2" creationId="{04E1581F-8946-564A-56E9-88765D5CF058}"/>
          </ac:spMkLst>
        </pc:spChg>
        <pc:spChg chg="mod">
          <ac:chgData name="Mousumi Ray" userId="aabc61b048ecfdaf" providerId="LiveId" clId="{7185254F-939A-47CB-957E-AF975C3F3800}" dt="2026-02-13T06:28:28.669" v="637" actId="12"/>
          <ac:spMkLst>
            <pc:docMk/>
            <pc:sldMk cId="3161592757" sldId="268"/>
            <ac:spMk id="3" creationId="{AECA8B34-C932-82A4-423F-F3BE43D41C94}"/>
          </ac:spMkLst>
        </pc:spChg>
      </pc:sldChg>
      <pc:sldChg chg="modSp new mod">
        <pc:chgData name="Mousumi Ray" userId="aabc61b048ecfdaf" providerId="LiveId" clId="{7185254F-939A-47CB-957E-AF975C3F3800}" dt="2026-02-13T05:58:47.069" v="507" actId="207"/>
        <pc:sldMkLst>
          <pc:docMk/>
          <pc:sldMk cId="4267056528" sldId="269"/>
        </pc:sldMkLst>
        <pc:spChg chg="mod">
          <ac:chgData name="Mousumi Ray" userId="aabc61b048ecfdaf" providerId="LiveId" clId="{7185254F-939A-47CB-957E-AF975C3F3800}" dt="2026-02-13T05:58:47.069" v="507" actId="207"/>
          <ac:spMkLst>
            <pc:docMk/>
            <pc:sldMk cId="4267056528" sldId="269"/>
            <ac:spMk id="2" creationId="{F35F75B5-24E0-FF40-1E6D-C16D0AC10C20}"/>
          </ac:spMkLst>
        </pc:spChg>
        <pc:spChg chg="mod">
          <ac:chgData name="Mousumi Ray" userId="aabc61b048ecfdaf" providerId="LiveId" clId="{7185254F-939A-47CB-957E-AF975C3F3800}" dt="2026-02-13T05:46:56.016" v="451" actId="27636"/>
          <ac:spMkLst>
            <pc:docMk/>
            <pc:sldMk cId="4267056528" sldId="269"/>
            <ac:spMk id="3" creationId="{4B9D67EC-0496-24D2-6390-845E8108A3B7}"/>
          </ac:spMkLst>
        </pc:spChg>
      </pc:sldChg>
      <pc:sldChg chg="addSp delSp modSp new mod">
        <pc:chgData name="Mousumi Ray" userId="aabc61b048ecfdaf" providerId="LiveId" clId="{7185254F-939A-47CB-957E-AF975C3F3800}" dt="2026-02-13T06:26:38.770" v="633" actId="113"/>
        <pc:sldMkLst>
          <pc:docMk/>
          <pc:sldMk cId="953967950" sldId="270"/>
        </pc:sldMkLst>
        <pc:spChg chg="mod">
          <ac:chgData name="Mousumi Ray" userId="aabc61b048ecfdaf" providerId="LiveId" clId="{7185254F-939A-47CB-957E-AF975C3F3800}" dt="2026-02-13T05:50:27.588" v="464" actId="122"/>
          <ac:spMkLst>
            <pc:docMk/>
            <pc:sldMk cId="953967950" sldId="270"/>
            <ac:spMk id="2" creationId="{86FDF31D-E305-5141-284A-B9B3CE9D31FB}"/>
          </ac:spMkLst>
        </pc:spChg>
        <pc:spChg chg="mod">
          <ac:chgData name="Mousumi Ray" userId="aabc61b048ecfdaf" providerId="LiveId" clId="{7185254F-939A-47CB-957E-AF975C3F3800}" dt="2026-02-13T06:26:38.770" v="633" actId="113"/>
          <ac:spMkLst>
            <pc:docMk/>
            <pc:sldMk cId="953967950" sldId="270"/>
            <ac:spMk id="3" creationId="{C637566C-C2E7-1E11-E149-A809CA97CAD9}"/>
          </ac:spMkLst>
        </pc:spChg>
      </pc:sldChg>
      <pc:sldChg chg="addSp delSp modSp new mod">
        <pc:chgData name="Mousumi Ray" userId="aabc61b048ecfdaf" providerId="LiveId" clId="{7185254F-939A-47CB-957E-AF975C3F3800}" dt="2026-02-13T06:12:30.402" v="551" actId="20577"/>
        <pc:sldMkLst>
          <pc:docMk/>
          <pc:sldMk cId="4022292499" sldId="271"/>
        </pc:sldMkLst>
        <pc:spChg chg="mod">
          <ac:chgData name="Mousumi Ray" userId="aabc61b048ecfdaf" providerId="LiveId" clId="{7185254F-939A-47CB-957E-AF975C3F3800}" dt="2026-02-13T05:50:48.699" v="468" actId="27636"/>
          <ac:spMkLst>
            <pc:docMk/>
            <pc:sldMk cId="4022292499" sldId="271"/>
            <ac:spMk id="2" creationId="{D7CE94BC-C140-4F15-E0CB-0539475F767E}"/>
          </ac:spMkLst>
        </pc:spChg>
        <pc:spChg chg="mod">
          <ac:chgData name="Mousumi Ray" userId="aabc61b048ecfdaf" providerId="LiveId" clId="{7185254F-939A-47CB-957E-AF975C3F3800}" dt="2026-02-13T06:12:30.402" v="551" actId="20577"/>
          <ac:spMkLst>
            <pc:docMk/>
            <pc:sldMk cId="4022292499" sldId="271"/>
            <ac:spMk id="3" creationId="{54CB50C6-F110-3376-CD6E-3162BE75DF86}"/>
          </ac:spMkLst>
        </pc:spChg>
      </pc:sldChg>
      <pc:sldChg chg="new">
        <pc:chgData name="Mousumi Ray" userId="aabc61b048ecfdaf" providerId="LiveId" clId="{7185254F-939A-47CB-957E-AF975C3F3800}" dt="2026-02-13T05:38:37.394" v="382" actId="680"/>
        <pc:sldMkLst>
          <pc:docMk/>
          <pc:sldMk cId="2306577355" sldId="272"/>
        </pc:sldMkLst>
      </pc:sldChg>
      <pc:sldChg chg="addSp delSp modSp new mod">
        <pc:chgData name="Mousumi Ray" userId="aabc61b048ecfdaf" providerId="LiveId" clId="{7185254F-939A-47CB-957E-AF975C3F3800}" dt="2026-02-13T06:15:51.124" v="564" actId="12"/>
        <pc:sldMkLst>
          <pc:docMk/>
          <pc:sldMk cId="4263285737" sldId="273"/>
        </pc:sldMkLst>
        <pc:spChg chg="mod">
          <ac:chgData name="Mousumi Ray" userId="aabc61b048ecfdaf" providerId="LiveId" clId="{7185254F-939A-47CB-957E-AF975C3F3800}" dt="2026-02-13T06:00:51.833" v="530" actId="207"/>
          <ac:spMkLst>
            <pc:docMk/>
            <pc:sldMk cId="4263285737" sldId="273"/>
            <ac:spMk id="2" creationId="{27123F86-FEB9-72D1-E761-F107BB6A5E37}"/>
          </ac:spMkLst>
        </pc:spChg>
        <pc:spChg chg="mod">
          <ac:chgData name="Mousumi Ray" userId="aabc61b048ecfdaf" providerId="LiveId" clId="{7185254F-939A-47CB-957E-AF975C3F3800}" dt="2026-02-13T06:15:51.124" v="564" actId="12"/>
          <ac:spMkLst>
            <pc:docMk/>
            <pc:sldMk cId="4263285737" sldId="273"/>
            <ac:spMk id="3" creationId="{773F801D-73CD-D59D-FA46-BA6D576E230C}"/>
          </ac:spMkLst>
        </pc:spChg>
      </pc:sldChg>
      <pc:sldChg chg="addSp delSp modSp new mod">
        <pc:chgData name="Mousumi Ray" userId="aabc61b048ecfdaf" providerId="LiveId" clId="{7185254F-939A-47CB-957E-AF975C3F3800}" dt="2026-02-13T06:32:01.891" v="668"/>
        <pc:sldMkLst>
          <pc:docMk/>
          <pc:sldMk cId="905813288" sldId="274"/>
        </pc:sldMkLst>
        <pc:spChg chg="mod">
          <ac:chgData name="Mousumi Ray" userId="aabc61b048ecfdaf" providerId="LiveId" clId="{7185254F-939A-47CB-957E-AF975C3F3800}" dt="2026-02-13T06:30:33.091" v="643" actId="113"/>
          <ac:spMkLst>
            <pc:docMk/>
            <pc:sldMk cId="905813288" sldId="274"/>
            <ac:spMk id="2" creationId="{99BFE89A-A69D-1BAE-109B-D7B268753002}"/>
          </ac:spMkLst>
        </pc:spChg>
        <pc:spChg chg="mod">
          <ac:chgData name="Mousumi Ray" userId="aabc61b048ecfdaf" providerId="LiveId" clId="{7185254F-939A-47CB-957E-AF975C3F3800}" dt="2026-02-13T06:31:58.909" v="666" actId="404"/>
          <ac:spMkLst>
            <pc:docMk/>
            <pc:sldMk cId="905813288" sldId="274"/>
            <ac:spMk id="3" creationId="{2AADF95C-F105-CABC-98F9-DBEB183E8C39}"/>
          </ac:spMkLst>
        </pc:spChg>
      </pc:sldChg>
      <pc:sldChg chg="modSp new mod">
        <pc:chgData name="Mousumi Ray" userId="aabc61b048ecfdaf" providerId="LiveId" clId="{7185254F-939A-47CB-957E-AF975C3F3800}" dt="2026-02-13T06:33:57.427" v="688" actId="113"/>
        <pc:sldMkLst>
          <pc:docMk/>
          <pc:sldMk cId="3092685495" sldId="275"/>
        </pc:sldMkLst>
        <pc:spChg chg="mod">
          <ac:chgData name="Mousumi Ray" userId="aabc61b048ecfdaf" providerId="LiveId" clId="{7185254F-939A-47CB-957E-AF975C3F3800}" dt="2026-02-13T06:33:57.427" v="688" actId="113"/>
          <ac:spMkLst>
            <pc:docMk/>
            <pc:sldMk cId="3092685495" sldId="275"/>
            <ac:spMk id="2" creationId="{D66558A1-D8A7-F7E9-2D8E-E3434D31F070}"/>
          </ac:spMkLst>
        </pc:spChg>
        <pc:spChg chg="mod">
          <ac:chgData name="Mousumi Ray" userId="aabc61b048ecfdaf" providerId="LiveId" clId="{7185254F-939A-47CB-957E-AF975C3F3800}" dt="2026-02-13T06:33:40.322" v="685" actId="207"/>
          <ac:spMkLst>
            <pc:docMk/>
            <pc:sldMk cId="3092685495" sldId="275"/>
            <ac:spMk id="3" creationId="{67DB3A48-C814-931B-843F-70FB328B3159}"/>
          </ac:spMkLst>
        </pc:spChg>
        <pc:spChg chg="mod">
          <ac:chgData name="Mousumi Ray" userId="aabc61b048ecfdaf" providerId="LiveId" clId="{7185254F-939A-47CB-957E-AF975C3F3800}" dt="2026-02-13T06:32:58.009" v="679"/>
          <ac:spMkLst>
            <pc:docMk/>
            <pc:sldMk cId="3092685495" sldId="275"/>
            <ac:spMk id="4" creationId="{FC3B8205-EDB4-9E88-A9C5-50FF3A7B3556}"/>
          </ac:spMkLst>
        </pc:spChg>
        <pc:spChg chg="mod">
          <ac:chgData name="Mousumi Ray" userId="aabc61b048ecfdaf" providerId="LiveId" clId="{7185254F-939A-47CB-957E-AF975C3F3800}" dt="2026-02-13T06:33:45.462" v="686" actId="207"/>
          <ac:spMkLst>
            <pc:docMk/>
            <pc:sldMk cId="3092685495" sldId="275"/>
            <ac:spMk id="5" creationId="{7DE2AFFD-430E-211F-B455-0F0E1A892C10}"/>
          </ac:spMkLst>
        </pc:spChg>
        <pc:spChg chg="mod">
          <ac:chgData name="Mousumi Ray" userId="aabc61b048ecfdaf" providerId="LiveId" clId="{7185254F-939A-47CB-957E-AF975C3F3800}" dt="2026-02-13T06:33:14.854" v="684"/>
          <ac:spMkLst>
            <pc:docMk/>
            <pc:sldMk cId="3092685495" sldId="275"/>
            <ac:spMk id="6" creationId="{F75291DF-CA8D-0B9C-AF29-8F3ACC7F6CE2}"/>
          </ac:spMkLst>
        </pc:spChg>
      </pc:sldChg>
      <pc:sldChg chg="addSp delSp modSp new mod">
        <pc:chgData name="Mousumi Ray" userId="aabc61b048ecfdaf" providerId="LiveId" clId="{7185254F-939A-47CB-957E-AF975C3F3800}" dt="2026-02-15T11:46:29.903" v="840" actId="12"/>
        <pc:sldMkLst>
          <pc:docMk/>
          <pc:sldMk cId="3949164906" sldId="276"/>
        </pc:sldMkLst>
        <pc:spChg chg="add mod">
          <ac:chgData name="Mousumi Ray" userId="aabc61b048ecfdaf" providerId="LiveId" clId="{7185254F-939A-47CB-957E-AF975C3F3800}" dt="2026-02-15T11:46:27.168" v="839" actId="12"/>
          <ac:spMkLst>
            <pc:docMk/>
            <pc:sldMk cId="3949164906" sldId="276"/>
            <ac:spMk id="2" creationId="{015BED66-47BC-9023-E552-5098A0769DDF}"/>
          </ac:spMkLst>
        </pc:spChg>
        <pc:spChg chg="add mod">
          <ac:chgData name="Mousumi Ray" userId="aabc61b048ecfdaf" providerId="LiveId" clId="{7185254F-939A-47CB-957E-AF975C3F3800}" dt="2026-02-15T11:46:29.903" v="840" actId="12"/>
          <ac:spMkLst>
            <pc:docMk/>
            <pc:sldMk cId="3949164906" sldId="276"/>
            <ac:spMk id="3" creationId="{AD8FFC7F-B4E0-BA9F-DC57-A5E8B1CAE52B}"/>
          </ac:spMkLst>
        </pc:spChg>
        <pc:spChg chg="add mod">
          <ac:chgData name="Mousumi Ray" userId="aabc61b048ecfdaf" providerId="LiveId" clId="{7185254F-939A-47CB-957E-AF975C3F3800}" dt="2026-02-15T11:46:09.977" v="833" actId="1076"/>
          <ac:spMkLst>
            <pc:docMk/>
            <pc:sldMk cId="3949164906" sldId="276"/>
            <ac:spMk id="5" creationId="{924BC874-6648-9CC6-D744-5E80B2C8D3BB}"/>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09EA59-44E5-1308-E930-CE48026E8BF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CEDECFF-7DCD-75AD-1695-3EFA3F8087D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096223E-5056-E28A-D85A-9180004F5D16}"/>
              </a:ext>
            </a:extLst>
          </p:cNvPr>
          <p:cNvSpPr>
            <a:spLocks noGrp="1"/>
          </p:cNvSpPr>
          <p:nvPr>
            <p:ph type="dt" sz="half" idx="10"/>
          </p:nvPr>
        </p:nvSpPr>
        <p:spPr/>
        <p:txBody>
          <a:bodyPr/>
          <a:lstStyle/>
          <a:p>
            <a:fld id="{D6333703-16B1-4EB5-A37A-21F3DD5AE941}" type="datetimeFigureOut">
              <a:rPr lang="en-US" smtClean="0"/>
              <a:t>3/6/2026</a:t>
            </a:fld>
            <a:endParaRPr lang="en-US"/>
          </a:p>
        </p:txBody>
      </p:sp>
      <p:sp>
        <p:nvSpPr>
          <p:cNvPr id="5" name="Footer Placeholder 4">
            <a:extLst>
              <a:ext uri="{FF2B5EF4-FFF2-40B4-BE49-F238E27FC236}">
                <a16:creationId xmlns:a16="http://schemas.microsoft.com/office/drawing/2014/main" id="{A1C9BF2F-7426-FC57-C418-A6114683A0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A563FA3-CAB0-8831-3658-EFD6696D5968}"/>
              </a:ext>
            </a:extLst>
          </p:cNvPr>
          <p:cNvSpPr>
            <a:spLocks noGrp="1"/>
          </p:cNvSpPr>
          <p:nvPr>
            <p:ph type="sldNum" sz="quarter" idx="12"/>
          </p:nvPr>
        </p:nvSpPr>
        <p:spPr/>
        <p:txBody>
          <a:bodyPr/>
          <a:lstStyle/>
          <a:p>
            <a:fld id="{97A37435-C01F-4618-A670-45AE44F1EB7F}" type="slidenum">
              <a:rPr lang="en-US" smtClean="0"/>
              <a:t>‹#›</a:t>
            </a:fld>
            <a:endParaRPr lang="en-US"/>
          </a:p>
        </p:txBody>
      </p:sp>
    </p:spTree>
    <p:extLst>
      <p:ext uri="{BB962C8B-B14F-4D97-AF65-F5344CB8AC3E}">
        <p14:creationId xmlns:p14="http://schemas.microsoft.com/office/powerpoint/2010/main" val="24579409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EC51E6-BDC5-C617-C14B-14D564F9884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6421067-7E59-D952-4123-09F5D9F9B56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12B88EC-C1BF-3699-F39D-FC03E8660076}"/>
              </a:ext>
            </a:extLst>
          </p:cNvPr>
          <p:cNvSpPr>
            <a:spLocks noGrp="1"/>
          </p:cNvSpPr>
          <p:nvPr>
            <p:ph type="dt" sz="half" idx="10"/>
          </p:nvPr>
        </p:nvSpPr>
        <p:spPr/>
        <p:txBody>
          <a:bodyPr/>
          <a:lstStyle/>
          <a:p>
            <a:fld id="{D6333703-16B1-4EB5-A37A-21F3DD5AE941}" type="datetimeFigureOut">
              <a:rPr lang="en-US" smtClean="0"/>
              <a:t>3/6/2026</a:t>
            </a:fld>
            <a:endParaRPr lang="en-US"/>
          </a:p>
        </p:txBody>
      </p:sp>
      <p:sp>
        <p:nvSpPr>
          <p:cNvPr id="5" name="Footer Placeholder 4">
            <a:extLst>
              <a:ext uri="{FF2B5EF4-FFF2-40B4-BE49-F238E27FC236}">
                <a16:creationId xmlns:a16="http://schemas.microsoft.com/office/drawing/2014/main" id="{7C38BFD0-2481-467C-D921-E61DF62DA0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9598DA1-F0AF-A200-F697-8451F03B122D}"/>
              </a:ext>
            </a:extLst>
          </p:cNvPr>
          <p:cNvSpPr>
            <a:spLocks noGrp="1"/>
          </p:cNvSpPr>
          <p:nvPr>
            <p:ph type="sldNum" sz="quarter" idx="12"/>
          </p:nvPr>
        </p:nvSpPr>
        <p:spPr/>
        <p:txBody>
          <a:bodyPr/>
          <a:lstStyle/>
          <a:p>
            <a:fld id="{97A37435-C01F-4618-A670-45AE44F1EB7F}" type="slidenum">
              <a:rPr lang="en-US" smtClean="0"/>
              <a:t>‹#›</a:t>
            </a:fld>
            <a:endParaRPr lang="en-US"/>
          </a:p>
        </p:txBody>
      </p:sp>
    </p:spTree>
    <p:extLst>
      <p:ext uri="{BB962C8B-B14F-4D97-AF65-F5344CB8AC3E}">
        <p14:creationId xmlns:p14="http://schemas.microsoft.com/office/powerpoint/2010/main" val="21779140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E8DA48-D870-669A-18A6-926F3BF5A20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792578C-1AE6-FF03-850A-3B1B7998ECF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A2E132E-D42A-F40F-8B6A-734C8B9BFBAB}"/>
              </a:ext>
            </a:extLst>
          </p:cNvPr>
          <p:cNvSpPr>
            <a:spLocks noGrp="1"/>
          </p:cNvSpPr>
          <p:nvPr>
            <p:ph type="dt" sz="half" idx="10"/>
          </p:nvPr>
        </p:nvSpPr>
        <p:spPr/>
        <p:txBody>
          <a:bodyPr/>
          <a:lstStyle/>
          <a:p>
            <a:fld id="{D6333703-16B1-4EB5-A37A-21F3DD5AE941}" type="datetimeFigureOut">
              <a:rPr lang="en-US" smtClean="0"/>
              <a:t>3/6/2026</a:t>
            </a:fld>
            <a:endParaRPr lang="en-US"/>
          </a:p>
        </p:txBody>
      </p:sp>
      <p:sp>
        <p:nvSpPr>
          <p:cNvPr id="5" name="Footer Placeholder 4">
            <a:extLst>
              <a:ext uri="{FF2B5EF4-FFF2-40B4-BE49-F238E27FC236}">
                <a16:creationId xmlns:a16="http://schemas.microsoft.com/office/drawing/2014/main" id="{FE6DB876-8322-37D1-7C46-7F146585FA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74C1E28-1BFD-C8E2-F924-1D188C3D8953}"/>
              </a:ext>
            </a:extLst>
          </p:cNvPr>
          <p:cNvSpPr>
            <a:spLocks noGrp="1"/>
          </p:cNvSpPr>
          <p:nvPr>
            <p:ph type="sldNum" sz="quarter" idx="12"/>
          </p:nvPr>
        </p:nvSpPr>
        <p:spPr/>
        <p:txBody>
          <a:bodyPr/>
          <a:lstStyle/>
          <a:p>
            <a:fld id="{97A37435-C01F-4618-A670-45AE44F1EB7F}" type="slidenum">
              <a:rPr lang="en-US" smtClean="0"/>
              <a:t>‹#›</a:t>
            </a:fld>
            <a:endParaRPr lang="en-US"/>
          </a:p>
        </p:txBody>
      </p:sp>
    </p:spTree>
    <p:extLst>
      <p:ext uri="{BB962C8B-B14F-4D97-AF65-F5344CB8AC3E}">
        <p14:creationId xmlns:p14="http://schemas.microsoft.com/office/powerpoint/2010/main" val="35795494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EAF32E-F4B0-4C91-304B-942B39626BE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44FCB2D-06CA-3596-FC99-828A5B0B7C6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C1C797C-DA7A-0A08-6E67-7E4DEBCB904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DBFBA3E-A48B-62C8-C1ED-4EA6FDDD299E}"/>
              </a:ext>
            </a:extLst>
          </p:cNvPr>
          <p:cNvSpPr>
            <a:spLocks noGrp="1"/>
          </p:cNvSpPr>
          <p:nvPr>
            <p:ph type="dt" sz="half" idx="10"/>
          </p:nvPr>
        </p:nvSpPr>
        <p:spPr/>
        <p:txBody>
          <a:bodyPr/>
          <a:lstStyle/>
          <a:p>
            <a:fld id="{D6333703-16B1-4EB5-A37A-21F3DD5AE941}" type="datetimeFigureOut">
              <a:rPr lang="en-US" smtClean="0"/>
              <a:t>3/6/2026</a:t>
            </a:fld>
            <a:endParaRPr lang="en-US"/>
          </a:p>
        </p:txBody>
      </p:sp>
      <p:sp>
        <p:nvSpPr>
          <p:cNvPr id="6" name="Footer Placeholder 5">
            <a:extLst>
              <a:ext uri="{FF2B5EF4-FFF2-40B4-BE49-F238E27FC236}">
                <a16:creationId xmlns:a16="http://schemas.microsoft.com/office/drawing/2014/main" id="{D5C871C4-A2C8-3E31-2F1E-5F8DE5E7287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573E2DD-CB9F-5AE0-C153-837A56572798}"/>
              </a:ext>
            </a:extLst>
          </p:cNvPr>
          <p:cNvSpPr>
            <a:spLocks noGrp="1"/>
          </p:cNvSpPr>
          <p:nvPr>
            <p:ph type="sldNum" sz="quarter" idx="12"/>
          </p:nvPr>
        </p:nvSpPr>
        <p:spPr/>
        <p:txBody>
          <a:bodyPr/>
          <a:lstStyle/>
          <a:p>
            <a:fld id="{97A37435-C01F-4618-A670-45AE44F1EB7F}" type="slidenum">
              <a:rPr lang="en-US" smtClean="0"/>
              <a:t>‹#›</a:t>
            </a:fld>
            <a:endParaRPr lang="en-US"/>
          </a:p>
        </p:txBody>
      </p:sp>
    </p:spTree>
    <p:extLst>
      <p:ext uri="{BB962C8B-B14F-4D97-AF65-F5344CB8AC3E}">
        <p14:creationId xmlns:p14="http://schemas.microsoft.com/office/powerpoint/2010/main" val="7793387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3C48FC-6C58-2958-4466-933F4A67015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0F732FC-D3C8-D1C0-F20D-9CFDBDDDFEA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0C9567E-667D-340B-5187-5B665237621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38F472C-90FD-E7D1-6EB4-99024E133F5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934BD40-F815-FFD2-6204-715CC6DABBF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F44C936-1AD3-1968-BEC5-1BF673001132}"/>
              </a:ext>
            </a:extLst>
          </p:cNvPr>
          <p:cNvSpPr>
            <a:spLocks noGrp="1"/>
          </p:cNvSpPr>
          <p:nvPr>
            <p:ph type="dt" sz="half" idx="10"/>
          </p:nvPr>
        </p:nvSpPr>
        <p:spPr/>
        <p:txBody>
          <a:bodyPr/>
          <a:lstStyle/>
          <a:p>
            <a:fld id="{D6333703-16B1-4EB5-A37A-21F3DD5AE941}" type="datetimeFigureOut">
              <a:rPr lang="en-US" smtClean="0"/>
              <a:t>3/6/2026</a:t>
            </a:fld>
            <a:endParaRPr lang="en-US"/>
          </a:p>
        </p:txBody>
      </p:sp>
      <p:sp>
        <p:nvSpPr>
          <p:cNvPr id="8" name="Footer Placeholder 7">
            <a:extLst>
              <a:ext uri="{FF2B5EF4-FFF2-40B4-BE49-F238E27FC236}">
                <a16:creationId xmlns:a16="http://schemas.microsoft.com/office/drawing/2014/main" id="{E1D494FB-AE8E-8362-D05C-08BF3092B01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EBFC57B-F10B-88D1-E76A-48FBA53AC745}"/>
              </a:ext>
            </a:extLst>
          </p:cNvPr>
          <p:cNvSpPr>
            <a:spLocks noGrp="1"/>
          </p:cNvSpPr>
          <p:nvPr>
            <p:ph type="sldNum" sz="quarter" idx="12"/>
          </p:nvPr>
        </p:nvSpPr>
        <p:spPr/>
        <p:txBody>
          <a:bodyPr/>
          <a:lstStyle/>
          <a:p>
            <a:fld id="{97A37435-C01F-4618-A670-45AE44F1EB7F}" type="slidenum">
              <a:rPr lang="en-US" smtClean="0"/>
              <a:t>‹#›</a:t>
            </a:fld>
            <a:endParaRPr lang="en-US"/>
          </a:p>
        </p:txBody>
      </p:sp>
    </p:spTree>
    <p:extLst>
      <p:ext uri="{BB962C8B-B14F-4D97-AF65-F5344CB8AC3E}">
        <p14:creationId xmlns:p14="http://schemas.microsoft.com/office/powerpoint/2010/main" val="16794633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265B9B-9B7C-E75C-73D3-C080B51E445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06E252D-4EE8-D9D2-CE67-EB2A977826D8}"/>
              </a:ext>
            </a:extLst>
          </p:cNvPr>
          <p:cNvSpPr>
            <a:spLocks noGrp="1"/>
          </p:cNvSpPr>
          <p:nvPr>
            <p:ph type="dt" sz="half" idx="10"/>
          </p:nvPr>
        </p:nvSpPr>
        <p:spPr/>
        <p:txBody>
          <a:bodyPr/>
          <a:lstStyle/>
          <a:p>
            <a:fld id="{D6333703-16B1-4EB5-A37A-21F3DD5AE941}" type="datetimeFigureOut">
              <a:rPr lang="en-US" smtClean="0"/>
              <a:t>3/6/2026</a:t>
            </a:fld>
            <a:endParaRPr lang="en-US"/>
          </a:p>
        </p:txBody>
      </p:sp>
      <p:sp>
        <p:nvSpPr>
          <p:cNvPr id="4" name="Footer Placeholder 3">
            <a:extLst>
              <a:ext uri="{FF2B5EF4-FFF2-40B4-BE49-F238E27FC236}">
                <a16:creationId xmlns:a16="http://schemas.microsoft.com/office/drawing/2014/main" id="{189D7E29-55D0-BB62-3D3B-3189AE97EEC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EF0421A-AFBC-7CDD-6520-C184F438FDB4}"/>
              </a:ext>
            </a:extLst>
          </p:cNvPr>
          <p:cNvSpPr>
            <a:spLocks noGrp="1"/>
          </p:cNvSpPr>
          <p:nvPr>
            <p:ph type="sldNum" sz="quarter" idx="12"/>
          </p:nvPr>
        </p:nvSpPr>
        <p:spPr/>
        <p:txBody>
          <a:bodyPr/>
          <a:lstStyle/>
          <a:p>
            <a:fld id="{97A37435-C01F-4618-A670-45AE44F1EB7F}" type="slidenum">
              <a:rPr lang="en-US" smtClean="0"/>
              <a:t>‹#›</a:t>
            </a:fld>
            <a:endParaRPr lang="en-US"/>
          </a:p>
        </p:txBody>
      </p:sp>
    </p:spTree>
    <p:extLst>
      <p:ext uri="{BB962C8B-B14F-4D97-AF65-F5344CB8AC3E}">
        <p14:creationId xmlns:p14="http://schemas.microsoft.com/office/powerpoint/2010/main" val="414389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9006B61-26BD-8FF0-283F-9628155280E8}"/>
              </a:ext>
            </a:extLst>
          </p:cNvPr>
          <p:cNvSpPr>
            <a:spLocks noGrp="1"/>
          </p:cNvSpPr>
          <p:nvPr>
            <p:ph type="dt" sz="half" idx="10"/>
          </p:nvPr>
        </p:nvSpPr>
        <p:spPr/>
        <p:txBody>
          <a:bodyPr/>
          <a:lstStyle/>
          <a:p>
            <a:fld id="{D6333703-16B1-4EB5-A37A-21F3DD5AE941}" type="datetimeFigureOut">
              <a:rPr lang="en-US" smtClean="0"/>
              <a:t>3/6/2026</a:t>
            </a:fld>
            <a:endParaRPr lang="en-US"/>
          </a:p>
        </p:txBody>
      </p:sp>
      <p:sp>
        <p:nvSpPr>
          <p:cNvPr id="3" name="Footer Placeholder 2">
            <a:extLst>
              <a:ext uri="{FF2B5EF4-FFF2-40B4-BE49-F238E27FC236}">
                <a16:creationId xmlns:a16="http://schemas.microsoft.com/office/drawing/2014/main" id="{EFF7E9F2-9E01-9B66-5296-EACE5B36A71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FDB90E7-2FC0-1E4C-ABD9-7FED03AAB67B}"/>
              </a:ext>
            </a:extLst>
          </p:cNvPr>
          <p:cNvSpPr>
            <a:spLocks noGrp="1"/>
          </p:cNvSpPr>
          <p:nvPr>
            <p:ph type="sldNum" sz="quarter" idx="12"/>
          </p:nvPr>
        </p:nvSpPr>
        <p:spPr/>
        <p:txBody>
          <a:bodyPr/>
          <a:lstStyle/>
          <a:p>
            <a:fld id="{97A37435-C01F-4618-A670-45AE44F1EB7F}" type="slidenum">
              <a:rPr lang="en-US" smtClean="0"/>
              <a:t>‹#›</a:t>
            </a:fld>
            <a:endParaRPr lang="en-US"/>
          </a:p>
        </p:txBody>
      </p:sp>
    </p:spTree>
    <p:extLst>
      <p:ext uri="{BB962C8B-B14F-4D97-AF65-F5344CB8AC3E}">
        <p14:creationId xmlns:p14="http://schemas.microsoft.com/office/powerpoint/2010/main" val="25633853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ECED8A-1D2C-CE0B-50E4-71C1721EE9D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AFBC50A-7DB3-B0A4-5974-032F2074636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4BD17EF-06F5-AED5-72E7-6DB1E9A7C8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CA82311-EC62-778C-99D1-83266CD7CF0A}"/>
              </a:ext>
            </a:extLst>
          </p:cNvPr>
          <p:cNvSpPr>
            <a:spLocks noGrp="1"/>
          </p:cNvSpPr>
          <p:nvPr>
            <p:ph type="dt" sz="half" idx="10"/>
          </p:nvPr>
        </p:nvSpPr>
        <p:spPr/>
        <p:txBody>
          <a:bodyPr/>
          <a:lstStyle/>
          <a:p>
            <a:fld id="{D6333703-16B1-4EB5-A37A-21F3DD5AE941}" type="datetimeFigureOut">
              <a:rPr lang="en-US" smtClean="0"/>
              <a:t>3/6/2026</a:t>
            </a:fld>
            <a:endParaRPr lang="en-US"/>
          </a:p>
        </p:txBody>
      </p:sp>
      <p:sp>
        <p:nvSpPr>
          <p:cNvPr id="6" name="Footer Placeholder 5">
            <a:extLst>
              <a:ext uri="{FF2B5EF4-FFF2-40B4-BE49-F238E27FC236}">
                <a16:creationId xmlns:a16="http://schemas.microsoft.com/office/drawing/2014/main" id="{A59F2A73-5BBD-BEAF-E6C0-CD0A9428655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98FA729-8078-AB06-B8FA-839362566191}"/>
              </a:ext>
            </a:extLst>
          </p:cNvPr>
          <p:cNvSpPr>
            <a:spLocks noGrp="1"/>
          </p:cNvSpPr>
          <p:nvPr>
            <p:ph type="sldNum" sz="quarter" idx="12"/>
          </p:nvPr>
        </p:nvSpPr>
        <p:spPr/>
        <p:txBody>
          <a:bodyPr/>
          <a:lstStyle/>
          <a:p>
            <a:fld id="{97A37435-C01F-4618-A670-45AE44F1EB7F}" type="slidenum">
              <a:rPr lang="en-US" smtClean="0"/>
              <a:t>‹#›</a:t>
            </a:fld>
            <a:endParaRPr lang="en-US"/>
          </a:p>
        </p:txBody>
      </p:sp>
    </p:spTree>
    <p:extLst>
      <p:ext uri="{BB962C8B-B14F-4D97-AF65-F5344CB8AC3E}">
        <p14:creationId xmlns:p14="http://schemas.microsoft.com/office/powerpoint/2010/main" val="13966449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63CF9E-3D9C-2C9C-7EEA-DA6F19666B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82AC5A4-393F-15D9-A0F9-2D1A11801AD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26D16A1-D9A4-0D4F-7970-6AF5801C34A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F0166DF-A899-AE42-4ABC-337804C9EEAC}"/>
              </a:ext>
            </a:extLst>
          </p:cNvPr>
          <p:cNvSpPr>
            <a:spLocks noGrp="1"/>
          </p:cNvSpPr>
          <p:nvPr>
            <p:ph type="dt" sz="half" idx="10"/>
          </p:nvPr>
        </p:nvSpPr>
        <p:spPr/>
        <p:txBody>
          <a:bodyPr/>
          <a:lstStyle/>
          <a:p>
            <a:fld id="{D6333703-16B1-4EB5-A37A-21F3DD5AE941}" type="datetimeFigureOut">
              <a:rPr lang="en-US" smtClean="0"/>
              <a:t>3/6/2026</a:t>
            </a:fld>
            <a:endParaRPr lang="en-US"/>
          </a:p>
        </p:txBody>
      </p:sp>
      <p:sp>
        <p:nvSpPr>
          <p:cNvPr id="6" name="Footer Placeholder 5">
            <a:extLst>
              <a:ext uri="{FF2B5EF4-FFF2-40B4-BE49-F238E27FC236}">
                <a16:creationId xmlns:a16="http://schemas.microsoft.com/office/drawing/2014/main" id="{2EAAAEBF-C9C7-F7A0-E8F6-F3BC84FEF71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AA546D9-4E18-7DBB-31C4-8E06DF79BCCD}"/>
              </a:ext>
            </a:extLst>
          </p:cNvPr>
          <p:cNvSpPr>
            <a:spLocks noGrp="1"/>
          </p:cNvSpPr>
          <p:nvPr>
            <p:ph type="sldNum" sz="quarter" idx="12"/>
          </p:nvPr>
        </p:nvSpPr>
        <p:spPr/>
        <p:txBody>
          <a:bodyPr/>
          <a:lstStyle/>
          <a:p>
            <a:fld id="{97A37435-C01F-4618-A670-45AE44F1EB7F}" type="slidenum">
              <a:rPr lang="en-US" smtClean="0"/>
              <a:t>‹#›</a:t>
            </a:fld>
            <a:endParaRPr lang="en-US"/>
          </a:p>
        </p:txBody>
      </p:sp>
    </p:spTree>
    <p:extLst>
      <p:ext uri="{BB962C8B-B14F-4D97-AF65-F5344CB8AC3E}">
        <p14:creationId xmlns:p14="http://schemas.microsoft.com/office/powerpoint/2010/main" val="37082378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C80729-ABCA-FB1E-0FF0-6C99835E7A8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46D0D30-CC79-78AA-91DF-9019F7C3ABE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C81B4F5-AEB0-C3F2-B51E-0BBA52495108}"/>
              </a:ext>
            </a:extLst>
          </p:cNvPr>
          <p:cNvSpPr>
            <a:spLocks noGrp="1"/>
          </p:cNvSpPr>
          <p:nvPr>
            <p:ph type="dt" sz="half" idx="10"/>
          </p:nvPr>
        </p:nvSpPr>
        <p:spPr/>
        <p:txBody>
          <a:bodyPr/>
          <a:lstStyle/>
          <a:p>
            <a:fld id="{D6333703-16B1-4EB5-A37A-21F3DD5AE941}" type="datetimeFigureOut">
              <a:rPr lang="en-US" smtClean="0"/>
              <a:t>3/6/2026</a:t>
            </a:fld>
            <a:endParaRPr lang="en-US"/>
          </a:p>
        </p:txBody>
      </p:sp>
      <p:sp>
        <p:nvSpPr>
          <p:cNvPr id="5" name="Footer Placeholder 4">
            <a:extLst>
              <a:ext uri="{FF2B5EF4-FFF2-40B4-BE49-F238E27FC236}">
                <a16:creationId xmlns:a16="http://schemas.microsoft.com/office/drawing/2014/main" id="{C4687584-0DC0-F0EB-60EA-5CFAF9EC2CB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F6F44E5-FBA2-AA7E-12AA-D57098899BD9}"/>
              </a:ext>
            </a:extLst>
          </p:cNvPr>
          <p:cNvSpPr>
            <a:spLocks noGrp="1"/>
          </p:cNvSpPr>
          <p:nvPr>
            <p:ph type="sldNum" sz="quarter" idx="12"/>
          </p:nvPr>
        </p:nvSpPr>
        <p:spPr/>
        <p:txBody>
          <a:bodyPr/>
          <a:lstStyle/>
          <a:p>
            <a:fld id="{97A37435-C01F-4618-A670-45AE44F1EB7F}" type="slidenum">
              <a:rPr lang="en-US" smtClean="0"/>
              <a:t>‹#›</a:t>
            </a:fld>
            <a:endParaRPr lang="en-US"/>
          </a:p>
        </p:txBody>
      </p:sp>
    </p:spTree>
    <p:extLst>
      <p:ext uri="{BB962C8B-B14F-4D97-AF65-F5344CB8AC3E}">
        <p14:creationId xmlns:p14="http://schemas.microsoft.com/office/powerpoint/2010/main" val="22391320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7E44271-2457-729A-536C-6E4D888A0F5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DAA52CF-FBF2-72ED-61B2-12FCDDDFDFA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5513649-8157-99FD-B13E-4763FF196BDB}"/>
              </a:ext>
            </a:extLst>
          </p:cNvPr>
          <p:cNvSpPr>
            <a:spLocks noGrp="1"/>
          </p:cNvSpPr>
          <p:nvPr>
            <p:ph type="dt" sz="half" idx="10"/>
          </p:nvPr>
        </p:nvSpPr>
        <p:spPr/>
        <p:txBody>
          <a:bodyPr/>
          <a:lstStyle/>
          <a:p>
            <a:fld id="{D6333703-16B1-4EB5-A37A-21F3DD5AE941}" type="datetimeFigureOut">
              <a:rPr lang="en-US" smtClean="0"/>
              <a:t>3/6/2026</a:t>
            </a:fld>
            <a:endParaRPr lang="en-US"/>
          </a:p>
        </p:txBody>
      </p:sp>
      <p:sp>
        <p:nvSpPr>
          <p:cNvPr id="5" name="Footer Placeholder 4">
            <a:extLst>
              <a:ext uri="{FF2B5EF4-FFF2-40B4-BE49-F238E27FC236}">
                <a16:creationId xmlns:a16="http://schemas.microsoft.com/office/drawing/2014/main" id="{D5C7FD2C-7187-227C-00D4-86CB0E8FDBB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D6B37C-B964-E329-9C1E-D75991B7868E}"/>
              </a:ext>
            </a:extLst>
          </p:cNvPr>
          <p:cNvSpPr>
            <a:spLocks noGrp="1"/>
          </p:cNvSpPr>
          <p:nvPr>
            <p:ph type="sldNum" sz="quarter" idx="12"/>
          </p:nvPr>
        </p:nvSpPr>
        <p:spPr/>
        <p:txBody>
          <a:bodyPr/>
          <a:lstStyle/>
          <a:p>
            <a:fld id="{97A37435-C01F-4618-A670-45AE44F1EB7F}" type="slidenum">
              <a:rPr lang="en-US" smtClean="0"/>
              <a:t>‹#›</a:t>
            </a:fld>
            <a:endParaRPr lang="en-US"/>
          </a:p>
        </p:txBody>
      </p:sp>
    </p:spTree>
    <p:extLst>
      <p:ext uri="{BB962C8B-B14F-4D97-AF65-F5344CB8AC3E}">
        <p14:creationId xmlns:p14="http://schemas.microsoft.com/office/powerpoint/2010/main" val="28476055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4">
                <a:lumMod val="40000"/>
                <a:lumOff val="6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551D2C8-B4A7-12F1-87FD-B3866B2896C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50177C5-55D8-CA6B-B6DC-74E65B95591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11FA0DE-F91E-69E0-4816-367AC0B6C8D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6333703-16B1-4EB5-A37A-21F3DD5AE941}" type="datetimeFigureOut">
              <a:rPr lang="en-US" smtClean="0"/>
              <a:t>3/6/2026</a:t>
            </a:fld>
            <a:endParaRPr lang="en-US"/>
          </a:p>
        </p:txBody>
      </p:sp>
      <p:sp>
        <p:nvSpPr>
          <p:cNvPr id="5" name="Footer Placeholder 4">
            <a:extLst>
              <a:ext uri="{FF2B5EF4-FFF2-40B4-BE49-F238E27FC236}">
                <a16:creationId xmlns:a16="http://schemas.microsoft.com/office/drawing/2014/main" id="{0DCB1AB0-7E63-27F9-FBEA-99770676820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FDA3F3E-FC93-E706-039B-AFDCDC30F72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7A37435-C01F-4618-A670-45AE44F1EB7F}" type="slidenum">
              <a:rPr lang="en-US" smtClean="0"/>
              <a:t>‹#›</a:t>
            </a:fld>
            <a:endParaRPr lang="en-US"/>
          </a:p>
        </p:txBody>
      </p:sp>
    </p:spTree>
    <p:extLst>
      <p:ext uri="{BB962C8B-B14F-4D97-AF65-F5344CB8AC3E}">
        <p14:creationId xmlns:p14="http://schemas.microsoft.com/office/powerpoint/2010/main" val="39413603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hyperlink" Target="https://www.pikist.com/free-photo-xmfcm" TargetMode="External"/><Relationship Id="rId2" Type="http://schemas.openxmlformats.org/officeDocument/2006/relationships/image" Target="../media/image3.jpg"/><Relationship Id="rId1" Type="http://schemas.openxmlformats.org/officeDocument/2006/relationships/slideLayout" Target="../slideLayouts/slideLayout2.xml"/><Relationship Id="rId5" Type="http://schemas.openxmlformats.org/officeDocument/2006/relationships/hyperlink" Target="https://www.freestock.com/free-photos/business-man-taking-decision-standing-front-686555734" TargetMode="External"/><Relationship Id="rId4" Type="http://schemas.openxmlformats.org/officeDocument/2006/relationships/image" Target="../media/image4.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researchleap.com/influence-leadership-based-emotional-intelligence-concerning-climate-organisation/" TargetMode="External"/><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www.flickr.com/photos/sssn09/3403519465/" TargetMode="External"/><Relationship Id="rId2" Type="http://schemas.openxmlformats.org/officeDocument/2006/relationships/image" Target="../media/image12.jp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8D513-FE5C-D405-1710-DCAB8D54A511}"/>
              </a:ext>
            </a:extLst>
          </p:cNvPr>
          <p:cNvSpPr>
            <a:spLocks noGrp="1"/>
          </p:cNvSpPr>
          <p:nvPr>
            <p:ph type="ctrTitle"/>
          </p:nvPr>
        </p:nvSpPr>
        <p:spPr>
          <a:xfrm>
            <a:off x="0" y="1100138"/>
            <a:ext cx="5310189" cy="1510506"/>
          </a:xfrm>
        </p:spPr>
        <p:txBody>
          <a:bodyPr>
            <a:normAutofit/>
          </a:bodyPr>
          <a:lstStyle/>
          <a:p>
            <a:r>
              <a:rPr lang="en-US" sz="4400" b="1" dirty="0">
                <a:solidFill>
                  <a:schemeClr val="accent2">
                    <a:lumMod val="50000"/>
                  </a:schemeClr>
                </a:solidFill>
                <a:latin typeface="Arial Black" panose="020B0A04020102020204" pitchFamily="34" charset="0"/>
              </a:rPr>
              <a:t>INTRODUCTION TO ETHICS</a:t>
            </a:r>
          </a:p>
        </p:txBody>
      </p:sp>
      <p:sp>
        <p:nvSpPr>
          <p:cNvPr id="3" name="Subtitle 2">
            <a:extLst>
              <a:ext uri="{FF2B5EF4-FFF2-40B4-BE49-F238E27FC236}">
                <a16:creationId xmlns:a16="http://schemas.microsoft.com/office/drawing/2014/main" id="{7A32DD92-12B6-2DEC-B256-35633E79867D}"/>
              </a:ext>
            </a:extLst>
          </p:cNvPr>
          <p:cNvSpPr>
            <a:spLocks noGrp="1"/>
          </p:cNvSpPr>
          <p:nvPr>
            <p:ph type="subTitle" idx="1"/>
          </p:nvPr>
        </p:nvSpPr>
        <p:spPr>
          <a:xfrm>
            <a:off x="523875" y="3747293"/>
            <a:ext cx="4033838" cy="1510507"/>
          </a:xfrm>
        </p:spPr>
        <p:txBody>
          <a:bodyPr>
            <a:normAutofit/>
          </a:bodyPr>
          <a:lstStyle/>
          <a:p>
            <a:endParaRPr lang="en-US" sz="3600" b="1" dirty="0">
              <a:solidFill>
                <a:schemeClr val="accent6">
                  <a:lumMod val="50000"/>
                </a:schemeClr>
              </a:solidFill>
            </a:endParaRPr>
          </a:p>
          <a:p>
            <a:r>
              <a:rPr lang="en-US" sz="3200" b="1" dirty="0">
                <a:solidFill>
                  <a:schemeClr val="accent6">
                    <a:lumMod val="50000"/>
                  </a:schemeClr>
                </a:solidFill>
                <a:latin typeface="Arial Black" panose="020B0A04020102020204" pitchFamily="34" charset="0"/>
              </a:rPr>
              <a:t>MODULE–1</a:t>
            </a:r>
          </a:p>
        </p:txBody>
      </p:sp>
      <p:pic>
        <p:nvPicPr>
          <p:cNvPr id="5" name="Picture 4">
            <a:extLst>
              <a:ext uri="{FF2B5EF4-FFF2-40B4-BE49-F238E27FC236}">
                <a16:creationId xmlns:a16="http://schemas.microsoft.com/office/drawing/2014/main" id="{48BF5BB3-4FF5-A81C-F0E3-E14C50D1E47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86364" y="0"/>
            <a:ext cx="7005636" cy="6858000"/>
          </a:xfrm>
          <a:prstGeom prst="rect">
            <a:avLst/>
          </a:prstGeom>
        </p:spPr>
      </p:pic>
    </p:spTree>
    <p:extLst>
      <p:ext uri="{BB962C8B-B14F-4D97-AF65-F5344CB8AC3E}">
        <p14:creationId xmlns:p14="http://schemas.microsoft.com/office/powerpoint/2010/main" val="19927601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04F8ED-31D7-1DF4-5BFA-C40A9F13EBB4}"/>
              </a:ext>
            </a:extLst>
          </p:cNvPr>
          <p:cNvSpPr>
            <a:spLocks noGrp="1"/>
          </p:cNvSpPr>
          <p:nvPr>
            <p:ph type="title"/>
          </p:nvPr>
        </p:nvSpPr>
        <p:spPr>
          <a:xfrm>
            <a:off x="838200" y="365125"/>
            <a:ext cx="10515600" cy="777875"/>
          </a:xfrm>
        </p:spPr>
        <p:txBody>
          <a:bodyPr>
            <a:normAutofit/>
          </a:bodyPr>
          <a:lstStyle/>
          <a:p>
            <a:pPr algn="ctr"/>
            <a:r>
              <a:rPr lang="en-US" sz="4000" b="1" dirty="0">
                <a:solidFill>
                  <a:srgbClr val="FF0000"/>
                </a:solidFill>
                <a:latin typeface="Arial Black" panose="020B0A04020102020204" pitchFamily="34" charset="0"/>
              </a:rPr>
              <a:t>CONTENTS</a:t>
            </a:r>
          </a:p>
        </p:txBody>
      </p:sp>
      <p:sp>
        <p:nvSpPr>
          <p:cNvPr id="3" name="Content Placeholder 2">
            <a:extLst>
              <a:ext uri="{FF2B5EF4-FFF2-40B4-BE49-F238E27FC236}">
                <a16:creationId xmlns:a16="http://schemas.microsoft.com/office/drawing/2014/main" id="{F15CC371-455B-CC0D-0F77-6174C4FC627B}"/>
              </a:ext>
            </a:extLst>
          </p:cNvPr>
          <p:cNvSpPr>
            <a:spLocks noGrp="1"/>
          </p:cNvSpPr>
          <p:nvPr>
            <p:ph idx="1"/>
          </p:nvPr>
        </p:nvSpPr>
        <p:spPr>
          <a:xfrm>
            <a:off x="838200" y="1528763"/>
            <a:ext cx="10515600" cy="4648200"/>
          </a:xfrm>
        </p:spPr>
        <p:txBody>
          <a:bodyPr>
            <a:normAutofit fontScale="77500" lnSpcReduction="20000"/>
          </a:bodyPr>
          <a:lstStyle/>
          <a:p>
            <a:pPr marL="0" indent="0">
              <a:lnSpc>
                <a:spcPct val="120000"/>
              </a:lnSpc>
              <a:buNone/>
            </a:pPr>
            <a:endParaRPr lang="en-US" b="1" dirty="0">
              <a:solidFill>
                <a:schemeClr val="accent6">
                  <a:lumMod val="50000"/>
                </a:schemeClr>
              </a:solidFill>
              <a:latin typeface="Arial Black" panose="020B0A04020102020204" pitchFamily="34" charset="0"/>
            </a:endParaRPr>
          </a:p>
          <a:p>
            <a:pPr>
              <a:lnSpc>
                <a:spcPct val="120000"/>
              </a:lnSpc>
              <a:buFont typeface="Wingdings" panose="05000000000000000000" pitchFamily="2" charset="2"/>
              <a:buChar char="§"/>
            </a:pPr>
            <a:r>
              <a:rPr lang="en-US" dirty="0">
                <a:solidFill>
                  <a:schemeClr val="accent6">
                    <a:lumMod val="50000"/>
                  </a:schemeClr>
                </a:solidFill>
                <a:latin typeface="Arial Black" panose="020B0A04020102020204" pitchFamily="34" charset="0"/>
              </a:rPr>
              <a:t>Moral</a:t>
            </a:r>
          </a:p>
          <a:p>
            <a:pPr>
              <a:lnSpc>
                <a:spcPct val="120000"/>
              </a:lnSpc>
              <a:buFont typeface="Wingdings" panose="05000000000000000000" pitchFamily="2" charset="2"/>
              <a:buChar char="§"/>
            </a:pPr>
            <a:r>
              <a:rPr lang="en-US" dirty="0">
                <a:solidFill>
                  <a:schemeClr val="accent6">
                    <a:lumMod val="50000"/>
                  </a:schemeClr>
                </a:solidFill>
                <a:latin typeface="Arial Black" panose="020B0A04020102020204" pitchFamily="34" charset="0"/>
              </a:rPr>
              <a:t>Ethics</a:t>
            </a:r>
          </a:p>
          <a:p>
            <a:pPr>
              <a:lnSpc>
                <a:spcPct val="120000"/>
              </a:lnSpc>
              <a:buFont typeface="Wingdings" panose="05000000000000000000" pitchFamily="2" charset="2"/>
              <a:buChar char="§"/>
            </a:pPr>
            <a:r>
              <a:rPr lang="en-US" dirty="0">
                <a:solidFill>
                  <a:schemeClr val="accent6">
                    <a:lumMod val="50000"/>
                  </a:schemeClr>
                </a:solidFill>
                <a:latin typeface="Arial Black" panose="020B0A04020102020204" pitchFamily="34" charset="0"/>
              </a:rPr>
              <a:t>Ethical Dilemma</a:t>
            </a:r>
          </a:p>
          <a:p>
            <a:pPr>
              <a:lnSpc>
                <a:spcPct val="120000"/>
              </a:lnSpc>
              <a:buFont typeface="Wingdings" panose="05000000000000000000" pitchFamily="2" charset="2"/>
              <a:buChar char="§"/>
            </a:pPr>
            <a:r>
              <a:rPr lang="en-US" dirty="0">
                <a:solidFill>
                  <a:schemeClr val="accent6">
                    <a:lumMod val="50000"/>
                  </a:schemeClr>
                </a:solidFill>
                <a:latin typeface="Arial Black" panose="020B0A04020102020204" pitchFamily="34" charset="0"/>
              </a:rPr>
              <a:t>Emotional Intelligence</a:t>
            </a:r>
          </a:p>
          <a:p>
            <a:pPr>
              <a:lnSpc>
                <a:spcPct val="120000"/>
              </a:lnSpc>
              <a:buFont typeface="Wingdings" panose="05000000000000000000" pitchFamily="2" charset="2"/>
              <a:buChar char="§"/>
            </a:pPr>
            <a:r>
              <a:rPr lang="en-US" dirty="0">
                <a:solidFill>
                  <a:schemeClr val="accent6">
                    <a:lumMod val="50000"/>
                  </a:schemeClr>
                </a:solidFill>
                <a:latin typeface="Arial Black" panose="020B0A04020102020204" pitchFamily="34" charset="0"/>
              </a:rPr>
              <a:t>Moral Development Theories (Kohlberg &amp; Piaget)</a:t>
            </a:r>
          </a:p>
          <a:p>
            <a:pPr>
              <a:lnSpc>
                <a:spcPct val="120000"/>
              </a:lnSpc>
              <a:buFont typeface="Wingdings" panose="05000000000000000000" pitchFamily="2" charset="2"/>
              <a:buChar char="§"/>
            </a:pPr>
            <a:r>
              <a:rPr lang="en-US" dirty="0">
                <a:solidFill>
                  <a:schemeClr val="accent6">
                    <a:lumMod val="50000"/>
                  </a:schemeClr>
                </a:solidFill>
                <a:latin typeface="Arial Black" panose="020B0A04020102020204" pitchFamily="34" charset="0"/>
              </a:rPr>
              <a:t>Aristotle’s View on Ethics</a:t>
            </a:r>
          </a:p>
          <a:p>
            <a:pPr>
              <a:lnSpc>
                <a:spcPct val="120000"/>
              </a:lnSpc>
              <a:buFont typeface="Wingdings" panose="05000000000000000000" pitchFamily="2" charset="2"/>
              <a:buChar char="§"/>
            </a:pPr>
            <a:r>
              <a:rPr lang="en-US" dirty="0">
                <a:solidFill>
                  <a:schemeClr val="accent6">
                    <a:lumMod val="50000"/>
                  </a:schemeClr>
                </a:solidFill>
                <a:latin typeface="Arial Black" panose="020B0A04020102020204" pitchFamily="34" charset="0"/>
              </a:rPr>
              <a:t>Governing Factors of Value System</a:t>
            </a:r>
          </a:p>
          <a:p>
            <a:pPr>
              <a:lnSpc>
                <a:spcPct val="120000"/>
              </a:lnSpc>
              <a:buFont typeface="Wingdings" panose="05000000000000000000" pitchFamily="2" charset="2"/>
              <a:buChar char="§"/>
            </a:pPr>
            <a:r>
              <a:rPr lang="en-US" dirty="0">
                <a:solidFill>
                  <a:schemeClr val="accent6">
                    <a:lumMod val="50000"/>
                  </a:schemeClr>
                </a:solidFill>
                <a:latin typeface="Arial Black" panose="020B0A04020102020204" pitchFamily="34" charset="0"/>
              </a:rPr>
              <a:t>Personal Ethics</a:t>
            </a:r>
          </a:p>
          <a:p>
            <a:pPr>
              <a:lnSpc>
                <a:spcPct val="120000"/>
              </a:lnSpc>
              <a:buFont typeface="Wingdings" panose="05000000000000000000" pitchFamily="2" charset="2"/>
              <a:buChar char="§"/>
            </a:pPr>
            <a:r>
              <a:rPr lang="en-US" dirty="0">
                <a:solidFill>
                  <a:schemeClr val="accent6">
                    <a:lumMod val="50000"/>
                  </a:schemeClr>
                </a:solidFill>
                <a:latin typeface="Arial Black" panose="020B0A04020102020204" pitchFamily="34" charset="0"/>
              </a:rPr>
              <a:t>Professional Ethics</a:t>
            </a:r>
          </a:p>
          <a:p>
            <a:endParaRPr lang="en-US" dirty="0"/>
          </a:p>
        </p:txBody>
      </p:sp>
    </p:spTree>
    <p:extLst>
      <p:ext uri="{BB962C8B-B14F-4D97-AF65-F5344CB8AC3E}">
        <p14:creationId xmlns:p14="http://schemas.microsoft.com/office/powerpoint/2010/main" val="30333267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35B840-929A-E285-3158-2A4F70A90556}"/>
              </a:ext>
            </a:extLst>
          </p:cNvPr>
          <p:cNvSpPr>
            <a:spLocks noGrp="1"/>
          </p:cNvSpPr>
          <p:nvPr>
            <p:ph type="title"/>
          </p:nvPr>
        </p:nvSpPr>
        <p:spPr>
          <a:xfrm>
            <a:off x="838200" y="275510"/>
            <a:ext cx="10515600" cy="549275"/>
          </a:xfrm>
        </p:spPr>
        <p:txBody>
          <a:bodyPr>
            <a:noAutofit/>
          </a:bodyPr>
          <a:lstStyle/>
          <a:p>
            <a:pPr algn="ctr"/>
            <a:r>
              <a:rPr lang="en-US" sz="3600" b="1" dirty="0">
                <a:solidFill>
                  <a:srgbClr val="FF0000"/>
                </a:solidFill>
                <a:latin typeface="Arial Black" panose="020B0A04020102020204" pitchFamily="34" charset="0"/>
              </a:rPr>
              <a:t>MORAL</a:t>
            </a:r>
          </a:p>
        </p:txBody>
      </p:sp>
      <p:sp>
        <p:nvSpPr>
          <p:cNvPr id="3" name="Content Placeholder 2">
            <a:extLst>
              <a:ext uri="{FF2B5EF4-FFF2-40B4-BE49-F238E27FC236}">
                <a16:creationId xmlns:a16="http://schemas.microsoft.com/office/drawing/2014/main" id="{0CF1EDCA-B7E5-2E90-5BE7-C9D9CDDC078B}"/>
              </a:ext>
            </a:extLst>
          </p:cNvPr>
          <p:cNvSpPr>
            <a:spLocks noGrp="1"/>
          </p:cNvSpPr>
          <p:nvPr>
            <p:ph idx="1"/>
          </p:nvPr>
        </p:nvSpPr>
        <p:spPr>
          <a:xfrm>
            <a:off x="581024" y="985839"/>
            <a:ext cx="11077575" cy="5710952"/>
          </a:xfrm>
        </p:spPr>
        <p:txBody>
          <a:bodyPr>
            <a:normAutofit/>
          </a:bodyPr>
          <a:lstStyle/>
          <a:p>
            <a:pPr marL="0" indent="0" algn="just">
              <a:buNone/>
            </a:pPr>
            <a:r>
              <a:rPr lang="en-US" sz="2400" b="1" dirty="0"/>
              <a:t>A moral refers to an individual’s personal belief about what is right and wrong.</a:t>
            </a:r>
            <a:br>
              <a:rPr lang="en-US" sz="2400" b="1" dirty="0"/>
            </a:br>
            <a:r>
              <a:rPr lang="en-US" sz="2400" b="1" dirty="0"/>
              <a:t>Morals are shaped by family, culture, religion, education, and personal experiences.</a:t>
            </a:r>
          </a:p>
          <a:p>
            <a:pPr marL="0" indent="0" algn="just">
              <a:buNone/>
            </a:pPr>
            <a:endParaRPr lang="en-US" sz="2400" b="1" dirty="0">
              <a:solidFill>
                <a:schemeClr val="accent6">
                  <a:lumMod val="50000"/>
                </a:schemeClr>
              </a:solidFill>
              <a:latin typeface="Arial Black" panose="020B0A04020102020204" pitchFamily="34" charset="0"/>
            </a:endParaRPr>
          </a:p>
          <a:p>
            <a:pPr marL="0" indent="0" algn="just">
              <a:buNone/>
            </a:pPr>
            <a:r>
              <a:rPr lang="en-US" sz="2400" b="1" dirty="0">
                <a:solidFill>
                  <a:schemeClr val="accent6">
                    <a:lumMod val="50000"/>
                  </a:schemeClr>
                </a:solidFill>
                <a:latin typeface="Arial Black" panose="020B0A04020102020204" pitchFamily="34" charset="0"/>
              </a:rPr>
              <a:t>Moral = Personal sense of right and wrong.</a:t>
            </a:r>
          </a:p>
          <a:p>
            <a:pPr marL="0" indent="0">
              <a:buNone/>
            </a:pPr>
            <a:endParaRPr lang="en-US" sz="2400" b="1" dirty="0">
              <a:solidFill>
                <a:schemeClr val="accent2">
                  <a:lumMod val="50000"/>
                </a:schemeClr>
              </a:solidFill>
              <a:latin typeface="Arial Black" panose="020B0A04020102020204" pitchFamily="34" charset="0"/>
            </a:endParaRPr>
          </a:p>
          <a:p>
            <a:pPr marL="0" indent="0">
              <a:buNone/>
            </a:pPr>
            <a:endParaRPr lang="en-US" sz="2400" b="1" dirty="0">
              <a:solidFill>
                <a:schemeClr val="accent2">
                  <a:lumMod val="50000"/>
                </a:schemeClr>
              </a:solidFill>
              <a:latin typeface="Arial Black" panose="020B0A04020102020204" pitchFamily="34" charset="0"/>
            </a:endParaRPr>
          </a:p>
          <a:p>
            <a:pPr marL="0" indent="0">
              <a:buNone/>
            </a:pPr>
            <a:r>
              <a:rPr lang="en-US" sz="2400" b="1" dirty="0">
                <a:solidFill>
                  <a:schemeClr val="accent2">
                    <a:lumMod val="50000"/>
                  </a:schemeClr>
                </a:solidFill>
                <a:latin typeface="Arial Black" panose="020B0A04020102020204" pitchFamily="34" charset="0"/>
              </a:rPr>
              <a:t>Examples</a:t>
            </a:r>
          </a:p>
          <a:p>
            <a:r>
              <a:rPr lang="en-US" sz="2200" b="1" dirty="0">
                <a:solidFill>
                  <a:schemeClr val="accent6">
                    <a:lumMod val="50000"/>
                  </a:schemeClr>
                </a:solidFill>
              </a:rPr>
              <a:t>Telling the truth even when no one is watching.</a:t>
            </a:r>
          </a:p>
          <a:p>
            <a:r>
              <a:rPr lang="en-US" sz="2200" b="1" dirty="0">
                <a:solidFill>
                  <a:schemeClr val="accent6">
                    <a:lumMod val="50000"/>
                  </a:schemeClr>
                </a:solidFill>
              </a:rPr>
              <a:t>Returning extra money received by mistake.</a:t>
            </a:r>
          </a:p>
          <a:p>
            <a:r>
              <a:rPr lang="en-US" sz="2200" b="1" dirty="0">
                <a:solidFill>
                  <a:schemeClr val="accent6">
                    <a:lumMod val="50000"/>
                  </a:schemeClr>
                </a:solidFill>
              </a:rPr>
              <a:t>Helping an injured person on the road.</a:t>
            </a:r>
          </a:p>
          <a:p>
            <a:pPr marL="0" indent="0">
              <a:buNone/>
            </a:pPr>
            <a:endParaRPr lang="en-US" sz="2200" b="1" dirty="0">
              <a:solidFill>
                <a:schemeClr val="accent6">
                  <a:lumMod val="50000"/>
                </a:schemeClr>
              </a:solidFill>
              <a:latin typeface="Arial Black" panose="020B0A04020102020204" pitchFamily="34" charset="0"/>
            </a:endParaRPr>
          </a:p>
          <a:p>
            <a:pPr marL="0" indent="0">
              <a:buNone/>
            </a:pPr>
            <a:endParaRPr lang="en-US" sz="2200" b="1" dirty="0">
              <a:solidFill>
                <a:schemeClr val="accent6">
                  <a:lumMod val="50000"/>
                </a:schemeClr>
              </a:solidFill>
              <a:latin typeface="Arial Black" panose="020B0A04020102020204" pitchFamily="34" charset="0"/>
            </a:endParaRPr>
          </a:p>
          <a:p>
            <a:pPr marL="0" indent="0">
              <a:buNone/>
            </a:pPr>
            <a:r>
              <a:rPr lang="en-US" sz="2200" b="1" dirty="0">
                <a:solidFill>
                  <a:schemeClr val="accent1">
                    <a:lumMod val="50000"/>
                  </a:schemeClr>
                </a:solidFill>
                <a:latin typeface="Arial Black" panose="020B0A04020102020204" pitchFamily="34" charset="0"/>
              </a:rPr>
              <a:t>Example: Student returning lost wallet.</a:t>
            </a:r>
          </a:p>
          <a:p>
            <a:pPr marL="0" indent="0">
              <a:buNone/>
            </a:pPr>
            <a:endParaRPr lang="en-US" dirty="0"/>
          </a:p>
        </p:txBody>
      </p:sp>
      <p:sp>
        <p:nvSpPr>
          <p:cNvPr id="4" name="TextBox 3">
            <a:extLst>
              <a:ext uri="{FF2B5EF4-FFF2-40B4-BE49-F238E27FC236}">
                <a16:creationId xmlns:a16="http://schemas.microsoft.com/office/drawing/2014/main" id="{180BDFD6-C89F-1405-3678-54AC55D84E4E}"/>
              </a:ext>
            </a:extLst>
          </p:cNvPr>
          <p:cNvSpPr txBox="1"/>
          <p:nvPr/>
        </p:nvSpPr>
        <p:spPr>
          <a:xfrm>
            <a:off x="7910511" y="3143250"/>
            <a:ext cx="3571877" cy="2585323"/>
          </a:xfrm>
          <a:prstGeom prst="rect">
            <a:avLst/>
          </a:prstGeom>
          <a:noFill/>
        </p:spPr>
        <p:txBody>
          <a:bodyPr wrap="square" rtlCol="0">
            <a:spAutoFit/>
          </a:bodyPr>
          <a:lstStyle/>
          <a:p>
            <a:r>
              <a:rPr lang="en-US" sz="2400" b="1" dirty="0">
                <a:solidFill>
                  <a:schemeClr val="accent2">
                    <a:lumMod val="50000"/>
                  </a:schemeClr>
                </a:solidFill>
                <a:latin typeface="Arial Black" panose="020B0A04020102020204" pitchFamily="34" charset="0"/>
              </a:rPr>
              <a:t>Sources of Morals</a:t>
            </a:r>
          </a:p>
          <a:p>
            <a:pPr marL="342900" indent="-342900">
              <a:buFont typeface="Wingdings" panose="05000000000000000000" pitchFamily="2" charset="2"/>
              <a:buChar char="§"/>
            </a:pPr>
            <a:r>
              <a:rPr lang="en-US" sz="2000" dirty="0">
                <a:solidFill>
                  <a:schemeClr val="accent4">
                    <a:lumMod val="50000"/>
                  </a:schemeClr>
                </a:solidFill>
                <a:latin typeface="Arial Black" panose="020B0A04020102020204" pitchFamily="34" charset="0"/>
              </a:rPr>
              <a:t>Family upbringing</a:t>
            </a:r>
          </a:p>
          <a:p>
            <a:pPr marL="342900" indent="-342900">
              <a:buFont typeface="Wingdings" panose="05000000000000000000" pitchFamily="2" charset="2"/>
              <a:buChar char="§"/>
            </a:pPr>
            <a:r>
              <a:rPr lang="en-US" sz="2000" dirty="0">
                <a:solidFill>
                  <a:schemeClr val="accent4">
                    <a:lumMod val="50000"/>
                  </a:schemeClr>
                </a:solidFill>
                <a:latin typeface="Arial Black" panose="020B0A04020102020204" pitchFamily="34" charset="0"/>
              </a:rPr>
              <a:t>Religion</a:t>
            </a:r>
          </a:p>
          <a:p>
            <a:pPr marL="342900" indent="-342900">
              <a:buFont typeface="Wingdings" panose="05000000000000000000" pitchFamily="2" charset="2"/>
              <a:buChar char="§"/>
            </a:pPr>
            <a:r>
              <a:rPr lang="en-US" sz="2000" dirty="0">
                <a:solidFill>
                  <a:schemeClr val="accent4">
                    <a:lumMod val="50000"/>
                  </a:schemeClr>
                </a:solidFill>
                <a:latin typeface="Arial Black" panose="020B0A04020102020204" pitchFamily="34" charset="0"/>
              </a:rPr>
              <a:t>Culture</a:t>
            </a:r>
          </a:p>
          <a:p>
            <a:pPr marL="342900" indent="-342900">
              <a:buFont typeface="Wingdings" panose="05000000000000000000" pitchFamily="2" charset="2"/>
              <a:buChar char="§"/>
            </a:pPr>
            <a:r>
              <a:rPr lang="en-US" sz="2000" dirty="0">
                <a:solidFill>
                  <a:schemeClr val="accent4">
                    <a:lumMod val="50000"/>
                  </a:schemeClr>
                </a:solidFill>
                <a:latin typeface="Arial Black" panose="020B0A04020102020204" pitchFamily="34" charset="0"/>
              </a:rPr>
              <a:t>Education</a:t>
            </a:r>
          </a:p>
          <a:p>
            <a:pPr marL="342900" indent="-342900">
              <a:buFont typeface="Wingdings" panose="05000000000000000000" pitchFamily="2" charset="2"/>
              <a:buChar char="§"/>
            </a:pPr>
            <a:r>
              <a:rPr lang="en-US" sz="2000" dirty="0">
                <a:solidFill>
                  <a:schemeClr val="accent4">
                    <a:lumMod val="50000"/>
                  </a:schemeClr>
                </a:solidFill>
                <a:latin typeface="Arial Black" panose="020B0A04020102020204" pitchFamily="34" charset="0"/>
              </a:rPr>
              <a:t>Traditions</a:t>
            </a:r>
          </a:p>
          <a:p>
            <a:pPr marL="342900" indent="-342900">
              <a:buFont typeface="Wingdings" panose="05000000000000000000" pitchFamily="2" charset="2"/>
              <a:buChar char="§"/>
            </a:pPr>
            <a:r>
              <a:rPr lang="en-US" sz="2000" dirty="0">
                <a:solidFill>
                  <a:schemeClr val="accent4">
                    <a:lumMod val="50000"/>
                  </a:schemeClr>
                </a:solidFill>
                <a:latin typeface="Arial Black" panose="020B0A04020102020204" pitchFamily="34" charset="0"/>
              </a:rPr>
              <a:t>Personal experience</a:t>
            </a:r>
          </a:p>
          <a:p>
            <a:endParaRPr lang="en-US" dirty="0"/>
          </a:p>
        </p:txBody>
      </p:sp>
    </p:spTree>
    <p:extLst>
      <p:ext uri="{BB962C8B-B14F-4D97-AF65-F5344CB8AC3E}">
        <p14:creationId xmlns:p14="http://schemas.microsoft.com/office/powerpoint/2010/main" val="39867683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15BED66-47BC-9023-E552-5098A0769DDF}"/>
              </a:ext>
            </a:extLst>
          </p:cNvPr>
          <p:cNvSpPr txBox="1"/>
          <p:nvPr/>
        </p:nvSpPr>
        <p:spPr>
          <a:xfrm>
            <a:off x="785812" y="716518"/>
            <a:ext cx="10844213" cy="5509200"/>
          </a:xfrm>
          <a:prstGeom prst="rect">
            <a:avLst/>
          </a:prstGeom>
          <a:noFill/>
        </p:spPr>
        <p:txBody>
          <a:bodyPr wrap="square" rtlCol="0">
            <a:spAutoFit/>
          </a:bodyPr>
          <a:lstStyle/>
          <a:p>
            <a:endParaRPr lang="en-US" sz="2400" b="1" dirty="0"/>
          </a:p>
          <a:p>
            <a:r>
              <a:rPr lang="en-US" sz="2600" b="1" u="sng" dirty="0">
                <a:solidFill>
                  <a:schemeClr val="accent2">
                    <a:lumMod val="50000"/>
                  </a:schemeClr>
                </a:solidFill>
                <a:latin typeface="Arial Black" panose="020B0A04020102020204" pitchFamily="34" charset="0"/>
              </a:rPr>
              <a:t>Functions of Morals</a:t>
            </a:r>
          </a:p>
          <a:p>
            <a:pPr marL="342900" indent="-342900">
              <a:buFont typeface="Wingdings" panose="05000000000000000000" pitchFamily="2" charset="2"/>
              <a:buChar char="§"/>
            </a:pPr>
            <a:r>
              <a:rPr lang="en-US" sz="2400" b="1" dirty="0">
                <a:solidFill>
                  <a:schemeClr val="accent6">
                    <a:lumMod val="50000"/>
                  </a:schemeClr>
                </a:solidFill>
              </a:rPr>
              <a:t>Regulate human behavior</a:t>
            </a:r>
          </a:p>
          <a:p>
            <a:pPr marL="342900" indent="-342900">
              <a:buFont typeface="Wingdings" panose="05000000000000000000" pitchFamily="2" charset="2"/>
              <a:buChar char="§"/>
            </a:pPr>
            <a:r>
              <a:rPr lang="en-US" sz="2400" b="1" dirty="0">
                <a:solidFill>
                  <a:schemeClr val="accent6">
                    <a:lumMod val="50000"/>
                  </a:schemeClr>
                </a:solidFill>
              </a:rPr>
              <a:t>Distinguish right from wrong</a:t>
            </a:r>
          </a:p>
          <a:p>
            <a:pPr marL="342900" indent="-342900">
              <a:buFont typeface="Wingdings" panose="05000000000000000000" pitchFamily="2" charset="2"/>
              <a:buChar char="§"/>
            </a:pPr>
            <a:r>
              <a:rPr lang="en-US" sz="2400" b="1" dirty="0">
                <a:solidFill>
                  <a:schemeClr val="accent6">
                    <a:lumMod val="50000"/>
                  </a:schemeClr>
                </a:solidFill>
              </a:rPr>
              <a:t>Promote social harmony</a:t>
            </a:r>
          </a:p>
          <a:p>
            <a:endParaRPr lang="en-US" sz="2400" b="1" dirty="0"/>
          </a:p>
          <a:p>
            <a:endParaRPr lang="en-US" sz="2400" b="1" dirty="0"/>
          </a:p>
          <a:p>
            <a:endParaRPr lang="en-US" sz="2400" b="1" dirty="0"/>
          </a:p>
          <a:p>
            <a:endParaRPr lang="en-US" sz="2400" b="1" dirty="0"/>
          </a:p>
          <a:p>
            <a:r>
              <a:rPr lang="en-US" sz="2600" b="1" u="sng" dirty="0">
                <a:solidFill>
                  <a:schemeClr val="accent2">
                    <a:lumMod val="50000"/>
                  </a:schemeClr>
                </a:solidFill>
                <a:latin typeface="Arial Black" panose="020B0A04020102020204" pitchFamily="34" charset="0"/>
              </a:rPr>
              <a:t>Moral Responsibility</a:t>
            </a:r>
          </a:p>
          <a:p>
            <a:r>
              <a:rPr lang="en-US" sz="2400" b="1" dirty="0"/>
              <a:t>An individual is morally responsible when:</a:t>
            </a:r>
          </a:p>
          <a:p>
            <a:pPr marL="342900" indent="-342900">
              <a:buFont typeface="Wingdings" panose="05000000000000000000" pitchFamily="2" charset="2"/>
              <a:buChar char="§"/>
            </a:pPr>
            <a:r>
              <a:rPr lang="en-US" sz="2400" b="1" dirty="0">
                <a:solidFill>
                  <a:schemeClr val="accent6">
                    <a:lumMod val="50000"/>
                  </a:schemeClr>
                </a:solidFill>
              </a:rPr>
              <a:t>Action is voluntary</a:t>
            </a:r>
          </a:p>
          <a:p>
            <a:pPr marL="342900" indent="-342900">
              <a:buFont typeface="Wingdings" panose="05000000000000000000" pitchFamily="2" charset="2"/>
              <a:buChar char="§"/>
            </a:pPr>
            <a:r>
              <a:rPr lang="en-US" sz="2400" b="1" dirty="0">
                <a:solidFill>
                  <a:schemeClr val="accent6">
                    <a:lumMod val="50000"/>
                  </a:schemeClr>
                </a:solidFill>
              </a:rPr>
              <a:t>Person understands consequences</a:t>
            </a:r>
          </a:p>
          <a:p>
            <a:endParaRPr lang="en-US" dirty="0"/>
          </a:p>
          <a:p>
            <a:endParaRPr lang="en-US" dirty="0"/>
          </a:p>
        </p:txBody>
      </p:sp>
      <p:sp>
        <p:nvSpPr>
          <p:cNvPr id="3" name="TextBox 2">
            <a:extLst>
              <a:ext uri="{FF2B5EF4-FFF2-40B4-BE49-F238E27FC236}">
                <a16:creationId xmlns:a16="http://schemas.microsoft.com/office/drawing/2014/main" id="{AD8FFC7F-B4E0-BA9F-DC57-A5E8B1CAE52B}"/>
              </a:ext>
            </a:extLst>
          </p:cNvPr>
          <p:cNvSpPr txBox="1"/>
          <p:nvPr/>
        </p:nvSpPr>
        <p:spPr>
          <a:xfrm>
            <a:off x="7408068" y="1028700"/>
            <a:ext cx="3764757" cy="2246769"/>
          </a:xfrm>
          <a:prstGeom prst="rect">
            <a:avLst/>
          </a:prstGeom>
          <a:noFill/>
        </p:spPr>
        <p:txBody>
          <a:bodyPr wrap="square" rtlCol="0">
            <a:spAutoFit/>
          </a:bodyPr>
          <a:lstStyle/>
          <a:p>
            <a:r>
              <a:rPr lang="en-US" sz="2600" b="1" u="sng" dirty="0">
                <a:solidFill>
                  <a:schemeClr val="accent2">
                    <a:lumMod val="50000"/>
                  </a:schemeClr>
                </a:solidFill>
                <a:latin typeface="Arial Black" panose="020B0A04020102020204" pitchFamily="34" charset="0"/>
              </a:rPr>
              <a:t>Characteristics</a:t>
            </a:r>
          </a:p>
          <a:p>
            <a:pPr marL="342900" indent="-342900">
              <a:buFont typeface="Wingdings" panose="05000000000000000000" pitchFamily="2" charset="2"/>
              <a:buChar char="§"/>
            </a:pPr>
            <a:r>
              <a:rPr lang="en-US" sz="2400" b="1" dirty="0">
                <a:solidFill>
                  <a:schemeClr val="accent6">
                    <a:lumMod val="50000"/>
                  </a:schemeClr>
                </a:solidFill>
              </a:rPr>
              <a:t>Personal in nature</a:t>
            </a:r>
          </a:p>
          <a:p>
            <a:pPr marL="342900" indent="-342900">
              <a:buFont typeface="Wingdings" panose="05000000000000000000" pitchFamily="2" charset="2"/>
              <a:buChar char="§"/>
            </a:pPr>
            <a:r>
              <a:rPr lang="en-US" sz="2400" b="1" dirty="0">
                <a:solidFill>
                  <a:schemeClr val="accent6">
                    <a:lumMod val="50000"/>
                  </a:schemeClr>
                </a:solidFill>
              </a:rPr>
              <a:t>Emotion-based</a:t>
            </a:r>
          </a:p>
          <a:p>
            <a:pPr marL="342900" indent="-342900">
              <a:buFont typeface="Wingdings" panose="05000000000000000000" pitchFamily="2" charset="2"/>
              <a:buChar char="§"/>
            </a:pPr>
            <a:r>
              <a:rPr lang="en-US" sz="2400" b="1" dirty="0">
                <a:solidFill>
                  <a:schemeClr val="accent6">
                    <a:lumMod val="50000"/>
                  </a:schemeClr>
                </a:solidFill>
              </a:rPr>
              <a:t>Learned from early life</a:t>
            </a:r>
          </a:p>
          <a:p>
            <a:pPr marL="342900" indent="-342900">
              <a:buFont typeface="Wingdings" panose="05000000000000000000" pitchFamily="2" charset="2"/>
              <a:buChar char="§"/>
            </a:pPr>
            <a:r>
              <a:rPr lang="en-US" sz="2400" b="1" dirty="0">
                <a:solidFill>
                  <a:schemeClr val="accent6">
                    <a:lumMod val="50000"/>
                  </a:schemeClr>
                </a:solidFill>
              </a:rPr>
              <a:t>Can change over time</a:t>
            </a:r>
          </a:p>
          <a:p>
            <a:endParaRPr lang="en-US" dirty="0"/>
          </a:p>
        </p:txBody>
      </p:sp>
      <p:sp>
        <p:nvSpPr>
          <p:cNvPr id="5" name="TextBox 4">
            <a:extLst>
              <a:ext uri="{FF2B5EF4-FFF2-40B4-BE49-F238E27FC236}">
                <a16:creationId xmlns:a16="http://schemas.microsoft.com/office/drawing/2014/main" id="{924BC874-6648-9CC6-D744-5E80B2C8D3BB}"/>
              </a:ext>
            </a:extLst>
          </p:cNvPr>
          <p:cNvSpPr txBox="1"/>
          <p:nvPr/>
        </p:nvSpPr>
        <p:spPr>
          <a:xfrm>
            <a:off x="7586661" y="3763506"/>
            <a:ext cx="3407569" cy="2616101"/>
          </a:xfrm>
          <a:prstGeom prst="rect">
            <a:avLst/>
          </a:prstGeom>
          <a:noFill/>
        </p:spPr>
        <p:txBody>
          <a:bodyPr wrap="square" rtlCol="0">
            <a:spAutoFit/>
          </a:bodyPr>
          <a:lstStyle/>
          <a:p>
            <a:endParaRPr lang="en-US" sz="2400" b="1" dirty="0"/>
          </a:p>
          <a:p>
            <a:r>
              <a:rPr lang="en-US" sz="2600" b="1" u="sng" dirty="0">
                <a:solidFill>
                  <a:schemeClr val="accent2">
                    <a:lumMod val="50000"/>
                  </a:schemeClr>
                </a:solidFill>
                <a:latin typeface="Arial Black" panose="020B0A04020102020204" pitchFamily="34" charset="0"/>
              </a:rPr>
              <a:t>Nature of Morals</a:t>
            </a:r>
          </a:p>
          <a:p>
            <a:pPr marL="342900" indent="-342900">
              <a:buFont typeface="Wingdings" panose="05000000000000000000" pitchFamily="2" charset="2"/>
              <a:buChar char="§"/>
            </a:pPr>
            <a:r>
              <a:rPr lang="en-US" sz="2400" b="1" dirty="0">
                <a:solidFill>
                  <a:schemeClr val="accent6">
                    <a:lumMod val="50000"/>
                  </a:schemeClr>
                </a:solidFill>
              </a:rPr>
              <a:t>Subjective in nature</a:t>
            </a:r>
          </a:p>
          <a:p>
            <a:pPr marL="342900" indent="-342900">
              <a:buFont typeface="Wingdings" panose="05000000000000000000" pitchFamily="2" charset="2"/>
              <a:buChar char="§"/>
            </a:pPr>
            <a:r>
              <a:rPr lang="en-US" sz="2400" b="1" dirty="0">
                <a:solidFill>
                  <a:schemeClr val="accent6">
                    <a:lumMod val="50000"/>
                  </a:schemeClr>
                </a:solidFill>
              </a:rPr>
              <a:t>Emotion-based</a:t>
            </a:r>
          </a:p>
          <a:p>
            <a:pPr marL="342900" indent="-342900">
              <a:buFont typeface="Wingdings" panose="05000000000000000000" pitchFamily="2" charset="2"/>
              <a:buChar char="§"/>
            </a:pPr>
            <a:r>
              <a:rPr lang="en-US" sz="2400" b="1" dirty="0">
                <a:solidFill>
                  <a:schemeClr val="accent6">
                    <a:lumMod val="50000"/>
                  </a:schemeClr>
                </a:solidFill>
              </a:rPr>
              <a:t>Informal rules</a:t>
            </a:r>
          </a:p>
          <a:p>
            <a:pPr marL="342900" indent="-342900">
              <a:buFont typeface="Wingdings" panose="05000000000000000000" pitchFamily="2" charset="2"/>
              <a:buChar char="§"/>
            </a:pPr>
            <a:r>
              <a:rPr lang="en-US" sz="2400" b="1" dirty="0">
                <a:solidFill>
                  <a:schemeClr val="accent6">
                    <a:lumMod val="50000"/>
                  </a:schemeClr>
                </a:solidFill>
              </a:rPr>
              <a:t>Learned from society</a:t>
            </a:r>
          </a:p>
          <a:p>
            <a:endParaRPr lang="en-US" dirty="0"/>
          </a:p>
        </p:txBody>
      </p:sp>
    </p:spTree>
    <p:extLst>
      <p:ext uri="{BB962C8B-B14F-4D97-AF65-F5344CB8AC3E}">
        <p14:creationId xmlns:p14="http://schemas.microsoft.com/office/powerpoint/2010/main" val="3949164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C79F821-2DBF-61E7-716C-97C48307C971}"/>
              </a:ext>
            </a:extLst>
          </p:cNvPr>
          <p:cNvSpPr>
            <a:spLocks noGrp="1"/>
          </p:cNvSpPr>
          <p:nvPr>
            <p:ph idx="1"/>
          </p:nvPr>
        </p:nvSpPr>
        <p:spPr>
          <a:xfrm>
            <a:off x="838200" y="542925"/>
            <a:ext cx="10515600" cy="5957888"/>
          </a:xfrm>
        </p:spPr>
        <p:txBody>
          <a:bodyPr>
            <a:normAutofit/>
          </a:bodyPr>
          <a:lstStyle/>
          <a:p>
            <a:endParaRPr lang="en-US" dirty="0"/>
          </a:p>
          <a:p>
            <a:pPr marL="0" indent="0">
              <a:buNone/>
            </a:pPr>
            <a:endParaRPr lang="en-US" b="1" dirty="0"/>
          </a:p>
        </p:txBody>
      </p:sp>
      <p:sp>
        <p:nvSpPr>
          <p:cNvPr id="5" name="TextBox 4">
            <a:extLst>
              <a:ext uri="{FF2B5EF4-FFF2-40B4-BE49-F238E27FC236}">
                <a16:creationId xmlns:a16="http://schemas.microsoft.com/office/drawing/2014/main" id="{A4F8A1E5-03A9-91B7-F7F6-A7C6253E395C}"/>
              </a:ext>
            </a:extLst>
          </p:cNvPr>
          <p:cNvSpPr txBox="1"/>
          <p:nvPr/>
        </p:nvSpPr>
        <p:spPr>
          <a:xfrm>
            <a:off x="721518" y="1397674"/>
            <a:ext cx="10748963" cy="4401205"/>
          </a:xfrm>
          <a:prstGeom prst="rect">
            <a:avLst/>
          </a:prstGeom>
          <a:noFill/>
        </p:spPr>
        <p:txBody>
          <a:bodyPr wrap="square">
            <a:spAutoFit/>
          </a:bodyPr>
          <a:lstStyle/>
          <a:p>
            <a:pPr marL="0" indent="0">
              <a:buNone/>
            </a:pPr>
            <a:r>
              <a:rPr lang="en-US" sz="2400" b="1" u="sng" dirty="0">
                <a:solidFill>
                  <a:schemeClr val="accent2">
                    <a:lumMod val="50000"/>
                  </a:schemeClr>
                </a:solidFill>
                <a:latin typeface="Arial Black" panose="020B0A04020102020204" pitchFamily="34" charset="0"/>
              </a:rPr>
              <a:t>Importance</a:t>
            </a:r>
          </a:p>
          <a:p>
            <a:pPr marL="342900" indent="-342900">
              <a:buFont typeface="Wingdings" panose="05000000000000000000" pitchFamily="2" charset="2"/>
              <a:buChar char="§"/>
            </a:pPr>
            <a:r>
              <a:rPr lang="en-US" sz="2400" b="1" dirty="0">
                <a:solidFill>
                  <a:schemeClr val="accent6">
                    <a:lumMod val="50000"/>
                  </a:schemeClr>
                </a:solidFill>
              </a:rPr>
              <a:t>Shapes character</a:t>
            </a:r>
          </a:p>
          <a:p>
            <a:pPr marL="342900" indent="-342900">
              <a:buFont typeface="Wingdings" panose="05000000000000000000" pitchFamily="2" charset="2"/>
              <a:buChar char="§"/>
            </a:pPr>
            <a:r>
              <a:rPr lang="en-US" sz="2400" b="1" dirty="0">
                <a:solidFill>
                  <a:schemeClr val="accent6">
                    <a:lumMod val="50000"/>
                  </a:schemeClr>
                </a:solidFill>
              </a:rPr>
              <a:t>Influences daily decisions</a:t>
            </a:r>
          </a:p>
          <a:p>
            <a:pPr marL="342900" indent="-342900">
              <a:buFont typeface="Wingdings" panose="05000000000000000000" pitchFamily="2" charset="2"/>
              <a:buChar char="§"/>
            </a:pPr>
            <a:r>
              <a:rPr lang="en-US" sz="2400" b="1" dirty="0">
                <a:solidFill>
                  <a:schemeClr val="accent6">
                    <a:lumMod val="50000"/>
                  </a:schemeClr>
                </a:solidFill>
              </a:rPr>
              <a:t>Forms the base of ethics</a:t>
            </a:r>
          </a:p>
          <a:p>
            <a:pPr marL="0" indent="0" algn="just">
              <a:buNone/>
            </a:pPr>
            <a:endParaRPr lang="en-US" sz="2400" b="1" dirty="0"/>
          </a:p>
          <a:p>
            <a:pPr marL="0" indent="0" algn="just">
              <a:buNone/>
            </a:pPr>
            <a:r>
              <a:rPr lang="en-US" sz="2400" b="1" u="sng" dirty="0">
                <a:solidFill>
                  <a:schemeClr val="accent4">
                    <a:lumMod val="50000"/>
                  </a:schemeClr>
                </a:solidFill>
              </a:rPr>
              <a:t>For Example: </a:t>
            </a:r>
            <a:r>
              <a:rPr lang="en-US" sz="2400" b="1" dirty="0"/>
              <a:t>If a student finds a lost mobile phone and returns it → moral action.</a:t>
            </a:r>
          </a:p>
          <a:p>
            <a:pPr marL="0" indent="0" algn="just">
              <a:buNone/>
            </a:pPr>
            <a:endParaRPr lang="en-US" sz="2400" dirty="0"/>
          </a:p>
          <a:p>
            <a:pPr algn="just"/>
            <a:r>
              <a:rPr lang="en-US" sz="2400" b="1" dirty="0">
                <a:solidFill>
                  <a:schemeClr val="accent6">
                    <a:lumMod val="50000"/>
                  </a:schemeClr>
                </a:solidFill>
              </a:rPr>
              <a:t>Moral Courage: </a:t>
            </a:r>
            <a:r>
              <a:rPr lang="en-US" sz="2200" b="1" dirty="0"/>
              <a:t>Ability to stand for what is right despite pressure.</a:t>
            </a:r>
          </a:p>
          <a:p>
            <a:pPr algn="just"/>
            <a:endParaRPr lang="en-US" sz="2400" b="1" dirty="0">
              <a:solidFill>
                <a:schemeClr val="accent6">
                  <a:lumMod val="50000"/>
                </a:schemeClr>
              </a:solidFill>
            </a:endParaRPr>
          </a:p>
          <a:p>
            <a:pPr algn="just"/>
            <a:r>
              <a:rPr lang="en-US" sz="2400" b="1" dirty="0">
                <a:solidFill>
                  <a:schemeClr val="accent6">
                    <a:lumMod val="50000"/>
                  </a:schemeClr>
                </a:solidFill>
              </a:rPr>
              <a:t>Example:</a:t>
            </a:r>
            <a:r>
              <a:rPr lang="en-US" sz="2400" b="1" dirty="0"/>
              <a:t> </a:t>
            </a:r>
            <a:r>
              <a:rPr lang="en-US" sz="2200" b="1" dirty="0"/>
              <a:t>An engineer refuses to approve unsafe material despite pressure from management.</a:t>
            </a:r>
          </a:p>
          <a:p>
            <a:pPr marL="0" indent="0" algn="just">
              <a:buNone/>
            </a:pPr>
            <a:endParaRPr lang="en-US" sz="1800" dirty="0"/>
          </a:p>
        </p:txBody>
      </p:sp>
    </p:spTree>
    <p:extLst>
      <p:ext uri="{BB962C8B-B14F-4D97-AF65-F5344CB8AC3E}">
        <p14:creationId xmlns:p14="http://schemas.microsoft.com/office/powerpoint/2010/main" val="15931320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79675A-96E2-9B61-4756-3F05FDE8D56C}"/>
              </a:ext>
            </a:extLst>
          </p:cNvPr>
          <p:cNvSpPr>
            <a:spLocks noGrp="1"/>
          </p:cNvSpPr>
          <p:nvPr>
            <p:ph type="title"/>
          </p:nvPr>
        </p:nvSpPr>
        <p:spPr>
          <a:xfrm>
            <a:off x="838200" y="365126"/>
            <a:ext cx="10515600" cy="534988"/>
          </a:xfrm>
        </p:spPr>
        <p:txBody>
          <a:bodyPr>
            <a:normAutofit fontScale="90000"/>
          </a:bodyPr>
          <a:lstStyle/>
          <a:p>
            <a:pPr algn="ctr"/>
            <a:r>
              <a:rPr lang="en-US" b="1" dirty="0">
                <a:solidFill>
                  <a:srgbClr val="FF0000"/>
                </a:solidFill>
                <a:latin typeface="Arial Black" panose="020B0A04020102020204" pitchFamily="34" charset="0"/>
              </a:rPr>
              <a:t>ETHICS</a:t>
            </a:r>
          </a:p>
        </p:txBody>
      </p:sp>
      <p:sp>
        <p:nvSpPr>
          <p:cNvPr id="3" name="Content Placeholder 2">
            <a:extLst>
              <a:ext uri="{FF2B5EF4-FFF2-40B4-BE49-F238E27FC236}">
                <a16:creationId xmlns:a16="http://schemas.microsoft.com/office/drawing/2014/main" id="{4565E9A9-116D-66A9-59B3-53F9B784042B}"/>
              </a:ext>
            </a:extLst>
          </p:cNvPr>
          <p:cNvSpPr>
            <a:spLocks noGrp="1"/>
          </p:cNvSpPr>
          <p:nvPr>
            <p:ph idx="1"/>
          </p:nvPr>
        </p:nvSpPr>
        <p:spPr>
          <a:xfrm>
            <a:off x="838200" y="1506537"/>
            <a:ext cx="10515600" cy="4986337"/>
          </a:xfrm>
        </p:spPr>
        <p:txBody>
          <a:bodyPr>
            <a:normAutofit/>
          </a:bodyPr>
          <a:lstStyle/>
          <a:p>
            <a:pPr algn="just">
              <a:buFont typeface="Wingdings" panose="05000000000000000000" pitchFamily="2" charset="2"/>
              <a:buChar char="§"/>
            </a:pPr>
            <a:r>
              <a:rPr lang="en-US" b="1" dirty="0">
                <a:solidFill>
                  <a:schemeClr val="accent2">
                    <a:lumMod val="50000"/>
                  </a:schemeClr>
                </a:solidFill>
              </a:rPr>
              <a:t>Ethics is the systematic study of morals and moral behavior.</a:t>
            </a:r>
          </a:p>
          <a:p>
            <a:pPr algn="just">
              <a:buFont typeface="Wingdings" panose="05000000000000000000" pitchFamily="2" charset="2"/>
              <a:buChar char="§"/>
            </a:pPr>
            <a:r>
              <a:rPr lang="en-US" b="1" dirty="0">
                <a:solidFill>
                  <a:schemeClr val="accent2">
                    <a:lumMod val="50000"/>
                  </a:schemeClr>
                </a:solidFill>
              </a:rPr>
              <a:t>Ethics is a branch of philosophy that deals with principles of right and wrong.</a:t>
            </a:r>
          </a:p>
          <a:p>
            <a:pPr marL="0" indent="0">
              <a:buNone/>
            </a:pPr>
            <a:endParaRPr lang="en-US" b="1" dirty="0"/>
          </a:p>
          <a:p>
            <a:pPr marL="0" indent="0">
              <a:buNone/>
            </a:pPr>
            <a:r>
              <a:rPr lang="en-US" sz="2400" b="1" u="sng" dirty="0">
                <a:solidFill>
                  <a:schemeClr val="accent4">
                    <a:lumMod val="50000"/>
                  </a:schemeClr>
                </a:solidFill>
                <a:latin typeface="Arial Black" panose="020B0A04020102020204" pitchFamily="34" charset="0"/>
              </a:rPr>
              <a:t>Nature of Ethics</a:t>
            </a:r>
          </a:p>
          <a:p>
            <a:pPr>
              <a:lnSpc>
                <a:spcPct val="100000"/>
              </a:lnSpc>
              <a:buFont typeface="Wingdings" panose="05000000000000000000" pitchFamily="2" charset="2"/>
              <a:buChar char="§"/>
            </a:pPr>
            <a:r>
              <a:rPr lang="en-US" sz="2400" dirty="0">
                <a:solidFill>
                  <a:schemeClr val="accent6">
                    <a:lumMod val="50000"/>
                  </a:schemeClr>
                </a:solidFill>
                <a:latin typeface="Arial Black" panose="020B0A04020102020204" pitchFamily="34" charset="0"/>
              </a:rPr>
              <a:t>Rational</a:t>
            </a:r>
          </a:p>
          <a:p>
            <a:pPr>
              <a:lnSpc>
                <a:spcPct val="100000"/>
              </a:lnSpc>
              <a:buFont typeface="Wingdings" panose="05000000000000000000" pitchFamily="2" charset="2"/>
              <a:buChar char="§"/>
            </a:pPr>
            <a:r>
              <a:rPr lang="en-US" sz="2400" dirty="0">
                <a:solidFill>
                  <a:schemeClr val="accent6">
                    <a:lumMod val="50000"/>
                  </a:schemeClr>
                </a:solidFill>
                <a:latin typeface="Arial Black" panose="020B0A04020102020204" pitchFamily="34" charset="0"/>
              </a:rPr>
              <a:t>Logical</a:t>
            </a:r>
          </a:p>
          <a:p>
            <a:pPr>
              <a:lnSpc>
                <a:spcPct val="100000"/>
              </a:lnSpc>
              <a:buFont typeface="Wingdings" panose="05000000000000000000" pitchFamily="2" charset="2"/>
              <a:buChar char="§"/>
            </a:pPr>
            <a:r>
              <a:rPr lang="en-US" sz="2400" dirty="0">
                <a:solidFill>
                  <a:schemeClr val="accent6">
                    <a:lumMod val="50000"/>
                  </a:schemeClr>
                </a:solidFill>
                <a:latin typeface="Arial Black" panose="020B0A04020102020204" pitchFamily="34" charset="0"/>
              </a:rPr>
              <a:t>Systematic</a:t>
            </a:r>
          </a:p>
          <a:p>
            <a:pPr>
              <a:lnSpc>
                <a:spcPct val="100000"/>
              </a:lnSpc>
              <a:buFont typeface="Wingdings" panose="05000000000000000000" pitchFamily="2" charset="2"/>
              <a:buChar char="§"/>
            </a:pPr>
            <a:r>
              <a:rPr lang="en-US" sz="2400" dirty="0">
                <a:solidFill>
                  <a:schemeClr val="accent6">
                    <a:lumMod val="50000"/>
                  </a:schemeClr>
                </a:solidFill>
                <a:latin typeface="Arial Black" panose="020B0A04020102020204" pitchFamily="34" charset="0"/>
              </a:rPr>
              <a:t>Concerned with human conduct</a:t>
            </a:r>
          </a:p>
          <a:p>
            <a:pPr marL="0" indent="0">
              <a:buNone/>
            </a:pPr>
            <a:endParaRPr lang="en-US" b="1" dirty="0"/>
          </a:p>
          <a:p>
            <a:pPr marL="0" indent="0">
              <a:buNone/>
            </a:pPr>
            <a:endParaRPr lang="en-US" dirty="0"/>
          </a:p>
        </p:txBody>
      </p:sp>
    </p:spTree>
    <p:extLst>
      <p:ext uri="{BB962C8B-B14F-4D97-AF65-F5344CB8AC3E}">
        <p14:creationId xmlns:p14="http://schemas.microsoft.com/office/powerpoint/2010/main" val="6477662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6147F59-00B2-20C0-1399-A54D45B20693}"/>
              </a:ext>
            </a:extLst>
          </p:cNvPr>
          <p:cNvSpPr txBox="1"/>
          <p:nvPr/>
        </p:nvSpPr>
        <p:spPr>
          <a:xfrm>
            <a:off x="742950" y="14288"/>
            <a:ext cx="10958513" cy="6863417"/>
          </a:xfrm>
          <a:prstGeom prst="rect">
            <a:avLst/>
          </a:prstGeom>
          <a:noFill/>
        </p:spPr>
        <p:txBody>
          <a:bodyPr wrap="square" rtlCol="0">
            <a:spAutoFit/>
          </a:bodyPr>
          <a:lstStyle/>
          <a:p>
            <a:r>
              <a:rPr lang="en-US" sz="2400" b="1" u="sng" dirty="0">
                <a:solidFill>
                  <a:srgbClr val="FF0000"/>
                </a:solidFill>
                <a:latin typeface="Arial Black" panose="020B0A04020102020204" pitchFamily="34" charset="0"/>
              </a:rPr>
              <a:t>Types of Ethics</a:t>
            </a:r>
          </a:p>
          <a:p>
            <a:pPr marL="342900" indent="-342900">
              <a:buFont typeface="Wingdings" panose="05000000000000000000" pitchFamily="2" charset="2"/>
              <a:buChar char="§"/>
            </a:pPr>
            <a:r>
              <a:rPr lang="en-US" sz="2200" b="1" dirty="0"/>
              <a:t>Personal ethics</a:t>
            </a:r>
          </a:p>
          <a:p>
            <a:pPr marL="342900" indent="-342900">
              <a:buFont typeface="Wingdings" panose="05000000000000000000" pitchFamily="2" charset="2"/>
              <a:buChar char="§"/>
            </a:pPr>
            <a:r>
              <a:rPr lang="en-US" sz="2200" b="1" dirty="0"/>
              <a:t>Professional ethics</a:t>
            </a:r>
          </a:p>
          <a:p>
            <a:pPr marL="342900" indent="-342900">
              <a:buFont typeface="Wingdings" panose="05000000000000000000" pitchFamily="2" charset="2"/>
              <a:buChar char="§"/>
            </a:pPr>
            <a:r>
              <a:rPr lang="en-US" sz="2200" b="1" dirty="0"/>
              <a:t>Business ethics</a:t>
            </a:r>
          </a:p>
          <a:p>
            <a:pPr marL="342900" indent="-342900">
              <a:buFont typeface="Wingdings" panose="05000000000000000000" pitchFamily="2" charset="2"/>
              <a:buChar char="§"/>
            </a:pPr>
            <a:r>
              <a:rPr lang="en-US" sz="2200" b="1" dirty="0"/>
              <a:t>Engineering ethics</a:t>
            </a:r>
          </a:p>
          <a:p>
            <a:pPr marL="342900" indent="-342900">
              <a:buFont typeface="Wingdings" panose="05000000000000000000" pitchFamily="2" charset="2"/>
              <a:buChar char="§"/>
            </a:pPr>
            <a:r>
              <a:rPr lang="en-US" sz="2200" b="1" dirty="0"/>
              <a:t>Environmental ethics</a:t>
            </a:r>
          </a:p>
          <a:p>
            <a:endParaRPr lang="en-US" sz="2400" b="1" u="sng" dirty="0">
              <a:solidFill>
                <a:srgbClr val="FF0000"/>
              </a:solidFill>
            </a:endParaRPr>
          </a:p>
          <a:p>
            <a:r>
              <a:rPr lang="en-US" sz="2400" b="1" u="sng" dirty="0">
                <a:solidFill>
                  <a:srgbClr val="FF0000"/>
                </a:solidFill>
                <a:latin typeface="Arial Black" panose="020B0A04020102020204" pitchFamily="34" charset="0"/>
              </a:rPr>
              <a:t>Branches of Ethics</a:t>
            </a:r>
          </a:p>
          <a:p>
            <a:pPr marL="285750" indent="-285750">
              <a:buFont typeface="Wingdings" panose="05000000000000000000" pitchFamily="2" charset="2"/>
              <a:buChar char="§"/>
            </a:pPr>
            <a:r>
              <a:rPr lang="en-US" sz="2400" b="1" dirty="0">
                <a:solidFill>
                  <a:schemeClr val="accent2">
                    <a:lumMod val="50000"/>
                  </a:schemeClr>
                </a:solidFill>
              </a:rPr>
              <a:t>Meta-Ethics:</a:t>
            </a:r>
            <a:r>
              <a:rPr lang="en-US" sz="2400" b="1" dirty="0"/>
              <a:t> </a:t>
            </a:r>
            <a:r>
              <a:rPr lang="en-US" sz="2400" b="1" dirty="0">
                <a:solidFill>
                  <a:schemeClr val="accent6">
                    <a:lumMod val="50000"/>
                  </a:schemeClr>
                </a:solidFill>
              </a:rPr>
              <a:t>Meaning of moral terms</a:t>
            </a:r>
          </a:p>
          <a:p>
            <a:pPr marL="285750" indent="-285750">
              <a:buFont typeface="Wingdings" panose="05000000000000000000" pitchFamily="2" charset="2"/>
              <a:buChar char="§"/>
            </a:pPr>
            <a:r>
              <a:rPr lang="en-US" sz="2400" b="1" dirty="0">
                <a:solidFill>
                  <a:schemeClr val="accent2">
                    <a:lumMod val="50000"/>
                  </a:schemeClr>
                </a:solidFill>
              </a:rPr>
              <a:t>Normative Ethics: </a:t>
            </a:r>
            <a:r>
              <a:rPr lang="en-US" sz="2400" b="1" dirty="0">
                <a:solidFill>
                  <a:schemeClr val="accent6">
                    <a:lumMod val="50000"/>
                  </a:schemeClr>
                </a:solidFill>
              </a:rPr>
              <a:t>What we should do</a:t>
            </a:r>
          </a:p>
          <a:p>
            <a:pPr marL="285750" indent="-285750">
              <a:buFont typeface="Wingdings" panose="05000000000000000000" pitchFamily="2" charset="2"/>
              <a:buChar char="§"/>
            </a:pPr>
            <a:r>
              <a:rPr lang="en-US" sz="2400" b="1" dirty="0">
                <a:solidFill>
                  <a:schemeClr val="accent2">
                    <a:lumMod val="50000"/>
                  </a:schemeClr>
                </a:solidFill>
              </a:rPr>
              <a:t>Applied Ethics: </a:t>
            </a:r>
            <a:r>
              <a:rPr lang="en-US" sz="2400" b="1" dirty="0">
                <a:solidFill>
                  <a:schemeClr val="accent6">
                    <a:lumMod val="50000"/>
                  </a:schemeClr>
                </a:solidFill>
              </a:rPr>
              <a:t>Engineering ethics, medical ethics, business ethics</a:t>
            </a:r>
          </a:p>
          <a:p>
            <a:endParaRPr lang="en-US" sz="2400" dirty="0"/>
          </a:p>
          <a:p>
            <a:r>
              <a:rPr lang="en-US" sz="2400" b="1" u="sng" dirty="0">
                <a:solidFill>
                  <a:srgbClr val="FF0000"/>
                </a:solidFill>
                <a:latin typeface="Arial Black" panose="020B0A04020102020204" pitchFamily="34" charset="0"/>
              </a:rPr>
              <a:t>Importance</a:t>
            </a:r>
          </a:p>
          <a:p>
            <a:pPr marL="285750" indent="-285750">
              <a:buFont typeface="Wingdings" panose="05000000000000000000" pitchFamily="2" charset="2"/>
              <a:buChar char="§"/>
            </a:pPr>
            <a:r>
              <a:rPr lang="en-US" sz="2400" b="1" dirty="0">
                <a:solidFill>
                  <a:schemeClr val="accent6">
                    <a:lumMod val="50000"/>
                  </a:schemeClr>
                </a:solidFill>
              </a:rPr>
              <a:t>Helps resolve conflicts</a:t>
            </a:r>
          </a:p>
          <a:p>
            <a:pPr marL="285750" indent="-285750">
              <a:buFont typeface="Wingdings" panose="05000000000000000000" pitchFamily="2" charset="2"/>
              <a:buChar char="§"/>
            </a:pPr>
            <a:r>
              <a:rPr lang="en-US" sz="2400" b="1" dirty="0">
                <a:solidFill>
                  <a:schemeClr val="accent6">
                    <a:lumMod val="50000"/>
                  </a:schemeClr>
                </a:solidFill>
              </a:rPr>
              <a:t>Improves decision making</a:t>
            </a:r>
          </a:p>
          <a:p>
            <a:pPr marL="285750" indent="-285750">
              <a:buFont typeface="Wingdings" panose="05000000000000000000" pitchFamily="2" charset="2"/>
              <a:buChar char="§"/>
            </a:pPr>
            <a:r>
              <a:rPr lang="en-US" sz="2400" b="1" dirty="0">
                <a:solidFill>
                  <a:schemeClr val="accent6">
                    <a:lumMod val="50000"/>
                  </a:schemeClr>
                </a:solidFill>
              </a:rPr>
              <a:t>Builds responsible professionals</a:t>
            </a:r>
          </a:p>
          <a:p>
            <a:endParaRPr lang="en-US" sz="2400" b="1" dirty="0">
              <a:solidFill>
                <a:schemeClr val="accent6">
                  <a:lumMod val="50000"/>
                </a:schemeClr>
              </a:solidFill>
            </a:endParaRPr>
          </a:p>
          <a:p>
            <a:r>
              <a:rPr lang="en-US" sz="2400" b="1" dirty="0">
                <a:solidFill>
                  <a:schemeClr val="accent6">
                    <a:lumMod val="50000"/>
                  </a:schemeClr>
                </a:solidFill>
              </a:rPr>
              <a:t>Example:</a:t>
            </a:r>
            <a:r>
              <a:rPr lang="en-US" sz="2400" b="1" dirty="0"/>
              <a:t> </a:t>
            </a:r>
            <a:r>
              <a:rPr lang="en-US" sz="2200" b="1" dirty="0"/>
              <a:t>When someone using licensed software instead of pirated software.</a:t>
            </a:r>
          </a:p>
          <a:p>
            <a:endParaRPr lang="en-US" dirty="0"/>
          </a:p>
        </p:txBody>
      </p:sp>
      <p:sp>
        <p:nvSpPr>
          <p:cNvPr id="3" name="TextBox 2">
            <a:extLst>
              <a:ext uri="{FF2B5EF4-FFF2-40B4-BE49-F238E27FC236}">
                <a16:creationId xmlns:a16="http://schemas.microsoft.com/office/drawing/2014/main" id="{7EDF42BB-4ECE-6219-858A-70516843DF41}"/>
              </a:ext>
            </a:extLst>
          </p:cNvPr>
          <p:cNvSpPr txBox="1"/>
          <p:nvPr/>
        </p:nvSpPr>
        <p:spPr>
          <a:xfrm>
            <a:off x="7793832" y="185737"/>
            <a:ext cx="3907631" cy="1846659"/>
          </a:xfrm>
          <a:prstGeom prst="rect">
            <a:avLst/>
          </a:prstGeom>
          <a:noFill/>
        </p:spPr>
        <p:txBody>
          <a:bodyPr wrap="square" rtlCol="0">
            <a:spAutoFit/>
          </a:bodyPr>
          <a:lstStyle/>
          <a:p>
            <a:r>
              <a:rPr lang="en-US" sz="2400" b="1" u="sng" dirty="0">
                <a:solidFill>
                  <a:srgbClr val="FF0000"/>
                </a:solidFill>
                <a:latin typeface="Arial Black" panose="020B0A04020102020204" pitchFamily="34" charset="0"/>
              </a:rPr>
              <a:t>Scope of Ethics</a:t>
            </a:r>
          </a:p>
          <a:p>
            <a:pPr marL="285750" indent="-285750">
              <a:buFont typeface="Wingdings" panose="05000000000000000000" pitchFamily="2" charset="2"/>
              <a:buChar char="§"/>
            </a:pPr>
            <a:r>
              <a:rPr lang="en-US" sz="2400" b="1" dirty="0">
                <a:solidFill>
                  <a:schemeClr val="accent6">
                    <a:lumMod val="50000"/>
                  </a:schemeClr>
                </a:solidFill>
              </a:rPr>
              <a:t>Individual behavior</a:t>
            </a:r>
          </a:p>
          <a:p>
            <a:pPr marL="285750" indent="-285750">
              <a:buFont typeface="Wingdings" panose="05000000000000000000" pitchFamily="2" charset="2"/>
              <a:buChar char="§"/>
            </a:pPr>
            <a:r>
              <a:rPr lang="en-US" sz="2400" b="1" dirty="0">
                <a:solidFill>
                  <a:schemeClr val="accent6">
                    <a:lumMod val="50000"/>
                  </a:schemeClr>
                </a:solidFill>
              </a:rPr>
              <a:t>Social relationships</a:t>
            </a:r>
          </a:p>
          <a:p>
            <a:pPr marL="285750" indent="-285750">
              <a:buFont typeface="Wingdings" panose="05000000000000000000" pitchFamily="2" charset="2"/>
              <a:buChar char="§"/>
            </a:pPr>
            <a:r>
              <a:rPr lang="en-US" sz="2400" b="1" dirty="0">
                <a:solidFill>
                  <a:schemeClr val="accent6">
                    <a:lumMod val="50000"/>
                  </a:schemeClr>
                </a:solidFill>
              </a:rPr>
              <a:t>Professional conduct</a:t>
            </a:r>
          </a:p>
          <a:p>
            <a:endParaRPr lang="en-US" dirty="0"/>
          </a:p>
        </p:txBody>
      </p:sp>
    </p:spTree>
    <p:extLst>
      <p:ext uri="{BB962C8B-B14F-4D97-AF65-F5344CB8AC3E}">
        <p14:creationId xmlns:p14="http://schemas.microsoft.com/office/powerpoint/2010/main" val="19116029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5AAD865-E859-36C9-06A1-844B37046E92}"/>
              </a:ext>
            </a:extLst>
          </p:cNvPr>
          <p:cNvSpPr txBox="1"/>
          <p:nvPr/>
        </p:nvSpPr>
        <p:spPr>
          <a:xfrm>
            <a:off x="645319" y="305216"/>
            <a:ext cx="10901362" cy="3570208"/>
          </a:xfrm>
          <a:prstGeom prst="rect">
            <a:avLst/>
          </a:prstGeom>
          <a:noFill/>
        </p:spPr>
        <p:txBody>
          <a:bodyPr wrap="square" rtlCol="0">
            <a:spAutoFit/>
          </a:bodyPr>
          <a:lstStyle/>
          <a:p>
            <a:pPr marL="457200" indent="-457200">
              <a:buFont typeface="Wingdings" panose="05000000000000000000" pitchFamily="2" charset="2"/>
              <a:buChar char="§"/>
            </a:pPr>
            <a:r>
              <a:rPr lang="en-US" sz="2800" b="1" dirty="0">
                <a:solidFill>
                  <a:schemeClr val="accent6">
                    <a:lumMod val="50000"/>
                  </a:schemeClr>
                </a:solidFill>
              </a:rPr>
              <a:t>Morals shape character</a:t>
            </a:r>
          </a:p>
          <a:p>
            <a:pPr marL="457200" indent="-457200">
              <a:buFont typeface="Wingdings" panose="05000000000000000000" pitchFamily="2" charset="2"/>
              <a:buChar char="§"/>
            </a:pPr>
            <a:r>
              <a:rPr lang="en-US" sz="2800" b="1" dirty="0">
                <a:solidFill>
                  <a:schemeClr val="accent6">
                    <a:lumMod val="50000"/>
                  </a:schemeClr>
                </a:solidFill>
              </a:rPr>
              <a:t>Ethics shape conduct</a:t>
            </a:r>
          </a:p>
          <a:p>
            <a:endParaRPr lang="en-US" sz="2800" b="1" dirty="0">
              <a:solidFill>
                <a:srgbClr val="FF0000"/>
              </a:solidFill>
            </a:endParaRPr>
          </a:p>
          <a:p>
            <a:r>
              <a:rPr lang="en-US" sz="2800" b="1" u="sng" dirty="0">
                <a:solidFill>
                  <a:srgbClr val="FF0000"/>
                </a:solidFill>
              </a:rPr>
              <a:t>Importance of Ethics for Engineers:</a:t>
            </a:r>
          </a:p>
          <a:p>
            <a:pPr marL="457200" indent="-457200">
              <a:buFont typeface="Wingdings" panose="05000000000000000000" pitchFamily="2" charset="2"/>
              <a:buChar char="§"/>
            </a:pPr>
            <a:r>
              <a:rPr lang="en-US" sz="2400" b="1" dirty="0"/>
              <a:t>The engineering decisions always affect public safety</a:t>
            </a:r>
          </a:p>
          <a:p>
            <a:pPr marL="457200" indent="-457200">
              <a:buFont typeface="Wingdings" panose="05000000000000000000" pitchFamily="2" charset="2"/>
              <a:buChar char="§"/>
            </a:pPr>
            <a:r>
              <a:rPr lang="en-US" sz="2400" b="1" dirty="0"/>
              <a:t>It helps in prevent misuse of technology</a:t>
            </a:r>
          </a:p>
          <a:p>
            <a:pPr marL="457200" indent="-457200">
              <a:buFont typeface="Wingdings" panose="05000000000000000000" pitchFamily="2" charset="2"/>
              <a:buChar char="§"/>
            </a:pPr>
            <a:r>
              <a:rPr lang="en-US" sz="2400" b="1" dirty="0"/>
              <a:t>It maintains public trust</a:t>
            </a:r>
          </a:p>
          <a:p>
            <a:pPr marL="457200" indent="-457200">
              <a:buFont typeface="Wingdings" panose="05000000000000000000" pitchFamily="2" charset="2"/>
              <a:buChar char="§"/>
            </a:pPr>
            <a:r>
              <a:rPr lang="en-US" sz="2400" b="1" dirty="0"/>
              <a:t>Helps in improve professional reputation</a:t>
            </a:r>
          </a:p>
          <a:p>
            <a:endParaRPr lang="en-US" dirty="0"/>
          </a:p>
        </p:txBody>
      </p:sp>
      <p:pic>
        <p:nvPicPr>
          <p:cNvPr id="4" name="Picture 3">
            <a:extLst>
              <a:ext uri="{FF2B5EF4-FFF2-40B4-BE49-F238E27FC236}">
                <a16:creationId xmlns:a16="http://schemas.microsoft.com/office/drawing/2014/main" id="{D9D202A0-D04E-0D13-4E03-2447B229764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68098" y="3875424"/>
            <a:ext cx="7255803" cy="2982576"/>
          </a:xfrm>
          <a:prstGeom prst="rect">
            <a:avLst/>
          </a:prstGeom>
        </p:spPr>
      </p:pic>
    </p:spTree>
    <p:extLst>
      <p:ext uri="{BB962C8B-B14F-4D97-AF65-F5344CB8AC3E}">
        <p14:creationId xmlns:p14="http://schemas.microsoft.com/office/powerpoint/2010/main" val="19702127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AA19F1-4ECE-9ED0-88BA-7B0CD63D430E}"/>
              </a:ext>
            </a:extLst>
          </p:cNvPr>
          <p:cNvSpPr>
            <a:spLocks noGrp="1"/>
          </p:cNvSpPr>
          <p:nvPr>
            <p:ph type="title"/>
          </p:nvPr>
        </p:nvSpPr>
        <p:spPr>
          <a:xfrm>
            <a:off x="739775" y="668337"/>
            <a:ext cx="10515600" cy="549275"/>
          </a:xfrm>
        </p:spPr>
        <p:txBody>
          <a:bodyPr>
            <a:normAutofit fontScale="90000"/>
          </a:bodyPr>
          <a:lstStyle/>
          <a:p>
            <a:pPr algn="ctr"/>
            <a:r>
              <a:rPr lang="en-US" b="1" dirty="0">
                <a:solidFill>
                  <a:srgbClr val="FF0000"/>
                </a:solidFill>
                <a:latin typeface="Arial Black" panose="020B0A04020102020204" pitchFamily="34" charset="0"/>
              </a:rPr>
              <a:t>MORAL vs ETHICS</a:t>
            </a:r>
          </a:p>
        </p:txBody>
      </p:sp>
      <p:sp>
        <p:nvSpPr>
          <p:cNvPr id="3" name="Text Placeholder 2">
            <a:extLst>
              <a:ext uri="{FF2B5EF4-FFF2-40B4-BE49-F238E27FC236}">
                <a16:creationId xmlns:a16="http://schemas.microsoft.com/office/drawing/2014/main" id="{322C140C-4C25-9242-3EF4-AA8A1269374B}"/>
              </a:ext>
            </a:extLst>
          </p:cNvPr>
          <p:cNvSpPr>
            <a:spLocks noGrp="1"/>
          </p:cNvSpPr>
          <p:nvPr>
            <p:ph type="body" idx="1"/>
          </p:nvPr>
        </p:nvSpPr>
        <p:spPr/>
        <p:txBody>
          <a:bodyPr/>
          <a:lstStyle/>
          <a:p>
            <a:pPr algn="ctr"/>
            <a:r>
              <a:rPr lang="en-US" dirty="0">
                <a:latin typeface="Arial Black" panose="020B0A04020102020204" pitchFamily="34" charset="0"/>
              </a:rPr>
              <a:t>       </a:t>
            </a:r>
            <a:r>
              <a:rPr lang="en-US" dirty="0">
                <a:solidFill>
                  <a:schemeClr val="accent2">
                    <a:lumMod val="50000"/>
                  </a:schemeClr>
                </a:solidFill>
                <a:latin typeface="Arial Black" panose="020B0A04020102020204" pitchFamily="34" charset="0"/>
              </a:rPr>
              <a:t>Moral</a:t>
            </a:r>
          </a:p>
        </p:txBody>
      </p:sp>
      <p:sp>
        <p:nvSpPr>
          <p:cNvPr id="4" name="Content Placeholder 3">
            <a:extLst>
              <a:ext uri="{FF2B5EF4-FFF2-40B4-BE49-F238E27FC236}">
                <a16:creationId xmlns:a16="http://schemas.microsoft.com/office/drawing/2014/main" id="{78F51996-B75C-B7E4-B690-0EE5239E4B09}"/>
              </a:ext>
            </a:extLst>
          </p:cNvPr>
          <p:cNvSpPr>
            <a:spLocks noGrp="1"/>
          </p:cNvSpPr>
          <p:nvPr>
            <p:ph sz="half" idx="2"/>
          </p:nvPr>
        </p:nvSpPr>
        <p:spPr>
          <a:xfrm>
            <a:off x="1296988" y="2538412"/>
            <a:ext cx="4160837" cy="3684588"/>
          </a:xfrm>
        </p:spPr>
        <p:txBody>
          <a:bodyPr/>
          <a:lstStyle/>
          <a:p>
            <a:pPr>
              <a:buFont typeface="Wingdings" panose="05000000000000000000" pitchFamily="2" charset="2"/>
              <a:buChar char="§"/>
            </a:pPr>
            <a:endParaRPr lang="en-US" b="1" dirty="0">
              <a:solidFill>
                <a:schemeClr val="accent6">
                  <a:lumMod val="50000"/>
                </a:schemeClr>
              </a:solidFill>
            </a:endParaRPr>
          </a:p>
          <a:p>
            <a:pPr>
              <a:buFont typeface="Wingdings" panose="05000000000000000000" pitchFamily="2" charset="2"/>
              <a:buChar char="§"/>
            </a:pPr>
            <a:r>
              <a:rPr lang="en-US" b="1" dirty="0">
                <a:solidFill>
                  <a:schemeClr val="accent6">
                    <a:lumMod val="50000"/>
                  </a:schemeClr>
                </a:solidFill>
              </a:rPr>
              <a:t>Personal belief</a:t>
            </a:r>
          </a:p>
          <a:p>
            <a:pPr>
              <a:buFont typeface="Wingdings" panose="05000000000000000000" pitchFamily="2" charset="2"/>
              <a:buChar char="§"/>
            </a:pPr>
            <a:r>
              <a:rPr lang="en-US" b="1" dirty="0">
                <a:solidFill>
                  <a:schemeClr val="accent6">
                    <a:lumMod val="50000"/>
                  </a:schemeClr>
                </a:solidFill>
              </a:rPr>
              <a:t>Family, society</a:t>
            </a:r>
          </a:p>
          <a:p>
            <a:pPr>
              <a:buFont typeface="Wingdings" panose="05000000000000000000" pitchFamily="2" charset="2"/>
              <a:buChar char="§"/>
            </a:pPr>
            <a:r>
              <a:rPr lang="en-US" b="1" dirty="0">
                <a:solidFill>
                  <a:schemeClr val="accent6">
                    <a:lumMod val="50000"/>
                  </a:schemeClr>
                </a:solidFill>
              </a:rPr>
              <a:t>Individual</a:t>
            </a:r>
          </a:p>
          <a:p>
            <a:pPr>
              <a:buFont typeface="Wingdings" panose="05000000000000000000" pitchFamily="2" charset="2"/>
              <a:buChar char="§"/>
            </a:pPr>
            <a:r>
              <a:rPr lang="en-US" b="1" dirty="0">
                <a:solidFill>
                  <a:schemeClr val="accent6">
                    <a:lumMod val="50000"/>
                  </a:schemeClr>
                </a:solidFill>
              </a:rPr>
              <a:t>More flexible</a:t>
            </a:r>
          </a:p>
        </p:txBody>
      </p:sp>
      <p:sp>
        <p:nvSpPr>
          <p:cNvPr id="5" name="Text Placeholder 4">
            <a:extLst>
              <a:ext uri="{FF2B5EF4-FFF2-40B4-BE49-F238E27FC236}">
                <a16:creationId xmlns:a16="http://schemas.microsoft.com/office/drawing/2014/main" id="{1CB2F81F-C002-D3AD-C2E3-A2600FEB7A3D}"/>
              </a:ext>
            </a:extLst>
          </p:cNvPr>
          <p:cNvSpPr>
            <a:spLocks noGrp="1"/>
          </p:cNvSpPr>
          <p:nvPr>
            <p:ph type="body" sz="quarter" idx="3"/>
          </p:nvPr>
        </p:nvSpPr>
        <p:spPr/>
        <p:txBody>
          <a:bodyPr/>
          <a:lstStyle/>
          <a:p>
            <a:r>
              <a:rPr lang="en-US" dirty="0">
                <a:latin typeface="Arial Black" panose="020B0A04020102020204" pitchFamily="34" charset="0"/>
              </a:rPr>
              <a:t>      </a:t>
            </a:r>
            <a:r>
              <a:rPr lang="en-US" dirty="0">
                <a:solidFill>
                  <a:schemeClr val="accent2">
                    <a:lumMod val="50000"/>
                  </a:schemeClr>
                </a:solidFill>
                <a:latin typeface="Arial Black" panose="020B0A04020102020204" pitchFamily="34" charset="0"/>
              </a:rPr>
              <a:t>Ethics</a:t>
            </a:r>
          </a:p>
        </p:txBody>
      </p:sp>
      <p:sp>
        <p:nvSpPr>
          <p:cNvPr id="6" name="Content Placeholder 5">
            <a:extLst>
              <a:ext uri="{FF2B5EF4-FFF2-40B4-BE49-F238E27FC236}">
                <a16:creationId xmlns:a16="http://schemas.microsoft.com/office/drawing/2014/main" id="{FFD5262E-439F-BE89-B53F-A9A8EDCDF986}"/>
              </a:ext>
            </a:extLst>
          </p:cNvPr>
          <p:cNvSpPr>
            <a:spLocks noGrp="1"/>
          </p:cNvSpPr>
          <p:nvPr>
            <p:ph sz="quarter" idx="4"/>
          </p:nvPr>
        </p:nvSpPr>
        <p:spPr>
          <a:xfrm>
            <a:off x="6532563" y="2571749"/>
            <a:ext cx="4722812" cy="3684588"/>
          </a:xfrm>
        </p:spPr>
        <p:txBody>
          <a:bodyPr/>
          <a:lstStyle/>
          <a:p>
            <a:pPr>
              <a:buFont typeface="Wingdings" panose="05000000000000000000" pitchFamily="2" charset="2"/>
              <a:buChar char="§"/>
            </a:pPr>
            <a:endParaRPr lang="en-US" b="1" dirty="0">
              <a:solidFill>
                <a:schemeClr val="accent6">
                  <a:lumMod val="50000"/>
                </a:schemeClr>
              </a:solidFill>
            </a:endParaRPr>
          </a:p>
          <a:p>
            <a:pPr>
              <a:buFont typeface="Wingdings" panose="05000000000000000000" pitchFamily="2" charset="2"/>
              <a:buChar char="§"/>
            </a:pPr>
            <a:r>
              <a:rPr lang="en-US" b="1" dirty="0">
                <a:solidFill>
                  <a:schemeClr val="accent6">
                    <a:lumMod val="50000"/>
                  </a:schemeClr>
                </a:solidFill>
              </a:rPr>
              <a:t>Philosophical study</a:t>
            </a:r>
          </a:p>
          <a:p>
            <a:pPr>
              <a:buFont typeface="Wingdings" panose="05000000000000000000" pitchFamily="2" charset="2"/>
              <a:buChar char="§"/>
            </a:pPr>
            <a:r>
              <a:rPr lang="en-US" b="1" dirty="0">
                <a:solidFill>
                  <a:schemeClr val="accent6">
                    <a:lumMod val="50000"/>
                  </a:schemeClr>
                </a:solidFill>
              </a:rPr>
              <a:t>Reason &amp; logic</a:t>
            </a:r>
          </a:p>
          <a:p>
            <a:pPr>
              <a:buFont typeface="Wingdings" panose="05000000000000000000" pitchFamily="2" charset="2"/>
              <a:buChar char="§"/>
            </a:pPr>
            <a:r>
              <a:rPr lang="en-US" b="1" dirty="0">
                <a:solidFill>
                  <a:schemeClr val="accent6">
                    <a:lumMod val="50000"/>
                  </a:schemeClr>
                </a:solidFill>
              </a:rPr>
              <a:t>Universal</a:t>
            </a:r>
          </a:p>
          <a:p>
            <a:pPr>
              <a:buFont typeface="Wingdings" panose="05000000000000000000" pitchFamily="2" charset="2"/>
              <a:buChar char="§"/>
            </a:pPr>
            <a:r>
              <a:rPr lang="en-US" b="1" dirty="0">
                <a:solidFill>
                  <a:schemeClr val="accent6">
                    <a:lumMod val="50000"/>
                  </a:schemeClr>
                </a:solidFill>
              </a:rPr>
              <a:t>More structured</a:t>
            </a:r>
          </a:p>
        </p:txBody>
      </p:sp>
      <p:cxnSp>
        <p:nvCxnSpPr>
          <p:cNvPr id="8" name="Straight Connector 7">
            <a:extLst>
              <a:ext uri="{FF2B5EF4-FFF2-40B4-BE49-F238E27FC236}">
                <a16:creationId xmlns:a16="http://schemas.microsoft.com/office/drawing/2014/main" id="{69778F66-7567-1A59-256D-A16D2CD5EC7C}"/>
              </a:ext>
            </a:extLst>
          </p:cNvPr>
          <p:cNvCxnSpPr/>
          <p:nvPr/>
        </p:nvCxnSpPr>
        <p:spPr>
          <a:xfrm>
            <a:off x="5500687" y="1743074"/>
            <a:ext cx="0" cy="405765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B8B20167-9734-4F1B-96A4-73B1C81D3D7D}"/>
              </a:ext>
            </a:extLst>
          </p:cNvPr>
          <p:cNvCxnSpPr>
            <a:cxnSpLocks/>
          </p:cNvCxnSpPr>
          <p:nvPr/>
        </p:nvCxnSpPr>
        <p:spPr>
          <a:xfrm flipV="1">
            <a:off x="1296988" y="2505075"/>
            <a:ext cx="8518525" cy="33337"/>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429272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C487-211E-94ED-00E2-D9A72901E2E9}"/>
              </a:ext>
            </a:extLst>
          </p:cNvPr>
          <p:cNvSpPr>
            <a:spLocks noGrp="1"/>
          </p:cNvSpPr>
          <p:nvPr>
            <p:ph type="title"/>
          </p:nvPr>
        </p:nvSpPr>
        <p:spPr>
          <a:xfrm>
            <a:off x="838200" y="83343"/>
            <a:ext cx="10515600" cy="563563"/>
          </a:xfrm>
        </p:spPr>
        <p:txBody>
          <a:bodyPr>
            <a:normAutofit fontScale="90000"/>
          </a:bodyPr>
          <a:lstStyle/>
          <a:p>
            <a:pPr algn="ctr"/>
            <a:r>
              <a:rPr lang="en-US" b="1" dirty="0">
                <a:solidFill>
                  <a:srgbClr val="FF0000"/>
                </a:solidFill>
                <a:latin typeface="Arial Black" panose="020B0A04020102020204" pitchFamily="34" charset="0"/>
              </a:rPr>
              <a:t>ETHICAL DILEMMA</a:t>
            </a:r>
            <a:endParaRPr lang="en-US" dirty="0"/>
          </a:p>
        </p:txBody>
      </p:sp>
      <p:sp>
        <p:nvSpPr>
          <p:cNvPr id="3" name="Content Placeholder 2">
            <a:extLst>
              <a:ext uri="{FF2B5EF4-FFF2-40B4-BE49-F238E27FC236}">
                <a16:creationId xmlns:a16="http://schemas.microsoft.com/office/drawing/2014/main" id="{2F57F291-95CB-35D4-EE81-FD7E91A7B1C7}"/>
              </a:ext>
            </a:extLst>
          </p:cNvPr>
          <p:cNvSpPr>
            <a:spLocks noGrp="1"/>
          </p:cNvSpPr>
          <p:nvPr>
            <p:ph idx="1"/>
          </p:nvPr>
        </p:nvSpPr>
        <p:spPr>
          <a:xfrm>
            <a:off x="681038" y="869156"/>
            <a:ext cx="10515600" cy="5766594"/>
          </a:xfrm>
        </p:spPr>
        <p:txBody>
          <a:bodyPr>
            <a:normAutofit fontScale="92500" lnSpcReduction="20000"/>
          </a:bodyPr>
          <a:lstStyle/>
          <a:p>
            <a:pPr marL="0" indent="0" algn="ctr">
              <a:buNone/>
            </a:pPr>
            <a:r>
              <a:rPr lang="en-US" sz="2400" b="1" dirty="0">
                <a:solidFill>
                  <a:schemeClr val="accent5">
                    <a:lumMod val="50000"/>
                  </a:schemeClr>
                </a:solidFill>
                <a:latin typeface="Arial Black" panose="020B0A04020102020204" pitchFamily="34" charset="0"/>
              </a:rPr>
              <a:t>“Have you ever been confused between two choices where both seemed right?”</a:t>
            </a:r>
          </a:p>
          <a:p>
            <a:pPr algn="just">
              <a:buFont typeface="Wingdings" panose="05000000000000000000" pitchFamily="2" charset="2"/>
              <a:buChar char="ü"/>
            </a:pPr>
            <a:r>
              <a:rPr lang="en-US" sz="2400" dirty="0"/>
              <a:t> That confusion is called an Ethical Dilemma.</a:t>
            </a:r>
          </a:p>
          <a:p>
            <a:pPr marL="0" indent="0" algn="just">
              <a:buNone/>
            </a:pPr>
            <a:endParaRPr lang="en-US" sz="2400" dirty="0"/>
          </a:p>
          <a:p>
            <a:pPr marL="0" indent="0">
              <a:buNone/>
            </a:pPr>
            <a:r>
              <a:rPr lang="en-US" sz="2400" b="1" u="sng" dirty="0">
                <a:solidFill>
                  <a:schemeClr val="accent2">
                    <a:lumMod val="50000"/>
                  </a:schemeClr>
                </a:solidFill>
              </a:rPr>
              <a:t>An ethical dilemma is a situation where:</a:t>
            </a:r>
          </a:p>
          <a:p>
            <a:pPr>
              <a:buFont typeface="Courier New" panose="02070309020205020404" pitchFamily="49" charset="0"/>
              <a:buChar char="o"/>
            </a:pPr>
            <a:r>
              <a:rPr lang="en-US" sz="2400" b="1" dirty="0"/>
              <a:t>You must choose between two options</a:t>
            </a:r>
          </a:p>
          <a:p>
            <a:pPr>
              <a:buFont typeface="Courier New" panose="02070309020205020404" pitchFamily="49" charset="0"/>
              <a:buChar char="o"/>
            </a:pPr>
            <a:r>
              <a:rPr lang="en-US" sz="2400" b="1" dirty="0"/>
              <a:t>Both options seem morally correct</a:t>
            </a:r>
          </a:p>
          <a:p>
            <a:pPr>
              <a:buFont typeface="Courier New" panose="02070309020205020404" pitchFamily="49" charset="0"/>
              <a:buChar char="o"/>
            </a:pPr>
            <a:r>
              <a:rPr lang="en-US" sz="2400" b="1" dirty="0"/>
              <a:t>But choosing one means losing the other</a:t>
            </a:r>
          </a:p>
          <a:p>
            <a:pPr marL="0" indent="0" algn="just">
              <a:buNone/>
            </a:pPr>
            <a:endParaRPr lang="en-US" sz="2400" b="1" dirty="0"/>
          </a:p>
          <a:p>
            <a:pPr marL="0" indent="0">
              <a:buNone/>
            </a:pPr>
            <a:r>
              <a:rPr lang="en-US" sz="2400" b="1" dirty="0">
                <a:solidFill>
                  <a:schemeClr val="accent2">
                    <a:lumMod val="50000"/>
                  </a:schemeClr>
                </a:solidFill>
              </a:rPr>
              <a:t>Right vs Right situation </a:t>
            </a:r>
            <a:r>
              <a:rPr lang="en-US" sz="2400" b="1" dirty="0"/>
              <a:t>(Choosing between two rights)</a:t>
            </a:r>
            <a:endParaRPr lang="en-US" sz="2400" b="1" dirty="0">
              <a:solidFill>
                <a:schemeClr val="accent2">
                  <a:lumMod val="50000"/>
                </a:schemeClr>
              </a:solidFill>
            </a:endParaRPr>
          </a:p>
          <a:p>
            <a:pPr marL="0" indent="0">
              <a:buNone/>
            </a:pPr>
            <a:endParaRPr lang="en-US" sz="2400" b="1" dirty="0"/>
          </a:p>
          <a:p>
            <a:pPr marL="0" indent="0">
              <a:buNone/>
            </a:pPr>
            <a:r>
              <a:rPr lang="en-US" sz="2600" b="1" u="sng" dirty="0">
                <a:solidFill>
                  <a:schemeClr val="accent5">
                    <a:lumMod val="50000"/>
                  </a:schemeClr>
                </a:solidFill>
              </a:rPr>
              <a:t>It Is Difficult to take Because:</a:t>
            </a:r>
          </a:p>
          <a:p>
            <a:pPr marL="0" indent="0">
              <a:buNone/>
            </a:pPr>
            <a:endParaRPr lang="en-US" u="sng" dirty="0">
              <a:solidFill>
                <a:schemeClr val="accent5">
                  <a:lumMod val="50000"/>
                </a:schemeClr>
              </a:solidFill>
            </a:endParaRPr>
          </a:p>
          <a:p>
            <a:pPr>
              <a:buFont typeface="Wingdings" panose="05000000000000000000" pitchFamily="2" charset="2"/>
              <a:buChar char="§"/>
            </a:pPr>
            <a:r>
              <a:rPr lang="en-US" sz="2400" b="1" dirty="0"/>
              <a:t>There is no perfect answer</a:t>
            </a:r>
          </a:p>
          <a:p>
            <a:pPr>
              <a:buFont typeface="Wingdings" panose="05000000000000000000" pitchFamily="2" charset="2"/>
              <a:buChar char="§"/>
            </a:pPr>
            <a:r>
              <a:rPr lang="en-US" sz="2400" b="1" dirty="0"/>
              <a:t>Every choice has consequences</a:t>
            </a:r>
          </a:p>
          <a:p>
            <a:pPr>
              <a:buFont typeface="Wingdings" panose="05000000000000000000" pitchFamily="2" charset="2"/>
              <a:buChar char="§"/>
            </a:pPr>
            <a:r>
              <a:rPr lang="en-US" sz="2400" b="1" dirty="0"/>
              <a:t>It involves values like honesty, loyalty, safety, responsibility</a:t>
            </a:r>
          </a:p>
          <a:p>
            <a:pPr marL="0" indent="0">
              <a:buNone/>
            </a:pPr>
            <a:endParaRPr lang="en-US" sz="2400" b="1" dirty="0">
              <a:solidFill>
                <a:schemeClr val="accent2">
                  <a:lumMod val="50000"/>
                </a:schemeClr>
              </a:solidFill>
            </a:endParaRPr>
          </a:p>
          <a:p>
            <a:pPr marL="0" indent="0">
              <a:buNone/>
            </a:pPr>
            <a:endParaRPr lang="en-US" sz="2400" b="1" dirty="0">
              <a:solidFill>
                <a:schemeClr val="accent2">
                  <a:lumMod val="50000"/>
                </a:schemeClr>
              </a:solidFill>
            </a:endParaRPr>
          </a:p>
          <a:p>
            <a:pPr marL="0" indent="0">
              <a:buNone/>
            </a:pPr>
            <a:endParaRPr lang="en-US" sz="2400" b="1" dirty="0">
              <a:solidFill>
                <a:schemeClr val="accent2">
                  <a:lumMod val="50000"/>
                </a:schemeClr>
              </a:solidFill>
            </a:endParaRPr>
          </a:p>
        </p:txBody>
      </p:sp>
      <p:pic>
        <p:nvPicPr>
          <p:cNvPr id="9" name="Picture 8">
            <a:extLst>
              <a:ext uri="{FF2B5EF4-FFF2-40B4-BE49-F238E27FC236}">
                <a16:creationId xmlns:a16="http://schemas.microsoft.com/office/drawing/2014/main" id="{F1156972-1A2C-3F20-0392-B93C08814741}"/>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8043863" y="1566863"/>
            <a:ext cx="3829049" cy="2857500"/>
          </a:xfrm>
          <a:prstGeom prst="rect">
            <a:avLst/>
          </a:prstGeom>
        </p:spPr>
      </p:pic>
      <p:pic>
        <p:nvPicPr>
          <p:cNvPr id="11" name="Picture 10">
            <a:extLst>
              <a:ext uri="{FF2B5EF4-FFF2-40B4-BE49-F238E27FC236}">
                <a16:creationId xmlns:a16="http://schemas.microsoft.com/office/drawing/2014/main" id="{3A075CB5-EEF0-F220-CE98-469762E3C972}"/>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8043863" y="4410075"/>
            <a:ext cx="3829048" cy="2447925"/>
          </a:xfrm>
          <a:prstGeom prst="rect">
            <a:avLst/>
          </a:prstGeom>
        </p:spPr>
      </p:pic>
    </p:spTree>
    <p:extLst>
      <p:ext uri="{BB962C8B-B14F-4D97-AF65-F5344CB8AC3E}">
        <p14:creationId xmlns:p14="http://schemas.microsoft.com/office/powerpoint/2010/main" val="27200227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9D3D70-1970-6928-ABD2-1F7C952F4CF6}"/>
              </a:ext>
            </a:extLst>
          </p:cNvPr>
          <p:cNvSpPr>
            <a:spLocks noGrp="1"/>
          </p:cNvSpPr>
          <p:nvPr>
            <p:ph type="title"/>
          </p:nvPr>
        </p:nvSpPr>
        <p:spPr>
          <a:xfrm>
            <a:off x="838200" y="236539"/>
            <a:ext cx="10515600" cy="534988"/>
          </a:xfrm>
        </p:spPr>
        <p:txBody>
          <a:bodyPr>
            <a:normAutofit fontScale="90000"/>
          </a:bodyPr>
          <a:lstStyle/>
          <a:p>
            <a:pPr algn="ctr"/>
            <a:r>
              <a:rPr lang="en-US" b="1" dirty="0">
                <a:solidFill>
                  <a:srgbClr val="FF0000"/>
                </a:solidFill>
                <a:latin typeface="Arial Black" panose="020B0A04020102020204" pitchFamily="34" charset="0"/>
              </a:rPr>
              <a:t>ETHICAL DILEMMA</a:t>
            </a:r>
          </a:p>
        </p:txBody>
      </p:sp>
      <p:sp>
        <p:nvSpPr>
          <p:cNvPr id="3" name="Content Placeholder 2">
            <a:extLst>
              <a:ext uri="{FF2B5EF4-FFF2-40B4-BE49-F238E27FC236}">
                <a16:creationId xmlns:a16="http://schemas.microsoft.com/office/drawing/2014/main" id="{7B461CF1-7909-756C-A938-E3E74BC4539C}"/>
              </a:ext>
            </a:extLst>
          </p:cNvPr>
          <p:cNvSpPr>
            <a:spLocks noGrp="1"/>
          </p:cNvSpPr>
          <p:nvPr>
            <p:ph idx="1"/>
          </p:nvPr>
        </p:nvSpPr>
        <p:spPr>
          <a:xfrm>
            <a:off x="657225" y="1057274"/>
            <a:ext cx="10887075" cy="5435599"/>
          </a:xfrm>
        </p:spPr>
        <p:txBody>
          <a:bodyPr>
            <a:normAutofit lnSpcReduction="10000"/>
          </a:bodyPr>
          <a:lstStyle/>
          <a:p>
            <a:pPr marL="0" indent="0" algn="just">
              <a:buNone/>
            </a:pPr>
            <a:r>
              <a:rPr lang="en-US" sz="2600" b="1" dirty="0"/>
              <a:t>A situation where a person must choose between two or more morally conflicting options, and no option is completely right.</a:t>
            </a:r>
          </a:p>
          <a:p>
            <a:pPr algn="just">
              <a:buFont typeface="Wingdings" panose="05000000000000000000" pitchFamily="2" charset="2"/>
              <a:buChar char="§"/>
            </a:pPr>
            <a:r>
              <a:rPr lang="en-US" sz="2600" b="1" dirty="0"/>
              <a:t>Every choice results in some moral violation.</a:t>
            </a:r>
          </a:p>
          <a:p>
            <a:pPr marL="0" indent="0">
              <a:buNone/>
            </a:pPr>
            <a:endParaRPr lang="en-US" b="1" dirty="0"/>
          </a:p>
          <a:p>
            <a:pPr marL="0" indent="0">
              <a:buNone/>
            </a:pPr>
            <a:r>
              <a:rPr lang="en-US" sz="2600" b="1" u="sng" dirty="0">
                <a:solidFill>
                  <a:schemeClr val="accent6">
                    <a:lumMod val="50000"/>
                  </a:schemeClr>
                </a:solidFill>
                <a:latin typeface="Arial Black" panose="020B0A04020102020204" pitchFamily="34" charset="0"/>
              </a:rPr>
              <a:t>Characteristics</a:t>
            </a:r>
          </a:p>
          <a:p>
            <a:pPr>
              <a:buFont typeface="Courier New" panose="02070309020205020404" pitchFamily="49" charset="0"/>
              <a:buChar char="o"/>
            </a:pPr>
            <a:r>
              <a:rPr lang="en-US" sz="2600" b="1" dirty="0">
                <a:solidFill>
                  <a:schemeClr val="accent5">
                    <a:lumMod val="50000"/>
                  </a:schemeClr>
                </a:solidFill>
              </a:rPr>
              <a:t>Involves two or more values</a:t>
            </a:r>
          </a:p>
          <a:p>
            <a:pPr>
              <a:buFont typeface="Courier New" panose="02070309020205020404" pitchFamily="49" charset="0"/>
              <a:buChar char="o"/>
            </a:pPr>
            <a:r>
              <a:rPr lang="en-US" sz="2600" b="1" dirty="0">
                <a:solidFill>
                  <a:schemeClr val="accent5">
                    <a:lumMod val="50000"/>
                  </a:schemeClr>
                </a:solidFill>
              </a:rPr>
              <a:t>No completely right answer</a:t>
            </a:r>
          </a:p>
          <a:p>
            <a:pPr>
              <a:buFont typeface="Courier New" panose="02070309020205020404" pitchFamily="49" charset="0"/>
              <a:buChar char="o"/>
            </a:pPr>
            <a:r>
              <a:rPr lang="en-US" sz="2600" b="1" dirty="0">
                <a:solidFill>
                  <a:schemeClr val="accent5">
                    <a:lumMod val="50000"/>
                  </a:schemeClr>
                </a:solidFill>
              </a:rPr>
              <a:t>Requires thinking and reasoning</a:t>
            </a:r>
          </a:p>
          <a:p>
            <a:pPr>
              <a:buFont typeface="Courier New" panose="02070309020205020404" pitchFamily="49" charset="0"/>
              <a:buChar char="o"/>
            </a:pPr>
            <a:r>
              <a:rPr lang="en-US" sz="2600" b="1" dirty="0">
                <a:solidFill>
                  <a:schemeClr val="accent5">
                    <a:lumMod val="50000"/>
                  </a:schemeClr>
                </a:solidFill>
              </a:rPr>
              <a:t>Decision affects others</a:t>
            </a:r>
          </a:p>
          <a:p>
            <a:endParaRPr lang="en-US" dirty="0"/>
          </a:p>
          <a:p>
            <a:endParaRPr lang="en-US" dirty="0"/>
          </a:p>
          <a:p>
            <a:pPr marL="0" indent="0" algn="ctr">
              <a:buNone/>
            </a:pPr>
            <a:r>
              <a:rPr lang="en-US" sz="2600" b="1" dirty="0"/>
              <a:t>Example: When you report a senior’s mistake that may cause project failure.</a:t>
            </a:r>
          </a:p>
          <a:p>
            <a:endParaRPr lang="en-US" dirty="0"/>
          </a:p>
          <a:p>
            <a:pPr marL="0" indent="0">
              <a:buNone/>
            </a:pPr>
            <a:endParaRPr lang="en-US" dirty="0"/>
          </a:p>
        </p:txBody>
      </p:sp>
      <p:sp>
        <p:nvSpPr>
          <p:cNvPr id="4" name="TextBox 3">
            <a:extLst>
              <a:ext uri="{FF2B5EF4-FFF2-40B4-BE49-F238E27FC236}">
                <a16:creationId xmlns:a16="http://schemas.microsoft.com/office/drawing/2014/main" id="{030B26E7-D07A-EB48-D818-F9C6AECAE6C4}"/>
              </a:ext>
            </a:extLst>
          </p:cNvPr>
          <p:cNvSpPr txBox="1"/>
          <p:nvPr/>
        </p:nvSpPr>
        <p:spPr>
          <a:xfrm>
            <a:off x="6865144" y="2614613"/>
            <a:ext cx="4679156" cy="1846659"/>
          </a:xfrm>
          <a:prstGeom prst="rect">
            <a:avLst/>
          </a:prstGeom>
          <a:noFill/>
        </p:spPr>
        <p:txBody>
          <a:bodyPr wrap="square" rtlCol="0">
            <a:spAutoFit/>
          </a:bodyPr>
          <a:lstStyle/>
          <a:p>
            <a:r>
              <a:rPr lang="en-US" sz="2400" b="1" u="sng" dirty="0">
                <a:solidFill>
                  <a:schemeClr val="accent6">
                    <a:lumMod val="50000"/>
                  </a:schemeClr>
                </a:solidFill>
                <a:latin typeface="Arial Black" panose="020B0A04020102020204" pitchFamily="34" charset="0"/>
              </a:rPr>
              <a:t>Types</a:t>
            </a:r>
          </a:p>
          <a:p>
            <a:pPr marL="342900" indent="-342900">
              <a:buFont typeface="Wingdings" panose="05000000000000000000" pitchFamily="2" charset="2"/>
              <a:buChar char="§"/>
            </a:pPr>
            <a:r>
              <a:rPr lang="en-US" sz="2400" b="1" dirty="0">
                <a:solidFill>
                  <a:schemeClr val="accent6">
                    <a:lumMod val="50000"/>
                  </a:schemeClr>
                </a:solidFill>
              </a:rPr>
              <a:t>Personal vs Professional</a:t>
            </a:r>
          </a:p>
          <a:p>
            <a:pPr marL="342900" indent="-342900">
              <a:buFont typeface="Wingdings" panose="05000000000000000000" pitchFamily="2" charset="2"/>
              <a:buChar char="§"/>
            </a:pPr>
            <a:r>
              <a:rPr lang="en-US" sz="2400" b="1" dirty="0">
                <a:solidFill>
                  <a:schemeClr val="accent6">
                    <a:lumMod val="50000"/>
                  </a:schemeClr>
                </a:solidFill>
              </a:rPr>
              <a:t>Individual vs Society</a:t>
            </a:r>
          </a:p>
          <a:p>
            <a:pPr marL="342900" indent="-342900">
              <a:buFont typeface="Wingdings" panose="05000000000000000000" pitchFamily="2" charset="2"/>
              <a:buChar char="§"/>
            </a:pPr>
            <a:r>
              <a:rPr lang="en-US" sz="2400" b="1" dirty="0">
                <a:solidFill>
                  <a:schemeClr val="accent6">
                    <a:lumMod val="50000"/>
                  </a:schemeClr>
                </a:solidFill>
              </a:rPr>
              <a:t>Short-term vs Long-term good</a:t>
            </a:r>
          </a:p>
          <a:p>
            <a:endParaRPr lang="en-US" dirty="0"/>
          </a:p>
        </p:txBody>
      </p:sp>
    </p:spTree>
    <p:extLst>
      <p:ext uri="{BB962C8B-B14F-4D97-AF65-F5344CB8AC3E}">
        <p14:creationId xmlns:p14="http://schemas.microsoft.com/office/powerpoint/2010/main" val="28667858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540346-C9BC-DBEA-5262-666400D4E938}"/>
              </a:ext>
            </a:extLst>
          </p:cNvPr>
          <p:cNvSpPr>
            <a:spLocks noGrp="1"/>
          </p:cNvSpPr>
          <p:nvPr>
            <p:ph type="title"/>
          </p:nvPr>
        </p:nvSpPr>
        <p:spPr>
          <a:xfrm>
            <a:off x="838200" y="259688"/>
            <a:ext cx="10515600" cy="487715"/>
          </a:xfrm>
        </p:spPr>
        <p:txBody>
          <a:bodyPr>
            <a:normAutofit fontScale="90000"/>
          </a:bodyPr>
          <a:lstStyle/>
          <a:p>
            <a:pPr algn="ctr"/>
            <a:r>
              <a:rPr lang="en-US" sz="4000" b="1" u="sng" dirty="0">
                <a:solidFill>
                  <a:schemeClr val="accent2">
                    <a:lumMod val="50000"/>
                  </a:schemeClr>
                </a:solidFill>
                <a:latin typeface="Arial Black" panose="020B0A04020102020204" pitchFamily="34" charset="0"/>
              </a:rPr>
              <a:t>Steps to Solve Ethical Dilemma</a:t>
            </a:r>
          </a:p>
        </p:txBody>
      </p:sp>
      <p:sp>
        <p:nvSpPr>
          <p:cNvPr id="4" name="Rectangle 1">
            <a:extLst>
              <a:ext uri="{FF2B5EF4-FFF2-40B4-BE49-F238E27FC236}">
                <a16:creationId xmlns:a16="http://schemas.microsoft.com/office/drawing/2014/main" id="{E6516011-D2E9-0F8C-4D1C-C645E6BA206C}"/>
              </a:ext>
            </a:extLst>
          </p:cNvPr>
          <p:cNvSpPr>
            <a:spLocks noGrp="1" noChangeArrowheads="1"/>
          </p:cNvSpPr>
          <p:nvPr>
            <p:ph idx="1"/>
          </p:nvPr>
        </p:nvSpPr>
        <p:spPr bwMode="auto">
          <a:xfrm>
            <a:off x="303115" y="5600235"/>
            <a:ext cx="4729162" cy="10895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en-US" sz="2400" b="1" dirty="0">
                <a:solidFill>
                  <a:schemeClr val="accent2">
                    <a:lumMod val="50000"/>
                  </a:schemeClr>
                </a:solidFill>
                <a:latin typeface="Arial Black" panose="020B0A04020102020204" pitchFamily="34" charset="0"/>
              </a:rPr>
              <a:t>Importance</a:t>
            </a:r>
          </a:p>
          <a:p>
            <a:pPr>
              <a:spcBef>
                <a:spcPts val="0"/>
              </a:spcBef>
              <a:buFont typeface="Wingdings" panose="05000000000000000000" pitchFamily="2" charset="2"/>
              <a:buChar char="§"/>
            </a:pPr>
            <a:r>
              <a:rPr lang="en-US" sz="2400" b="1" dirty="0"/>
              <a:t>Develops reasoning ability</a:t>
            </a:r>
          </a:p>
          <a:p>
            <a:pPr>
              <a:spcBef>
                <a:spcPts val="0"/>
              </a:spcBef>
              <a:buFont typeface="Wingdings" panose="05000000000000000000" pitchFamily="2" charset="2"/>
              <a:buChar char="§"/>
            </a:pPr>
            <a:r>
              <a:rPr lang="en-US" sz="2400" b="1" dirty="0"/>
              <a:t>Enhances professional maturity</a:t>
            </a:r>
          </a:p>
        </p:txBody>
      </p:sp>
      <p:pic>
        <p:nvPicPr>
          <p:cNvPr id="5" name="Picture 4">
            <a:extLst>
              <a:ext uri="{FF2B5EF4-FFF2-40B4-BE49-F238E27FC236}">
                <a16:creationId xmlns:a16="http://schemas.microsoft.com/office/drawing/2014/main" id="{204B7784-707C-D9A5-F95B-265E393868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86425" y="1400254"/>
            <a:ext cx="6272213" cy="5289510"/>
          </a:xfrm>
          <a:prstGeom prst="rect">
            <a:avLst/>
          </a:prstGeom>
        </p:spPr>
      </p:pic>
      <p:sp>
        <p:nvSpPr>
          <p:cNvPr id="3" name="Arrow: Down 2">
            <a:extLst>
              <a:ext uri="{FF2B5EF4-FFF2-40B4-BE49-F238E27FC236}">
                <a16:creationId xmlns:a16="http://schemas.microsoft.com/office/drawing/2014/main" id="{6DDE7AE9-A572-E877-71FA-C93C0A0BF1A2}"/>
              </a:ext>
            </a:extLst>
          </p:cNvPr>
          <p:cNvSpPr/>
          <p:nvPr/>
        </p:nvSpPr>
        <p:spPr>
          <a:xfrm>
            <a:off x="2258608" y="4270626"/>
            <a:ext cx="197649" cy="317531"/>
          </a:xfrm>
          <a:prstGeom prst="downArrow">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Arrow: Down 8">
            <a:extLst>
              <a:ext uri="{FF2B5EF4-FFF2-40B4-BE49-F238E27FC236}">
                <a16:creationId xmlns:a16="http://schemas.microsoft.com/office/drawing/2014/main" id="{86EC379C-A05B-9A70-4066-4657AC90A9BB}"/>
              </a:ext>
            </a:extLst>
          </p:cNvPr>
          <p:cNvSpPr/>
          <p:nvPr/>
        </p:nvSpPr>
        <p:spPr>
          <a:xfrm>
            <a:off x="2258612" y="1901323"/>
            <a:ext cx="197646" cy="381230"/>
          </a:xfrm>
          <a:prstGeom prst="downArrow">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Arrow: Down 9">
            <a:extLst>
              <a:ext uri="{FF2B5EF4-FFF2-40B4-BE49-F238E27FC236}">
                <a16:creationId xmlns:a16="http://schemas.microsoft.com/office/drawing/2014/main" id="{AE8FB2D3-F994-E164-2C84-D39323F45624}"/>
              </a:ext>
            </a:extLst>
          </p:cNvPr>
          <p:cNvSpPr/>
          <p:nvPr/>
        </p:nvSpPr>
        <p:spPr>
          <a:xfrm>
            <a:off x="2258612" y="2762547"/>
            <a:ext cx="178594" cy="270005"/>
          </a:xfrm>
          <a:prstGeom prst="downArrow">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Arrow: Down 10">
            <a:extLst>
              <a:ext uri="{FF2B5EF4-FFF2-40B4-BE49-F238E27FC236}">
                <a16:creationId xmlns:a16="http://schemas.microsoft.com/office/drawing/2014/main" id="{12D9B378-CF9F-2C97-B3D3-F58E13901858}"/>
              </a:ext>
            </a:extLst>
          </p:cNvPr>
          <p:cNvSpPr/>
          <p:nvPr/>
        </p:nvSpPr>
        <p:spPr>
          <a:xfrm>
            <a:off x="2258609" y="3466854"/>
            <a:ext cx="178594" cy="348102"/>
          </a:xfrm>
          <a:prstGeom prst="downArrow">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6" name="Table 5">
            <a:extLst>
              <a:ext uri="{FF2B5EF4-FFF2-40B4-BE49-F238E27FC236}">
                <a16:creationId xmlns:a16="http://schemas.microsoft.com/office/drawing/2014/main" id="{D01D58FC-C3CD-AEE3-032B-EA8B837D10E8}"/>
              </a:ext>
            </a:extLst>
          </p:cNvPr>
          <p:cNvGraphicFramePr>
            <a:graphicFrameLocks noGrp="1"/>
          </p:cNvGraphicFramePr>
          <p:nvPr>
            <p:extLst>
              <p:ext uri="{D42A27DB-BD31-4B8C-83A1-F6EECF244321}">
                <p14:modId xmlns:p14="http://schemas.microsoft.com/office/powerpoint/2010/main" val="1126871049"/>
              </p:ext>
            </p:extLst>
          </p:nvPr>
        </p:nvGraphicFramePr>
        <p:xfrm>
          <a:off x="629045" y="1297617"/>
          <a:ext cx="3654425" cy="593153"/>
        </p:xfrm>
        <a:graphic>
          <a:graphicData uri="http://schemas.openxmlformats.org/drawingml/2006/table">
            <a:tbl>
              <a:tblPr firstRow="1" bandRow="1">
                <a:tableStyleId>{5C22544A-7EE6-4342-B048-85BDC9FD1C3A}</a:tableStyleId>
              </a:tblPr>
              <a:tblGrid>
                <a:gridCol w="3654425">
                  <a:extLst>
                    <a:ext uri="{9D8B030D-6E8A-4147-A177-3AD203B41FA5}">
                      <a16:colId xmlns:a16="http://schemas.microsoft.com/office/drawing/2014/main" val="1466928927"/>
                    </a:ext>
                  </a:extLst>
                </a:gridCol>
              </a:tblGrid>
              <a:tr h="59315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200" b="1" i="0" u="none" strike="noStrike" cap="none" normalizeH="0" baseline="0" dirty="0">
                          <a:ln>
                            <a:noFill/>
                          </a:ln>
                          <a:solidFill>
                            <a:schemeClr val="accent6">
                              <a:lumMod val="50000"/>
                            </a:schemeClr>
                          </a:solidFill>
                          <a:effectLst/>
                          <a:latin typeface="Arial Black" panose="020B0A04020102020204" pitchFamily="34" charset="0"/>
                        </a:rPr>
                        <a:t>Identify the problem</a:t>
                      </a:r>
                    </a:p>
                  </a:txBody>
                  <a:tcPr>
                    <a:solidFill>
                      <a:schemeClr val="bg2"/>
                    </a:solidFill>
                  </a:tcPr>
                </a:tc>
                <a:extLst>
                  <a:ext uri="{0D108BD9-81ED-4DB2-BD59-A6C34878D82A}">
                    <a16:rowId xmlns:a16="http://schemas.microsoft.com/office/drawing/2014/main" val="2297814215"/>
                  </a:ext>
                </a:extLst>
              </a:tr>
            </a:tbl>
          </a:graphicData>
        </a:graphic>
      </p:graphicFrame>
      <p:graphicFrame>
        <p:nvGraphicFramePr>
          <p:cNvPr id="7" name="Table 6">
            <a:extLst>
              <a:ext uri="{FF2B5EF4-FFF2-40B4-BE49-F238E27FC236}">
                <a16:creationId xmlns:a16="http://schemas.microsoft.com/office/drawing/2014/main" id="{98D56BEF-74A3-6D15-D285-7F73ED71CEDB}"/>
              </a:ext>
            </a:extLst>
          </p:cNvPr>
          <p:cNvGraphicFramePr>
            <a:graphicFrameLocks noGrp="1"/>
          </p:cNvGraphicFramePr>
          <p:nvPr>
            <p:extLst>
              <p:ext uri="{D42A27DB-BD31-4B8C-83A1-F6EECF244321}">
                <p14:modId xmlns:p14="http://schemas.microsoft.com/office/powerpoint/2010/main" val="1768984555"/>
              </p:ext>
            </p:extLst>
          </p:nvPr>
        </p:nvGraphicFramePr>
        <p:xfrm>
          <a:off x="629045" y="2288093"/>
          <a:ext cx="3654425" cy="426720"/>
        </p:xfrm>
        <a:graphic>
          <a:graphicData uri="http://schemas.openxmlformats.org/drawingml/2006/table">
            <a:tbl>
              <a:tblPr firstRow="1" bandRow="1">
                <a:tableStyleId>{5C22544A-7EE6-4342-B048-85BDC9FD1C3A}</a:tableStyleId>
              </a:tblPr>
              <a:tblGrid>
                <a:gridCol w="3654425">
                  <a:extLst>
                    <a:ext uri="{9D8B030D-6E8A-4147-A177-3AD203B41FA5}">
                      <a16:colId xmlns:a16="http://schemas.microsoft.com/office/drawing/2014/main" val="3466930069"/>
                    </a:ext>
                  </a:extLst>
                </a:gridCol>
              </a:tblGrid>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200" b="1" i="0" u="none" strike="noStrike" cap="none" normalizeH="0" baseline="0" dirty="0">
                          <a:ln>
                            <a:noFill/>
                          </a:ln>
                          <a:solidFill>
                            <a:schemeClr val="accent6">
                              <a:lumMod val="50000"/>
                            </a:schemeClr>
                          </a:solidFill>
                          <a:effectLst/>
                          <a:latin typeface="Arial Black" panose="020B0A04020102020204" pitchFamily="34" charset="0"/>
                        </a:rPr>
                        <a:t>Identify stakeholders</a:t>
                      </a:r>
                    </a:p>
                  </a:txBody>
                  <a:tcPr>
                    <a:solidFill>
                      <a:schemeClr val="bg2"/>
                    </a:solidFill>
                  </a:tcPr>
                </a:tc>
                <a:extLst>
                  <a:ext uri="{0D108BD9-81ED-4DB2-BD59-A6C34878D82A}">
                    <a16:rowId xmlns:a16="http://schemas.microsoft.com/office/drawing/2014/main" val="3084214292"/>
                  </a:ext>
                </a:extLst>
              </a:tr>
            </a:tbl>
          </a:graphicData>
        </a:graphic>
      </p:graphicFrame>
      <p:graphicFrame>
        <p:nvGraphicFramePr>
          <p:cNvPr id="13" name="Table 12">
            <a:extLst>
              <a:ext uri="{FF2B5EF4-FFF2-40B4-BE49-F238E27FC236}">
                <a16:creationId xmlns:a16="http://schemas.microsoft.com/office/drawing/2014/main" id="{44A2560D-4542-9A0E-0319-A591A83A82BF}"/>
              </a:ext>
            </a:extLst>
          </p:cNvPr>
          <p:cNvGraphicFramePr>
            <a:graphicFrameLocks noGrp="1"/>
          </p:cNvGraphicFramePr>
          <p:nvPr>
            <p:extLst>
              <p:ext uri="{D42A27DB-BD31-4B8C-83A1-F6EECF244321}">
                <p14:modId xmlns:p14="http://schemas.microsoft.com/office/powerpoint/2010/main" val="796900107"/>
              </p:ext>
            </p:extLst>
          </p:nvPr>
        </p:nvGraphicFramePr>
        <p:xfrm>
          <a:off x="629045" y="3032552"/>
          <a:ext cx="3654425" cy="426720"/>
        </p:xfrm>
        <a:graphic>
          <a:graphicData uri="http://schemas.openxmlformats.org/drawingml/2006/table">
            <a:tbl>
              <a:tblPr firstRow="1" bandRow="1">
                <a:tableStyleId>{5C22544A-7EE6-4342-B048-85BDC9FD1C3A}</a:tableStyleId>
              </a:tblPr>
              <a:tblGrid>
                <a:gridCol w="3654425">
                  <a:extLst>
                    <a:ext uri="{9D8B030D-6E8A-4147-A177-3AD203B41FA5}">
                      <a16:colId xmlns:a16="http://schemas.microsoft.com/office/drawing/2014/main" val="3154135690"/>
                    </a:ext>
                  </a:extLst>
                </a:gridCol>
              </a:tblGrid>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200" b="1" i="0" u="none" strike="noStrike" cap="none" normalizeH="0" baseline="0" dirty="0">
                          <a:ln>
                            <a:noFill/>
                          </a:ln>
                          <a:solidFill>
                            <a:schemeClr val="accent6">
                              <a:lumMod val="50000"/>
                            </a:schemeClr>
                          </a:solidFill>
                          <a:effectLst/>
                          <a:latin typeface="Arial Black" panose="020B0A04020102020204" pitchFamily="34" charset="0"/>
                        </a:rPr>
                        <a:t>   List alternatives</a:t>
                      </a:r>
                    </a:p>
                  </a:txBody>
                  <a:tcPr>
                    <a:solidFill>
                      <a:schemeClr val="bg2"/>
                    </a:solidFill>
                  </a:tcPr>
                </a:tc>
                <a:extLst>
                  <a:ext uri="{0D108BD9-81ED-4DB2-BD59-A6C34878D82A}">
                    <a16:rowId xmlns:a16="http://schemas.microsoft.com/office/drawing/2014/main" val="3206092998"/>
                  </a:ext>
                </a:extLst>
              </a:tr>
            </a:tbl>
          </a:graphicData>
        </a:graphic>
      </p:graphicFrame>
      <p:graphicFrame>
        <p:nvGraphicFramePr>
          <p:cNvPr id="16" name="Table 15">
            <a:extLst>
              <a:ext uri="{FF2B5EF4-FFF2-40B4-BE49-F238E27FC236}">
                <a16:creationId xmlns:a16="http://schemas.microsoft.com/office/drawing/2014/main" id="{BA16C3FA-7741-E2EF-A551-F94830932718}"/>
              </a:ext>
            </a:extLst>
          </p:cNvPr>
          <p:cNvGraphicFramePr>
            <a:graphicFrameLocks noGrp="1"/>
          </p:cNvGraphicFramePr>
          <p:nvPr>
            <p:extLst>
              <p:ext uri="{D42A27DB-BD31-4B8C-83A1-F6EECF244321}">
                <p14:modId xmlns:p14="http://schemas.microsoft.com/office/powerpoint/2010/main" val="3156221907"/>
              </p:ext>
            </p:extLst>
          </p:nvPr>
        </p:nvGraphicFramePr>
        <p:xfrm>
          <a:off x="534387" y="3843698"/>
          <a:ext cx="3843742" cy="426720"/>
        </p:xfrm>
        <a:graphic>
          <a:graphicData uri="http://schemas.openxmlformats.org/drawingml/2006/table">
            <a:tbl>
              <a:tblPr firstRow="1" bandRow="1">
                <a:tableStyleId>{5C22544A-7EE6-4342-B048-85BDC9FD1C3A}</a:tableStyleId>
              </a:tblPr>
              <a:tblGrid>
                <a:gridCol w="3843742">
                  <a:extLst>
                    <a:ext uri="{9D8B030D-6E8A-4147-A177-3AD203B41FA5}">
                      <a16:colId xmlns:a16="http://schemas.microsoft.com/office/drawing/2014/main" val="2930627303"/>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200" b="1" i="0" u="none" strike="noStrike" cap="none" normalizeH="0" baseline="0" dirty="0">
                          <a:ln>
                            <a:noFill/>
                          </a:ln>
                          <a:solidFill>
                            <a:schemeClr val="accent6">
                              <a:lumMod val="50000"/>
                            </a:schemeClr>
                          </a:solidFill>
                          <a:effectLst/>
                          <a:latin typeface="Arial Black" panose="020B0A04020102020204" pitchFamily="34" charset="0"/>
                        </a:rPr>
                        <a:t>Evaluate consequences</a:t>
                      </a:r>
                    </a:p>
                  </a:txBody>
                  <a:tcPr>
                    <a:solidFill>
                      <a:schemeClr val="bg2"/>
                    </a:solidFill>
                  </a:tcPr>
                </a:tc>
                <a:extLst>
                  <a:ext uri="{0D108BD9-81ED-4DB2-BD59-A6C34878D82A}">
                    <a16:rowId xmlns:a16="http://schemas.microsoft.com/office/drawing/2014/main" val="2480824315"/>
                  </a:ext>
                </a:extLst>
              </a:tr>
            </a:tbl>
          </a:graphicData>
        </a:graphic>
      </p:graphicFrame>
      <p:graphicFrame>
        <p:nvGraphicFramePr>
          <p:cNvPr id="17" name="Table 16">
            <a:extLst>
              <a:ext uri="{FF2B5EF4-FFF2-40B4-BE49-F238E27FC236}">
                <a16:creationId xmlns:a16="http://schemas.microsoft.com/office/drawing/2014/main" id="{F7EA4641-B996-7F92-46F6-0C2D02D49ECB}"/>
              </a:ext>
            </a:extLst>
          </p:cNvPr>
          <p:cNvGraphicFramePr>
            <a:graphicFrameLocks noGrp="1"/>
          </p:cNvGraphicFramePr>
          <p:nvPr>
            <p:extLst>
              <p:ext uri="{D42A27DB-BD31-4B8C-83A1-F6EECF244321}">
                <p14:modId xmlns:p14="http://schemas.microsoft.com/office/powerpoint/2010/main" val="2937568129"/>
              </p:ext>
            </p:extLst>
          </p:nvPr>
        </p:nvGraphicFramePr>
        <p:xfrm>
          <a:off x="629045" y="4626102"/>
          <a:ext cx="3654425" cy="426720"/>
        </p:xfrm>
        <a:graphic>
          <a:graphicData uri="http://schemas.openxmlformats.org/drawingml/2006/table">
            <a:tbl>
              <a:tblPr firstRow="1" bandRow="1">
                <a:tableStyleId>{5C22544A-7EE6-4342-B048-85BDC9FD1C3A}</a:tableStyleId>
              </a:tblPr>
              <a:tblGrid>
                <a:gridCol w="3654425">
                  <a:extLst>
                    <a:ext uri="{9D8B030D-6E8A-4147-A177-3AD203B41FA5}">
                      <a16:colId xmlns:a16="http://schemas.microsoft.com/office/drawing/2014/main" val="4258037098"/>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200" b="1" i="0" u="none" strike="noStrike" cap="none" normalizeH="0" baseline="0" dirty="0">
                          <a:ln>
                            <a:noFill/>
                          </a:ln>
                          <a:solidFill>
                            <a:schemeClr val="accent6">
                              <a:lumMod val="50000"/>
                            </a:schemeClr>
                          </a:solidFill>
                          <a:effectLst/>
                          <a:latin typeface="Arial Black" panose="020B0A04020102020204" pitchFamily="34" charset="0"/>
                        </a:rPr>
                        <a:t>  Choose best option</a:t>
                      </a:r>
                    </a:p>
                  </a:txBody>
                  <a:tcPr>
                    <a:solidFill>
                      <a:schemeClr val="bg2"/>
                    </a:solidFill>
                  </a:tcPr>
                </a:tc>
                <a:extLst>
                  <a:ext uri="{0D108BD9-81ED-4DB2-BD59-A6C34878D82A}">
                    <a16:rowId xmlns:a16="http://schemas.microsoft.com/office/drawing/2014/main" val="2311274360"/>
                  </a:ext>
                </a:extLst>
              </a:tr>
            </a:tbl>
          </a:graphicData>
        </a:graphic>
      </p:graphicFrame>
    </p:spTree>
    <p:extLst>
      <p:ext uri="{BB962C8B-B14F-4D97-AF65-F5344CB8AC3E}">
        <p14:creationId xmlns:p14="http://schemas.microsoft.com/office/powerpoint/2010/main" val="25351371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EAFCEC-CB94-B32F-6D97-913D1AB9B601}"/>
              </a:ext>
            </a:extLst>
          </p:cNvPr>
          <p:cNvSpPr>
            <a:spLocks noGrp="1"/>
          </p:cNvSpPr>
          <p:nvPr>
            <p:ph type="title"/>
          </p:nvPr>
        </p:nvSpPr>
        <p:spPr>
          <a:xfrm>
            <a:off x="838200" y="365125"/>
            <a:ext cx="10515600" cy="620713"/>
          </a:xfrm>
        </p:spPr>
        <p:txBody>
          <a:bodyPr>
            <a:noAutofit/>
          </a:bodyPr>
          <a:lstStyle/>
          <a:p>
            <a:pPr algn="ctr"/>
            <a:r>
              <a:rPr lang="en-US" sz="3600" b="1" dirty="0">
                <a:solidFill>
                  <a:srgbClr val="FF0000"/>
                </a:solidFill>
                <a:latin typeface="Arial Black" panose="020B0A04020102020204" pitchFamily="34" charset="0"/>
              </a:rPr>
              <a:t>EMOTIONAL INTELLIGENCE (EI)</a:t>
            </a:r>
          </a:p>
        </p:txBody>
      </p:sp>
      <p:sp>
        <p:nvSpPr>
          <p:cNvPr id="3" name="Content Placeholder 2">
            <a:extLst>
              <a:ext uri="{FF2B5EF4-FFF2-40B4-BE49-F238E27FC236}">
                <a16:creationId xmlns:a16="http://schemas.microsoft.com/office/drawing/2014/main" id="{E0476583-083B-73DF-837D-D2219A777CDE}"/>
              </a:ext>
            </a:extLst>
          </p:cNvPr>
          <p:cNvSpPr>
            <a:spLocks noGrp="1"/>
          </p:cNvSpPr>
          <p:nvPr>
            <p:ph idx="1"/>
          </p:nvPr>
        </p:nvSpPr>
        <p:spPr>
          <a:xfrm>
            <a:off x="838200" y="1128713"/>
            <a:ext cx="10515600" cy="5364162"/>
          </a:xfrm>
        </p:spPr>
        <p:txBody>
          <a:bodyPr>
            <a:normAutofit/>
          </a:bodyPr>
          <a:lstStyle/>
          <a:p>
            <a:pPr marL="0" indent="0" algn="just">
              <a:lnSpc>
                <a:spcPct val="110000"/>
              </a:lnSpc>
              <a:buNone/>
            </a:pPr>
            <a:r>
              <a:rPr lang="en-US" sz="2400" b="1" dirty="0"/>
              <a:t>While Ethics and Morals provide the rules and character for making decisions, Emotional Intelligence (EI or EQ) is the engine that allows you to actually put those values into practice, especially under pressure.</a:t>
            </a:r>
          </a:p>
          <a:p>
            <a:pPr marL="0" indent="0" algn="just">
              <a:lnSpc>
                <a:spcPct val="110000"/>
              </a:lnSpc>
              <a:buNone/>
            </a:pPr>
            <a:r>
              <a:rPr lang="en-US" sz="2400" b="1" dirty="0"/>
              <a:t>Emotional Intelligence is the ability to recognize, understand, and manage your own emotions while also recognizing and influencing the emotions of others.</a:t>
            </a:r>
          </a:p>
          <a:p>
            <a:pPr marL="0" indent="0">
              <a:buNone/>
            </a:pPr>
            <a:endParaRPr lang="en-US" sz="3800" b="1" dirty="0">
              <a:solidFill>
                <a:schemeClr val="accent2">
                  <a:lumMod val="75000"/>
                </a:schemeClr>
              </a:solidFill>
              <a:latin typeface="Arial Black" panose="020B0A04020102020204" pitchFamily="34" charset="0"/>
            </a:endParaRPr>
          </a:p>
          <a:p>
            <a:pPr marL="0" indent="0">
              <a:buNone/>
            </a:pPr>
            <a:endParaRPr lang="en-US" dirty="0"/>
          </a:p>
          <a:p>
            <a:pPr marL="0" indent="0">
              <a:buNone/>
            </a:pPr>
            <a:endParaRPr lang="en-US" dirty="0"/>
          </a:p>
          <a:p>
            <a:pPr marL="0" indent="0">
              <a:buNone/>
            </a:pPr>
            <a:endParaRPr lang="en-US" dirty="0"/>
          </a:p>
          <a:p>
            <a:pPr marL="0" indent="0">
              <a:buNone/>
            </a:pPr>
            <a:endParaRPr lang="en-US" dirty="0"/>
          </a:p>
        </p:txBody>
      </p:sp>
      <p:sp>
        <p:nvSpPr>
          <p:cNvPr id="4" name="TextBox 3">
            <a:extLst>
              <a:ext uri="{FF2B5EF4-FFF2-40B4-BE49-F238E27FC236}">
                <a16:creationId xmlns:a16="http://schemas.microsoft.com/office/drawing/2014/main" id="{ECCB7772-4226-9C76-4186-811F645DE6B1}"/>
              </a:ext>
            </a:extLst>
          </p:cNvPr>
          <p:cNvSpPr txBox="1"/>
          <p:nvPr/>
        </p:nvSpPr>
        <p:spPr>
          <a:xfrm>
            <a:off x="7843840" y="3897312"/>
            <a:ext cx="3286125" cy="1938992"/>
          </a:xfrm>
          <a:prstGeom prst="rect">
            <a:avLst/>
          </a:prstGeom>
          <a:noFill/>
        </p:spPr>
        <p:txBody>
          <a:bodyPr wrap="square" rtlCol="0">
            <a:spAutoFit/>
          </a:bodyPr>
          <a:lstStyle/>
          <a:p>
            <a:r>
              <a:rPr lang="en-US" sz="2400" b="1" dirty="0">
                <a:solidFill>
                  <a:schemeClr val="accent2">
                    <a:lumMod val="75000"/>
                  </a:schemeClr>
                </a:solidFill>
                <a:latin typeface="Arial Black" panose="020B0A04020102020204" pitchFamily="34" charset="0"/>
              </a:rPr>
              <a:t>Benefits</a:t>
            </a:r>
          </a:p>
          <a:p>
            <a:pPr marL="285750" indent="-285750">
              <a:buFont typeface="Wingdings" panose="05000000000000000000" pitchFamily="2" charset="2"/>
              <a:buChar char="§"/>
            </a:pPr>
            <a:r>
              <a:rPr lang="en-US" sz="2400" b="1" dirty="0">
                <a:solidFill>
                  <a:schemeClr val="accent6">
                    <a:lumMod val="50000"/>
                  </a:schemeClr>
                </a:solidFill>
              </a:rPr>
              <a:t>Better leadership</a:t>
            </a:r>
          </a:p>
          <a:p>
            <a:pPr marL="285750" indent="-285750">
              <a:buFont typeface="Wingdings" panose="05000000000000000000" pitchFamily="2" charset="2"/>
              <a:buChar char="§"/>
            </a:pPr>
            <a:r>
              <a:rPr lang="en-US" sz="2400" b="1" dirty="0">
                <a:solidFill>
                  <a:schemeClr val="accent6">
                    <a:lumMod val="50000"/>
                  </a:schemeClr>
                </a:solidFill>
              </a:rPr>
              <a:t>Reduced conflicts</a:t>
            </a:r>
          </a:p>
          <a:p>
            <a:pPr marL="285750" indent="-285750">
              <a:buFont typeface="Wingdings" panose="05000000000000000000" pitchFamily="2" charset="2"/>
              <a:buChar char="§"/>
            </a:pPr>
            <a:r>
              <a:rPr lang="en-US" sz="2400" b="1" dirty="0">
                <a:solidFill>
                  <a:schemeClr val="accent6">
                    <a:lumMod val="50000"/>
                  </a:schemeClr>
                </a:solidFill>
              </a:rPr>
              <a:t>Ethical workplace culture</a:t>
            </a:r>
            <a:endParaRPr lang="en-US" sz="2000" b="1" dirty="0">
              <a:solidFill>
                <a:schemeClr val="accent6">
                  <a:lumMod val="50000"/>
                </a:schemeClr>
              </a:solidFill>
            </a:endParaRPr>
          </a:p>
        </p:txBody>
      </p:sp>
      <p:sp>
        <p:nvSpPr>
          <p:cNvPr id="6" name="TextBox 5">
            <a:extLst>
              <a:ext uri="{FF2B5EF4-FFF2-40B4-BE49-F238E27FC236}">
                <a16:creationId xmlns:a16="http://schemas.microsoft.com/office/drawing/2014/main" id="{0E1C1AD9-EF74-9B4D-6046-F3C42E6378FD}"/>
              </a:ext>
            </a:extLst>
          </p:cNvPr>
          <p:cNvSpPr txBox="1"/>
          <p:nvPr/>
        </p:nvSpPr>
        <p:spPr>
          <a:xfrm>
            <a:off x="1062038" y="3870325"/>
            <a:ext cx="3286124" cy="2677656"/>
          </a:xfrm>
          <a:prstGeom prst="rect">
            <a:avLst/>
          </a:prstGeom>
          <a:noFill/>
        </p:spPr>
        <p:txBody>
          <a:bodyPr wrap="square" rtlCol="0">
            <a:spAutoFit/>
          </a:bodyPr>
          <a:lstStyle/>
          <a:p>
            <a:r>
              <a:rPr lang="en-US" sz="2400" b="1" dirty="0">
                <a:solidFill>
                  <a:schemeClr val="accent2">
                    <a:lumMod val="75000"/>
                  </a:schemeClr>
                </a:solidFill>
                <a:latin typeface="Arial Black" panose="020B0A04020102020204" pitchFamily="34" charset="0"/>
              </a:rPr>
              <a:t>Components</a:t>
            </a:r>
          </a:p>
          <a:p>
            <a:pPr>
              <a:buFont typeface="Wingdings" panose="05000000000000000000" pitchFamily="2" charset="2"/>
              <a:buChar char="§"/>
            </a:pPr>
            <a:r>
              <a:rPr lang="en-US" sz="2400" b="1" dirty="0">
                <a:solidFill>
                  <a:schemeClr val="accent6">
                    <a:lumMod val="50000"/>
                  </a:schemeClr>
                </a:solidFill>
              </a:rPr>
              <a:t>Self-awareness</a:t>
            </a:r>
          </a:p>
          <a:p>
            <a:pPr>
              <a:buFont typeface="Wingdings" panose="05000000000000000000" pitchFamily="2" charset="2"/>
              <a:buChar char="§"/>
            </a:pPr>
            <a:r>
              <a:rPr lang="en-US" sz="2400" b="1" dirty="0">
                <a:solidFill>
                  <a:schemeClr val="accent6">
                    <a:lumMod val="50000"/>
                  </a:schemeClr>
                </a:solidFill>
              </a:rPr>
              <a:t>Self-regulation</a:t>
            </a:r>
          </a:p>
          <a:p>
            <a:pPr>
              <a:buFont typeface="Wingdings" panose="05000000000000000000" pitchFamily="2" charset="2"/>
              <a:buChar char="§"/>
            </a:pPr>
            <a:r>
              <a:rPr lang="en-US" sz="2400" b="1" dirty="0">
                <a:solidFill>
                  <a:schemeClr val="accent6">
                    <a:lumMod val="50000"/>
                  </a:schemeClr>
                </a:solidFill>
              </a:rPr>
              <a:t>Motivation</a:t>
            </a:r>
          </a:p>
          <a:p>
            <a:pPr>
              <a:buFont typeface="Wingdings" panose="05000000000000000000" pitchFamily="2" charset="2"/>
              <a:buChar char="§"/>
            </a:pPr>
            <a:r>
              <a:rPr lang="en-US" sz="2400" b="1" dirty="0">
                <a:solidFill>
                  <a:schemeClr val="accent6">
                    <a:lumMod val="50000"/>
                  </a:schemeClr>
                </a:solidFill>
              </a:rPr>
              <a:t>Empathy</a:t>
            </a:r>
          </a:p>
          <a:p>
            <a:pPr>
              <a:buFont typeface="Wingdings" panose="05000000000000000000" pitchFamily="2" charset="2"/>
              <a:buChar char="§"/>
            </a:pPr>
            <a:r>
              <a:rPr lang="en-US" sz="2400" b="1" dirty="0">
                <a:solidFill>
                  <a:schemeClr val="accent6">
                    <a:lumMod val="50000"/>
                  </a:schemeClr>
                </a:solidFill>
              </a:rPr>
              <a:t>Social skills</a:t>
            </a:r>
          </a:p>
          <a:p>
            <a:endParaRPr lang="en-US" sz="2400" dirty="0"/>
          </a:p>
        </p:txBody>
      </p:sp>
    </p:spTree>
    <p:extLst>
      <p:ext uri="{BB962C8B-B14F-4D97-AF65-F5344CB8AC3E}">
        <p14:creationId xmlns:p14="http://schemas.microsoft.com/office/powerpoint/2010/main" val="20670937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2514ED7-8F3A-486C-C5E2-5BD01EF84144}"/>
              </a:ext>
            </a:extLst>
          </p:cNvPr>
          <p:cNvSpPr txBox="1"/>
          <p:nvPr/>
        </p:nvSpPr>
        <p:spPr>
          <a:xfrm>
            <a:off x="442912" y="771525"/>
            <a:ext cx="6357939" cy="2554545"/>
          </a:xfrm>
          <a:prstGeom prst="rect">
            <a:avLst/>
          </a:prstGeom>
          <a:noFill/>
        </p:spPr>
        <p:txBody>
          <a:bodyPr wrap="square" rtlCol="0">
            <a:spAutoFit/>
          </a:bodyPr>
          <a:lstStyle/>
          <a:p>
            <a:r>
              <a:rPr lang="en-US" sz="2400" b="1" u="sng" dirty="0">
                <a:solidFill>
                  <a:schemeClr val="accent5">
                    <a:lumMod val="50000"/>
                  </a:schemeClr>
                </a:solidFill>
              </a:rPr>
              <a:t>Emotional Intelligence is the ability to:</a:t>
            </a:r>
          </a:p>
          <a:p>
            <a:pPr marL="342900" indent="-342900">
              <a:buFont typeface="Courier New" panose="02070309020205020404" pitchFamily="49" charset="0"/>
              <a:buChar char="o"/>
            </a:pPr>
            <a:r>
              <a:rPr lang="en-US" sz="2200" b="1" dirty="0">
                <a:solidFill>
                  <a:schemeClr val="accent5">
                    <a:lumMod val="50000"/>
                  </a:schemeClr>
                </a:solidFill>
              </a:rPr>
              <a:t>Understand your own emotions</a:t>
            </a:r>
          </a:p>
          <a:p>
            <a:pPr marL="342900" indent="-342900">
              <a:buFont typeface="Courier New" panose="02070309020205020404" pitchFamily="49" charset="0"/>
              <a:buChar char="o"/>
            </a:pPr>
            <a:r>
              <a:rPr lang="en-US" sz="2200" b="1" dirty="0">
                <a:solidFill>
                  <a:schemeClr val="accent5">
                    <a:lumMod val="50000"/>
                  </a:schemeClr>
                </a:solidFill>
              </a:rPr>
              <a:t>Control your reactions</a:t>
            </a:r>
          </a:p>
          <a:p>
            <a:pPr marL="342900" indent="-342900">
              <a:buFont typeface="Courier New" panose="02070309020205020404" pitchFamily="49" charset="0"/>
              <a:buChar char="o"/>
            </a:pPr>
            <a:r>
              <a:rPr lang="en-US" sz="2200" b="1" dirty="0">
                <a:solidFill>
                  <a:schemeClr val="accent5">
                    <a:lumMod val="50000"/>
                  </a:schemeClr>
                </a:solidFill>
              </a:rPr>
              <a:t>Understand others’ emotions</a:t>
            </a:r>
          </a:p>
          <a:p>
            <a:pPr marL="342900" indent="-342900">
              <a:buFont typeface="Courier New" panose="02070309020205020404" pitchFamily="49" charset="0"/>
              <a:buChar char="o"/>
            </a:pPr>
            <a:r>
              <a:rPr lang="en-US" sz="2200" b="1" dirty="0">
                <a:solidFill>
                  <a:schemeClr val="accent5">
                    <a:lumMod val="50000"/>
                  </a:schemeClr>
                </a:solidFill>
              </a:rPr>
              <a:t>Manage relationships effectively</a:t>
            </a:r>
          </a:p>
          <a:p>
            <a:endParaRPr lang="en-US" sz="2400" b="1" dirty="0">
              <a:solidFill>
                <a:schemeClr val="accent5">
                  <a:lumMod val="50000"/>
                </a:schemeClr>
              </a:solidFill>
            </a:endParaRPr>
          </a:p>
          <a:p>
            <a:r>
              <a:rPr lang="en-US" sz="2400" b="1" dirty="0">
                <a:solidFill>
                  <a:schemeClr val="accent2">
                    <a:lumMod val="50000"/>
                  </a:schemeClr>
                </a:solidFill>
              </a:rPr>
              <a:t>EI = Managing emotions intelligently</a:t>
            </a:r>
          </a:p>
        </p:txBody>
      </p:sp>
      <p:pic>
        <p:nvPicPr>
          <p:cNvPr id="4" name="Picture 3">
            <a:extLst>
              <a:ext uri="{FF2B5EF4-FFF2-40B4-BE49-F238E27FC236}">
                <a16:creationId xmlns:a16="http://schemas.microsoft.com/office/drawing/2014/main" id="{E625EAB8-42CD-4BBE-1FE0-F43F5231F4EE}"/>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5486401" y="0"/>
            <a:ext cx="6705600" cy="6858000"/>
          </a:xfrm>
          <a:prstGeom prst="rect">
            <a:avLst/>
          </a:prstGeom>
          <a:ln>
            <a:solidFill>
              <a:schemeClr val="accent2"/>
            </a:solidFill>
          </a:ln>
        </p:spPr>
      </p:pic>
    </p:spTree>
    <p:extLst>
      <p:ext uri="{BB962C8B-B14F-4D97-AF65-F5344CB8AC3E}">
        <p14:creationId xmlns:p14="http://schemas.microsoft.com/office/powerpoint/2010/main" val="1326540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E74D7A2-B0C7-FE3C-6FF5-5D72ACB2154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1511590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97A7724-F751-4AC4-9DFD-5A918581BC5F}"/>
              </a:ext>
            </a:extLst>
          </p:cNvPr>
          <p:cNvSpPr txBox="1"/>
          <p:nvPr/>
        </p:nvSpPr>
        <p:spPr>
          <a:xfrm>
            <a:off x="659606" y="963453"/>
            <a:ext cx="10872788" cy="5139869"/>
          </a:xfrm>
          <a:prstGeom prst="rect">
            <a:avLst/>
          </a:prstGeom>
          <a:noFill/>
        </p:spPr>
        <p:txBody>
          <a:bodyPr wrap="square" rtlCol="0">
            <a:spAutoFit/>
          </a:bodyPr>
          <a:lstStyle/>
          <a:p>
            <a:r>
              <a:rPr lang="en-US" sz="2800" b="1" u="sng" dirty="0">
                <a:solidFill>
                  <a:schemeClr val="accent5">
                    <a:lumMod val="50000"/>
                  </a:schemeClr>
                </a:solidFill>
                <a:latin typeface="Arial Black" panose="020B0A04020102020204" pitchFamily="34" charset="0"/>
              </a:rPr>
              <a:t>Importance of EI in Engineering Ethics</a:t>
            </a:r>
          </a:p>
          <a:p>
            <a:endParaRPr lang="en-US" sz="2400" b="1" u="sng" dirty="0">
              <a:solidFill>
                <a:schemeClr val="accent2">
                  <a:lumMod val="50000"/>
                </a:schemeClr>
              </a:solidFill>
              <a:latin typeface="Arial Black" panose="020B0A04020102020204" pitchFamily="34" charset="0"/>
            </a:endParaRPr>
          </a:p>
          <a:p>
            <a:r>
              <a:rPr lang="en-US" sz="2400" b="1" u="sng" dirty="0">
                <a:solidFill>
                  <a:schemeClr val="accent2">
                    <a:lumMod val="50000"/>
                  </a:schemeClr>
                </a:solidFill>
                <a:latin typeface="Arial Black" panose="020B0A04020102020204" pitchFamily="34" charset="0"/>
              </a:rPr>
              <a:t>Everyone is facing:</a:t>
            </a:r>
          </a:p>
          <a:p>
            <a:pPr marL="342900" indent="-342900">
              <a:buFont typeface="Courier New" panose="02070309020205020404" pitchFamily="49" charset="0"/>
              <a:buChar char="o"/>
            </a:pPr>
            <a:r>
              <a:rPr lang="en-US" sz="2200" b="1" dirty="0"/>
              <a:t>Pressure from management</a:t>
            </a:r>
          </a:p>
          <a:p>
            <a:pPr marL="342900" indent="-342900">
              <a:buFont typeface="Courier New" panose="02070309020205020404" pitchFamily="49" charset="0"/>
              <a:buChar char="o"/>
            </a:pPr>
            <a:r>
              <a:rPr lang="en-US" sz="2200" b="1" dirty="0"/>
              <a:t>Tight deadlines</a:t>
            </a:r>
          </a:p>
          <a:p>
            <a:pPr marL="342900" indent="-342900">
              <a:buFont typeface="Courier New" panose="02070309020205020404" pitchFamily="49" charset="0"/>
              <a:buChar char="o"/>
            </a:pPr>
            <a:r>
              <a:rPr lang="en-US" sz="2200" b="1" dirty="0"/>
              <a:t>Ethical dilemmas</a:t>
            </a:r>
          </a:p>
          <a:p>
            <a:pPr marL="342900" indent="-342900">
              <a:buFont typeface="Courier New" panose="02070309020205020404" pitchFamily="49" charset="0"/>
              <a:buChar char="o"/>
            </a:pPr>
            <a:r>
              <a:rPr lang="en-US" sz="2200" b="1" dirty="0"/>
              <a:t>Conflict of interest</a:t>
            </a:r>
          </a:p>
          <a:p>
            <a:endParaRPr lang="en-US" sz="2400" dirty="0"/>
          </a:p>
          <a:p>
            <a:endParaRPr lang="en-US" sz="2400" dirty="0"/>
          </a:p>
          <a:p>
            <a:endParaRPr lang="en-US" sz="2400" dirty="0"/>
          </a:p>
          <a:p>
            <a:r>
              <a:rPr lang="en-US" sz="2400" u="sng" dirty="0">
                <a:solidFill>
                  <a:schemeClr val="accent2">
                    <a:lumMod val="50000"/>
                  </a:schemeClr>
                </a:solidFill>
                <a:latin typeface="Arial Black" panose="020B0A04020102020204" pitchFamily="34" charset="0"/>
              </a:rPr>
              <a:t>With EI:</a:t>
            </a:r>
          </a:p>
          <a:p>
            <a:pPr marL="342900" indent="-342900">
              <a:buFont typeface="Courier New" panose="02070309020205020404" pitchFamily="49" charset="0"/>
              <a:buChar char="o"/>
            </a:pPr>
            <a:r>
              <a:rPr lang="en-US" sz="2200" b="1" dirty="0"/>
              <a:t>Calm reasoning</a:t>
            </a:r>
          </a:p>
          <a:p>
            <a:pPr marL="342900" indent="-342900">
              <a:buFont typeface="Courier New" panose="02070309020205020404" pitchFamily="49" charset="0"/>
              <a:buChar char="o"/>
            </a:pPr>
            <a:r>
              <a:rPr lang="en-US" sz="2200" b="1" dirty="0"/>
              <a:t>Responsible behavior</a:t>
            </a:r>
          </a:p>
          <a:p>
            <a:endParaRPr lang="en-US" sz="2400" b="1" u="sng" dirty="0">
              <a:solidFill>
                <a:schemeClr val="accent2">
                  <a:lumMod val="50000"/>
                </a:schemeClr>
              </a:solidFill>
              <a:latin typeface="Arial Black" panose="020B0A04020102020204" pitchFamily="34" charset="0"/>
            </a:endParaRPr>
          </a:p>
        </p:txBody>
      </p:sp>
      <p:sp>
        <p:nvSpPr>
          <p:cNvPr id="3" name="TextBox 2">
            <a:extLst>
              <a:ext uri="{FF2B5EF4-FFF2-40B4-BE49-F238E27FC236}">
                <a16:creationId xmlns:a16="http://schemas.microsoft.com/office/drawing/2014/main" id="{AA4B8895-4351-A7E1-7ECC-F08FE230234F}"/>
              </a:ext>
            </a:extLst>
          </p:cNvPr>
          <p:cNvSpPr txBox="1"/>
          <p:nvPr/>
        </p:nvSpPr>
        <p:spPr>
          <a:xfrm>
            <a:off x="7165180" y="1715394"/>
            <a:ext cx="4264820" cy="2431435"/>
          </a:xfrm>
          <a:prstGeom prst="rect">
            <a:avLst/>
          </a:prstGeom>
          <a:noFill/>
        </p:spPr>
        <p:txBody>
          <a:bodyPr wrap="square" rtlCol="0">
            <a:spAutoFit/>
          </a:bodyPr>
          <a:lstStyle/>
          <a:p>
            <a:r>
              <a:rPr lang="en-US" sz="2400" u="sng" dirty="0">
                <a:solidFill>
                  <a:schemeClr val="accent2">
                    <a:lumMod val="50000"/>
                  </a:schemeClr>
                </a:solidFill>
                <a:latin typeface="Arial Black" panose="020B0A04020102020204" pitchFamily="34" charset="0"/>
              </a:rPr>
              <a:t>Without EI:</a:t>
            </a:r>
          </a:p>
          <a:p>
            <a:pPr marL="342900" indent="-342900">
              <a:buFont typeface="Courier New" panose="02070309020205020404" pitchFamily="49" charset="0"/>
              <a:buChar char="o"/>
            </a:pPr>
            <a:r>
              <a:rPr lang="en-US" sz="2200" b="1" dirty="0"/>
              <a:t>Anger</a:t>
            </a:r>
          </a:p>
          <a:p>
            <a:pPr marL="342900" indent="-342900">
              <a:buFont typeface="Courier New" panose="02070309020205020404" pitchFamily="49" charset="0"/>
              <a:buChar char="o"/>
            </a:pPr>
            <a:r>
              <a:rPr lang="en-US" sz="2200" b="1" dirty="0"/>
              <a:t>Fear</a:t>
            </a:r>
          </a:p>
          <a:p>
            <a:pPr marL="342900" indent="-342900">
              <a:buFont typeface="Courier New" panose="02070309020205020404" pitchFamily="49" charset="0"/>
              <a:buChar char="o"/>
            </a:pPr>
            <a:r>
              <a:rPr lang="en-US" sz="2200" b="1" dirty="0"/>
              <a:t>Greed</a:t>
            </a:r>
          </a:p>
          <a:p>
            <a:pPr marL="342900" indent="-342900">
              <a:buFont typeface="Courier New" panose="02070309020205020404" pitchFamily="49" charset="0"/>
              <a:buChar char="o"/>
            </a:pPr>
            <a:r>
              <a:rPr lang="en-US" sz="2200" b="1" dirty="0"/>
              <a:t>Ego</a:t>
            </a:r>
          </a:p>
          <a:p>
            <a:pPr algn="just"/>
            <a:r>
              <a:rPr lang="en-US" sz="2200" b="1" dirty="0"/>
              <a:t>May lead to unethical decisions.</a:t>
            </a:r>
          </a:p>
          <a:p>
            <a:endParaRPr lang="en-US" dirty="0"/>
          </a:p>
        </p:txBody>
      </p:sp>
    </p:spTree>
    <p:extLst>
      <p:ext uri="{BB962C8B-B14F-4D97-AF65-F5344CB8AC3E}">
        <p14:creationId xmlns:p14="http://schemas.microsoft.com/office/powerpoint/2010/main" val="29611811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E1581F-8946-564A-56E9-88765D5CF058}"/>
              </a:ext>
            </a:extLst>
          </p:cNvPr>
          <p:cNvSpPr>
            <a:spLocks noGrp="1"/>
          </p:cNvSpPr>
          <p:nvPr>
            <p:ph type="title"/>
          </p:nvPr>
        </p:nvSpPr>
        <p:spPr>
          <a:xfrm>
            <a:off x="614364" y="265113"/>
            <a:ext cx="11029948" cy="520699"/>
          </a:xfrm>
        </p:spPr>
        <p:txBody>
          <a:bodyPr>
            <a:normAutofit fontScale="90000"/>
          </a:bodyPr>
          <a:lstStyle/>
          <a:p>
            <a:pPr algn="ctr"/>
            <a:r>
              <a:rPr lang="en-US" sz="3600" b="1" dirty="0">
                <a:solidFill>
                  <a:srgbClr val="FF0000"/>
                </a:solidFill>
                <a:latin typeface="Arial Black" panose="020B0A04020102020204" pitchFamily="34" charset="0"/>
              </a:rPr>
              <a:t>MORAL DEVELOPMENT THEORY – JEAN PIAGET</a:t>
            </a:r>
          </a:p>
        </p:txBody>
      </p:sp>
      <p:sp>
        <p:nvSpPr>
          <p:cNvPr id="3" name="Content Placeholder 2">
            <a:extLst>
              <a:ext uri="{FF2B5EF4-FFF2-40B4-BE49-F238E27FC236}">
                <a16:creationId xmlns:a16="http://schemas.microsoft.com/office/drawing/2014/main" id="{AECA8B34-C932-82A4-423F-F3BE43D41C94}"/>
              </a:ext>
            </a:extLst>
          </p:cNvPr>
          <p:cNvSpPr>
            <a:spLocks noGrp="1"/>
          </p:cNvSpPr>
          <p:nvPr>
            <p:ph idx="1"/>
          </p:nvPr>
        </p:nvSpPr>
        <p:spPr>
          <a:xfrm>
            <a:off x="371475" y="928688"/>
            <a:ext cx="11272837" cy="5807074"/>
          </a:xfrm>
        </p:spPr>
        <p:txBody>
          <a:bodyPr>
            <a:normAutofit fontScale="92500" lnSpcReduction="10000"/>
          </a:bodyPr>
          <a:lstStyle/>
          <a:p>
            <a:pPr algn="just">
              <a:buFont typeface="Wingdings" panose="05000000000000000000" pitchFamily="2" charset="2"/>
              <a:buChar char="ü"/>
            </a:pPr>
            <a:r>
              <a:rPr lang="en-US" sz="2600" b="1" dirty="0"/>
              <a:t> Morality is not something we are born with fully developed. As we grow, our understanding of right and wrong also grows. A child avoids wrong actions out of fear of punishment. An adult avoids wrong actions because of principles and responsibility. This growth in moral reasoning is called Moral Development. </a:t>
            </a:r>
          </a:p>
          <a:p>
            <a:pPr algn="just">
              <a:buFont typeface="Wingdings" panose="05000000000000000000" pitchFamily="2" charset="2"/>
              <a:buChar char="ü"/>
            </a:pPr>
            <a:r>
              <a:rPr lang="en-US" sz="2600" b="1" dirty="0"/>
              <a:t>Jean Piaget was a Swiss psychologist who studied how children develop thinking and reasoning abilities. He explained that moral understanding develops in stages as a child grows and Moral thinking changes with age and maturity.</a:t>
            </a:r>
          </a:p>
          <a:p>
            <a:pPr marL="0" indent="0">
              <a:buNone/>
            </a:pPr>
            <a:endParaRPr lang="en-US" dirty="0"/>
          </a:p>
          <a:p>
            <a:pPr marL="0" indent="0">
              <a:buNone/>
            </a:pPr>
            <a:r>
              <a:rPr lang="en-US" sz="2400" u="sng" dirty="0">
                <a:solidFill>
                  <a:schemeClr val="accent2">
                    <a:lumMod val="50000"/>
                  </a:schemeClr>
                </a:solidFill>
                <a:latin typeface="Arial Black" panose="020B0A04020102020204" pitchFamily="34" charset="0"/>
              </a:rPr>
              <a:t>Piaget said:</a:t>
            </a:r>
          </a:p>
          <a:p>
            <a:pPr marL="342900" indent="-342900">
              <a:buFont typeface="Wingdings" panose="05000000000000000000" pitchFamily="2" charset="2"/>
              <a:buChar char="ü"/>
            </a:pPr>
            <a:r>
              <a:rPr lang="en-US" sz="2600" b="1" dirty="0"/>
              <a:t>Children are not born with full moral understanding.</a:t>
            </a:r>
            <a:br>
              <a:rPr lang="en-US" sz="2600" dirty="0"/>
            </a:br>
            <a:endParaRPr lang="en-US" sz="2600" dirty="0"/>
          </a:p>
          <a:p>
            <a:pPr marL="0" indent="0">
              <a:buNone/>
            </a:pPr>
            <a:r>
              <a:rPr lang="en-US" sz="2600" b="1" u="sng" dirty="0">
                <a:solidFill>
                  <a:schemeClr val="accent5">
                    <a:lumMod val="50000"/>
                  </a:schemeClr>
                </a:solidFill>
              </a:rPr>
              <a:t>They gradually learn</a:t>
            </a:r>
            <a:r>
              <a:rPr lang="en-US" sz="2600" b="1" dirty="0">
                <a:solidFill>
                  <a:schemeClr val="accent5">
                    <a:lumMod val="50000"/>
                  </a:schemeClr>
                </a:solidFill>
              </a:rPr>
              <a:t>:</a:t>
            </a:r>
            <a:endParaRPr lang="en-US" b="1" dirty="0">
              <a:solidFill>
                <a:schemeClr val="accent5">
                  <a:lumMod val="50000"/>
                </a:schemeClr>
              </a:solidFill>
            </a:endParaRPr>
          </a:p>
          <a:p>
            <a:pPr marL="342900" indent="-342900">
              <a:buFont typeface="Courier New" panose="02070309020205020404" pitchFamily="49" charset="0"/>
              <a:buChar char="o"/>
            </a:pPr>
            <a:r>
              <a:rPr lang="en-US" sz="2600" b="1" dirty="0">
                <a:solidFill>
                  <a:schemeClr val="accent6">
                    <a:lumMod val="50000"/>
                  </a:schemeClr>
                </a:solidFill>
              </a:rPr>
              <a:t>What is right and wrong</a:t>
            </a:r>
          </a:p>
          <a:p>
            <a:pPr marL="342900" indent="-342900">
              <a:buFont typeface="Courier New" panose="02070309020205020404" pitchFamily="49" charset="0"/>
              <a:buChar char="o"/>
            </a:pPr>
            <a:r>
              <a:rPr lang="en-US" sz="2600" b="1" dirty="0">
                <a:solidFill>
                  <a:schemeClr val="accent6">
                    <a:lumMod val="50000"/>
                  </a:schemeClr>
                </a:solidFill>
              </a:rPr>
              <a:t>Why rules exist</a:t>
            </a:r>
          </a:p>
          <a:p>
            <a:pPr marL="342900" indent="-342900">
              <a:buFont typeface="Courier New" panose="02070309020205020404" pitchFamily="49" charset="0"/>
              <a:buChar char="o"/>
            </a:pPr>
            <a:r>
              <a:rPr lang="en-US" sz="2600" b="1" dirty="0">
                <a:solidFill>
                  <a:schemeClr val="accent6">
                    <a:lumMod val="50000"/>
                  </a:schemeClr>
                </a:solidFill>
              </a:rPr>
              <a:t>Whether rules can change</a:t>
            </a:r>
          </a:p>
          <a:p>
            <a:pPr marL="0" indent="0">
              <a:buNone/>
            </a:pPr>
            <a:endParaRPr lang="en-US" dirty="0"/>
          </a:p>
        </p:txBody>
      </p:sp>
      <p:pic>
        <p:nvPicPr>
          <p:cNvPr id="5" name="Picture 4">
            <a:extLst>
              <a:ext uri="{FF2B5EF4-FFF2-40B4-BE49-F238E27FC236}">
                <a16:creationId xmlns:a16="http://schemas.microsoft.com/office/drawing/2014/main" id="{0E166197-6561-BF23-D33F-79A6C1C085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15399" y="3271838"/>
            <a:ext cx="3048000" cy="3321049"/>
          </a:xfrm>
          <a:prstGeom prst="rect">
            <a:avLst/>
          </a:prstGeom>
        </p:spPr>
      </p:pic>
    </p:spTree>
    <p:extLst>
      <p:ext uri="{BB962C8B-B14F-4D97-AF65-F5344CB8AC3E}">
        <p14:creationId xmlns:p14="http://schemas.microsoft.com/office/powerpoint/2010/main" val="31615927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CB3E202-F876-2D1C-185C-3749FE735845}"/>
              </a:ext>
            </a:extLst>
          </p:cNvPr>
          <p:cNvSpPr txBox="1"/>
          <p:nvPr/>
        </p:nvSpPr>
        <p:spPr>
          <a:xfrm>
            <a:off x="471488" y="342900"/>
            <a:ext cx="11272837" cy="6155531"/>
          </a:xfrm>
          <a:prstGeom prst="rect">
            <a:avLst/>
          </a:prstGeom>
          <a:noFill/>
        </p:spPr>
        <p:txBody>
          <a:bodyPr wrap="square" rtlCol="0">
            <a:spAutoFit/>
          </a:bodyPr>
          <a:lstStyle/>
          <a:p>
            <a:endParaRPr lang="en-US" sz="2200" u="sng" dirty="0">
              <a:solidFill>
                <a:srgbClr val="FF0000"/>
              </a:solidFill>
            </a:endParaRPr>
          </a:p>
          <a:p>
            <a:r>
              <a:rPr lang="en-US" sz="2200" b="1" u="sng" dirty="0">
                <a:solidFill>
                  <a:srgbClr val="FF0000"/>
                </a:solidFill>
                <a:latin typeface="Arial Black" panose="020B0A04020102020204" pitchFamily="34" charset="0"/>
              </a:rPr>
              <a:t>Jean Piaget divided moral development into two main stages:</a:t>
            </a:r>
          </a:p>
          <a:p>
            <a:endParaRPr lang="en-US" dirty="0"/>
          </a:p>
          <a:p>
            <a:r>
              <a:rPr lang="en-US" sz="2200" b="1" dirty="0">
                <a:solidFill>
                  <a:schemeClr val="accent2">
                    <a:lumMod val="50000"/>
                  </a:schemeClr>
                </a:solidFill>
                <a:latin typeface="Arial Black" panose="020B0A04020102020204" pitchFamily="34" charset="0"/>
              </a:rPr>
              <a:t>Stage 1: Heteronomous Morality</a:t>
            </a:r>
            <a:r>
              <a:rPr lang="en-US" sz="2000" b="1" dirty="0">
                <a:solidFill>
                  <a:schemeClr val="accent2">
                    <a:lumMod val="50000"/>
                  </a:schemeClr>
                </a:solidFill>
                <a:latin typeface="Arial Black" panose="020B0A04020102020204" pitchFamily="34" charset="0"/>
              </a:rPr>
              <a:t> </a:t>
            </a:r>
            <a:r>
              <a:rPr lang="en-US" sz="2000" b="1" dirty="0"/>
              <a:t>(Usually seen in children below 10 years)</a:t>
            </a:r>
          </a:p>
          <a:p>
            <a:endParaRPr lang="en-US" sz="2000" b="1" dirty="0">
              <a:solidFill>
                <a:schemeClr val="accent4">
                  <a:lumMod val="50000"/>
                </a:schemeClr>
              </a:solidFill>
            </a:endParaRPr>
          </a:p>
          <a:p>
            <a:r>
              <a:rPr lang="en-US" sz="2000" b="1" dirty="0">
                <a:solidFill>
                  <a:schemeClr val="accent5">
                    <a:lumMod val="50000"/>
                  </a:schemeClr>
                </a:solidFill>
                <a:latin typeface="Arial Black" panose="020B0A04020102020204" pitchFamily="34" charset="0"/>
              </a:rPr>
              <a:t>Children believe:</a:t>
            </a:r>
          </a:p>
          <a:p>
            <a:pPr marL="342900" indent="-342900">
              <a:buFont typeface="Courier New" panose="02070309020205020404" pitchFamily="49" charset="0"/>
              <a:buChar char="o"/>
            </a:pPr>
            <a:r>
              <a:rPr lang="en-US" sz="2200" b="1" dirty="0">
                <a:solidFill>
                  <a:schemeClr val="accent6">
                    <a:lumMod val="50000"/>
                  </a:schemeClr>
                </a:solidFill>
              </a:rPr>
              <a:t>Rules are fixed and cannot be changed</a:t>
            </a:r>
          </a:p>
          <a:p>
            <a:pPr marL="342900" indent="-342900">
              <a:buFont typeface="Courier New" panose="02070309020205020404" pitchFamily="49" charset="0"/>
              <a:buChar char="o"/>
            </a:pPr>
            <a:r>
              <a:rPr lang="en-US" sz="2200" b="1" dirty="0">
                <a:solidFill>
                  <a:schemeClr val="accent6">
                    <a:lumMod val="50000"/>
                  </a:schemeClr>
                </a:solidFill>
              </a:rPr>
              <a:t>Rules are made by authority (parents, teachers)</a:t>
            </a:r>
          </a:p>
          <a:p>
            <a:pPr marL="342900" indent="-342900">
              <a:buFont typeface="Courier New" panose="02070309020205020404" pitchFamily="49" charset="0"/>
              <a:buChar char="o"/>
            </a:pPr>
            <a:r>
              <a:rPr lang="en-US" sz="2200" b="1" dirty="0">
                <a:solidFill>
                  <a:schemeClr val="accent6">
                    <a:lumMod val="50000"/>
                  </a:schemeClr>
                </a:solidFill>
              </a:rPr>
              <a:t>Breaking rules always deserves punishment</a:t>
            </a:r>
          </a:p>
          <a:p>
            <a:endParaRPr lang="en-US" sz="2400" b="1" dirty="0">
              <a:solidFill>
                <a:schemeClr val="accent4">
                  <a:lumMod val="50000"/>
                </a:schemeClr>
              </a:solidFill>
            </a:endParaRPr>
          </a:p>
          <a:p>
            <a:endParaRPr lang="en-US" sz="2400" b="1" u="sng" dirty="0">
              <a:solidFill>
                <a:schemeClr val="accent4">
                  <a:lumMod val="50000"/>
                </a:schemeClr>
              </a:solidFill>
            </a:endParaRPr>
          </a:p>
          <a:p>
            <a:r>
              <a:rPr lang="en-US" sz="2200" b="1" dirty="0">
                <a:solidFill>
                  <a:schemeClr val="accent2">
                    <a:lumMod val="50000"/>
                  </a:schemeClr>
                </a:solidFill>
                <a:latin typeface="Arial Black" panose="020B0A04020102020204" pitchFamily="34" charset="0"/>
              </a:rPr>
              <a:t>Stage 2: Autonomous Morality</a:t>
            </a:r>
            <a:r>
              <a:rPr lang="en-US" sz="2200" dirty="0">
                <a:solidFill>
                  <a:schemeClr val="accent2">
                    <a:lumMod val="50000"/>
                  </a:schemeClr>
                </a:solidFill>
                <a:latin typeface="Arial Black" panose="020B0A04020102020204" pitchFamily="34" charset="0"/>
              </a:rPr>
              <a:t> </a:t>
            </a:r>
            <a:r>
              <a:rPr lang="en-US" sz="2000" b="1" dirty="0"/>
              <a:t>(Usually after 10 years and continues into adulthood)</a:t>
            </a:r>
          </a:p>
          <a:p>
            <a:endParaRPr lang="en-US" sz="2400" b="1" u="sng" dirty="0">
              <a:solidFill>
                <a:schemeClr val="accent5">
                  <a:lumMod val="50000"/>
                </a:schemeClr>
              </a:solidFill>
            </a:endParaRPr>
          </a:p>
          <a:p>
            <a:r>
              <a:rPr lang="en-US" sz="2000" b="1" dirty="0">
                <a:solidFill>
                  <a:schemeClr val="accent5">
                    <a:lumMod val="50000"/>
                  </a:schemeClr>
                </a:solidFill>
                <a:latin typeface="Arial Black" panose="020B0A04020102020204" pitchFamily="34" charset="0"/>
              </a:rPr>
              <a:t>Children begin to understand:</a:t>
            </a:r>
          </a:p>
          <a:p>
            <a:pPr marL="342900" indent="-342900">
              <a:buFont typeface="Courier New" panose="02070309020205020404" pitchFamily="49" charset="0"/>
              <a:buChar char="o"/>
            </a:pPr>
            <a:r>
              <a:rPr lang="en-US" sz="2200" b="1" dirty="0">
                <a:solidFill>
                  <a:schemeClr val="accent6">
                    <a:lumMod val="50000"/>
                  </a:schemeClr>
                </a:solidFill>
              </a:rPr>
              <a:t>Rules are created by people</a:t>
            </a:r>
          </a:p>
          <a:p>
            <a:pPr marL="342900" indent="-342900">
              <a:buFont typeface="Courier New" panose="02070309020205020404" pitchFamily="49" charset="0"/>
              <a:buChar char="o"/>
            </a:pPr>
            <a:r>
              <a:rPr lang="en-US" sz="2200" b="1" dirty="0">
                <a:solidFill>
                  <a:schemeClr val="accent6">
                    <a:lumMod val="50000"/>
                  </a:schemeClr>
                </a:solidFill>
              </a:rPr>
              <a:t>Rules can be changed by agreement</a:t>
            </a:r>
          </a:p>
          <a:p>
            <a:pPr marL="342900" indent="-342900">
              <a:buFont typeface="Courier New" panose="02070309020205020404" pitchFamily="49" charset="0"/>
              <a:buChar char="o"/>
            </a:pPr>
            <a:r>
              <a:rPr lang="en-US" sz="2200" b="1" dirty="0">
                <a:solidFill>
                  <a:schemeClr val="accent6">
                    <a:lumMod val="50000"/>
                  </a:schemeClr>
                </a:solidFill>
              </a:rPr>
              <a:t>Intentions matter more than consequences</a:t>
            </a:r>
          </a:p>
          <a:p>
            <a:endParaRPr lang="en-US" sz="2400" b="1" dirty="0">
              <a:solidFill>
                <a:schemeClr val="accent4">
                  <a:lumMod val="50000"/>
                </a:schemeClr>
              </a:solidFill>
            </a:endParaRPr>
          </a:p>
        </p:txBody>
      </p:sp>
      <p:sp>
        <p:nvSpPr>
          <p:cNvPr id="3" name="TextBox 2">
            <a:extLst>
              <a:ext uri="{FF2B5EF4-FFF2-40B4-BE49-F238E27FC236}">
                <a16:creationId xmlns:a16="http://schemas.microsoft.com/office/drawing/2014/main" id="{CBB66B85-80AA-BCF2-0A50-5A86139D092C}"/>
              </a:ext>
            </a:extLst>
          </p:cNvPr>
          <p:cNvSpPr txBox="1"/>
          <p:nvPr/>
        </p:nvSpPr>
        <p:spPr>
          <a:xfrm>
            <a:off x="7250906" y="2000250"/>
            <a:ext cx="4164806" cy="2092881"/>
          </a:xfrm>
          <a:prstGeom prst="rect">
            <a:avLst/>
          </a:prstGeom>
          <a:noFill/>
        </p:spPr>
        <p:txBody>
          <a:bodyPr wrap="square" rtlCol="0">
            <a:spAutoFit/>
          </a:bodyPr>
          <a:lstStyle/>
          <a:p>
            <a:r>
              <a:rPr lang="en-US" sz="2000" b="1" dirty="0">
                <a:solidFill>
                  <a:schemeClr val="accent5">
                    <a:lumMod val="50000"/>
                  </a:schemeClr>
                </a:solidFill>
                <a:latin typeface="Arial Black" panose="020B0A04020102020204" pitchFamily="34" charset="0"/>
              </a:rPr>
              <a:t>Characteristics:</a:t>
            </a:r>
          </a:p>
          <a:p>
            <a:pPr marL="342900" indent="-342900">
              <a:buFont typeface="Courier New" panose="02070309020205020404" pitchFamily="49" charset="0"/>
              <a:buChar char="o"/>
            </a:pPr>
            <a:r>
              <a:rPr lang="en-US" sz="2200" b="1" dirty="0">
                <a:solidFill>
                  <a:schemeClr val="accent4">
                    <a:lumMod val="50000"/>
                  </a:schemeClr>
                </a:solidFill>
              </a:rPr>
              <a:t>Obedience to authority</a:t>
            </a:r>
          </a:p>
          <a:p>
            <a:pPr marL="342900" indent="-342900">
              <a:buFont typeface="Courier New" panose="02070309020205020404" pitchFamily="49" charset="0"/>
              <a:buChar char="o"/>
            </a:pPr>
            <a:r>
              <a:rPr lang="en-US" sz="2200" b="1" dirty="0">
                <a:solidFill>
                  <a:schemeClr val="accent4">
                    <a:lumMod val="50000"/>
                  </a:schemeClr>
                </a:solidFill>
              </a:rPr>
              <a:t>Fear of punishment</a:t>
            </a:r>
          </a:p>
          <a:p>
            <a:pPr marL="342900" indent="-342900">
              <a:buFont typeface="Courier New" panose="02070309020205020404" pitchFamily="49" charset="0"/>
              <a:buChar char="o"/>
            </a:pPr>
            <a:r>
              <a:rPr lang="en-US" sz="2200" b="1" dirty="0">
                <a:solidFill>
                  <a:schemeClr val="accent4">
                    <a:lumMod val="50000"/>
                  </a:schemeClr>
                </a:solidFill>
              </a:rPr>
              <a:t>Rigid thinking</a:t>
            </a:r>
          </a:p>
          <a:p>
            <a:pPr marL="342900" indent="-342900">
              <a:buFont typeface="Courier New" panose="02070309020205020404" pitchFamily="49" charset="0"/>
              <a:buChar char="o"/>
            </a:pPr>
            <a:r>
              <a:rPr lang="en-US" sz="2200" b="1" dirty="0">
                <a:solidFill>
                  <a:schemeClr val="accent4">
                    <a:lumMod val="50000"/>
                  </a:schemeClr>
                </a:solidFill>
              </a:rPr>
              <a:t>No questioning of rules</a:t>
            </a:r>
          </a:p>
          <a:p>
            <a:endParaRPr lang="en-US" dirty="0"/>
          </a:p>
        </p:txBody>
      </p:sp>
      <p:sp>
        <p:nvSpPr>
          <p:cNvPr id="5" name="TextBox 4">
            <a:extLst>
              <a:ext uri="{FF2B5EF4-FFF2-40B4-BE49-F238E27FC236}">
                <a16:creationId xmlns:a16="http://schemas.microsoft.com/office/drawing/2014/main" id="{06D4CFBF-299E-A9C6-828F-091A8F763146}"/>
              </a:ext>
            </a:extLst>
          </p:cNvPr>
          <p:cNvSpPr txBox="1"/>
          <p:nvPr/>
        </p:nvSpPr>
        <p:spPr>
          <a:xfrm>
            <a:off x="7250906" y="4728091"/>
            <a:ext cx="4474370" cy="2092881"/>
          </a:xfrm>
          <a:prstGeom prst="rect">
            <a:avLst/>
          </a:prstGeom>
          <a:noFill/>
        </p:spPr>
        <p:txBody>
          <a:bodyPr wrap="square" rtlCol="0">
            <a:spAutoFit/>
          </a:bodyPr>
          <a:lstStyle/>
          <a:p>
            <a:r>
              <a:rPr lang="en-US" sz="2000" b="1" dirty="0">
                <a:solidFill>
                  <a:schemeClr val="accent5">
                    <a:lumMod val="50000"/>
                  </a:schemeClr>
                </a:solidFill>
                <a:latin typeface="Arial Black" panose="020B0A04020102020204" pitchFamily="34" charset="0"/>
              </a:rPr>
              <a:t>Characteristics:</a:t>
            </a:r>
          </a:p>
          <a:p>
            <a:pPr marL="342900" indent="-342900">
              <a:buFont typeface="Courier New" panose="02070309020205020404" pitchFamily="49" charset="0"/>
              <a:buChar char="o"/>
            </a:pPr>
            <a:r>
              <a:rPr lang="en-US" sz="2200" b="1" dirty="0">
                <a:solidFill>
                  <a:schemeClr val="accent4">
                    <a:lumMod val="50000"/>
                  </a:schemeClr>
                </a:solidFill>
              </a:rPr>
              <a:t>Flexible thinking</a:t>
            </a:r>
          </a:p>
          <a:p>
            <a:pPr marL="342900" indent="-342900">
              <a:buFont typeface="Courier New" panose="02070309020205020404" pitchFamily="49" charset="0"/>
              <a:buChar char="o"/>
            </a:pPr>
            <a:r>
              <a:rPr lang="en-US" sz="2200" b="1" dirty="0">
                <a:solidFill>
                  <a:schemeClr val="accent4">
                    <a:lumMod val="50000"/>
                  </a:schemeClr>
                </a:solidFill>
              </a:rPr>
              <a:t>Understanding fairness</a:t>
            </a:r>
          </a:p>
          <a:p>
            <a:pPr marL="342900" indent="-342900">
              <a:buFont typeface="Courier New" panose="02070309020205020404" pitchFamily="49" charset="0"/>
              <a:buChar char="o"/>
            </a:pPr>
            <a:r>
              <a:rPr lang="en-US" sz="2200" b="1" dirty="0">
                <a:solidFill>
                  <a:schemeClr val="accent4">
                    <a:lumMod val="50000"/>
                  </a:schemeClr>
                </a:solidFill>
              </a:rPr>
              <a:t>Mutual respect</a:t>
            </a:r>
          </a:p>
          <a:p>
            <a:pPr marL="342900" indent="-342900">
              <a:buFont typeface="Courier New" panose="02070309020205020404" pitchFamily="49" charset="0"/>
              <a:buChar char="o"/>
            </a:pPr>
            <a:r>
              <a:rPr lang="en-US" sz="2200" b="1" dirty="0">
                <a:solidFill>
                  <a:schemeClr val="accent4">
                    <a:lumMod val="50000"/>
                  </a:schemeClr>
                </a:solidFill>
              </a:rPr>
              <a:t>Considering intentions</a:t>
            </a:r>
          </a:p>
          <a:p>
            <a:endParaRPr lang="en-US" dirty="0"/>
          </a:p>
        </p:txBody>
      </p:sp>
    </p:spTree>
    <p:extLst>
      <p:ext uri="{BB962C8B-B14F-4D97-AF65-F5344CB8AC3E}">
        <p14:creationId xmlns:p14="http://schemas.microsoft.com/office/powerpoint/2010/main" val="39810444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CCCB2B8-F19E-7484-827E-CF6FAAAB36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4526063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B796D3A-5487-F694-AC8F-F7022B5D3714}"/>
              </a:ext>
            </a:extLst>
          </p:cNvPr>
          <p:cNvSpPr txBox="1"/>
          <p:nvPr/>
        </p:nvSpPr>
        <p:spPr>
          <a:xfrm>
            <a:off x="400050" y="91142"/>
            <a:ext cx="11401425" cy="3016210"/>
          </a:xfrm>
          <a:prstGeom prst="rect">
            <a:avLst/>
          </a:prstGeom>
          <a:noFill/>
        </p:spPr>
        <p:txBody>
          <a:bodyPr wrap="square" rtlCol="0">
            <a:spAutoFit/>
          </a:bodyPr>
          <a:lstStyle/>
          <a:p>
            <a:pPr algn="ctr"/>
            <a:r>
              <a:rPr lang="en-US" sz="2800" u="sng" dirty="0">
                <a:solidFill>
                  <a:srgbClr val="FF0000"/>
                </a:solidFill>
                <a:latin typeface="Arial Black" panose="020B0A04020102020204" pitchFamily="34" charset="0"/>
              </a:rPr>
              <a:t>Moral Development Theory: (Lawrence Kohlberg)</a:t>
            </a:r>
          </a:p>
          <a:p>
            <a:endParaRPr lang="en-US" dirty="0"/>
          </a:p>
          <a:p>
            <a:pPr algn="just"/>
            <a:r>
              <a:rPr lang="en-US" sz="2400" b="1" dirty="0"/>
              <a:t>Kohlberg explained how people develop moral thinking, that means how we decide what is right and wrong as we grow.</a:t>
            </a:r>
          </a:p>
          <a:p>
            <a:pPr marL="342900" indent="-342900" algn="just">
              <a:buFont typeface="Wingdings" panose="05000000000000000000" pitchFamily="2" charset="2"/>
              <a:buChar char="§"/>
            </a:pPr>
            <a:r>
              <a:rPr lang="en-US" sz="2400" b="1" dirty="0"/>
              <a:t>He said moral development happens in 3 levels and 6 stages. </a:t>
            </a:r>
          </a:p>
          <a:p>
            <a:pPr marL="342900" indent="-342900" algn="just">
              <a:buFont typeface="Wingdings" panose="05000000000000000000" pitchFamily="2" charset="2"/>
              <a:buChar char="§"/>
            </a:pPr>
            <a:r>
              <a:rPr lang="en-US" sz="2400" b="1" dirty="0"/>
              <a:t>Think of it like climbing steps from selfish thinking to ethical principles.</a:t>
            </a:r>
          </a:p>
          <a:p>
            <a:pPr algn="just"/>
            <a:endParaRPr lang="en-US" sz="2400" b="1" dirty="0">
              <a:solidFill>
                <a:schemeClr val="accent4">
                  <a:lumMod val="50000"/>
                </a:schemeClr>
              </a:solidFill>
            </a:endParaRPr>
          </a:p>
          <a:p>
            <a:pPr algn="just"/>
            <a:r>
              <a:rPr lang="en-US" sz="2400" b="1" dirty="0">
                <a:solidFill>
                  <a:schemeClr val="accent4">
                    <a:lumMod val="50000"/>
                  </a:schemeClr>
                </a:solidFill>
              </a:rPr>
              <a:t>He proposed that moral reasoning evolves through three distinct levels:</a:t>
            </a:r>
          </a:p>
        </p:txBody>
      </p:sp>
      <p:graphicFrame>
        <p:nvGraphicFramePr>
          <p:cNvPr id="4" name="Table 3">
            <a:extLst>
              <a:ext uri="{FF2B5EF4-FFF2-40B4-BE49-F238E27FC236}">
                <a16:creationId xmlns:a16="http://schemas.microsoft.com/office/drawing/2014/main" id="{492509CD-B7AF-1703-8DDC-40A9D23D05AB}"/>
              </a:ext>
            </a:extLst>
          </p:cNvPr>
          <p:cNvGraphicFramePr>
            <a:graphicFrameLocks noGrp="1"/>
          </p:cNvGraphicFramePr>
          <p:nvPr>
            <p:extLst>
              <p:ext uri="{D42A27DB-BD31-4B8C-83A1-F6EECF244321}">
                <p14:modId xmlns:p14="http://schemas.microsoft.com/office/powerpoint/2010/main" val="1654455881"/>
              </p:ext>
            </p:extLst>
          </p:nvPr>
        </p:nvGraphicFramePr>
        <p:xfrm>
          <a:off x="400050" y="3190875"/>
          <a:ext cx="7615236" cy="3078480"/>
        </p:xfrm>
        <a:graphic>
          <a:graphicData uri="http://schemas.openxmlformats.org/drawingml/2006/table">
            <a:tbl>
              <a:tblPr firstRow="1" bandRow="1">
                <a:tableStyleId>{5C22544A-7EE6-4342-B048-85BDC9FD1C3A}</a:tableStyleId>
              </a:tblPr>
              <a:tblGrid>
                <a:gridCol w="2538412">
                  <a:extLst>
                    <a:ext uri="{9D8B030D-6E8A-4147-A177-3AD203B41FA5}">
                      <a16:colId xmlns:a16="http://schemas.microsoft.com/office/drawing/2014/main" val="2182695850"/>
                    </a:ext>
                  </a:extLst>
                </a:gridCol>
                <a:gridCol w="2538412">
                  <a:extLst>
                    <a:ext uri="{9D8B030D-6E8A-4147-A177-3AD203B41FA5}">
                      <a16:colId xmlns:a16="http://schemas.microsoft.com/office/drawing/2014/main" val="1279080020"/>
                    </a:ext>
                  </a:extLst>
                </a:gridCol>
                <a:gridCol w="2538412">
                  <a:extLst>
                    <a:ext uri="{9D8B030D-6E8A-4147-A177-3AD203B41FA5}">
                      <a16:colId xmlns:a16="http://schemas.microsoft.com/office/drawing/2014/main" val="3082797703"/>
                    </a:ext>
                  </a:extLst>
                </a:gridCol>
              </a:tblGrid>
              <a:tr h="99337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dirty="0">
                          <a:solidFill>
                            <a:schemeClr val="accent2">
                              <a:lumMod val="50000"/>
                            </a:schemeClr>
                          </a:solidFill>
                          <a:latin typeface="Arial Black" panose="020B0A04020102020204" pitchFamily="34" charset="0"/>
                        </a:rPr>
                        <a:t>Level I-</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dirty="0">
                          <a:solidFill>
                            <a:schemeClr val="accent2">
                              <a:lumMod val="50000"/>
                            </a:schemeClr>
                          </a:solidFill>
                          <a:latin typeface="Arial Black" panose="020B0A04020102020204" pitchFamily="34" charset="0"/>
                        </a:rPr>
                        <a:t>Pre-Conventional</a:t>
                      </a:r>
                    </a:p>
                    <a:p>
                      <a:pPr algn="ctr"/>
                      <a:endParaRPr lang="en-US" sz="2400" dirty="0">
                        <a:latin typeface="Arial Black" panose="020B0A04020102020204" pitchFamily="34" charset="0"/>
                      </a:endParaRPr>
                    </a:p>
                  </a:txBody>
                  <a:tcP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dirty="0">
                          <a:solidFill>
                            <a:schemeClr val="accent2">
                              <a:lumMod val="50000"/>
                            </a:schemeClr>
                          </a:solidFill>
                          <a:latin typeface="Arial Black" panose="020B0A04020102020204" pitchFamily="34" charset="0"/>
                        </a:rPr>
                        <a:t>Level II- Conventional</a:t>
                      </a:r>
                    </a:p>
                    <a:p>
                      <a:pPr algn="ctr"/>
                      <a:endParaRPr lang="en-US" sz="2400" dirty="0">
                        <a:latin typeface="Arial Black" panose="020B0A04020102020204" pitchFamily="34" charset="0"/>
                      </a:endParaRPr>
                    </a:p>
                  </a:txBody>
                  <a:tcP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dirty="0">
                          <a:solidFill>
                            <a:schemeClr val="accent2">
                              <a:lumMod val="50000"/>
                            </a:schemeClr>
                          </a:solidFill>
                          <a:latin typeface="Arial Black" panose="020B0A04020102020204" pitchFamily="34" charset="0"/>
                        </a:rPr>
                        <a:t>Level III-</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dirty="0">
                          <a:solidFill>
                            <a:schemeClr val="accent2">
                              <a:lumMod val="50000"/>
                            </a:schemeClr>
                          </a:solidFill>
                          <a:latin typeface="Arial Black" panose="020B0A04020102020204" pitchFamily="34" charset="0"/>
                        </a:rPr>
                        <a:t>Post-Conventional</a:t>
                      </a:r>
                    </a:p>
                    <a:p>
                      <a:pPr algn="ctr"/>
                      <a:endParaRPr lang="en-US" sz="2400" dirty="0">
                        <a:latin typeface="Arial Black" panose="020B0A04020102020204" pitchFamily="34" charset="0"/>
                      </a:endParaRPr>
                    </a:p>
                  </a:txBody>
                  <a:tcPr>
                    <a:solidFill>
                      <a:schemeClr val="accent6">
                        <a:lumMod val="20000"/>
                        <a:lumOff val="80000"/>
                      </a:schemeClr>
                    </a:solidFill>
                  </a:tcPr>
                </a:tc>
                <a:extLst>
                  <a:ext uri="{0D108BD9-81ED-4DB2-BD59-A6C34878D82A}">
                    <a16:rowId xmlns:a16="http://schemas.microsoft.com/office/drawing/2014/main" val="3009987043"/>
                  </a:ext>
                </a:extLst>
              </a:tr>
              <a:tr h="70120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200" b="1" dirty="0">
                          <a:solidFill>
                            <a:schemeClr val="accent6">
                              <a:lumMod val="50000"/>
                            </a:schemeClr>
                          </a:solidFill>
                        </a:rPr>
                        <a:t>Obedience &amp; Punishment</a:t>
                      </a:r>
                    </a:p>
                  </a:txBody>
                  <a:tcP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200" b="1" dirty="0">
                          <a:solidFill>
                            <a:schemeClr val="accent6">
                              <a:lumMod val="50000"/>
                            </a:schemeClr>
                          </a:solidFill>
                        </a:rPr>
                        <a:t>Good boy/girl</a:t>
                      </a:r>
                    </a:p>
                    <a:p>
                      <a:pPr algn="ctr"/>
                      <a:endParaRPr lang="en-US" sz="2200" dirty="0"/>
                    </a:p>
                  </a:txBody>
                  <a:tcP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200" b="1" dirty="0">
                          <a:solidFill>
                            <a:schemeClr val="accent6">
                              <a:lumMod val="50000"/>
                            </a:schemeClr>
                          </a:solidFill>
                        </a:rPr>
                        <a:t>Social contract</a:t>
                      </a:r>
                    </a:p>
                  </a:txBody>
                  <a:tcPr>
                    <a:solidFill>
                      <a:schemeClr val="accent6">
                        <a:lumMod val="20000"/>
                        <a:lumOff val="80000"/>
                      </a:schemeClr>
                    </a:solidFill>
                  </a:tcPr>
                </a:tc>
                <a:extLst>
                  <a:ext uri="{0D108BD9-81ED-4DB2-BD59-A6C34878D82A}">
                    <a16:rowId xmlns:a16="http://schemas.microsoft.com/office/drawing/2014/main" val="3371275492"/>
                  </a:ext>
                </a:extLst>
              </a:tr>
              <a:tr h="55219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200" b="1" dirty="0">
                          <a:solidFill>
                            <a:schemeClr val="accent6">
                              <a:lumMod val="50000"/>
                            </a:schemeClr>
                          </a:solidFill>
                        </a:rPr>
                        <a:t>Self-interest</a:t>
                      </a:r>
                    </a:p>
                    <a:p>
                      <a:pPr algn="ctr"/>
                      <a:endParaRPr lang="en-US" sz="2200" dirty="0"/>
                    </a:p>
                  </a:txBody>
                  <a:tcP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200" b="1" dirty="0">
                          <a:solidFill>
                            <a:schemeClr val="accent6">
                              <a:lumMod val="50000"/>
                            </a:schemeClr>
                          </a:solidFill>
                        </a:rPr>
                        <a:t>Law &amp; order</a:t>
                      </a:r>
                    </a:p>
                    <a:p>
                      <a:pPr algn="ctr"/>
                      <a:endParaRPr lang="en-US" sz="2200" dirty="0"/>
                    </a:p>
                  </a:txBody>
                  <a:tcP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200" b="1" dirty="0">
                          <a:solidFill>
                            <a:schemeClr val="accent6">
                              <a:lumMod val="50000"/>
                            </a:schemeClr>
                          </a:solidFill>
                        </a:rPr>
                        <a:t>Universal principles</a:t>
                      </a:r>
                    </a:p>
                    <a:p>
                      <a:pPr algn="ctr"/>
                      <a:endParaRPr lang="en-US" sz="2200" dirty="0"/>
                    </a:p>
                  </a:txBody>
                  <a:tcPr>
                    <a:solidFill>
                      <a:schemeClr val="accent6">
                        <a:lumMod val="20000"/>
                        <a:lumOff val="80000"/>
                      </a:schemeClr>
                    </a:solidFill>
                  </a:tcPr>
                </a:tc>
                <a:extLst>
                  <a:ext uri="{0D108BD9-81ED-4DB2-BD59-A6C34878D82A}">
                    <a16:rowId xmlns:a16="http://schemas.microsoft.com/office/drawing/2014/main" val="223784566"/>
                  </a:ext>
                </a:extLst>
              </a:tr>
            </a:tbl>
          </a:graphicData>
        </a:graphic>
      </p:graphicFrame>
      <p:pic>
        <p:nvPicPr>
          <p:cNvPr id="6" name="Picture 5">
            <a:extLst>
              <a:ext uri="{FF2B5EF4-FFF2-40B4-BE49-F238E27FC236}">
                <a16:creationId xmlns:a16="http://schemas.microsoft.com/office/drawing/2014/main" id="{EA8EA058-3E48-B616-A6AE-586D1D7C59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65736" y="3076575"/>
            <a:ext cx="3826264" cy="3781425"/>
          </a:xfrm>
          <a:prstGeom prst="rect">
            <a:avLst/>
          </a:prstGeom>
        </p:spPr>
      </p:pic>
      <p:sp>
        <p:nvSpPr>
          <p:cNvPr id="7" name="TextBox 6">
            <a:extLst>
              <a:ext uri="{FF2B5EF4-FFF2-40B4-BE49-F238E27FC236}">
                <a16:creationId xmlns:a16="http://schemas.microsoft.com/office/drawing/2014/main" id="{0AE5851C-CE60-893E-97A6-EB33F660E84E}"/>
              </a:ext>
            </a:extLst>
          </p:cNvPr>
          <p:cNvSpPr txBox="1"/>
          <p:nvPr/>
        </p:nvSpPr>
        <p:spPr>
          <a:xfrm>
            <a:off x="1232500" y="6383655"/>
            <a:ext cx="6300787" cy="707886"/>
          </a:xfrm>
          <a:prstGeom prst="rect">
            <a:avLst/>
          </a:prstGeom>
          <a:noFill/>
        </p:spPr>
        <p:txBody>
          <a:bodyPr wrap="square" rtlCol="0">
            <a:spAutoFit/>
          </a:bodyPr>
          <a:lstStyle/>
          <a:p>
            <a:r>
              <a:rPr lang="en-US" sz="2200" b="1" dirty="0"/>
              <a:t>Main Idea: Higher level → Higher ethical maturity</a:t>
            </a:r>
            <a:r>
              <a:rPr lang="en-US" b="1" dirty="0"/>
              <a:t>.</a:t>
            </a:r>
          </a:p>
          <a:p>
            <a:endParaRPr lang="en-US" dirty="0"/>
          </a:p>
        </p:txBody>
      </p:sp>
    </p:spTree>
    <p:extLst>
      <p:ext uri="{BB962C8B-B14F-4D97-AF65-F5344CB8AC3E}">
        <p14:creationId xmlns:p14="http://schemas.microsoft.com/office/powerpoint/2010/main" val="484163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24FAD61-9EA9-5C1A-2944-3FAC719F8B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9819473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FDF31D-E305-5141-284A-B9B3CE9D31FB}"/>
              </a:ext>
            </a:extLst>
          </p:cNvPr>
          <p:cNvSpPr>
            <a:spLocks noGrp="1"/>
          </p:cNvSpPr>
          <p:nvPr>
            <p:ph type="title"/>
          </p:nvPr>
        </p:nvSpPr>
        <p:spPr>
          <a:xfrm>
            <a:off x="838200" y="196851"/>
            <a:ext cx="10515600" cy="635001"/>
          </a:xfrm>
        </p:spPr>
        <p:txBody>
          <a:bodyPr>
            <a:normAutofit fontScale="90000"/>
          </a:bodyPr>
          <a:lstStyle/>
          <a:p>
            <a:pPr algn="ctr"/>
            <a:r>
              <a:rPr lang="en-US" sz="4000" b="1" dirty="0">
                <a:solidFill>
                  <a:srgbClr val="FF0000"/>
                </a:solidFill>
                <a:latin typeface="Arial Black" panose="020B0A04020102020204" pitchFamily="34" charset="0"/>
              </a:rPr>
              <a:t>ARISTOTLE’S VIEW ON ETHICS</a:t>
            </a:r>
          </a:p>
        </p:txBody>
      </p:sp>
      <p:sp>
        <p:nvSpPr>
          <p:cNvPr id="3" name="Content Placeholder 2">
            <a:extLst>
              <a:ext uri="{FF2B5EF4-FFF2-40B4-BE49-F238E27FC236}">
                <a16:creationId xmlns:a16="http://schemas.microsoft.com/office/drawing/2014/main" id="{C637566C-C2E7-1E11-E149-A809CA97CAD9}"/>
              </a:ext>
            </a:extLst>
          </p:cNvPr>
          <p:cNvSpPr>
            <a:spLocks noGrp="1"/>
          </p:cNvSpPr>
          <p:nvPr>
            <p:ph idx="1"/>
          </p:nvPr>
        </p:nvSpPr>
        <p:spPr>
          <a:xfrm>
            <a:off x="700087" y="831852"/>
            <a:ext cx="11058525" cy="5897562"/>
          </a:xfrm>
        </p:spPr>
        <p:txBody>
          <a:bodyPr>
            <a:normAutofit/>
          </a:bodyPr>
          <a:lstStyle/>
          <a:p>
            <a:pPr marL="0" indent="0" algn="ctr">
              <a:buNone/>
            </a:pPr>
            <a:r>
              <a:rPr lang="en-US" b="1" dirty="0">
                <a:solidFill>
                  <a:schemeClr val="accent6">
                    <a:lumMod val="50000"/>
                  </a:schemeClr>
                </a:solidFill>
              </a:rPr>
              <a:t>Core Idea : Purpose of life is happiness (Eudaimonia).</a:t>
            </a:r>
          </a:p>
          <a:p>
            <a:pPr marL="0" indent="0" algn="just">
              <a:lnSpc>
                <a:spcPct val="100000"/>
              </a:lnSpc>
              <a:spcBef>
                <a:spcPts val="300"/>
              </a:spcBef>
              <a:spcAft>
                <a:spcPts val="300"/>
              </a:spcAft>
              <a:buNone/>
            </a:pPr>
            <a:endParaRPr lang="en-US" sz="2200" b="1" dirty="0"/>
          </a:p>
          <a:p>
            <a:pPr marL="0" indent="0" algn="just">
              <a:lnSpc>
                <a:spcPct val="100000"/>
              </a:lnSpc>
              <a:spcBef>
                <a:spcPts val="300"/>
              </a:spcBef>
              <a:spcAft>
                <a:spcPts val="300"/>
              </a:spcAft>
              <a:buNone/>
            </a:pPr>
            <a:r>
              <a:rPr lang="en-US" sz="2200" b="1" dirty="0"/>
              <a:t>Aristotle believed that ethics is about developing good character. The goal of human life is to achieve happiness (Eudaimonia). But this happiness does not mean pleasure or money. It means living a meaningful life, being a good human being and fulfilling your potential. Aristotle’s ethics is known as Virtue Ethics. He introduced the concept of the Golden Mean, which states that virtue lies between two extremes.</a:t>
            </a:r>
          </a:p>
          <a:p>
            <a:pPr marL="0" indent="0">
              <a:buNone/>
            </a:pPr>
            <a:endParaRPr lang="en-US" b="1" dirty="0">
              <a:solidFill>
                <a:srgbClr val="C00000"/>
              </a:solidFill>
            </a:endParaRPr>
          </a:p>
          <a:p>
            <a:pPr marL="0" indent="0">
              <a:buNone/>
            </a:pPr>
            <a:r>
              <a:rPr lang="en-US" b="1" dirty="0">
                <a:solidFill>
                  <a:srgbClr val="C00000"/>
                </a:solidFill>
              </a:rPr>
              <a:t>What is Virtue?</a:t>
            </a:r>
          </a:p>
          <a:p>
            <a:pPr marL="0" indent="0">
              <a:buNone/>
            </a:pPr>
            <a:r>
              <a:rPr lang="en-US" sz="2400" b="1" dirty="0">
                <a:solidFill>
                  <a:schemeClr val="accent2">
                    <a:lumMod val="50000"/>
                  </a:schemeClr>
                </a:solidFill>
              </a:rPr>
              <a:t>According to Aristotle: </a:t>
            </a:r>
            <a:r>
              <a:rPr lang="en-US" sz="2400" b="1" dirty="0"/>
              <a:t>Virtue means good habits that shape good character.</a:t>
            </a:r>
          </a:p>
          <a:p>
            <a:pPr marL="0" indent="0">
              <a:buNone/>
            </a:pPr>
            <a:r>
              <a:rPr lang="en-US" sz="2400" b="1" dirty="0">
                <a:solidFill>
                  <a:schemeClr val="accent2">
                    <a:lumMod val="50000"/>
                  </a:schemeClr>
                </a:solidFill>
              </a:rPr>
              <a:t>Examples</a:t>
            </a:r>
            <a:r>
              <a:rPr lang="en-US" sz="2400" dirty="0"/>
              <a:t>: </a:t>
            </a:r>
            <a:r>
              <a:rPr lang="en-US" sz="2400" b="1" dirty="0">
                <a:solidFill>
                  <a:schemeClr val="accent6">
                    <a:lumMod val="50000"/>
                  </a:schemeClr>
                </a:solidFill>
              </a:rPr>
              <a:t>Honesty, Courage, Patience, Responsibility, Self-control etc.</a:t>
            </a:r>
          </a:p>
          <a:p>
            <a:pPr marL="0" indent="0">
              <a:buNone/>
            </a:pPr>
            <a:r>
              <a:rPr lang="en-US" sz="2400" b="1" dirty="0"/>
              <a:t>He believed:</a:t>
            </a:r>
          </a:p>
          <a:p>
            <a:pPr>
              <a:spcBef>
                <a:spcPts val="0"/>
              </a:spcBef>
            </a:pPr>
            <a:r>
              <a:rPr lang="en-US" sz="2400" dirty="0"/>
              <a:t>We are not born virtuous.</a:t>
            </a:r>
          </a:p>
          <a:p>
            <a:pPr>
              <a:spcBef>
                <a:spcPts val="0"/>
              </a:spcBef>
            </a:pPr>
            <a:r>
              <a:rPr lang="en-US" sz="2400" dirty="0"/>
              <a:t>We become virtuous through practice.</a:t>
            </a:r>
          </a:p>
          <a:p>
            <a:endParaRPr lang="en-US" sz="2400" dirty="0"/>
          </a:p>
          <a:p>
            <a:pPr marL="0" indent="0">
              <a:buNone/>
            </a:pPr>
            <a:endParaRPr lang="en-US" dirty="0"/>
          </a:p>
        </p:txBody>
      </p:sp>
    </p:spTree>
    <p:extLst>
      <p:ext uri="{BB962C8B-B14F-4D97-AF65-F5344CB8AC3E}">
        <p14:creationId xmlns:p14="http://schemas.microsoft.com/office/powerpoint/2010/main" val="9539679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1295ECC-2075-AF41-F939-628E3DA8C4E0}"/>
              </a:ext>
            </a:extLst>
          </p:cNvPr>
          <p:cNvSpPr txBox="1"/>
          <p:nvPr/>
        </p:nvSpPr>
        <p:spPr>
          <a:xfrm>
            <a:off x="442913" y="498811"/>
            <a:ext cx="5543550" cy="2308324"/>
          </a:xfrm>
          <a:prstGeom prst="rect">
            <a:avLst/>
          </a:prstGeom>
          <a:noFill/>
        </p:spPr>
        <p:txBody>
          <a:bodyPr wrap="square" rtlCol="0">
            <a:spAutoFit/>
          </a:bodyPr>
          <a:lstStyle/>
          <a:p>
            <a:pPr algn="just"/>
            <a:r>
              <a:rPr lang="en-US" sz="2200" u="sng" dirty="0">
                <a:solidFill>
                  <a:srgbClr val="FF0000"/>
                </a:solidFill>
                <a:latin typeface="Arial Black" panose="020B0A04020102020204" pitchFamily="34" charset="0"/>
              </a:rPr>
              <a:t>The Golden Mean</a:t>
            </a:r>
          </a:p>
          <a:p>
            <a:pPr algn="just"/>
            <a:r>
              <a:rPr lang="en-US" sz="2200" b="1" dirty="0"/>
              <a:t>Aristotle said: Virtue lies between two extremes. This is called the Doctrine of the Mean (Golden Mean).</a:t>
            </a:r>
          </a:p>
          <a:p>
            <a:endParaRPr lang="en-US" sz="2000" dirty="0"/>
          </a:p>
          <a:p>
            <a:endParaRPr lang="en-US" dirty="0"/>
          </a:p>
          <a:p>
            <a:endParaRPr lang="en-US" dirty="0"/>
          </a:p>
        </p:txBody>
      </p:sp>
      <p:graphicFrame>
        <p:nvGraphicFramePr>
          <p:cNvPr id="3" name="Table 2">
            <a:extLst>
              <a:ext uri="{FF2B5EF4-FFF2-40B4-BE49-F238E27FC236}">
                <a16:creationId xmlns:a16="http://schemas.microsoft.com/office/drawing/2014/main" id="{D2254F5E-CC09-E62B-F430-427FFECC50A8}"/>
              </a:ext>
            </a:extLst>
          </p:cNvPr>
          <p:cNvGraphicFramePr>
            <a:graphicFrameLocks noGrp="1"/>
          </p:cNvGraphicFramePr>
          <p:nvPr>
            <p:extLst>
              <p:ext uri="{D42A27DB-BD31-4B8C-83A1-F6EECF244321}">
                <p14:modId xmlns:p14="http://schemas.microsoft.com/office/powerpoint/2010/main" val="3874005254"/>
              </p:ext>
            </p:extLst>
          </p:nvPr>
        </p:nvGraphicFramePr>
        <p:xfrm>
          <a:off x="6400800" y="190931"/>
          <a:ext cx="5791200" cy="2886687"/>
        </p:xfrm>
        <a:graphic>
          <a:graphicData uri="http://schemas.openxmlformats.org/drawingml/2006/table">
            <a:tbl>
              <a:tblPr firstRow="1" bandRow="1">
                <a:tableStyleId>{5C22544A-7EE6-4342-B048-85BDC9FD1C3A}</a:tableStyleId>
              </a:tblPr>
              <a:tblGrid>
                <a:gridCol w="1930400">
                  <a:extLst>
                    <a:ext uri="{9D8B030D-6E8A-4147-A177-3AD203B41FA5}">
                      <a16:colId xmlns:a16="http://schemas.microsoft.com/office/drawing/2014/main" val="3759377134"/>
                    </a:ext>
                  </a:extLst>
                </a:gridCol>
                <a:gridCol w="1930400">
                  <a:extLst>
                    <a:ext uri="{9D8B030D-6E8A-4147-A177-3AD203B41FA5}">
                      <a16:colId xmlns:a16="http://schemas.microsoft.com/office/drawing/2014/main" val="1063359970"/>
                    </a:ext>
                  </a:extLst>
                </a:gridCol>
                <a:gridCol w="1930400">
                  <a:extLst>
                    <a:ext uri="{9D8B030D-6E8A-4147-A177-3AD203B41FA5}">
                      <a16:colId xmlns:a16="http://schemas.microsoft.com/office/drawing/2014/main" val="2521573210"/>
                    </a:ext>
                  </a:extLst>
                </a:gridCol>
              </a:tblGrid>
              <a:tr h="0">
                <a:tc>
                  <a:txBody>
                    <a:bodyPr/>
                    <a:lstStyle/>
                    <a:p>
                      <a:pPr algn="ctr"/>
                      <a:r>
                        <a:rPr lang="en-US" sz="2800" dirty="0">
                          <a:solidFill>
                            <a:schemeClr val="accent2">
                              <a:lumMod val="50000"/>
                            </a:schemeClr>
                          </a:solidFill>
                        </a:rPr>
                        <a:t>Too Little</a:t>
                      </a:r>
                    </a:p>
                  </a:txBody>
                  <a:tcPr/>
                </a:tc>
                <a:tc>
                  <a:txBody>
                    <a:bodyPr/>
                    <a:lstStyle/>
                    <a:p>
                      <a:pPr algn="ctr"/>
                      <a:r>
                        <a:rPr lang="en-US" sz="2800" dirty="0">
                          <a:solidFill>
                            <a:schemeClr val="accent2">
                              <a:lumMod val="50000"/>
                            </a:schemeClr>
                          </a:solidFill>
                        </a:rPr>
                        <a:t>Virtue (Middle)</a:t>
                      </a:r>
                    </a:p>
                  </a:txBody>
                  <a:tcPr/>
                </a:tc>
                <a:tc>
                  <a:txBody>
                    <a:bodyPr/>
                    <a:lstStyle/>
                    <a:p>
                      <a:pPr algn="ctr"/>
                      <a:r>
                        <a:rPr lang="en-US" sz="2800" dirty="0">
                          <a:solidFill>
                            <a:schemeClr val="accent2">
                              <a:lumMod val="50000"/>
                            </a:schemeClr>
                          </a:solidFill>
                        </a:rPr>
                        <a:t>Too Much</a:t>
                      </a:r>
                    </a:p>
                  </a:txBody>
                  <a:tcPr/>
                </a:tc>
                <a:extLst>
                  <a:ext uri="{0D108BD9-81ED-4DB2-BD59-A6C34878D82A}">
                    <a16:rowId xmlns:a16="http://schemas.microsoft.com/office/drawing/2014/main" val="3458069123"/>
                  </a:ext>
                </a:extLst>
              </a:tr>
              <a:tr h="647269">
                <a:tc>
                  <a:txBody>
                    <a:bodyPr/>
                    <a:lstStyle/>
                    <a:p>
                      <a:pPr algn="ctr"/>
                      <a:r>
                        <a:rPr lang="en-US" sz="2400" b="1" dirty="0"/>
                        <a:t>Cowardice</a:t>
                      </a:r>
                    </a:p>
                  </a:txBody>
                  <a:tcPr/>
                </a:tc>
                <a:tc>
                  <a:txBody>
                    <a:bodyPr/>
                    <a:lstStyle/>
                    <a:p>
                      <a:pPr algn="ctr"/>
                      <a:r>
                        <a:rPr lang="en-US" sz="2400" b="1" dirty="0"/>
                        <a:t>Courage</a:t>
                      </a:r>
                    </a:p>
                  </a:txBody>
                  <a:tcPr/>
                </a:tc>
                <a:tc>
                  <a:txBody>
                    <a:bodyPr/>
                    <a:lstStyle/>
                    <a:p>
                      <a:pPr algn="ctr"/>
                      <a:r>
                        <a:rPr lang="en-US" sz="2400" b="1" dirty="0"/>
                        <a:t>Recklessness</a:t>
                      </a:r>
                    </a:p>
                  </a:txBody>
                  <a:tcPr/>
                </a:tc>
                <a:extLst>
                  <a:ext uri="{0D108BD9-81ED-4DB2-BD59-A6C34878D82A}">
                    <a16:rowId xmlns:a16="http://schemas.microsoft.com/office/drawing/2014/main" val="1099559323"/>
                  </a:ext>
                </a:extLst>
              </a:tr>
              <a:tr h="647269">
                <a:tc>
                  <a:txBody>
                    <a:bodyPr/>
                    <a:lstStyle/>
                    <a:p>
                      <a:pPr algn="ctr"/>
                      <a:r>
                        <a:rPr lang="en-US" sz="2400" b="1" dirty="0"/>
                        <a:t>Laziness</a:t>
                      </a:r>
                    </a:p>
                  </a:txBody>
                  <a:tcPr/>
                </a:tc>
                <a:tc>
                  <a:txBody>
                    <a:bodyPr/>
                    <a:lstStyle/>
                    <a:p>
                      <a:pPr algn="ctr"/>
                      <a:r>
                        <a:rPr lang="en-US" sz="2400" b="1" dirty="0"/>
                        <a:t>Hard work</a:t>
                      </a:r>
                    </a:p>
                  </a:txBody>
                  <a:tcPr/>
                </a:tc>
                <a:tc>
                  <a:txBody>
                    <a:bodyPr/>
                    <a:lstStyle/>
                    <a:p>
                      <a:pPr algn="ctr"/>
                      <a:r>
                        <a:rPr lang="en-US" sz="2400" b="1" dirty="0"/>
                        <a:t>Workaholism</a:t>
                      </a:r>
                    </a:p>
                  </a:txBody>
                  <a:tcPr/>
                </a:tc>
                <a:extLst>
                  <a:ext uri="{0D108BD9-81ED-4DB2-BD59-A6C34878D82A}">
                    <a16:rowId xmlns:a16="http://schemas.microsoft.com/office/drawing/2014/main" val="2624524812"/>
                  </a:ext>
                </a:extLst>
              </a:tr>
              <a:tr h="647269">
                <a:tc>
                  <a:txBody>
                    <a:bodyPr/>
                    <a:lstStyle/>
                    <a:p>
                      <a:pPr algn="ctr"/>
                      <a:r>
                        <a:rPr lang="en-US" sz="2400" b="1" dirty="0"/>
                        <a:t>Silence</a:t>
                      </a:r>
                    </a:p>
                  </a:txBody>
                  <a:tcPr/>
                </a:tc>
                <a:tc>
                  <a:txBody>
                    <a:bodyPr/>
                    <a:lstStyle/>
                    <a:p>
                      <a:pPr algn="ctr"/>
                      <a:r>
                        <a:rPr lang="en-US" sz="2400" b="1" dirty="0"/>
                        <a:t>Confidence</a:t>
                      </a:r>
                    </a:p>
                  </a:txBody>
                  <a:tcPr/>
                </a:tc>
                <a:tc>
                  <a:txBody>
                    <a:bodyPr/>
                    <a:lstStyle/>
                    <a:p>
                      <a:pPr algn="ctr"/>
                      <a:r>
                        <a:rPr lang="en-US" sz="2400" b="1" dirty="0"/>
                        <a:t>Arrogance</a:t>
                      </a:r>
                    </a:p>
                  </a:txBody>
                  <a:tcPr/>
                </a:tc>
                <a:extLst>
                  <a:ext uri="{0D108BD9-81ED-4DB2-BD59-A6C34878D82A}">
                    <a16:rowId xmlns:a16="http://schemas.microsoft.com/office/drawing/2014/main" val="915796163"/>
                  </a:ext>
                </a:extLst>
              </a:tr>
            </a:tbl>
          </a:graphicData>
        </a:graphic>
      </p:graphicFrame>
      <p:sp>
        <p:nvSpPr>
          <p:cNvPr id="4" name="TextBox 3">
            <a:extLst>
              <a:ext uri="{FF2B5EF4-FFF2-40B4-BE49-F238E27FC236}">
                <a16:creationId xmlns:a16="http://schemas.microsoft.com/office/drawing/2014/main" id="{1EC0F3B5-87D8-CB80-1A2E-0D2F2283CA2B}"/>
              </a:ext>
            </a:extLst>
          </p:cNvPr>
          <p:cNvSpPr txBox="1"/>
          <p:nvPr/>
        </p:nvSpPr>
        <p:spPr>
          <a:xfrm>
            <a:off x="442913" y="1976138"/>
            <a:ext cx="5043487" cy="769441"/>
          </a:xfrm>
          <a:prstGeom prst="rect">
            <a:avLst/>
          </a:prstGeom>
          <a:noFill/>
        </p:spPr>
        <p:txBody>
          <a:bodyPr wrap="square" rtlCol="0">
            <a:spAutoFit/>
          </a:bodyPr>
          <a:lstStyle/>
          <a:p>
            <a:pPr marL="342900" indent="-342900">
              <a:buFont typeface="Wingdings" panose="05000000000000000000" pitchFamily="2" charset="2"/>
              <a:buChar char="§"/>
            </a:pPr>
            <a:r>
              <a:rPr lang="en-US" sz="2200" dirty="0">
                <a:solidFill>
                  <a:schemeClr val="accent5">
                    <a:lumMod val="50000"/>
                  </a:schemeClr>
                </a:solidFill>
              </a:rPr>
              <a:t>Too much or too little is bad.</a:t>
            </a:r>
          </a:p>
          <a:p>
            <a:pPr marL="342900" indent="-342900">
              <a:buFont typeface="Wingdings" panose="05000000000000000000" pitchFamily="2" charset="2"/>
              <a:buChar char="§"/>
            </a:pPr>
            <a:r>
              <a:rPr lang="en-US" sz="2200" dirty="0">
                <a:solidFill>
                  <a:schemeClr val="accent5">
                    <a:lumMod val="50000"/>
                  </a:schemeClr>
                </a:solidFill>
              </a:rPr>
              <a:t>Balance is virtue.</a:t>
            </a:r>
          </a:p>
        </p:txBody>
      </p:sp>
      <p:sp>
        <p:nvSpPr>
          <p:cNvPr id="5" name="TextBox 4">
            <a:extLst>
              <a:ext uri="{FF2B5EF4-FFF2-40B4-BE49-F238E27FC236}">
                <a16:creationId xmlns:a16="http://schemas.microsoft.com/office/drawing/2014/main" id="{191F3618-66DB-EE73-025F-83FDD478A84F}"/>
              </a:ext>
            </a:extLst>
          </p:cNvPr>
          <p:cNvSpPr txBox="1"/>
          <p:nvPr/>
        </p:nvSpPr>
        <p:spPr>
          <a:xfrm>
            <a:off x="442913" y="3660068"/>
            <a:ext cx="6343651" cy="2431435"/>
          </a:xfrm>
          <a:prstGeom prst="rect">
            <a:avLst/>
          </a:prstGeom>
          <a:noFill/>
        </p:spPr>
        <p:txBody>
          <a:bodyPr wrap="square" rtlCol="0">
            <a:spAutoFit/>
          </a:bodyPr>
          <a:lstStyle/>
          <a:p>
            <a:pPr algn="just"/>
            <a:r>
              <a:rPr lang="en-US" sz="2400" b="1" u="sng" dirty="0"/>
              <a:t>Focus on Character, Not Rules</a:t>
            </a:r>
          </a:p>
          <a:p>
            <a:pPr algn="just"/>
            <a:r>
              <a:rPr lang="en-US" sz="2200" b="1" dirty="0">
                <a:solidFill>
                  <a:schemeClr val="accent6">
                    <a:lumMod val="50000"/>
                  </a:schemeClr>
                </a:solidFill>
              </a:rPr>
              <a:t>Unlike rule-based ethics, Aristotle focused on: “Who you are” rather than “What rule you follow.”</a:t>
            </a:r>
          </a:p>
          <a:p>
            <a:pPr algn="just"/>
            <a:endParaRPr lang="en-US" sz="2200" b="1" dirty="0">
              <a:solidFill>
                <a:schemeClr val="accent2">
                  <a:lumMod val="50000"/>
                </a:schemeClr>
              </a:solidFill>
            </a:endParaRPr>
          </a:p>
          <a:p>
            <a:pPr algn="just"/>
            <a:r>
              <a:rPr lang="en-US" sz="2200" b="1" dirty="0">
                <a:solidFill>
                  <a:schemeClr val="accent2">
                    <a:lumMod val="50000"/>
                  </a:schemeClr>
                </a:solidFill>
              </a:rPr>
              <a:t>He believed: </a:t>
            </a:r>
            <a:r>
              <a:rPr lang="en-US" sz="2200" b="1" dirty="0"/>
              <a:t>Good actions come from good character.</a:t>
            </a:r>
          </a:p>
          <a:p>
            <a:endParaRPr lang="en-US" dirty="0"/>
          </a:p>
        </p:txBody>
      </p:sp>
      <p:pic>
        <p:nvPicPr>
          <p:cNvPr id="8" name="Picture 7">
            <a:extLst>
              <a:ext uri="{FF2B5EF4-FFF2-40B4-BE49-F238E27FC236}">
                <a16:creationId xmlns:a16="http://schemas.microsoft.com/office/drawing/2014/main" id="{6690BA27-0BD5-38D8-4016-CEBA9826B462}"/>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8643938" y="3429000"/>
            <a:ext cx="3105149" cy="3238069"/>
          </a:xfrm>
          <a:prstGeom prst="rect">
            <a:avLst/>
          </a:prstGeom>
        </p:spPr>
      </p:pic>
    </p:spTree>
    <p:extLst>
      <p:ext uri="{BB962C8B-B14F-4D97-AF65-F5344CB8AC3E}">
        <p14:creationId xmlns:p14="http://schemas.microsoft.com/office/powerpoint/2010/main" val="7370590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D9E2F70-1B6B-8D89-7092-34BC080765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extLst>
      <p:ext uri="{BB962C8B-B14F-4D97-AF65-F5344CB8AC3E}">
        <p14:creationId xmlns:p14="http://schemas.microsoft.com/office/powerpoint/2010/main" val="22397489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CE94BC-C140-4F15-E0CB-0539475F767E}"/>
              </a:ext>
            </a:extLst>
          </p:cNvPr>
          <p:cNvSpPr>
            <a:spLocks noGrp="1"/>
          </p:cNvSpPr>
          <p:nvPr>
            <p:ph type="title"/>
          </p:nvPr>
        </p:nvSpPr>
        <p:spPr>
          <a:xfrm>
            <a:off x="838200" y="0"/>
            <a:ext cx="10515600" cy="581064"/>
          </a:xfrm>
        </p:spPr>
        <p:txBody>
          <a:bodyPr>
            <a:normAutofit/>
          </a:bodyPr>
          <a:lstStyle/>
          <a:p>
            <a:pPr algn="ctr"/>
            <a:r>
              <a:rPr lang="en-US" sz="3200" b="1" dirty="0">
                <a:solidFill>
                  <a:srgbClr val="FF0000"/>
                </a:solidFill>
                <a:latin typeface="Arial Black" panose="020B0A04020102020204" pitchFamily="34" charset="0"/>
              </a:rPr>
              <a:t>GOVERNING FACTORS OF VALUE SYSTEM</a:t>
            </a:r>
          </a:p>
        </p:txBody>
      </p:sp>
      <p:sp>
        <p:nvSpPr>
          <p:cNvPr id="3" name="Content Placeholder 2">
            <a:extLst>
              <a:ext uri="{FF2B5EF4-FFF2-40B4-BE49-F238E27FC236}">
                <a16:creationId xmlns:a16="http://schemas.microsoft.com/office/drawing/2014/main" id="{54CB50C6-F110-3376-CD6E-3162BE75DF86}"/>
              </a:ext>
            </a:extLst>
          </p:cNvPr>
          <p:cNvSpPr>
            <a:spLocks noGrp="1"/>
          </p:cNvSpPr>
          <p:nvPr>
            <p:ph idx="1"/>
          </p:nvPr>
        </p:nvSpPr>
        <p:spPr>
          <a:xfrm>
            <a:off x="0" y="657226"/>
            <a:ext cx="12192000" cy="6200774"/>
          </a:xfrm>
        </p:spPr>
        <p:txBody>
          <a:bodyPr>
            <a:normAutofit fontScale="92500" lnSpcReduction="10000"/>
          </a:bodyPr>
          <a:lstStyle/>
          <a:p>
            <a:pPr marL="0" indent="0" algn="just">
              <a:spcBef>
                <a:spcPts val="600"/>
              </a:spcBef>
              <a:spcAft>
                <a:spcPts val="300"/>
              </a:spcAft>
              <a:buNone/>
            </a:pPr>
            <a:r>
              <a:rPr lang="en-US" sz="2400" b="1" dirty="0"/>
              <a:t>A value system refers to the set of beliefs, principles, and standards that guide a person’s behavior and decision-making. A value system is the internal guide that tells us what is right or wrong, important or unimportant. These values are influenced by several factors called Governing Factors of Value System.</a:t>
            </a:r>
          </a:p>
          <a:p>
            <a:pPr marL="0" indent="0">
              <a:buNone/>
            </a:pPr>
            <a:r>
              <a:rPr lang="en-US" sz="2400" b="1" dirty="0">
                <a:solidFill>
                  <a:schemeClr val="accent2">
                    <a:lumMod val="50000"/>
                  </a:schemeClr>
                </a:solidFill>
              </a:rPr>
              <a:t>Example:</a:t>
            </a:r>
            <a:r>
              <a:rPr lang="en-US" sz="2400" dirty="0"/>
              <a:t> Values like honesty, respect, responsibility, and fairness influence our actions.</a:t>
            </a:r>
            <a:endParaRPr lang="en-US" sz="2400" b="1" dirty="0">
              <a:solidFill>
                <a:schemeClr val="accent4">
                  <a:lumMod val="50000"/>
                </a:schemeClr>
              </a:solidFill>
              <a:latin typeface="Arial Black" panose="020B0A04020102020204" pitchFamily="34" charset="0"/>
            </a:endParaRPr>
          </a:p>
          <a:p>
            <a:pPr marL="0" indent="0">
              <a:buNone/>
            </a:pPr>
            <a:endParaRPr lang="en-US" sz="2400" u="sng" dirty="0">
              <a:solidFill>
                <a:schemeClr val="accent2">
                  <a:lumMod val="50000"/>
                </a:schemeClr>
              </a:solidFill>
              <a:latin typeface="Arial Black" panose="020B0A04020102020204" pitchFamily="34" charset="0"/>
            </a:endParaRPr>
          </a:p>
          <a:p>
            <a:pPr marL="0" indent="0">
              <a:buNone/>
            </a:pPr>
            <a:r>
              <a:rPr lang="en-US" sz="2400" u="sng" dirty="0">
                <a:solidFill>
                  <a:schemeClr val="accent2">
                    <a:lumMod val="50000"/>
                  </a:schemeClr>
                </a:solidFill>
                <a:latin typeface="Arial Black" panose="020B0A04020102020204" pitchFamily="34" charset="0"/>
              </a:rPr>
              <a:t>Governing Factors of Value System</a:t>
            </a:r>
          </a:p>
          <a:p>
            <a:pPr algn="just">
              <a:spcBef>
                <a:spcPts val="600"/>
              </a:spcBef>
              <a:spcAft>
                <a:spcPts val="600"/>
              </a:spcAft>
              <a:buFont typeface="Wingdings" panose="05000000000000000000" pitchFamily="2" charset="2"/>
              <a:buChar char="§"/>
            </a:pPr>
            <a:r>
              <a:rPr lang="en-US" sz="2400" b="1" dirty="0">
                <a:solidFill>
                  <a:schemeClr val="accent6">
                    <a:lumMod val="50000"/>
                  </a:schemeClr>
                </a:solidFill>
              </a:rPr>
              <a:t>Family Influence: </a:t>
            </a:r>
            <a:r>
              <a:rPr lang="en-US" sz="2400" dirty="0"/>
              <a:t>Family is the first and most powerful source of values.</a:t>
            </a:r>
          </a:p>
          <a:p>
            <a:pPr lvl="0" algn="just" eaLnBrk="0" fontAlgn="base" hangingPunct="0">
              <a:lnSpc>
                <a:spcPct val="100000"/>
              </a:lnSpc>
              <a:spcBef>
                <a:spcPts val="600"/>
              </a:spcBef>
              <a:spcAft>
                <a:spcPts val="600"/>
              </a:spcAft>
              <a:buFont typeface="Wingdings" panose="05000000000000000000" pitchFamily="2" charset="2"/>
              <a:buChar char="§"/>
            </a:pPr>
            <a:r>
              <a:rPr lang="en-US" sz="2400" b="1" dirty="0">
                <a:solidFill>
                  <a:schemeClr val="accent6">
                    <a:lumMod val="50000"/>
                  </a:schemeClr>
                </a:solidFill>
              </a:rPr>
              <a:t>Education and Teachers: </a:t>
            </a:r>
            <a:r>
              <a:rPr lang="en-US" sz="2400" dirty="0"/>
              <a:t>Schools and teachers play a major role in shaping moral values.</a:t>
            </a:r>
          </a:p>
          <a:p>
            <a:pPr lvl="0" algn="just" eaLnBrk="0" fontAlgn="base" hangingPunct="0">
              <a:lnSpc>
                <a:spcPct val="100000"/>
              </a:lnSpc>
              <a:spcBef>
                <a:spcPts val="600"/>
              </a:spcBef>
              <a:spcAft>
                <a:spcPts val="600"/>
              </a:spcAft>
              <a:buFont typeface="Wingdings" panose="05000000000000000000" pitchFamily="2" charset="2"/>
              <a:buChar char="§"/>
            </a:pPr>
            <a:r>
              <a:rPr lang="en-US" sz="2400" b="1" dirty="0">
                <a:solidFill>
                  <a:schemeClr val="accent6">
                    <a:lumMod val="50000"/>
                  </a:schemeClr>
                </a:solidFill>
              </a:rPr>
              <a:t>Culture and Society: </a:t>
            </a:r>
            <a:r>
              <a:rPr lang="en-US" sz="2400" dirty="0"/>
              <a:t>Every society has its own beliefs, traditions, and customs that influence values.</a:t>
            </a:r>
          </a:p>
          <a:p>
            <a:pPr algn="just">
              <a:spcBef>
                <a:spcPts val="600"/>
              </a:spcBef>
              <a:spcAft>
                <a:spcPts val="600"/>
              </a:spcAft>
              <a:buFont typeface="Wingdings" panose="05000000000000000000" pitchFamily="2" charset="2"/>
              <a:buChar char="§"/>
            </a:pPr>
            <a:r>
              <a:rPr lang="en-US" sz="2400" b="1" dirty="0">
                <a:solidFill>
                  <a:schemeClr val="accent6">
                    <a:lumMod val="50000"/>
                  </a:schemeClr>
                </a:solidFill>
              </a:rPr>
              <a:t>Religion and Spiritual Beliefs: </a:t>
            </a:r>
            <a:r>
              <a:rPr lang="en-US" sz="2400" dirty="0"/>
              <a:t>Religious teachings often guide moral values such as: compassion, honesty, forgiveness, service to others</a:t>
            </a:r>
          </a:p>
          <a:p>
            <a:pPr lvl="0" algn="just" eaLnBrk="0" fontAlgn="base" hangingPunct="0">
              <a:lnSpc>
                <a:spcPct val="100000"/>
              </a:lnSpc>
              <a:spcBef>
                <a:spcPts val="600"/>
              </a:spcBef>
              <a:spcAft>
                <a:spcPts val="600"/>
              </a:spcAft>
              <a:buFont typeface="Wingdings" panose="05000000000000000000" pitchFamily="2" charset="2"/>
              <a:buChar char="§"/>
            </a:pPr>
            <a:r>
              <a:rPr lang="en-US" sz="2400" b="1" dirty="0">
                <a:solidFill>
                  <a:schemeClr val="accent6">
                    <a:lumMod val="50000"/>
                  </a:schemeClr>
                </a:solidFill>
              </a:rPr>
              <a:t>Peer Group and Friends: </a:t>
            </a:r>
            <a:r>
              <a:rPr lang="en-US" sz="2400" dirty="0"/>
              <a:t>Friends and colleagues strongly influence behavior, especially during youth.</a:t>
            </a:r>
          </a:p>
          <a:p>
            <a:pPr algn="just">
              <a:spcBef>
                <a:spcPts val="600"/>
              </a:spcBef>
              <a:spcAft>
                <a:spcPts val="600"/>
              </a:spcAft>
              <a:buFont typeface="Wingdings" panose="05000000000000000000" pitchFamily="2" charset="2"/>
              <a:buChar char="§"/>
            </a:pPr>
            <a:r>
              <a:rPr lang="en-US" sz="2400" b="1" dirty="0">
                <a:solidFill>
                  <a:schemeClr val="accent6">
                    <a:lumMod val="50000"/>
                  </a:schemeClr>
                </a:solidFill>
              </a:rPr>
              <a:t>Media and Technology: </a:t>
            </a:r>
            <a:r>
              <a:rPr lang="en-US" sz="2400" dirty="0"/>
              <a:t>Modern media such as television, social media, internet, films can influence people's attitudes and beliefs.</a:t>
            </a:r>
          </a:p>
          <a:p>
            <a:pPr algn="just">
              <a:spcBef>
                <a:spcPts val="600"/>
              </a:spcBef>
              <a:spcAft>
                <a:spcPts val="600"/>
              </a:spcAft>
              <a:buFont typeface="Wingdings" panose="05000000000000000000" pitchFamily="2" charset="2"/>
              <a:buChar char="§"/>
            </a:pPr>
            <a:r>
              <a:rPr lang="en-US" sz="2400" b="1" dirty="0">
                <a:solidFill>
                  <a:schemeClr val="accent6">
                    <a:lumMod val="50000"/>
                  </a:schemeClr>
                </a:solidFill>
              </a:rPr>
              <a:t>Personal Experience: </a:t>
            </a:r>
            <a:r>
              <a:rPr lang="en-US" sz="2400" dirty="0"/>
              <a:t>Life experiences shape how individuals view right and wrong. Success, failures, and challenges help people develop maturity and ethical understanding.</a:t>
            </a:r>
          </a:p>
          <a:p>
            <a:pPr marL="0" indent="0">
              <a:buNone/>
            </a:pPr>
            <a:endParaRPr lang="en-US" dirty="0"/>
          </a:p>
        </p:txBody>
      </p:sp>
    </p:spTree>
    <p:extLst>
      <p:ext uri="{BB962C8B-B14F-4D97-AF65-F5344CB8AC3E}">
        <p14:creationId xmlns:p14="http://schemas.microsoft.com/office/powerpoint/2010/main" val="40222924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2F2FF9E-E1BE-B099-B88E-C6A50B9037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618752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123F86-FEB9-72D1-E761-F107BB6A5E37}"/>
              </a:ext>
            </a:extLst>
          </p:cNvPr>
          <p:cNvSpPr>
            <a:spLocks noGrp="1"/>
          </p:cNvSpPr>
          <p:nvPr>
            <p:ph type="title"/>
          </p:nvPr>
        </p:nvSpPr>
        <p:spPr>
          <a:xfrm>
            <a:off x="838200" y="173295"/>
            <a:ext cx="10515600" cy="469643"/>
          </a:xfrm>
        </p:spPr>
        <p:txBody>
          <a:bodyPr>
            <a:normAutofit fontScale="90000"/>
          </a:bodyPr>
          <a:lstStyle/>
          <a:p>
            <a:pPr algn="ctr"/>
            <a:br>
              <a:rPr lang="en-US" b="1" dirty="0"/>
            </a:br>
            <a:r>
              <a:rPr lang="en-US" b="1" dirty="0">
                <a:solidFill>
                  <a:srgbClr val="FF0000"/>
                </a:solidFill>
                <a:latin typeface="Arial Black" panose="020B0A04020102020204" pitchFamily="34" charset="0"/>
              </a:rPr>
              <a:t>PERSONAL ETHICS</a:t>
            </a:r>
            <a:br>
              <a:rPr lang="en-US" b="1" dirty="0">
                <a:latin typeface="Arial Black" panose="020B0A04020102020204" pitchFamily="34" charset="0"/>
              </a:rPr>
            </a:br>
            <a:endParaRPr lang="en-US" dirty="0">
              <a:latin typeface="Arial Black" panose="020B0A04020102020204" pitchFamily="34" charset="0"/>
            </a:endParaRPr>
          </a:p>
        </p:txBody>
      </p:sp>
      <p:sp>
        <p:nvSpPr>
          <p:cNvPr id="3" name="Content Placeholder 2">
            <a:extLst>
              <a:ext uri="{FF2B5EF4-FFF2-40B4-BE49-F238E27FC236}">
                <a16:creationId xmlns:a16="http://schemas.microsoft.com/office/drawing/2014/main" id="{773F801D-73CD-D59D-FA46-BA6D576E230C}"/>
              </a:ext>
            </a:extLst>
          </p:cNvPr>
          <p:cNvSpPr>
            <a:spLocks noGrp="1"/>
          </p:cNvSpPr>
          <p:nvPr>
            <p:ph idx="1"/>
          </p:nvPr>
        </p:nvSpPr>
        <p:spPr>
          <a:xfrm>
            <a:off x="414338" y="771526"/>
            <a:ext cx="11315699" cy="6086474"/>
          </a:xfrm>
        </p:spPr>
        <p:txBody>
          <a:bodyPr>
            <a:normAutofit fontScale="85000" lnSpcReduction="20000"/>
          </a:bodyPr>
          <a:lstStyle/>
          <a:p>
            <a:pPr algn="just">
              <a:buFont typeface="Wingdings" panose="05000000000000000000" pitchFamily="2" charset="2"/>
              <a:buChar char="ü"/>
            </a:pPr>
            <a:r>
              <a:rPr lang="en-US" sz="2600" b="1" dirty="0"/>
              <a:t>Personal ethics are the moral values and principles that guide an individual’s behavior in everyday life. These ethics come from a person’s beliefs, upbringing, culture, education, and experiences.</a:t>
            </a:r>
          </a:p>
          <a:p>
            <a:pPr algn="just">
              <a:buFont typeface="Wingdings" panose="05000000000000000000" pitchFamily="2" charset="2"/>
              <a:buChar char="ü"/>
            </a:pPr>
            <a:r>
              <a:rPr lang="en-US" sz="2600" b="1" dirty="0"/>
              <a:t>Personal ethics are the values a person follows in his or her personal life. </a:t>
            </a:r>
          </a:p>
          <a:p>
            <a:pPr marL="0" indent="0">
              <a:buNone/>
            </a:pPr>
            <a:r>
              <a:rPr lang="en-US" b="1" dirty="0">
                <a:solidFill>
                  <a:schemeClr val="accent4">
                    <a:lumMod val="50000"/>
                  </a:schemeClr>
                </a:solidFill>
              </a:rPr>
              <a:t>   </a:t>
            </a:r>
            <a:r>
              <a:rPr lang="en-US" b="1" u="sng" dirty="0">
                <a:solidFill>
                  <a:schemeClr val="accent4">
                    <a:lumMod val="50000"/>
                  </a:schemeClr>
                </a:solidFill>
              </a:rPr>
              <a:t>Examples</a:t>
            </a:r>
            <a:r>
              <a:rPr lang="en-US" b="1" dirty="0">
                <a:solidFill>
                  <a:schemeClr val="accent4">
                    <a:lumMod val="50000"/>
                  </a:schemeClr>
                </a:solidFill>
              </a:rPr>
              <a:t>: </a:t>
            </a:r>
            <a:r>
              <a:rPr lang="en-US" sz="2400" b="1" dirty="0"/>
              <a:t>Honesty, Integrity, Discipline, Respect etc.</a:t>
            </a:r>
          </a:p>
          <a:p>
            <a:pPr marL="0" indent="0">
              <a:buNone/>
            </a:pPr>
            <a:endParaRPr lang="en-US" b="1" dirty="0"/>
          </a:p>
          <a:p>
            <a:pPr marL="0" indent="0">
              <a:buNone/>
            </a:pPr>
            <a:r>
              <a:rPr lang="en-US" b="1" u="sng" dirty="0">
                <a:solidFill>
                  <a:schemeClr val="accent2">
                    <a:lumMod val="50000"/>
                  </a:schemeClr>
                </a:solidFill>
                <a:latin typeface="Arial Black" panose="020B0A04020102020204" pitchFamily="34" charset="0"/>
              </a:rPr>
              <a:t>Characteristics of Personal Ethics</a:t>
            </a:r>
          </a:p>
          <a:p>
            <a:pPr>
              <a:buFont typeface="Wingdings" panose="05000000000000000000" pitchFamily="2" charset="2"/>
              <a:buChar char="§"/>
            </a:pPr>
            <a:endParaRPr lang="en-US" sz="2400" b="1" dirty="0"/>
          </a:p>
          <a:p>
            <a:pPr>
              <a:buFont typeface="Wingdings" panose="05000000000000000000" pitchFamily="2" charset="2"/>
              <a:buChar char="§"/>
            </a:pPr>
            <a:r>
              <a:rPr lang="en-US" b="1" dirty="0">
                <a:solidFill>
                  <a:schemeClr val="accent6">
                    <a:lumMod val="50000"/>
                  </a:schemeClr>
                </a:solidFill>
              </a:rPr>
              <a:t>Individual in nature: </a:t>
            </a:r>
            <a:r>
              <a:rPr lang="en-US" sz="2600" dirty="0"/>
              <a:t>Different people may have different values.</a:t>
            </a:r>
          </a:p>
          <a:p>
            <a:pPr>
              <a:buFont typeface="Wingdings" panose="05000000000000000000" pitchFamily="2" charset="2"/>
              <a:buChar char="§"/>
            </a:pPr>
            <a:r>
              <a:rPr lang="en-US" b="1" dirty="0">
                <a:solidFill>
                  <a:schemeClr val="accent6">
                    <a:lumMod val="50000"/>
                  </a:schemeClr>
                </a:solidFill>
              </a:rPr>
              <a:t>Developed from childhood: </a:t>
            </a:r>
            <a:r>
              <a:rPr lang="en-US" sz="2600" dirty="0"/>
              <a:t>Influenced by family, society, and education.</a:t>
            </a:r>
          </a:p>
          <a:p>
            <a:pPr>
              <a:buFont typeface="Wingdings" panose="05000000000000000000" pitchFamily="2" charset="2"/>
              <a:buChar char="§"/>
            </a:pPr>
            <a:r>
              <a:rPr lang="en-US" b="1" dirty="0">
                <a:solidFill>
                  <a:schemeClr val="accent6">
                    <a:lumMod val="50000"/>
                  </a:schemeClr>
                </a:solidFill>
              </a:rPr>
              <a:t>Guides personal behavior: </a:t>
            </a:r>
            <a:r>
              <a:rPr lang="en-US" sz="2600" dirty="0"/>
              <a:t>Helps decide what is right or wrong.</a:t>
            </a:r>
          </a:p>
          <a:p>
            <a:pPr>
              <a:buFont typeface="Wingdings" panose="05000000000000000000" pitchFamily="2" charset="2"/>
              <a:buChar char="§"/>
            </a:pPr>
            <a:r>
              <a:rPr lang="en-US" b="1" dirty="0">
                <a:solidFill>
                  <a:schemeClr val="accent6">
                    <a:lumMod val="50000"/>
                  </a:schemeClr>
                </a:solidFill>
              </a:rPr>
              <a:t>Not formally written: </a:t>
            </a:r>
            <a:r>
              <a:rPr lang="en-US" sz="2600" dirty="0"/>
              <a:t>These are internal beliefs.</a:t>
            </a:r>
          </a:p>
          <a:p>
            <a:pPr marL="0" indent="0">
              <a:buNone/>
            </a:pPr>
            <a:endParaRPr lang="en-US" dirty="0"/>
          </a:p>
          <a:p>
            <a:pPr marL="0" lvl="0" indent="0" eaLnBrk="0" fontAlgn="base" hangingPunct="0">
              <a:lnSpc>
                <a:spcPct val="100000"/>
              </a:lnSpc>
              <a:spcBef>
                <a:spcPct val="0"/>
              </a:spcBef>
              <a:spcAft>
                <a:spcPct val="0"/>
              </a:spcAft>
              <a:buNone/>
            </a:pPr>
            <a:r>
              <a:rPr lang="en-US" b="1" u="sng" dirty="0">
                <a:solidFill>
                  <a:schemeClr val="accent4">
                    <a:lumMod val="50000"/>
                  </a:schemeClr>
                </a:solidFill>
              </a:rPr>
              <a:t>Importance:</a:t>
            </a:r>
            <a:r>
              <a:rPr lang="en-US" b="1" dirty="0"/>
              <a:t> </a:t>
            </a:r>
          </a:p>
          <a:p>
            <a:pPr lvl="0" eaLnBrk="0" fontAlgn="base" hangingPunct="0">
              <a:lnSpc>
                <a:spcPct val="100000"/>
              </a:lnSpc>
              <a:spcBef>
                <a:spcPct val="0"/>
              </a:spcBef>
              <a:spcAft>
                <a:spcPct val="0"/>
              </a:spcAft>
              <a:buFont typeface="Wingdings" panose="05000000000000000000" pitchFamily="2" charset="2"/>
              <a:buChar char="§"/>
            </a:pPr>
            <a:r>
              <a:rPr lang="en-US" altLang="en-US" sz="2400" b="1" dirty="0"/>
              <a:t>Builds good-character</a:t>
            </a:r>
          </a:p>
          <a:p>
            <a:pPr lvl="0" eaLnBrk="0" fontAlgn="base" hangingPunct="0">
              <a:lnSpc>
                <a:spcPct val="100000"/>
              </a:lnSpc>
              <a:spcBef>
                <a:spcPct val="0"/>
              </a:spcBef>
              <a:spcAft>
                <a:spcPct val="0"/>
              </a:spcAft>
              <a:buFont typeface="Wingdings" panose="05000000000000000000" pitchFamily="2" charset="2"/>
              <a:buChar char="§"/>
            </a:pPr>
            <a:r>
              <a:rPr lang="en-US" sz="2400" b="1" dirty="0"/>
              <a:t>Develops trust and credibility</a:t>
            </a:r>
          </a:p>
          <a:p>
            <a:pPr lvl="0" eaLnBrk="0" fontAlgn="base" hangingPunct="0">
              <a:lnSpc>
                <a:spcPct val="100000"/>
              </a:lnSpc>
              <a:spcBef>
                <a:spcPct val="0"/>
              </a:spcBef>
              <a:spcAft>
                <a:spcPct val="0"/>
              </a:spcAft>
              <a:buFont typeface="Wingdings" panose="05000000000000000000" pitchFamily="2" charset="2"/>
              <a:buChar char="§"/>
            </a:pPr>
            <a:r>
              <a:rPr lang="en-US" sz="2400" b="1" dirty="0"/>
              <a:t>Helps in making moral decisions</a:t>
            </a:r>
          </a:p>
          <a:p>
            <a:pPr lvl="0" eaLnBrk="0" fontAlgn="base" hangingPunct="0">
              <a:lnSpc>
                <a:spcPct val="100000"/>
              </a:lnSpc>
              <a:spcBef>
                <a:spcPct val="0"/>
              </a:spcBef>
              <a:spcAft>
                <a:spcPct val="0"/>
              </a:spcAft>
              <a:buFont typeface="Wingdings" panose="05000000000000000000" pitchFamily="2" charset="2"/>
              <a:buChar char="§"/>
            </a:pPr>
            <a:r>
              <a:rPr lang="en-US" sz="2400" b="1" dirty="0"/>
              <a:t>Creates responsible citizens</a:t>
            </a:r>
            <a:endParaRPr lang="en-US" altLang="en-US" sz="2400" b="1" dirty="0">
              <a:latin typeface="Arial" panose="020B0604020202020204" pitchFamily="34" charset="0"/>
            </a:endParaRPr>
          </a:p>
          <a:p>
            <a:pPr marL="0" indent="0">
              <a:buNone/>
            </a:pPr>
            <a:endParaRPr lang="en-US" dirty="0"/>
          </a:p>
        </p:txBody>
      </p:sp>
      <p:pic>
        <p:nvPicPr>
          <p:cNvPr id="5" name="Graphic 4" descr="Man">
            <a:extLst>
              <a:ext uri="{FF2B5EF4-FFF2-40B4-BE49-F238E27FC236}">
                <a16:creationId xmlns:a16="http://schemas.microsoft.com/office/drawing/2014/main" id="{3720AAE2-D3C4-7D10-E5D5-7583A419C20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144125" y="4614862"/>
            <a:ext cx="1352550" cy="1471611"/>
          </a:xfrm>
          <a:prstGeom prst="rect">
            <a:avLst/>
          </a:prstGeom>
        </p:spPr>
      </p:pic>
    </p:spTree>
    <p:extLst>
      <p:ext uri="{BB962C8B-B14F-4D97-AF65-F5344CB8AC3E}">
        <p14:creationId xmlns:p14="http://schemas.microsoft.com/office/powerpoint/2010/main" val="42632857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5BE54D1-03BF-F5A2-F6EF-A338E5913B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1209786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BFE89A-A69D-1BAE-109B-D7B268753002}"/>
              </a:ext>
            </a:extLst>
          </p:cNvPr>
          <p:cNvSpPr>
            <a:spLocks noGrp="1"/>
          </p:cNvSpPr>
          <p:nvPr>
            <p:ph type="title"/>
          </p:nvPr>
        </p:nvSpPr>
        <p:spPr>
          <a:xfrm>
            <a:off x="838199" y="118506"/>
            <a:ext cx="10515600" cy="549275"/>
          </a:xfrm>
        </p:spPr>
        <p:txBody>
          <a:bodyPr>
            <a:normAutofit fontScale="90000"/>
          </a:bodyPr>
          <a:lstStyle/>
          <a:p>
            <a:pPr algn="ctr"/>
            <a:r>
              <a:rPr lang="en-US" sz="3600" b="1" dirty="0">
                <a:solidFill>
                  <a:srgbClr val="FF0000"/>
                </a:solidFill>
                <a:latin typeface="Arial Black" panose="020B0A04020102020204" pitchFamily="34" charset="0"/>
              </a:rPr>
              <a:t>PROFESSIONAL ETHICS</a:t>
            </a:r>
          </a:p>
        </p:txBody>
      </p:sp>
      <p:sp>
        <p:nvSpPr>
          <p:cNvPr id="3" name="Content Placeholder 2">
            <a:extLst>
              <a:ext uri="{FF2B5EF4-FFF2-40B4-BE49-F238E27FC236}">
                <a16:creationId xmlns:a16="http://schemas.microsoft.com/office/drawing/2014/main" id="{2AADF95C-F105-CABC-98F9-DBEB183E8C39}"/>
              </a:ext>
            </a:extLst>
          </p:cNvPr>
          <p:cNvSpPr>
            <a:spLocks noGrp="1"/>
          </p:cNvSpPr>
          <p:nvPr>
            <p:ph idx="1"/>
          </p:nvPr>
        </p:nvSpPr>
        <p:spPr>
          <a:xfrm>
            <a:off x="196453" y="557213"/>
            <a:ext cx="11799094" cy="6182281"/>
          </a:xfrm>
        </p:spPr>
        <p:txBody>
          <a:bodyPr>
            <a:normAutofit fontScale="77500" lnSpcReduction="20000"/>
          </a:bodyPr>
          <a:lstStyle/>
          <a:p>
            <a:pPr marL="0" lvl="0" indent="0" algn="just" eaLnBrk="0" fontAlgn="base" hangingPunct="0">
              <a:lnSpc>
                <a:spcPct val="100000"/>
              </a:lnSpc>
              <a:spcBef>
                <a:spcPct val="0"/>
              </a:spcBef>
              <a:spcAft>
                <a:spcPct val="0"/>
              </a:spcAft>
              <a:buNone/>
            </a:pPr>
            <a:endParaRPr lang="en-US" sz="2600" b="1" dirty="0"/>
          </a:p>
          <a:p>
            <a:pPr marL="0" lvl="0" indent="0" algn="just" eaLnBrk="0" fontAlgn="base" hangingPunct="0">
              <a:lnSpc>
                <a:spcPct val="100000"/>
              </a:lnSpc>
              <a:spcBef>
                <a:spcPct val="0"/>
              </a:spcBef>
              <a:spcAft>
                <a:spcPct val="0"/>
              </a:spcAft>
              <a:buNone/>
            </a:pPr>
            <a:r>
              <a:rPr lang="en-US" b="1" dirty="0"/>
              <a:t>Professional ethics are the rules, standards, and principles that guide behavior in a profession. These ethics ensure that professionals perform their duties responsibly, honestly, and competently. Professional ethics are the standards that guide behavior at the workplace.</a:t>
            </a:r>
            <a:endParaRPr lang="en-US" b="1" dirty="0">
              <a:solidFill>
                <a:schemeClr val="accent2">
                  <a:lumMod val="50000"/>
                </a:schemeClr>
              </a:solidFill>
              <a:latin typeface="Arial Black" panose="020B0A04020102020204" pitchFamily="34" charset="0"/>
            </a:endParaRPr>
          </a:p>
          <a:p>
            <a:pPr marL="0" lvl="0" indent="0" eaLnBrk="0" fontAlgn="base" hangingPunct="0">
              <a:lnSpc>
                <a:spcPct val="100000"/>
              </a:lnSpc>
              <a:spcBef>
                <a:spcPct val="0"/>
              </a:spcBef>
              <a:spcAft>
                <a:spcPct val="0"/>
              </a:spcAft>
              <a:buNone/>
            </a:pPr>
            <a:endParaRPr lang="en-US" sz="3200" b="1" dirty="0">
              <a:solidFill>
                <a:schemeClr val="accent2">
                  <a:lumMod val="50000"/>
                </a:schemeClr>
              </a:solidFill>
            </a:endParaRPr>
          </a:p>
          <a:p>
            <a:pPr marL="0" indent="0">
              <a:buNone/>
            </a:pPr>
            <a:r>
              <a:rPr lang="en-US" b="1" u="sng" dirty="0">
                <a:solidFill>
                  <a:schemeClr val="accent6">
                    <a:lumMod val="50000"/>
                  </a:schemeClr>
                </a:solidFill>
              </a:rPr>
              <a:t>Characteristics of Professional Ethics</a:t>
            </a:r>
          </a:p>
          <a:p>
            <a:pPr>
              <a:buFont typeface="Wingdings" panose="05000000000000000000" pitchFamily="2" charset="2"/>
              <a:buChar char="§"/>
            </a:pPr>
            <a:r>
              <a:rPr lang="en-US" sz="2600" dirty="0"/>
              <a:t>Applies to a specific profession</a:t>
            </a:r>
          </a:p>
          <a:p>
            <a:pPr>
              <a:buFont typeface="Wingdings" panose="05000000000000000000" pitchFamily="2" charset="2"/>
              <a:buChar char="§"/>
            </a:pPr>
            <a:r>
              <a:rPr lang="en-US" sz="2600" dirty="0"/>
              <a:t>Often written in codes or guidelines</a:t>
            </a:r>
          </a:p>
          <a:p>
            <a:pPr>
              <a:buFont typeface="Wingdings" panose="05000000000000000000" pitchFamily="2" charset="2"/>
              <a:buChar char="§"/>
            </a:pPr>
            <a:r>
              <a:rPr lang="en-US" sz="2600" dirty="0"/>
              <a:t>Focuses on responsibility and accountability</a:t>
            </a:r>
          </a:p>
          <a:p>
            <a:pPr>
              <a:buFont typeface="Wingdings" panose="05000000000000000000" pitchFamily="2" charset="2"/>
              <a:buChar char="§"/>
            </a:pPr>
            <a:r>
              <a:rPr lang="en-US" sz="2600" dirty="0"/>
              <a:t>Protects public interest</a:t>
            </a:r>
          </a:p>
          <a:p>
            <a:pPr marL="0" lvl="0" indent="0" eaLnBrk="0" fontAlgn="base" hangingPunct="0">
              <a:lnSpc>
                <a:spcPct val="100000"/>
              </a:lnSpc>
              <a:spcBef>
                <a:spcPct val="0"/>
              </a:spcBef>
              <a:spcAft>
                <a:spcPct val="0"/>
              </a:spcAft>
              <a:buNone/>
            </a:pPr>
            <a:endParaRPr lang="en-US" sz="3200" b="1" dirty="0">
              <a:solidFill>
                <a:schemeClr val="accent2">
                  <a:lumMod val="50000"/>
                </a:schemeClr>
              </a:solidFill>
            </a:endParaRPr>
          </a:p>
          <a:p>
            <a:pPr marL="0" lvl="0" indent="0" eaLnBrk="0" fontAlgn="base" hangingPunct="0">
              <a:lnSpc>
                <a:spcPct val="100000"/>
              </a:lnSpc>
              <a:spcBef>
                <a:spcPct val="0"/>
              </a:spcBef>
              <a:spcAft>
                <a:spcPct val="0"/>
              </a:spcAft>
              <a:buNone/>
            </a:pPr>
            <a:endParaRPr lang="en-US" sz="3200" b="1" dirty="0">
              <a:solidFill>
                <a:schemeClr val="accent2">
                  <a:lumMod val="50000"/>
                </a:schemeClr>
              </a:solidFill>
            </a:endParaRPr>
          </a:p>
          <a:p>
            <a:pPr marL="0" lvl="0" indent="0" eaLnBrk="0" fontAlgn="base" hangingPunct="0">
              <a:lnSpc>
                <a:spcPct val="100000"/>
              </a:lnSpc>
              <a:spcBef>
                <a:spcPct val="0"/>
              </a:spcBef>
              <a:spcAft>
                <a:spcPct val="0"/>
              </a:spcAft>
              <a:buNone/>
            </a:pPr>
            <a:r>
              <a:rPr lang="en-US" b="1" u="sng" dirty="0">
                <a:solidFill>
                  <a:schemeClr val="accent2">
                    <a:lumMod val="50000"/>
                  </a:schemeClr>
                </a:solidFill>
              </a:rPr>
              <a:t>Principles</a:t>
            </a:r>
          </a:p>
          <a:p>
            <a:pPr lvl="0" eaLnBrk="0" fontAlgn="base" hangingPunct="0">
              <a:lnSpc>
                <a:spcPct val="100000"/>
              </a:lnSpc>
              <a:spcBef>
                <a:spcPts val="400"/>
              </a:spcBef>
              <a:spcAft>
                <a:spcPts val="400"/>
              </a:spcAft>
              <a:buFont typeface="Wingdings" panose="05000000000000000000" pitchFamily="2" charset="2"/>
              <a:buChar char="§"/>
            </a:pPr>
            <a:r>
              <a:rPr lang="en-US" altLang="en-US" b="1" dirty="0">
                <a:solidFill>
                  <a:schemeClr val="accent6">
                    <a:lumMod val="50000"/>
                  </a:schemeClr>
                </a:solidFill>
              </a:rPr>
              <a:t>Integrity</a:t>
            </a:r>
          </a:p>
          <a:p>
            <a:pPr lvl="0" eaLnBrk="0" fontAlgn="base" hangingPunct="0">
              <a:lnSpc>
                <a:spcPct val="100000"/>
              </a:lnSpc>
              <a:spcBef>
                <a:spcPts val="400"/>
              </a:spcBef>
              <a:spcAft>
                <a:spcPts val="400"/>
              </a:spcAft>
              <a:buFont typeface="Wingdings" panose="05000000000000000000" pitchFamily="2" charset="2"/>
              <a:buChar char="§"/>
            </a:pPr>
            <a:r>
              <a:rPr lang="en-US" altLang="en-US" b="1" dirty="0">
                <a:solidFill>
                  <a:schemeClr val="accent6">
                    <a:lumMod val="50000"/>
                  </a:schemeClr>
                </a:solidFill>
              </a:rPr>
              <a:t>Accountability</a:t>
            </a:r>
          </a:p>
          <a:p>
            <a:pPr lvl="0" eaLnBrk="0" fontAlgn="base" hangingPunct="0">
              <a:lnSpc>
                <a:spcPct val="100000"/>
              </a:lnSpc>
              <a:spcBef>
                <a:spcPts val="400"/>
              </a:spcBef>
              <a:spcAft>
                <a:spcPts val="400"/>
              </a:spcAft>
              <a:buFont typeface="Wingdings" panose="05000000000000000000" pitchFamily="2" charset="2"/>
              <a:buChar char="§"/>
            </a:pPr>
            <a:r>
              <a:rPr lang="en-US" altLang="en-US" b="1" dirty="0">
                <a:solidFill>
                  <a:schemeClr val="accent6">
                    <a:lumMod val="50000"/>
                  </a:schemeClr>
                </a:solidFill>
              </a:rPr>
              <a:t>Confidentiality</a:t>
            </a:r>
          </a:p>
          <a:p>
            <a:pPr lvl="0" eaLnBrk="0" fontAlgn="base" hangingPunct="0">
              <a:lnSpc>
                <a:spcPct val="100000"/>
              </a:lnSpc>
              <a:spcBef>
                <a:spcPts val="400"/>
              </a:spcBef>
              <a:spcAft>
                <a:spcPts val="400"/>
              </a:spcAft>
              <a:buFont typeface="Wingdings" panose="05000000000000000000" pitchFamily="2" charset="2"/>
              <a:buChar char="§"/>
            </a:pPr>
            <a:r>
              <a:rPr lang="en-US" altLang="en-US" b="1" dirty="0">
                <a:solidFill>
                  <a:schemeClr val="accent6">
                    <a:lumMod val="50000"/>
                  </a:schemeClr>
                </a:solidFill>
              </a:rPr>
              <a:t>Competence</a:t>
            </a:r>
          </a:p>
          <a:p>
            <a:pPr lvl="0" eaLnBrk="0" fontAlgn="base" hangingPunct="0">
              <a:lnSpc>
                <a:spcPct val="100000"/>
              </a:lnSpc>
              <a:spcBef>
                <a:spcPts val="400"/>
              </a:spcBef>
              <a:spcAft>
                <a:spcPts val="400"/>
              </a:spcAft>
              <a:buFont typeface="Wingdings" panose="05000000000000000000" pitchFamily="2" charset="2"/>
              <a:buChar char="§"/>
            </a:pPr>
            <a:r>
              <a:rPr lang="en-US" altLang="en-US" b="1" dirty="0">
                <a:solidFill>
                  <a:schemeClr val="accent6">
                    <a:lumMod val="50000"/>
                  </a:schemeClr>
                </a:solidFill>
              </a:rPr>
              <a:t>Objectivity</a:t>
            </a:r>
          </a:p>
          <a:p>
            <a:pPr marL="0" indent="0">
              <a:buNone/>
            </a:pPr>
            <a:endParaRPr lang="en-US" dirty="0"/>
          </a:p>
          <a:p>
            <a:pPr marL="0" indent="0">
              <a:buNone/>
            </a:pPr>
            <a:endParaRPr lang="en-US" dirty="0"/>
          </a:p>
        </p:txBody>
      </p:sp>
      <p:sp>
        <p:nvSpPr>
          <p:cNvPr id="5" name="TextBox 4">
            <a:extLst>
              <a:ext uri="{FF2B5EF4-FFF2-40B4-BE49-F238E27FC236}">
                <a16:creationId xmlns:a16="http://schemas.microsoft.com/office/drawing/2014/main" id="{AE7C52B7-F9B1-6B62-820D-300714F40B29}"/>
              </a:ext>
            </a:extLst>
          </p:cNvPr>
          <p:cNvSpPr txBox="1"/>
          <p:nvPr/>
        </p:nvSpPr>
        <p:spPr>
          <a:xfrm>
            <a:off x="6342460" y="4780468"/>
            <a:ext cx="3893344" cy="1754326"/>
          </a:xfrm>
          <a:prstGeom prst="rect">
            <a:avLst/>
          </a:prstGeom>
          <a:noFill/>
        </p:spPr>
        <p:txBody>
          <a:bodyPr wrap="square" rtlCol="0">
            <a:spAutoFit/>
          </a:bodyPr>
          <a:lstStyle/>
          <a:p>
            <a:r>
              <a:rPr lang="en-US" sz="2400" b="1" u="sng" dirty="0">
                <a:solidFill>
                  <a:schemeClr val="accent2">
                    <a:lumMod val="50000"/>
                  </a:schemeClr>
                </a:solidFill>
              </a:rPr>
              <a:t>Importance</a:t>
            </a:r>
          </a:p>
          <a:p>
            <a:pPr marL="342900" indent="-342900">
              <a:buFont typeface="Wingdings" panose="05000000000000000000" pitchFamily="2" charset="2"/>
              <a:buChar char="§"/>
            </a:pPr>
            <a:r>
              <a:rPr lang="en-US" sz="2200" b="1" dirty="0">
                <a:solidFill>
                  <a:schemeClr val="accent6">
                    <a:lumMod val="50000"/>
                  </a:schemeClr>
                </a:solidFill>
              </a:rPr>
              <a:t>Public trust</a:t>
            </a:r>
          </a:p>
          <a:p>
            <a:pPr marL="342900" indent="-342900">
              <a:buFont typeface="Wingdings" panose="05000000000000000000" pitchFamily="2" charset="2"/>
              <a:buChar char="§"/>
            </a:pPr>
            <a:r>
              <a:rPr lang="en-US" sz="2200" b="1" dirty="0">
                <a:solidFill>
                  <a:schemeClr val="accent6">
                    <a:lumMod val="50000"/>
                  </a:schemeClr>
                </a:solidFill>
              </a:rPr>
              <a:t>Professional reputation</a:t>
            </a:r>
          </a:p>
          <a:p>
            <a:pPr marL="342900" indent="-342900">
              <a:buFont typeface="Wingdings" panose="05000000000000000000" pitchFamily="2" charset="2"/>
              <a:buChar char="§"/>
            </a:pPr>
            <a:r>
              <a:rPr lang="en-US" sz="2200" b="1" dirty="0">
                <a:solidFill>
                  <a:schemeClr val="accent6">
                    <a:lumMod val="50000"/>
                  </a:schemeClr>
                </a:solidFill>
              </a:rPr>
              <a:t>Organizational success</a:t>
            </a:r>
          </a:p>
          <a:p>
            <a:endParaRPr lang="en-US" dirty="0"/>
          </a:p>
        </p:txBody>
      </p:sp>
      <p:sp>
        <p:nvSpPr>
          <p:cNvPr id="4" name="TextBox 3">
            <a:extLst>
              <a:ext uri="{FF2B5EF4-FFF2-40B4-BE49-F238E27FC236}">
                <a16:creationId xmlns:a16="http://schemas.microsoft.com/office/drawing/2014/main" id="{A80E0F2E-43BB-0DF3-BBE3-52CC07D83DAD}"/>
              </a:ext>
            </a:extLst>
          </p:cNvPr>
          <p:cNvSpPr txBox="1"/>
          <p:nvPr/>
        </p:nvSpPr>
        <p:spPr>
          <a:xfrm>
            <a:off x="6342460" y="1913342"/>
            <a:ext cx="5653087" cy="2677656"/>
          </a:xfrm>
          <a:prstGeom prst="rect">
            <a:avLst/>
          </a:prstGeom>
          <a:noFill/>
        </p:spPr>
        <p:txBody>
          <a:bodyPr wrap="square" rtlCol="0">
            <a:spAutoFit/>
          </a:bodyPr>
          <a:lstStyle/>
          <a:p>
            <a:pPr algn="just"/>
            <a:r>
              <a:rPr lang="en-US" sz="2200" b="1" u="sng" dirty="0">
                <a:solidFill>
                  <a:schemeClr val="accent6">
                    <a:lumMod val="50000"/>
                  </a:schemeClr>
                </a:solidFill>
              </a:rPr>
              <a:t>Examples:</a:t>
            </a:r>
          </a:p>
          <a:p>
            <a:pPr marL="342900" lvl="0" indent="-342900" algn="just" eaLnBrk="0" fontAlgn="base" hangingPunct="0">
              <a:spcBef>
                <a:spcPct val="0"/>
              </a:spcBef>
              <a:spcAft>
                <a:spcPct val="0"/>
              </a:spcAft>
              <a:buFont typeface="Wingdings" panose="05000000000000000000" pitchFamily="2" charset="2"/>
              <a:buChar char="§"/>
            </a:pPr>
            <a:r>
              <a:rPr lang="en-US" altLang="en-US" sz="2200" dirty="0"/>
              <a:t>Ensuring public safety in designs</a:t>
            </a:r>
          </a:p>
          <a:p>
            <a:pPr marL="342900" lvl="0" indent="-342900" algn="just" eaLnBrk="0" fontAlgn="base" hangingPunct="0">
              <a:spcBef>
                <a:spcPct val="0"/>
              </a:spcBef>
              <a:spcAft>
                <a:spcPct val="0"/>
              </a:spcAft>
              <a:buFont typeface="Wingdings" panose="05000000000000000000" pitchFamily="2" charset="2"/>
              <a:buChar char="§"/>
            </a:pPr>
            <a:r>
              <a:rPr lang="en-US" altLang="en-US" sz="2200" dirty="0"/>
              <a:t>Maintaining accuracy in calculations</a:t>
            </a:r>
          </a:p>
          <a:p>
            <a:pPr marL="342900" lvl="0" indent="-342900" algn="just" eaLnBrk="0" fontAlgn="base" hangingPunct="0">
              <a:spcBef>
                <a:spcPct val="0"/>
              </a:spcBef>
              <a:spcAft>
                <a:spcPct val="0"/>
              </a:spcAft>
              <a:buFont typeface="Wingdings" panose="05000000000000000000" pitchFamily="2" charset="2"/>
              <a:buChar char="§"/>
            </a:pPr>
            <a:r>
              <a:rPr lang="en-US" altLang="en-US" sz="2200" dirty="0"/>
              <a:t>Protecting confidential company information</a:t>
            </a:r>
          </a:p>
          <a:p>
            <a:pPr marL="342900" lvl="0" indent="-342900" algn="just" eaLnBrk="0" fontAlgn="base" hangingPunct="0">
              <a:spcBef>
                <a:spcPct val="0"/>
              </a:spcBef>
              <a:spcAft>
                <a:spcPct val="0"/>
              </a:spcAft>
              <a:buFont typeface="Wingdings" panose="05000000000000000000" pitchFamily="2" charset="2"/>
              <a:buChar char="§"/>
            </a:pPr>
            <a:r>
              <a:rPr lang="en-US" altLang="en-US" sz="2200" dirty="0"/>
              <a:t>Avoiding corruption and bribery</a:t>
            </a:r>
          </a:p>
          <a:p>
            <a:pPr marL="342900" lvl="0" indent="-342900" algn="just" eaLnBrk="0" fontAlgn="base" hangingPunct="0">
              <a:spcBef>
                <a:spcPct val="0"/>
              </a:spcBef>
              <a:spcAft>
                <a:spcPct val="0"/>
              </a:spcAft>
              <a:buFont typeface="Wingdings" panose="05000000000000000000" pitchFamily="2" charset="2"/>
              <a:buChar char="§"/>
            </a:pPr>
            <a:r>
              <a:rPr lang="en-US" altLang="en-US" sz="2200" dirty="0"/>
              <a:t>Reporting safety risks</a:t>
            </a:r>
          </a:p>
          <a:p>
            <a:endParaRPr lang="en-US" dirty="0"/>
          </a:p>
          <a:p>
            <a:endParaRPr lang="en-US" dirty="0"/>
          </a:p>
        </p:txBody>
      </p:sp>
      <p:pic>
        <p:nvPicPr>
          <p:cNvPr id="9" name="Graphic 8" descr="Briefcase">
            <a:extLst>
              <a:ext uri="{FF2B5EF4-FFF2-40B4-BE49-F238E27FC236}">
                <a16:creationId xmlns:a16="http://schemas.microsoft.com/office/drawing/2014/main" id="{A540316F-ECAE-A414-B4B9-013434A46FB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572750" y="4780468"/>
            <a:ext cx="1238249" cy="1341978"/>
          </a:xfrm>
          <a:prstGeom prst="rect">
            <a:avLst/>
          </a:prstGeom>
        </p:spPr>
      </p:pic>
    </p:spTree>
    <p:extLst>
      <p:ext uri="{BB962C8B-B14F-4D97-AF65-F5344CB8AC3E}">
        <p14:creationId xmlns:p14="http://schemas.microsoft.com/office/powerpoint/2010/main" val="90581328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FCB6A83-3DD5-28E1-4AB2-49275D5628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85920823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38EF62A-27C0-5E09-4DB9-96FD5AA3461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7190459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1181</TotalTime>
  <Words>1750</Words>
  <Application>Microsoft Office PowerPoint</Application>
  <PresentationFormat>Widescreen</PresentationFormat>
  <Paragraphs>348</Paragraphs>
  <Slides>31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31</vt:i4>
      </vt:variant>
    </vt:vector>
  </HeadingPairs>
  <TitlesOfParts>
    <vt:vector size="38" baseType="lpstr">
      <vt:lpstr>Arial</vt:lpstr>
      <vt:lpstr>Arial Black</vt:lpstr>
      <vt:lpstr>Calibri</vt:lpstr>
      <vt:lpstr>Calibri Light</vt:lpstr>
      <vt:lpstr>Courier New</vt:lpstr>
      <vt:lpstr>Wingdings</vt:lpstr>
      <vt:lpstr>Office Theme</vt:lpstr>
      <vt:lpstr>INTRODUCTION TO ETHICS</vt:lpstr>
      <vt:lpstr>CONTENTS</vt:lpstr>
      <vt:lpstr>MORAL</vt:lpstr>
      <vt:lpstr>PowerPoint Presentation</vt:lpstr>
      <vt:lpstr>PowerPoint Presentation</vt:lpstr>
      <vt:lpstr>ETHICS</vt:lpstr>
      <vt:lpstr>PowerPoint Presentation</vt:lpstr>
      <vt:lpstr>PowerPoint Presentation</vt:lpstr>
      <vt:lpstr>MORAL vs ETHICS</vt:lpstr>
      <vt:lpstr>ETHICAL DILEMMA</vt:lpstr>
      <vt:lpstr>ETHICAL DILEMMA</vt:lpstr>
      <vt:lpstr>Steps to Solve Ethical Dilemma</vt:lpstr>
      <vt:lpstr>EMOTIONAL INTELLIGENCE (EI)</vt:lpstr>
      <vt:lpstr>PowerPoint Presentation</vt:lpstr>
      <vt:lpstr>PowerPoint Presentation</vt:lpstr>
      <vt:lpstr>PowerPoint Presentation</vt:lpstr>
      <vt:lpstr>MORAL DEVELOPMENT THEORY – JEAN PIAGET</vt:lpstr>
      <vt:lpstr>PowerPoint Presentation</vt:lpstr>
      <vt:lpstr>PowerPoint Presentation</vt:lpstr>
      <vt:lpstr>PowerPoint Presentation</vt:lpstr>
      <vt:lpstr>PowerPoint Presentation</vt:lpstr>
      <vt:lpstr>ARISTOTLE’S VIEW ON ETHICS</vt:lpstr>
      <vt:lpstr>PowerPoint Presentation</vt:lpstr>
      <vt:lpstr>PowerPoint Presentation</vt:lpstr>
      <vt:lpstr>GOVERNING FACTORS OF VALUE SYSTEM</vt:lpstr>
      <vt:lpstr>PowerPoint Presentation</vt:lpstr>
      <vt:lpstr> PERSONAL ETHICS </vt:lpstr>
      <vt:lpstr>PowerPoint Presentation</vt:lpstr>
      <vt:lpstr>PROFESSIONAL ETHICS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Mousumi Ray</dc:creator>
  <cp:lastModifiedBy>Mousumi Ray</cp:lastModifiedBy>
  <cp:revision>60</cp:revision>
  <dcterms:created xsi:type="dcterms:W3CDTF">2026-02-13T05:09:36Z</dcterms:created>
  <dcterms:modified xsi:type="dcterms:W3CDTF">2026-03-06T13:21:15Z</dcterms:modified>
</cp:coreProperties>
</file>